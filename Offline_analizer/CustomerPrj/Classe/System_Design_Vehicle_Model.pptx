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7"/>
  </p:sldMasterIdLst>
  <p:notesMasterIdLst>
    <p:notesMasterId r:id="rId46"/>
  </p:notesMasterIdLst>
  <p:sldIdLst>
    <p:sldId id="270" r:id="rId8"/>
    <p:sldId id="257" r:id="rId9"/>
    <p:sldId id="273" r:id="rId10"/>
    <p:sldId id="275" r:id="rId11"/>
    <p:sldId id="283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7" r:id="rId24"/>
    <p:sldId id="306" r:id="rId25"/>
    <p:sldId id="308" r:id="rId26"/>
    <p:sldId id="309" r:id="rId27"/>
    <p:sldId id="310" r:id="rId28"/>
    <p:sldId id="311" r:id="rId29"/>
    <p:sldId id="305" r:id="rId30"/>
    <p:sldId id="284" r:id="rId31"/>
    <p:sldId id="271" r:id="rId32"/>
    <p:sldId id="303" r:id="rId33"/>
    <p:sldId id="285" r:id="rId34"/>
    <p:sldId id="276" r:id="rId35"/>
    <p:sldId id="286" r:id="rId36"/>
    <p:sldId id="279" r:id="rId37"/>
    <p:sldId id="304" r:id="rId38"/>
    <p:sldId id="302" r:id="rId39"/>
    <p:sldId id="287" r:id="rId40"/>
    <p:sldId id="281" r:id="rId41"/>
    <p:sldId id="288" r:id="rId42"/>
    <p:sldId id="282" r:id="rId43"/>
    <p:sldId id="289" r:id="rId44"/>
    <p:sldId id="280" r:id="rId45"/>
  </p:sldIdLst>
  <p:sldSz cx="12192000" cy="6858000"/>
  <p:notesSz cx="6858000" cy="9144000"/>
  <p:custDataLst>
    <p:tags r:id="rId47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569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91387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37081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8277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284689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741627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3198565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655502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DF89"/>
    <a:srgbClr val="C7E6A4"/>
    <a:srgbClr val="0000FF"/>
    <a:srgbClr val="00CC00"/>
    <a:srgbClr val="00FF00"/>
    <a:srgbClr val="006600"/>
    <a:srgbClr val="19FF81"/>
    <a:srgbClr val="E1FFE1"/>
    <a:srgbClr val="FFCC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28.02.2025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1pPr>
    <a:lvl2pPr marL="508132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2pPr>
    <a:lvl3pPr marL="1016264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3pPr>
    <a:lvl4pPr marL="1524396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4pPr>
    <a:lvl5pPr marL="2032528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5pPr>
    <a:lvl6pPr marL="2540660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6pPr>
    <a:lvl7pPr marL="3048792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7pPr>
    <a:lvl8pPr marL="3556925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8pPr>
    <a:lvl9pPr marL="4065057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enutzerdefinierte 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Kap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Kapitel­überschrift hinzufügen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288073"/>
            <a:ext cx="10975176" cy="5785488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„Zitat hinzufügen”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2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zi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288073"/>
            <a:ext cx="10975176" cy="5785488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Fazit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88083" y="1440370"/>
            <a:ext cx="11615361" cy="4633191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10250966" y="287939"/>
            <a:ext cx="1880544" cy="864357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2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88083" y="288074"/>
            <a:ext cx="11615361" cy="8642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87597" y="1440370"/>
            <a:ext cx="11615361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Inhalt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5401563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05882" y="1440369"/>
            <a:ext cx="5401563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3584" userDrawn="1">
          <p15:clr>
            <a:srgbClr val="FBAE40"/>
          </p15:clr>
        </p15:guide>
        <p15:guide id="9" pos="409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8402431" y="1440369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45257" y="1440370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2373" userDrawn="1">
          <p15:clr>
            <a:srgbClr val="FBAE40"/>
          </p15:clr>
        </p15:guide>
        <p15:guide id="9" pos="2736" userDrawn="1">
          <p15:clr>
            <a:srgbClr val="FBAE40"/>
          </p15:clr>
        </p15:guide>
        <p15:guide id="10" pos="4928" userDrawn="1">
          <p15:clr>
            <a:srgbClr val="FBAE40"/>
          </p15:clr>
        </p15:guide>
        <p15:guide id="11" pos="52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7950" y="1439702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168340" y="1439702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228145" y="1439703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9108536" y="1439703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1944" userDrawn="1">
          <p15:clr>
            <a:srgbClr val="FBAE40"/>
          </p15:clr>
        </p15:guide>
        <p15:guide id="9" pos="2033" userDrawn="1">
          <p15:clr>
            <a:srgbClr val="FBAE40"/>
          </p15:clr>
        </p15:guide>
        <p15:guide id="10" pos="3797" userDrawn="1">
          <p15:clr>
            <a:srgbClr val="FBAE40"/>
          </p15:clr>
        </p15:guide>
        <p15:guide id="11" pos="3884" userDrawn="1">
          <p15:clr>
            <a:srgbClr val="FBAE40"/>
          </p15:clr>
        </p15:guide>
        <p15:guide id="12" pos="5648" userDrawn="1">
          <p15:clr>
            <a:srgbClr val="FBAE40"/>
          </p15:clr>
        </p15:guide>
        <p15:guide id="13" pos="573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Inhalt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11615361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11615361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505882" y="1440369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6505882" y="3828986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  <p15:guide id="10" pos="3584" userDrawn="1">
          <p15:clr>
            <a:srgbClr val="FBAE40"/>
          </p15:clr>
        </p15:guide>
        <p15:guide id="11" pos="409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4345257" y="1440369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8402431" y="1440369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4345257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8402431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2378" userDrawn="1">
          <p15:clr>
            <a:srgbClr val="FBAE40"/>
          </p15:clr>
        </p15:guide>
        <p15:guide id="9" pos="2731" userDrawn="1">
          <p15:clr>
            <a:srgbClr val="FBAE40"/>
          </p15:clr>
        </p15:guide>
        <p15:guide id="10" pos="4928" userDrawn="1">
          <p15:clr>
            <a:srgbClr val="FBAE40"/>
          </p15:clr>
        </p15:guide>
        <p15:guide id="11" pos="5292" userDrawn="1">
          <p15:clr>
            <a:srgbClr val="FBAE40"/>
          </p15:clr>
        </p15:guide>
        <p15:guide id="12" orient="horz" pos="2323" userDrawn="1">
          <p15:clr>
            <a:srgbClr val="FBAE40"/>
          </p15:clr>
        </p15:guide>
        <p15:guide id="13" orient="horz" pos="241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228934" y="1440369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9110636" y="1440369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228934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9110636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6169785" y="1440370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6169785" y="3828985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  <p15:guide id="10" pos="1944" userDrawn="1">
          <p15:clr>
            <a:srgbClr val="FBAE40"/>
          </p15:clr>
        </p15:guide>
        <p15:guide id="11" pos="2034" userDrawn="1">
          <p15:clr>
            <a:srgbClr val="FBAE40"/>
          </p15:clr>
        </p15:guide>
        <p15:guide id="12" pos="3797" userDrawn="1">
          <p15:clr>
            <a:srgbClr val="FBAE40"/>
          </p15:clr>
        </p15:guide>
        <p15:guide id="13" pos="3887" userDrawn="1">
          <p15:clr>
            <a:srgbClr val="FBAE40"/>
          </p15:clr>
        </p15:guide>
        <p15:guide id="14" pos="5648" userDrawn="1">
          <p15:clr>
            <a:srgbClr val="FBAE40"/>
          </p15:clr>
        </p15:guide>
        <p15:guide id="15" pos="573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ollbild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Abschluss­worte hinzufügen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83" y="720185"/>
            <a:ext cx="11615361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83" y="1440370"/>
            <a:ext cx="11615361" cy="46331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659180" y="6272591"/>
            <a:ext cx="10172821" cy="119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Cross-Domain Computing Solutions | XC-DX/EDI2 | 18.02.2022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2022.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660191" y="6273613"/>
            <a:ext cx="10174944" cy="1200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Excel_Worksheet1.xls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Design </a:t>
            </a:r>
            <a:r>
              <a:rPr lang="hu-HU" dirty="0" err="1"/>
              <a:t>Vehicle</a:t>
            </a:r>
            <a:r>
              <a:rPr lang="hu-HU" dirty="0"/>
              <a:t> </a:t>
            </a:r>
            <a:r>
              <a:rPr lang="hu-HU" dirty="0" err="1"/>
              <a:t>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76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Abbreviations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7" name="ZoneTexte 6"/>
          <p:cNvSpPr txBox="1"/>
          <p:nvPr/>
        </p:nvSpPr>
        <p:spPr>
          <a:xfrm>
            <a:off x="296419" y="890009"/>
            <a:ext cx="10028712" cy="4643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11137" lvl="1" fontAlgn="auto">
              <a:spcBef>
                <a:spcPts val="500"/>
              </a:spcBef>
              <a:spcAft>
                <a:spcPts val="0"/>
              </a:spcAft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en-US" kern="0" dirty="0">
              <a:solidFill>
                <a:srgbClr val="000000"/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2AD6649-4DE2-BE13-9DB3-3A27969F4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42961"/>
              </p:ext>
            </p:extLst>
          </p:nvPr>
        </p:nvGraphicFramePr>
        <p:xfrm>
          <a:off x="456626" y="1021670"/>
          <a:ext cx="8128000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954">
                  <a:extLst>
                    <a:ext uri="{9D8B030D-6E8A-4147-A177-3AD203B41FA5}">
                      <a16:colId xmlns:a16="http://schemas.microsoft.com/office/drawing/2014/main" val="3796114053"/>
                    </a:ext>
                  </a:extLst>
                </a:gridCol>
                <a:gridCol w="6588046">
                  <a:extLst>
                    <a:ext uri="{9D8B030D-6E8A-4147-A177-3AD203B41FA5}">
                      <a16:colId xmlns:a16="http://schemas.microsoft.com/office/drawing/2014/main" val="588062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dirty="0" err="1"/>
                        <a:t>Abbr</a:t>
                      </a:r>
                      <a:r>
                        <a:rPr lang="hu-HU" dirty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Meaning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45065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hu-HU" dirty="0"/>
                        <a:t>ABS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Anti-</a:t>
                      </a:r>
                      <a:r>
                        <a:rPr lang="hu-HU" dirty="0" err="1"/>
                        <a:t>lock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Braking</a:t>
                      </a:r>
                      <a:r>
                        <a:rPr lang="hu-HU" dirty="0"/>
                        <a:t> System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46475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hu-HU" dirty="0"/>
                        <a:t>DRV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Driver (</a:t>
                      </a:r>
                      <a:r>
                        <a:rPr lang="hu-HU" dirty="0" err="1"/>
                        <a:t>user</a:t>
                      </a:r>
                      <a:r>
                        <a:rPr lang="hu-HU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579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HIL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Hardware in </a:t>
                      </a:r>
                      <a:r>
                        <a:rPr lang="hu-HU" dirty="0" err="1"/>
                        <a:t>the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loop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176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HMI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Human-</a:t>
                      </a:r>
                      <a:r>
                        <a:rPr lang="hu-HU" dirty="0" err="1"/>
                        <a:t>Machine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interface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466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HVM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Host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vehicle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movement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55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RWA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Road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wheel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angle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17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SWA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 err="1"/>
                        <a:t>Steering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wheel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angle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59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/>
                        <a:t>WIC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Wheel </a:t>
                      </a:r>
                      <a:r>
                        <a:rPr lang="hu-HU" dirty="0" err="1"/>
                        <a:t>impulse</a:t>
                      </a:r>
                      <a:r>
                        <a:rPr lang="hu-HU" dirty="0"/>
                        <a:t> </a:t>
                      </a:r>
                      <a:r>
                        <a:rPr lang="hu-HU" dirty="0" err="1"/>
                        <a:t>counter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48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21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Model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Features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7" name="ZoneTexte 6"/>
          <p:cNvSpPr txBox="1"/>
          <p:nvPr/>
        </p:nvSpPr>
        <p:spPr>
          <a:xfrm>
            <a:off x="296419" y="890009"/>
            <a:ext cx="10028712" cy="4643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11137" lvl="1" fontAlgn="auto">
              <a:spcBef>
                <a:spcPts val="500"/>
              </a:spcBef>
              <a:spcAft>
                <a:spcPts val="0"/>
              </a:spcAft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8083" y="890009"/>
            <a:ext cx="11095778" cy="53656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L="342900" indent="-342900" rtl="0">
              <a:buAutoNum type="arabicParenR"/>
            </a:pPr>
            <a:r>
              <a:rPr lang="hu-HU" b="1" dirty="0" err="1"/>
              <a:t>Lateral</a:t>
            </a:r>
            <a:r>
              <a:rPr lang="hu-HU" b="1" dirty="0"/>
              <a:t> </a:t>
            </a:r>
            <a:r>
              <a:rPr lang="hu-HU" b="1" dirty="0" err="1"/>
              <a:t>control</a:t>
            </a:r>
            <a:endParaRPr lang="hu-HU" b="1" dirty="0"/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/>
              <a:t>Steering</a:t>
            </a:r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/>
              <a:t>Road wheel control</a:t>
            </a:r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/>
              <a:t>Driver steeing torque</a:t>
            </a:r>
          </a:p>
          <a:p>
            <a:pPr marL="342900" indent="-342900" rtl="0">
              <a:buAutoNum type="arabicParenR"/>
            </a:pPr>
            <a:r>
              <a:rPr lang="hu-HU" b="1" dirty="0" err="1"/>
              <a:t>Longitudinal</a:t>
            </a:r>
            <a:r>
              <a:rPr lang="hu-HU" b="1" dirty="0"/>
              <a:t> </a:t>
            </a:r>
            <a:r>
              <a:rPr lang="hu-HU" b="1" dirty="0" err="1"/>
              <a:t>control</a:t>
            </a:r>
            <a:endParaRPr lang="hu-HU" b="1" dirty="0"/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 err="1"/>
              <a:t>Acceleration</a:t>
            </a:r>
            <a:endParaRPr lang="hu-HU" sz="1600" dirty="0"/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 err="1"/>
              <a:t>Speed</a:t>
            </a:r>
            <a:endParaRPr lang="hu-HU" sz="1600" dirty="0"/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 err="1"/>
              <a:t>Pedals</a:t>
            </a:r>
            <a:endParaRPr lang="hu-HU" sz="1600" dirty="0"/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 err="1"/>
              <a:t>Gear</a:t>
            </a:r>
            <a:endParaRPr lang="hu-HU" sz="1600" dirty="0"/>
          </a:p>
          <a:p>
            <a:pPr marL="342900" indent="-342900" rtl="0">
              <a:buAutoNum type="arabicParenR"/>
            </a:pPr>
            <a:r>
              <a:rPr lang="hu-HU" b="1" dirty="0"/>
              <a:t>ABS/WIC </a:t>
            </a:r>
            <a:r>
              <a:rPr lang="hu-HU" b="1" dirty="0" err="1"/>
              <a:t>simulation</a:t>
            </a:r>
            <a:endParaRPr lang="hu-HU" b="1" dirty="0"/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/>
              <a:t>Wheel </a:t>
            </a:r>
            <a:r>
              <a:rPr lang="hu-HU" sz="1600" dirty="0" err="1"/>
              <a:t>impulse</a:t>
            </a:r>
            <a:r>
              <a:rPr lang="hu-HU" sz="1600" dirty="0"/>
              <a:t> </a:t>
            </a:r>
            <a:r>
              <a:rPr lang="hu-HU" sz="1600" dirty="0" err="1"/>
              <a:t>counter</a:t>
            </a:r>
            <a:endParaRPr lang="hu-HU" sz="1600" dirty="0"/>
          </a:p>
          <a:p>
            <a:pPr marL="342900" indent="-342900" rtl="0">
              <a:buAutoNum type="arabicParenR"/>
            </a:pPr>
            <a:r>
              <a:rPr lang="hu-HU" b="1" dirty="0" err="1"/>
              <a:t>Steering</a:t>
            </a:r>
            <a:r>
              <a:rPr lang="hu-HU" b="1" dirty="0"/>
              <a:t> </a:t>
            </a:r>
            <a:r>
              <a:rPr lang="hu-HU" b="1" dirty="0" err="1"/>
              <a:t>system</a:t>
            </a:r>
            <a:r>
              <a:rPr lang="hu-HU" b="1" dirty="0"/>
              <a:t> </a:t>
            </a:r>
            <a:r>
              <a:rPr lang="hu-HU" b="1" dirty="0" err="1"/>
              <a:t>simulation</a:t>
            </a:r>
            <a:endParaRPr lang="hu-HU" b="1" dirty="0"/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/>
              <a:t>SWA-</a:t>
            </a:r>
            <a:r>
              <a:rPr lang="hu-HU" sz="1600" dirty="0" err="1"/>
              <a:t>based</a:t>
            </a:r>
            <a:r>
              <a:rPr lang="hu-HU" sz="1600" dirty="0"/>
              <a:t> RWA </a:t>
            </a:r>
            <a:r>
              <a:rPr lang="hu-HU" sz="1600" dirty="0" err="1"/>
              <a:t>control</a:t>
            </a:r>
            <a:endParaRPr lang="hu-HU" sz="1600" dirty="0"/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/>
              <a:t>Link </a:t>
            </a:r>
            <a:r>
              <a:rPr lang="hu-HU" sz="1600" dirty="0" err="1"/>
              <a:t>definition</a:t>
            </a:r>
            <a:r>
              <a:rPr lang="hu-HU" sz="1600" dirty="0"/>
              <a:t> </a:t>
            </a:r>
            <a:r>
              <a:rPr lang="hu-HU" sz="1600" dirty="0" err="1"/>
              <a:t>between</a:t>
            </a:r>
            <a:r>
              <a:rPr lang="hu-HU" sz="1600" dirty="0"/>
              <a:t> SWA and RWA: ratio, </a:t>
            </a:r>
            <a:r>
              <a:rPr lang="hu-HU" sz="1600" dirty="0" err="1"/>
              <a:t>rack</a:t>
            </a:r>
            <a:r>
              <a:rPr lang="hu-HU" sz="1600" dirty="0"/>
              <a:t> </a:t>
            </a:r>
            <a:r>
              <a:rPr lang="hu-HU" sz="1600" dirty="0" err="1"/>
              <a:t>travel</a:t>
            </a:r>
            <a:endParaRPr lang="hu-HU" sz="1600" dirty="0"/>
          </a:p>
          <a:p>
            <a:pPr marL="342900" indent="-342900" rtl="0">
              <a:buAutoNum type="arabicParenR"/>
            </a:pPr>
            <a:r>
              <a:rPr lang="hu-HU" b="1" dirty="0" err="1"/>
              <a:t>Door</a:t>
            </a:r>
            <a:r>
              <a:rPr lang="hu-HU" b="1" dirty="0"/>
              <a:t> </a:t>
            </a:r>
            <a:r>
              <a:rPr lang="hu-HU" b="1" dirty="0" err="1"/>
              <a:t>control</a:t>
            </a:r>
            <a:endParaRPr lang="hu-HU" b="1" dirty="0"/>
          </a:p>
          <a:p>
            <a:pPr marL="342900" indent="-342900" rtl="0">
              <a:buAutoNum type="arabicParenR"/>
            </a:pPr>
            <a:r>
              <a:rPr lang="hu-HU" b="1" dirty="0" err="1"/>
              <a:t>External</a:t>
            </a:r>
            <a:r>
              <a:rPr lang="hu-HU" b="1" dirty="0"/>
              <a:t> </a:t>
            </a:r>
            <a:r>
              <a:rPr lang="hu-HU" b="1" dirty="0" err="1"/>
              <a:t>control</a:t>
            </a:r>
            <a:r>
              <a:rPr lang="hu-HU" b="1" dirty="0"/>
              <a:t> (</a:t>
            </a:r>
            <a:r>
              <a:rPr lang="hu-HU" b="1" dirty="0" err="1"/>
              <a:t>keyboard</a:t>
            </a:r>
            <a:r>
              <a:rPr lang="hu-HU" b="1" dirty="0"/>
              <a:t>)</a:t>
            </a:r>
          </a:p>
          <a:p>
            <a:pPr marL="342900" indent="-342900" rtl="0">
              <a:buAutoNum type="arabicParenR"/>
            </a:pPr>
            <a:r>
              <a:rPr lang="hu-HU" b="1" dirty="0" err="1"/>
              <a:t>Customer-related</a:t>
            </a:r>
            <a:r>
              <a:rPr lang="hu-HU" b="1" dirty="0"/>
              <a:t> </a:t>
            </a:r>
            <a:r>
              <a:rPr lang="hu-HU" b="1" dirty="0" err="1"/>
              <a:t>data</a:t>
            </a:r>
            <a:r>
              <a:rPr lang="hu-HU" b="1" dirty="0"/>
              <a:t> </a:t>
            </a:r>
            <a:r>
              <a:rPr lang="hu-HU" b="1" dirty="0" err="1"/>
              <a:t>control</a:t>
            </a:r>
            <a:endParaRPr lang="hu-HU" b="1" dirty="0"/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 err="1"/>
              <a:t>Motion</a:t>
            </a:r>
            <a:endParaRPr lang="hu-HU" sz="1600" dirty="0"/>
          </a:p>
          <a:p>
            <a:pPr marL="799838" lvl="1" indent="-342900">
              <a:buFont typeface="Arial" panose="020B0604020202020204" pitchFamily="34" charset="0"/>
              <a:buChar char="•"/>
            </a:pPr>
            <a:r>
              <a:rPr lang="hu-HU" sz="1600" dirty="0"/>
              <a:t>HMI</a:t>
            </a:r>
            <a:endParaRPr lang="hu-HU" sz="1200" dirty="0"/>
          </a:p>
        </p:txBody>
      </p:sp>
    </p:spTree>
    <p:extLst>
      <p:ext uri="{BB962C8B-B14F-4D97-AF65-F5344CB8AC3E}">
        <p14:creationId xmlns:p14="http://schemas.microsoft.com/office/powerpoint/2010/main" val="281582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Model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Inputs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Outputs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(CLASSE)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271792F-D779-BAAF-6CC3-52FBDE078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895754"/>
              </p:ext>
            </p:extLst>
          </p:nvPr>
        </p:nvGraphicFramePr>
        <p:xfrm>
          <a:off x="1371600" y="803275"/>
          <a:ext cx="9429750" cy="534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429598" imgH="5343679" progId="Excel.Sheet.12">
                  <p:embed/>
                </p:oleObj>
              </mc:Choice>
              <mc:Fallback>
                <p:oleObj name="Worksheet" r:id="rId2" imgW="9429598" imgH="534367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1600" y="803275"/>
                        <a:ext cx="9429750" cy="5343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485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E2C4-5DAE-C13B-F72C-4E653602D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LATERAL </a:t>
            </a:r>
            <a:r>
              <a:rPr lang="hu-HU" dirty="0" err="1"/>
              <a:t>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75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Lateral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7" name="ZoneTexte 6"/>
          <p:cNvSpPr txBox="1"/>
          <p:nvPr/>
        </p:nvSpPr>
        <p:spPr>
          <a:xfrm>
            <a:off x="296419" y="890009"/>
            <a:ext cx="10028712" cy="51276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indent="-45801" fontAlgn="auto">
              <a:spcBef>
                <a:spcPts val="500"/>
              </a:spcBef>
              <a:spcAft>
                <a:spcPts val="0"/>
              </a:spcAft>
            </a:pPr>
            <a:r>
              <a:rPr lang="hu-HU" b="1" kern="0" dirty="0" err="1">
                <a:solidFill>
                  <a:srgbClr val="000000"/>
                </a:solidFill>
              </a:rPr>
              <a:t>Basis</a:t>
            </a:r>
            <a:r>
              <a:rPr lang="hu-HU" b="1" kern="0" dirty="0">
                <a:solidFill>
                  <a:srgbClr val="000000"/>
                </a:solidFill>
              </a:rPr>
              <a:t> </a:t>
            </a:r>
            <a:r>
              <a:rPr lang="hu-HU" b="1" kern="0" dirty="0" err="1">
                <a:solidFill>
                  <a:srgbClr val="000000"/>
                </a:solidFill>
              </a:rPr>
              <a:t>data</a:t>
            </a:r>
            <a:r>
              <a:rPr lang="hu-HU" b="1" kern="0" dirty="0">
                <a:solidFill>
                  <a:srgbClr val="000000"/>
                </a:solidFill>
              </a:rPr>
              <a:t> - Ego </a:t>
            </a:r>
            <a:r>
              <a:rPr lang="hu-HU" b="1" kern="0" dirty="0" err="1">
                <a:solidFill>
                  <a:srgbClr val="000000"/>
                </a:solidFill>
              </a:rPr>
              <a:t>parameters</a:t>
            </a:r>
            <a:r>
              <a:rPr lang="hu-HU" b="1" kern="0" dirty="0">
                <a:solidFill>
                  <a:srgbClr val="000000"/>
                </a:solidFill>
              </a:rPr>
              <a:t> </a:t>
            </a:r>
            <a:r>
              <a:rPr lang="hu-HU" b="1" kern="0" dirty="0" err="1">
                <a:solidFill>
                  <a:srgbClr val="000000"/>
                </a:solidFill>
              </a:rPr>
              <a:t>to</a:t>
            </a:r>
            <a:r>
              <a:rPr lang="hu-HU" b="1" kern="0" dirty="0">
                <a:solidFill>
                  <a:srgbClr val="000000"/>
                </a:solidFill>
              </a:rPr>
              <a:t> </a:t>
            </a:r>
            <a:r>
              <a:rPr lang="hu-HU" b="1" kern="0" dirty="0" err="1">
                <a:solidFill>
                  <a:srgbClr val="000000"/>
                </a:solidFill>
              </a:rPr>
              <a:t>calculate</a:t>
            </a:r>
            <a:r>
              <a:rPr lang="hu-HU" b="1" kern="0" dirty="0">
                <a:solidFill>
                  <a:srgbClr val="000000"/>
                </a:solidFill>
              </a:rPr>
              <a:t> </a:t>
            </a:r>
            <a:r>
              <a:rPr lang="hu-HU" b="1" kern="0" dirty="0" err="1">
                <a:solidFill>
                  <a:srgbClr val="000000"/>
                </a:solidFill>
              </a:rPr>
              <a:t>vehicle</a:t>
            </a:r>
            <a:r>
              <a:rPr lang="hu-HU" b="1" kern="0" dirty="0">
                <a:solidFill>
                  <a:srgbClr val="000000"/>
                </a:solidFill>
              </a:rPr>
              <a:t> </a:t>
            </a:r>
            <a:r>
              <a:rPr lang="hu-HU" b="1" kern="0" dirty="0" err="1">
                <a:solidFill>
                  <a:srgbClr val="000000"/>
                </a:solidFill>
              </a:rPr>
              <a:t>motion</a:t>
            </a:r>
            <a:r>
              <a:rPr lang="hu-HU" kern="0" dirty="0">
                <a:solidFill>
                  <a:srgbClr val="000000"/>
                </a:solidFill>
              </a:rPr>
              <a:t> (</a:t>
            </a:r>
            <a:r>
              <a:rPr lang="hu-HU" kern="0" dirty="0" err="1">
                <a:solidFill>
                  <a:srgbClr val="000000"/>
                </a:solidFill>
              </a:rPr>
              <a:t>car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dimenstions</a:t>
            </a:r>
            <a:r>
              <a:rPr lang="hu-HU" kern="0" dirty="0">
                <a:solidFill>
                  <a:srgbClr val="000000"/>
                </a:solidFill>
              </a:rPr>
              <a:t>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b="1" kern="0" dirty="0" err="1">
                <a:solidFill>
                  <a:srgbClr val="000000"/>
                </a:solidFill>
              </a:rPr>
              <a:t>Basis</a:t>
            </a:r>
            <a:r>
              <a:rPr lang="hu-HU" b="1" kern="0" dirty="0">
                <a:solidFill>
                  <a:srgbClr val="000000"/>
                </a:solidFill>
              </a:rPr>
              <a:t> </a:t>
            </a:r>
            <a:r>
              <a:rPr lang="hu-HU" b="1" kern="0" dirty="0" err="1">
                <a:solidFill>
                  <a:srgbClr val="000000"/>
                </a:solidFill>
              </a:rPr>
              <a:t>model</a:t>
            </a:r>
            <a:r>
              <a:rPr lang="hu-HU" b="1" kern="0" dirty="0">
                <a:solidFill>
                  <a:srgbClr val="000000"/>
                </a:solidFill>
              </a:rPr>
              <a:t> and </a:t>
            </a:r>
            <a:r>
              <a:rPr lang="hu-HU" b="1" kern="0" dirty="0" err="1">
                <a:solidFill>
                  <a:srgbClr val="000000"/>
                </a:solidFill>
              </a:rPr>
              <a:t>calculations</a:t>
            </a:r>
            <a:r>
              <a:rPr lang="hu-HU" b="1" kern="0" dirty="0">
                <a:solidFill>
                  <a:srgbClr val="000000"/>
                </a:solidFill>
              </a:rPr>
              <a:t> of </a:t>
            </a:r>
            <a:r>
              <a:rPr lang="hu-HU" b="1" kern="0" dirty="0" err="1">
                <a:solidFill>
                  <a:srgbClr val="000000"/>
                </a:solidFill>
              </a:rPr>
              <a:t>turning</a:t>
            </a:r>
            <a:r>
              <a:rPr lang="hu-HU" b="1" kern="0" dirty="0">
                <a:solidFill>
                  <a:srgbClr val="000000"/>
                </a:solidFill>
              </a:rPr>
              <a:t> </a:t>
            </a:r>
            <a:r>
              <a:rPr lang="hu-HU" b="1" kern="0" dirty="0" err="1">
                <a:solidFill>
                  <a:srgbClr val="000000"/>
                </a:solidFill>
              </a:rPr>
              <a:t>movement</a:t>
            </a:r>
            <a:endParaRPr lang="hu-HU" b="1" kern="0" dirty="0">
              <a:solidFill>
                <a:srgbClr val="000000"/>
              </a:solidFill>
            </a:endParaRP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kern="0" dirty="0" err="1">
                <a:solidFill>
                  <a:srgbClr val="000000"/>
                </a:solidFill>
              </a:rPr>
              <a:t>wheel</a:t>
            </a:r>
            <a:r>
              <a:rPr lang="hu-HU" kern="0" dirty="0">
                <a:solidFill>
                  <a:srgbClr val="000000"/>
                </a:solidFill>
              </a:rPr>
              <a:t> angle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kern="0" dirty="0" err="1">
                <a:solidFill>
                  <a:srgbClr val="000000"/>
                </a:solidFill>
              </a:rPr>
              <a:t>simplified</a:t>
            </a:r>
            <a:r>
              <a:rPr lang="hu-HU" kern="0" dirty="0">
                <a:solidFill>
                  <a:srgbClr val="000000"/>
                </a:solidFill>
              </a:rPr>
              <a:t> model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kern="0" dirty="0">
                <a:solidFill>
                  <a:srgbClr val="000000"/>
                </a:solidFill>
              </a:rPr>
              <a:t>delta </a:t>
            </a:r>
            <a:r>
              <a:rPr lang="hu-HU" kern="0" dirty="0" err="1">
                <a:solidFill>
                  <a:srgbClr val="000000"/>
                </a:solidFill>
              </a:rPr>
              <a:t>heading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angle</a:t>
            </a:r>
            <a:endParaRPr lang="hu-HU" kern="0" dirty="0">
              <a:solidFill>
                <a:srgbClr val="000000"/>
              </a:solidFill>
            </a:endParaRP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kern="0" dirty="0" err="1">
                <a:solidFill>
                  <a:srgbClr val="000000"/>
                </a:solidFill>
              </a:rPr>
              <a:t>wheel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angles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calculated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from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i="1" kern="0" dirty="0">
                <a:solidFill>
                  <a:srgbClr val="000000"/>
                </a:solidFill>
              </a:rPr>
              <a:t>front center</a:t>
            </a:r>
            <a:r>
              <a:rPr lang="hu-HU" kern="0" dirty="0">
                <a:solidFill>
                  <a:srgbClr val="000000"/>
                </a:solidFill>
              </a:rPr>
              <a:t> RWA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kern="0" dirty="0" err="1">
                <a:solidFill>
                  <a:srgbClr val="000000"/>
                </a:solidFill>
              </a:rPr>
              <a:t>wheel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angles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calculated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from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i="1" kern="0" dirty="0" err="1">
                <a:solidFill>
                  <a:srgbClr val="000000"/>
                </a:solidFill>
              </a:rPr>
              <a:t>side</a:t>
            </a:r>
            <a:r>
              <a:rPr lang="hu-HU" i="1" kern="0" dirty="0">
                <a:solidFill>
                  <a:srgbClr val="000000"/>
                </a:solidFill>
              </a:rPr>
              <a:t> </a:t>
            </a:r>
            <a:r>
              <a:rPr lang="hu-HU" kern="0" dirty="0">
                <a:solidFill>
                  <a:srgbClr val="000000"/>
                </a:solidFill>
              </a:rPr>
              <a:t>RWA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kern="0" dirty="0" err="1">
                <a:solidFill>
                  <a:srgbClr val="000000"/>
                </a:solidFill>
              </a:rPr>
              <a:t>wheel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speeds</a:t>
            </a:r>
            <a:endParaRPr lang="hu-HU" kern="0" dirty="0">
              <a:solidFill>
                <a:srgbClr val="000000"/>
              </a:solidFill>
            </a:endParaRP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kern="0" dirty="0">
                <a:solidFill>
                  <a:srgbClr val="000000"/>
                </a:solidFill>
              </a:rPr>
              <a:t>Max </a:t>
            </a:r>
            <a:r>
              <a:rPr lang="hu-HU" kern="0" dirty="0" err="1">
                <a:solidFill>
                  <a:srgbClr val="000000"/>
                </a:solidFill>
              </a:rPr>
              <a:t>allowed</a:t>
            </a:r>
            <a:r>
              <a:rPr lang="hu-HU" kern="0" dirty="0">
                <a:solidFill>
                  <a:srgbClr val="000000"/>
                </a:solidFill>
              </a:rPr>
              <a:t> RWA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kern="0" dirty="0" err="1">
                <a:solidFill>
                  <a:srgbClr val="000000"/>
                </a:solidFill>
              </a:rPr>
              <a:t>Active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steering</a:t>
            </a:r>
            <a:r>
              <a:rPr lang="hu-HU" kern="0" dirty="0">
                <a:solidFill>
                  <a:srgbClr val="000000"/>
                </a:solidFill>
              </a:rPr>
              <a:t> (</a:t>
            </a:r>
            <a:r>
              <a:rPr lang="hu-HU" kern="0" dirty="0" err="1">
                <a:solidFill>
                  <a:srgbClr val="000000"/>
                </a:solidFill>
              </a:rPr>
              <a:t>control</a:t>
            </a:r>
            <a:r>
              <a:rPr lang="hu-HU" kern="0" dirty="0">
                <a:solidFill>
                  <a:srgbClr val="000000"/>
                </a:solidFill>
              </a:rPr>
              <a:t> flow)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kern="0" dirty="0">
                <a:solidFill>
                  <a:srgbClr val="000000"/>
                </a:solidFill>
              </a:rPr>
              <a:t>Driver </a:t>
            </a:r>
            <a:r>
              <a:rPr lang="hu-HU" kern="0" dirty="0" err="1">
                <a:solidFill>
                  <a:srgbClr val="000000"/>
                </a:solidFill>
              </a:rPr>
              <a:t>torque</a:t>
            </a:r>
            <a:endParaRPr lang="hu-HU" kern="0" dirty="0">
              <a:solidFill>
                <a:srgbClr val="000000"/>
              </a:solidFill>
            </a:endParaRP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b="1" kern="0" dirty="0" err="1">
                <a:solidFill>
                  <a:srgbClr val="000000"/>
                </a:solidFill>
              </a:rPr>
              <a:t>User</a:t>
            </a:r>
            <a:r>
              <a:rPr lang="hu-HU" b="1" kern="0" dirty="0">
                <a:solidFill>
                  <a:srgbClr val="000000"/>
                </a:solidFill>
              </a:rPr>
              <a:t> </a:t>
            </a:r>
            <a:r>
              <a:rPr lang="hu-HU" b="1" kern="0" dirty="0" err="1">
                <a:solidFill>
                  <a:srgbClr val="000000"/>
                </a:solidFill>
              </a:rPr>
              <a:t>interface</a:t>
            </a:r>
            <a:endParaRPr lang="hu-HU" b="1" kern="0" dirty="0">
              <a:solidFill>
                <a:srgbClr val="000000"/>
              </a:solidFill>
            </a:endParaRP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kern="0" dirty="0" err="1">
                <a:solidFill>
                  <a:srgbClr val="000000"/>
                </a:solidFill>
              </a:rPr>
              <a:t>Vehicle</a:t>
            </a:r>
            <a:r>
              <a:rPr lang="hu-HU" kern="0" dirty="0">
                <a:solidFill>
                  <a:srgbClr val="000000"/>
                </a:solidFill>
              </a:rPr>
              <a:t> </a:t>
            </a:r>
            <a:r>
              <a:rPr lang="hu-HU" kern="0" dirty="0" err="1">
                <a:solidFill>
                  <a:srgbClr val="000000"/>
                </a:solidFill>
              </a:rPr>
              <a:t>motion</a:t>
            </a:r>
            <a:r>
              <a:rPr lang="hu-HU" kern="0" dirty="0">
                <a:solidFill>
                  <a:srgbClr val="000000"/>
                </a:solidFill>
              </a:rPr>
              <a:t> output </a:t>
            </a:r>
            <a:r>
              <a:rPr lang="hu-HU" kern="0" dirty="0" err="1">
                <a:solidFill>
                  <a:srgbClr val="000000"/>
                </a:solidFill>
              </a:rPr>
              <a:t>information</a:t>
            </a:r>
            <a:r>
              <a:rPr lang="hu-HU" kern="0" dirty="0">
                <a:solidFill>
                  <a:srgbClr val="000000"/>
                </a:solidFill>
              </a:rPr>
              <a:t> and </a:t>
            </a:r>
            <a:r>
              <a:rPr lang="hu-HU" kern="0" dirty="0" err="1">
                <a:solidFill>
                  <a:srgbClr val="000000"/>
                </a:solidFill>
              </a:rPr>
              <a:t>parameters</a:t>
            </a:r>
            <a:r>
              <a:rPr lang="hu-HU" kern="0" dirty="0">
                <a:solidFill>
                  <a:srgbClr val="000000"/>
                </a:solidFill>
              </a:rPr>
              <a:t> (EGO </a:t>
            </a:r>
            <a:r>
              <a:rPr lang="hu-HU" kern="0" dirty="0" err="1">
                <a:solidFill>
                  <a:srgbClr val="000000"/>
                </a:solidFill>
              </a:rPr>
              <a:t>Motion</a:t>
            </a:r>
            <a:r>
              <a:rPr lang="hu-HU" kern="0" dirty="0">
                <a:solidFill>
                  <a:srgbClr val="000000"/>
                </a:solidFill>
              </a:rPr>
              <a:t> panel)</a:t>
            </a:r>
          </a:p>
          <a:p>
            <a:pPr marL="411137" lvl="1" fontAlgn="auto">
              <a:spcBef>
                <a:spcPts val="500"/>
              </a:spcBef>
              <a:spcAft>
                <a:spcPts val="0"/>
              </a:spcAft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6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Motion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car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dimensions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sp>
        <p:nvSpPr>
          <p:cNvPr id="7" name="ZoneTexte 6"/>
          <p:cNvSpPr txBox="1"/>
          <p:nvPr/>
        </p:nvSpPr>
        <p:spPr>
          <a:xfrm>
            <a:off x="296419" y="890009"/>
            <a:ext cx="3189731" cy="3291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en-US" kern="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B1627-2A7E-7E92-6FA2-6AF4CC6E1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020" y="1054604"/>
            <a:ext cx="8715486" cy="470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50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Vehicle turning movement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- wheel angle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B42292-C681-4F2C-8A73-0881B31E112B}"/>
              </a:ext>
            </a:extLst>
          </p:cNvPr>
          <p:cNvSpPr/>
          <p:nvPr/>
        </p:nvSpPr>
        <p:spPr>
          <a:xfrm>
            <a:off x="6805245" y="2130761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315714-AC74-4D05-AD74-CE7363A14A3D}"/>
              </a:ext>
            </a:extLst>
          </p:cNvPr>
          <p:cNvSpPr/>
          <p:nvPr/>
        </p:nvSpPr>
        <p:spPr>
          <a:xfrm>
            <a:off x="6805245" y="3959621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504115-1961-4B9E-ABD9-03043EEB7246}"/>
              </a:ext>
            </a:extLst>
          </p:cNvPr>
          <p:cNvCxnSpPr>
            <a:cxnSpLocks/>
            <a:stCxn id="34" idx="0"/>
            <a:endCxn id="2" idx="2"/>
          </p:cNvCxnSpPr>
          <p:nvPr/>
        </p:nvCxnSpPr>
        <p:spPr>
          <a:xfrm flipV="1">
            <a:off x="7180384" y="2448085"/>
            <a:ext cx="0" cy="1511536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74FEDD2-330A-43E0-8AC7-3009EA1209D6}"/>
              </a:ext>
            </a:extLst>
          </p:cNvPr>
          <p:cNvSpPr/>
          <p:nvPr/>
        </p:nvSpPr>
        <p:spPr>
          <a:xfrm>
            <a:off x="7132603" y="3141092"/>
            <a:ext cx="95559" cy="100354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3EA533-ED6A-436A-8E58-D9BC72B672BA}"/>
              </a:ext>
            </a:extLst>
          </p:cNvPr>
          <p:cNvSpPr/>
          <p:nvPr/>
        </p:nvSpPr>
        <p:spPr>
          <a:xfrm>
            <a:off x="3836715" y="2125405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8F5C63-CC95-4D64-8189-80C4193E5272}"/>
              </a:ext>
            </a:extLst>
          </p:cNvPr>
          <p:cNvSpPr/>
          <p:nvPr/>
        </p:nvSpPr>
        <p:spPr>
          <a:xfrm>
            <a:off x="3843211" y="3903122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39B3C80-C854-46B2-A60B-5CC5821525C6}"/>
              </a:ext>
            </a:extLst>
          </p:cNvPr>
          <p:cNvCxnSpPr>
            <a:cxnSpLocks/>
          </p:cNvCxnSpPr>
          <p:nvPr/>
        </p:nvCxnSpPr>
        <p:spPr>
          <a:xfrm flipV="1">
            <a:off x="4218350" y="2445708"/>
            <a:ext cx="0" cy="148289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634C5F40-BE6A-4546-9B32-3D081C20A310}"/>
              </a:ext>
            </a:extLst>
          </p:cNvPr>
          <p:cNvSpPr/>
          <p:nvPr/>
        </p:nvSpPr>
        <p:spPr>
          <a:xfrm>
            <a:off x="4170572" y="3137985"/>
            <a:ext cx="95559" cy="100354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78B35D1-701C-4195-9F90-2E2E988B8D3C}"/>
              </a:ext>
            </a:extLst>
          </p:cNvPr>
          <p:cNvCxnSpPr>
            <a:cxnSpLocks/>
          </p:cNvCxnSpPr>
          <p:nvPr/>
        </p:nvCxnSpPr>
        <p:spPr>
          <a:xfrm flipH="1" flipV="1">
            <a:off x="1100015" y="3188162"/>
            <a:ext cx="6008698" cy="1"/>
          </a:xfrm>
          <a:prstGeom prst="straightConnector1">
            <a:avLst/>
          </a:prstGeom>
          <a:ln w="15875">
            <a:solidFill>
              <a:schemeClr val="tx1">
                <a:alpha val="13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515A68F-DE28-406F-8F4B-6E25C96BF9EE}"/>
              </a:ext>
            </a:extLst>
          </p:cNvPr>
          <p:cNvSpPr/>
          <p:nvPr/>
        </p:nvSpPr>
        <p:spPr>
          <a:xfrm rot="19596989">
            <a:off x="3843212" y="3037754"/>
            <a:ext cx="750277" cy="317324"/>
          </a:xfrm>
          <a:prstGeom prst="rect">
            <a:avLst/>
          </a:prstGeom>
          <a:solidFill>
            <a:schemeClr val="bg2">
              <a:lumMod val="50000"/>
              <a:alpha val="10000"/>
            </a:schemeClr>
          </a:solidFill>
          <a:ln w="9525" cap="flat" cmpd="sng" algn="ctr">
            <a:solidFill>
              <a:srgbClr val="3F136C">
                <a:alpha val="2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0088199-9143-43E4-B403-950AF51E1C41}"/>
              </a:ext>
            </a:extLst>
          </p:cNvPr>
          <p:cNvCxnSpPr>
            <a:cxnSpLocks/>
          </p:cNvCxnSpPr>
          <p:nvPr/>
        </p:nvCxnSpPr>
        <p:spPr>
          <a:xfrm flipV="1">
            <a:off x="3185377" y="2345672"/>
            <a:ext cx="2265094" cy="1527313"/>
          </a:xfrm>
          <a:prstGeom prst="line">
            <a:avLst/>
          </a:prstGeom>
          <a:ln w="12700">
            <a:solidFill>
              <a:srgbClr val="ED0007">
                <a:alpha val="28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F94D9805-28EB-4070-A284-92DB2CE95DBD}"/>
              </a:ext>
            </a:extLst>
          </p:cNvPr>
          <p:cNvSpPr/>
          <p:nvPr/>
        </p:nvSpPr>
        <p:spPr>
          <a:xfrm rot="5400000">
            <a:off x="4484628" y="2400745"/>
            <a:ext cx="561931" cy="989044"/>
          </a:xfrm>
          <a:custGeom>
            <a:avLst/>
            <a:gdLst>
              <a:gd name="connsiteX0" fmla="*/ 578498 w 587828"/>
              <a:gd name="connsiteY0" fmla="*/ 989044 h 989044"/>
              <a:gd name="connsiteX1" fmla="*/ 587828 w 587828"/>
              <a:gd name="connsiteY1" fmla="*/ 0 h 989044"/>
              <a:gd name="connsiteX2" fmla="*/ 0 w 587828"/>
              <a:gd name="connsiteY2" fmla="*/ 167951 h 989044"/>
              <a:gd name="connsiteX3" fmla="*/ 578498 w 587828"/>
              <a:gd name="connsiteY3" fmla="*/ 989044 h 98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828" h="989044">
                <a:moveTo>
                  <a:pt x="578498" y="989044"/>
                </a:moveTo>
                <a:lnTo>
                  <a:pt x="587828" y="0"/>
                </a:lnTo>
                <a:lnTo>
                  <a:pt x="0" y="167951"/>
                </a:lnTo>
                <a:lnTo>
                  <a:pt x="578498" y="989044"/>
                </a:lnTo>
                <a:close/>
              </a:path>
            </a:pathLst>
          </a:custGeom>
          <a:solidFill>
            <a:srgbClr val="ED0007">
              <a:alpha val="22000"/>
            </a:srgb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75E73A8-AC5E-4872-A5E6-E7CD3A694DA9}"/>
              </a:ext>
            </a:extLst>
          </p:cNvPr>
          <p:cNvSpPr txBox="1"/>
          <p:nvPr/>
        </p:nvSpPr>
        <p:spPr>
          <a:xfrm>
            <a:off x="3492718" y="1895547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FR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A4A306C-F100-4B08-B32A-B4AE933526A4}"/>
              </a:ext>
            </a:extLst>
          </p:cNvPr>
          <p:cNvSpPr txBox="1"/>
          <p:nvPr/>
        </p:nvSpPr>
        <p:spPr>
          <a:xfrm>
            <a:off x="7362602" y="4304430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/>
              <a:t>R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L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3EF955A-B0F4-426C-8D8E-672CA5AD0287}"/>
              </a:ext>
            </a:extLst>
          </p:cNvPr>
          <p:cNvSpPr txBox="1"/>
          <p:nvPr/>
        </p:nvSpPr>
        <p:spPr>
          <a:xfrm>
            <a:off x="7302453" y="1955978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/>
              <a:t>RR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CA4D531-B427-4232-B06C-7CFB48EE9B2F}"/>
              </a:ext>
            </a:extLst>
          </p:cNvPr>
          <p:cNvSpPr txBox="1"/>
          <p:nvPr/>
        </p:nvSpPr>
        <p:spPr>
          <a:xfrm>
            <a:off x="5260116" y="2776131"/>
            <a:ext cx="1374186" cy="2026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 err="1">
                <a:solidFill>
                  <a:srgbClr val="CC9900"/>
                </a:solidFill>
              </a:rPr>
              <a:t>Road</a:t>
            </a:r>
            <a:r>
              <a:rPr lang="hu-HU" sz="1200" kern="0" dirty="0">
                <a:solidFill>
                  <a:srgbClr val="CC9900"/>
                </a:solidFill>
              </a:rPr>
              <a:t> Wheel </a:t>
            </a:r>
            <a:r>
              <a:rPr lang="hu-HU" sz="1200" kern="0" dirty="0" err="1">
                <a:solidFill>
                  <a:srgbClr val="CC9900"/>
                </a:solidFill>
              </a:rPr>
              <a:t>Angle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</a:endParaRP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D157337-1318-45C7-953D-A1F1F3B3DA7A}"/>
              </a:ext>
            </a:extLst>
          </p:cNvPr>
          <p:cNvCxnSpPr>
            <a:cxnSpLocks/>
          </p:cNvCxnSpPr>
          <p:nvPr/>
        </p:nvCxnSpPr>
        <p:spPr>
          <a:xfrm>
            <a:off x="7643445" y="6347068"/>
            <a:ext cx="3232615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BCF99FBE-6441-4821-BF4C-D12DB1C1847E}"/>
              </a:ext>
            </a:extLst>
          </p:cNvPr>
          <p:cNvSpPr/>
          <p:nvPr/>
        </p:nvSpPr>
        <p:spPr>
          <a:xfrm>
            <a:off x="7145465" y="2411726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547D755-064E-48EC-8208-3C8101020155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7181465" y="2279618"/>
            <a:ext cx="0" cy="132108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DAF2364-7699-4745-AE99-8466076CE0ED}"/>
              </a:ext>
            </a:extLst>
          </p:cNvPr>
          <p:cNvCxnSpPr>
            <a:cxnSpLocks/>
          </p:cNvCxnSpPr>
          <p:nvPr/>
        </p:nvCxnSpPr>
        <p:spPr>
          <a:xfrm flipV="1">
            <a:off x="7181465" y="4001292"/>
            <a:ext cx="0" cy="132108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2524E89D-5809-43E0-9DBD-3C35EF577DD7}"/>
              </a:ext>
            </a:extLst>
          </p:cNvPr>
          <p:cNvSpPr/>
          <p:nvPr/>
        </p:nvSpPr>
        <p:spPr>
          <a:xfrm>
            <a:off x="7148100" y="3925110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A7182BB-6A2A-48BA-8279-8E5FD78160A5}"/>
              </a:ext>
            </a:extLst>
          </p:cNvPr>
          <p:cNvCxnSpPr>
            <a:cxnSpLocks/>
          </p:cNvCxnSpPr>
          <p:nvPr/>
        </p:nvCxnSpPr>
        <p:spPr>
          <a:xfrm rot="1848722" flipH="1" flipV="1">
            <a:off x="4187003" y="2296073"/>
            <a:ext cx="74396" cy="126840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0BCCCD2B-CE26-43D1-BB88-C692B3AEC34C}"/>
              </a:ext>
            </a:extLst>
          </p:cNvPr>
          <p:cNvSpPr/>
          <p:nvPr/>
        </p:nvSpPr>
        <p:spPr>
          <a:xfrm>
            <a:off x="4182697" y="2424915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4881056-99B8-4025-8830-3A2BBD71A444}"/>
              </a:ext>
            </a:extLst>
          </p:cNvPr>
          <p:cNvSpPr/>
          <p:nvPr/>
        </p:nvSpPr>
        <p:spPr>
          <a:xfrm>
            <a:off x="4183572" y="3903122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865663C-EF95-4A62-B225-221B3DADA5B4}"/>
              </a:ext>
            </a:extLst>
          </p:cNvPr>
          <p:cNvCxnSpPr>
            <a:cxnSpLocks/>
          </p:cNvCxnSpPr>
          <p:nvPr/>
        </p:nvCxnSpPr>
        <p:spPr>
          <a:xfrm rot="2457694" flipH="1" flipV="1">
            <a:off x="4174897" y="3953008"/>
            <a:ext cx="86903" cy="101461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D2F8775-83D0-434B-BDA9-2A7290A31AB7}"/>
              </a:ext>
            </a:extLst>
          </p:cNvPr>
          <p:cNvSpPr txBox="1"/>
          <p:nvPr/>
        </p:nvSpPr>
        <p:spPr>
          <a:xfrm>
            <a:off x="4632105" y="2919967"/>
            <a:ext cx="571258" cy="18982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l-GR" sz="1400" dirty="0">
                <a:solidFill>
                  <a:srgbClr val="CC9900"/>
                </a:solidFill>
                <a:latin typeface="Lucida Console" panose="020B0609040504020204" pitchFamily="49" charset="0"/>
              </a:rPr>
              <a:t>α</a:t>
            </a:r>
            <a:r>
              <a:rPr lang="hu-HU" sz="1400" dirty="0">
                <a:solidFill>
                  <a:srgbClr val="CC9900"/>
                </a:solidFill>
                <a:latin typeface="Lucida Console" panose="020B0609040504020204" pitchFamily="49" charset="0"/>
              </a:rPr>
              <a:t> &gt; 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752F686-7721-4953-8D9E-AF130E950EC8}"/>
              </a:ext>
            </a:extLst>
          </p:cNvPr>
          <p:cNvSpPr/>
          <p:nvPr/>
        </p:nvSpPr>
        <p:spPr>
          <a:xfrm>
            <a:off x="3838229" y="3025586"/>
            <a:ext cx="750277" cy="317324"/>
          </a:xfrm>
          <a:prstGeom prst="rect">
            <a:avLst/>
          </a:prstGeom>
          <a:solidFill>
            <a:schemeClr val="bg2">
              <a:lumMod val="50000"/>
              <a:alpha val="39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03EEBF4-ECE4-4C8D-B6C6-57C45C2697B8}"/>
              </a:ext>
            </a:extLst>
          </p:cNvPr>
          <p:cNvCxnSpPr>
            <a:cxnSpLocks/>
          </p:cNvCxnSpPr>
          <p:nvPr/>
        </p:nvCxnSpPr>
        <p:spPr>
          <a:xfrm rot="2003011" flipV="1">
            <a:off x="3162450" y="2433268"/>
            <a:ext cx="2283916" cy="1501592"/>
          </a:xfrm>
          <a:prstGeom prst="line">
            <a:avLst/>
          </a:prstGeom>
          <a:ln w="12700">
            <a:solidFill>
              <a:srgbClr val="ED000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EF76477D-C72C-4A6E-90DD-211FCC60C063}"/>
              </a:ext>
            </a:extLst>
          </p:cNvPr>
          <p:cNvSpPr/>
          <p:nvPr/>
        </p:nvSpPr>
        <p:spPr>
          <a:xfrm rot="2181540">
            <a:off x="3838231" y="3025570"/>
            <a:ext cx="750277" cy="317324"/>
          </a:xfrm>
          <a:prstGeom prst="rect">
            <a:avLst/>
          </a:prstGeom>
          <a:solidFill>
            <a:schemeClr val="bg2">
              <a:lumMod val="50000"/>
              <a:alpha val="10000"/>
            </a:schemeClr>
          </a:solidFill>
          <a:ln w="9525" cap="flat" cmpd="sng" algn="ctr">
            <a:solidFill>
              <a:srgbClr val="3F136C">
                <a:alpha val="2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CA3BDF8-F0E0-4AD2-BB73-928D14F5027C}"/>
              </a:ext>
            </a:extLst>
          </p:cNvPr>
          <p:cNvCxnSpPr>
            <a:cxnSpLocks/>
          </p:cNvCxnSpPr>
          <p:nvPr/>
        </p:nvCxnSpPr>
        <p:spPr>
          <a:xfrm>
            <a:off x="3145662" y="2424915"/>
            <a:ext cx="2241351" cy="1578823"/>
          </a:xfrm>
          <a:prstGeom prst="line">
            <a:avLst/>
          </a:prstGeom>
          <a:ln w="12700">
            <a:solidFill>
              <a:srgbClr val="ED0007">
                <a:alpha val="28000"/>
              </a:srgb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A876F62F-910A-40B5-8872-B873F503D92F}"/>
              </a:ext>
            </a:extLst>
          </p:cNvPr>
          <p:cNvSpPr/>
          <p:nvPr/>
        </p:nvSpPr>
        <p:spPr>
          <a:xfrm rot="16260000" flipV="1">
            <a:off x="4475101" y="2982236"/>
            <a:ext cx="561931" cy="989044"/>
          </a:xfrm>
          <a:custGeom>
            <a:avLst/>
            <a:gdLst>
              <a:gd name="connsiteX0" fmla="*/ 578498 w 587828"/>
              <a:gd name="connsiteY0" fmla="*/ 989044 h 989044"/>
              <a:gd name="connsiteX1" fmla="*/ 587828 w 587828"/>
              <a:gd name="connsiteY1" fmla="*/ 0 h 989044"/>
              <a:gd name="connsiteX2" fmla="*/ 0 w 587828"/>
              <a:gd name="connsiteY2" fmla="*/ 167951 h 989044"/>
              <a:gd name="connsiteX3" fmla="*/ 578498 w 587828"/>
              <a:gd name="connsiteY3" fmla="*/ 989044 h 98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828" h="989044">
                <a:moveTo>
                  <a:pt x="578498" y="989044"/>
                </a:moveTo>
                <a:lnTo>
                  <a:pt x="587828" y="0"/>
                </a:lnTo>
                <a:lnTo>
                  <a:pt x="0" y="167951"/>
                </a:lnTo>
                <a:lnTo>
                  <a:pt x="578498" y="989044"/>
                </a:lnTo>
                <a:close/>
              </a:path>
            </a:pathLst>
          </a:custGeom>
          <a:solidFill>
            <a:srgbClr val="92D050">
              <a:alpha val="22000"/>
            </a:srgb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3FC86CD-9747-4D66-BFB9-D6FA52144D59}"/>
              </a:ext>
            </a:extLst>
          </p:cNvPr>
          <p:cNvSpPr txBox="1"/>
          <p:nvPr/>
        </p:nvSpPr>
        <p:spPr>
          <a:xfrm>
            <a:off x="4632105" y="3225633"/>
            <a:ext cx="571258" cy="18982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l-GR" sz="1400" dirty="0">
                <a:solidFill>
                  <a:srgbClr val="CC9900"/>
                </a:solidFill>
                <a:latin typeface="Lucida Console" panose="020B0609040504020204" pitchFamily="49" charset="0"/>
              </a:rPr>
              <a:t>α</a:t>
            </a:r>
            <a:r>
              <a:rPr lang="hu-HU" sz="1400" dirty="0">
                <a:solidFill>
                  <a:srgbClr val="CC9900"/>
                </a:solidFill>
                <a:latin typeface="Lucida Console" panose="020B0609040504020204" pitchFamily="49" charset="0"/>
              </a:rPr>
              <a:t> &lt; 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930DEA7-6BF5-407A-AD13-13D5D0A326D3}"/>
              </a:ext>
            </a:extLst>
          </p:cNvPr>
          <p:cNvSpPr txBox="1"/>
          <p:nvPr/>
        </p:nvSpPr>
        <p:spPr>
          <a:xfrm>
            <a:off x="3535196" y="4399083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FL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8396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turning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movement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simplified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model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B42292-C681-4F2C-8A73-0881B31E112B}"/>
              </a:ext>
            </a:extLst>
          </p:cNvPr>
          <p:cNvSpPr/>
          <p:nvPr/>
        </p:nvSpPr>
        <p:spPr>
          <a:xfrm>
            <a:off x="7643445" y="997286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315714-AC74-4D05-AD74-CE7363A14A3D}"/>
              </a:ext>
            </a:extLst>
          </p:cNvPr>
          <p:cNvSpPr/>
          <p:nvPr/>
        </p:nvSpPr>
        <p:spPr>
          <a:xfrm>
            <a:off x="7643445" y="2826146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504115-1961-4B9E-ABD9-03043EEB7246}"/>
              </a:ext>
            </a:extLst>
          </p:cNvPr>
          <p:cNvCxnSpPr>
            <a:cxnSpLocks/>
            <a:stCxn id="34" idx="0"/>
            <a:endCxn id="2" idx="2"/>
          </p:cNvCxnSpPr>
          <p:nvPr/>
        </p:nvCxnSpPr>
        <p:spPr>
          <a:xfrm flipV="1">
            <a:off x="8018584" y="1314610"/>
            <a:ext cx="0" cy="1511536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74FEDD2-330A-43E0-8AC7-3009EA1209D6}"/>
              </a:ext>
            </a:extLst>
          </p:cNvPr>
          <p:cNvSpPr/>
          <p:nvPr/>
        </p:nvSpPr>
        <p:spPr>
          <a:xfrm>
            <a:off x="7970803" y="2007617"/>
            <a:ext cx="95559" cy="100354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3EA533-ED6A-436A-8E58-D9BC72B672BA}"/>
              </a:ext>
            </a:extLst>
          </p:cNvPr>
          <p:cNvSpPr/>
          <p:nvPr/>
        </p:nvSpPr>
        <p:spPr>
          <a:xfrm rot="19751278">
            <a:off x="4588107" y="1013607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8F5C63-CC95-4D64-8189-80C4193E5272}"/>
              </a:ext>
            </a:extLst>
          </p:cNvPr>
          <p:cNvSpPr/>
          <p:nvPr/>
        </p:nvSpPr>
        <p:spPr>
          <a:xfrm rot="19142306">
            <a:off x="4790963" y="2771845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39B3C80-C854-46B2-A60B-5CC5821525C6}"/>
              </a:ext>
            </a:extLst>
          </p:cNvPr>
          <p:cNvCxnSpPr>
            <a:cxnSpLocks/>
          </p:cNvCxnSpPr>
          <p:nvPr/>
        </p:nvCxnSpPr>
        <p:spPr>
          <a:xfrm flipV="1">
            <a:off x="5056550" y="1312233"/>
            <a:ext cx="0" cy="148289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634C5F40-BE6A-4546-9B32-3D081C20A310}"/>
              </a:ext>
            </a:extLst>
          </p:cNvPr>
          <p:cNvSpPr/>
          <p:nvPr/>
        </p:nvSpPr>
        <p:spPr>
          <a:xfrm>
            <a:off x="5008772" y="2004510"/>
            <a:ext cx="95559" cy="100354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78B35D1-701C-4195-9F90-2E2E988B8D3C}"/>
              </a:ext>
            </a:extLst>
          </p:cNvPr>
          <p:cNvCxnSpPr>
            <a:cxnSpLocks/>
          </p:cNvCxnSpPr>
          <p:nvPr/>
        </p:nvCxnSpPr>
        <p:spPr>
          <a:xfrm flipH="1" flipV="1">
            <a:off x="1938215" y="2054687"/>
            <a:ext cx="6008698" cy="1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515A68F-DE28-406F-8F4B-6E25C96BF9EE}"/>
              </a:ext>
            </a:extLst>
          </p:cNvPr>
          <p:cNvSpPr/>
          <p:nvPr/>
        </p:nvSpPr>
        <p:spPr>
          <a:xfrm rot="19596989">
            <a:off x="4681412" y="1904279"/>
            <a:ext cx="750277" cy="317324"/>
          </a:xfrm>
          <a:prstGeom prst="rect">
            <a:avLst/>
          </a:prstGeom>
          <a:solidFill>
            <a:schemeClr val="bg2">
              <a:lumMod val="50000"/>
              <a:alpha val="39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43C0ECD-236A-4687-AE9A-BAE22ED1C13B}"/>
              </a:ext>
            </a:extLst>
          </p:cNvPr>
          <p:cNvCxnSpPr>
            <a:cxnSpLocks/>
          </p:cNvCxnSpPr>
          <p:nvPr/>
        </p:nvCxnSpPr>
        <p:spPr>
          <a:xfrm flipV="1">
            <a:off x="8015950" y="3023988"/>
            <a:ext cx="6543" cy="3311498"/>
          </a:xfrm>
          <a:prstGeom prst="line">
            <a:avLst/>
          </a:prstGeom>
          <a:ln w="22225">
            <a:solidFill>
              <a:srgbClr val="FF99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12764FE-7D02-450D-ADC0-7EEB42FD7E13}"/>
              </a:ext>
            </a:extLst>
          </p:cNvPr>
          <p:cNvCxnSpPr>
            <a:cxnSpLocks/>
          </p:cNvCxnSpPr>
          <p:nvPr/>
        </p:nvCxnSpPr>
        <p:spPr>
          <a:xfrm flipH="1" flipV="1">
            <a:off x="5063095" y="2053681"/>
            <a:ext cx="2959398" cy="4272477"/>
          </a:xfrm>
          <a:prstGeom prst="line">
            <a:avLst/>
          </a:prstGeom>
          <a:ln w="15875">
            <a:solidFill>
              <a:srgbClr val="FF9900"/>
            </a:solidFill>
            <a:prstDash val="lg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CAAE9B0-9A90-46E7-86CA-F3CBE1892BEF}"/>
              </a:ext>
            </a:extLst>
          </p:cNvPr>
          <p:cNvCxnSpPr>
            <a:cxnSpLocks/>
          </p:cNvCxnSpPr>
          <p:nvPr/>
        </p:nvCxnSpPr>
        <p:spPr>
          <a:xfrm flipH="1" flipV="1">
            <a:off x="4966807" y="1180976"/>
            <a:ext cx="3049143" cy="5145183"/>
          </a:xfrm>
          <a:prstGeom prst="line">
            <a:avLst/>
          </a:prstGeom>
          <a:ln w="6350">
            <a:solidFill>
              <a:srgbClr val="FF99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25C4240-255B-4022-9B9C-2B58763E3D42}"/>
              </a:ext>
            </a:extLst>
          </p:cNvPr>
          <p:cNvCxnSpPr>
            <a:cxnSpLocks/>
          </p:cNvCxnSpPr>
          <p:nvPr/>
        </p:nvCxnSpPr>
        <p:spPr>
          <a:xfrm flipH="1" flipV="1">
            <a:off x="5160169" y="2924175"/>
            <a:ext cx="2855780" cy="3401983"/>
          </a:xfrm>
          <a:prstGeom prst="line">
            <a:avLst/>
          </a:prstGeom>
          <a:ln w="6350">
            <a:solidFill>
              <a:srgbClr val="FF9900"/>
            </a:solidFill>
            <a:prstDash val="lg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0088199-9143-43E4-B403-950AF51E1C41}"/>
              </a:ext>
            </a:extLst>
          </p:cNvPr>
          <p:cNvCxnSpPr>
            <a:cxnSpLocks/>
          </p:cNvCxnSpPr>
          <p:nvPr/>
        </p:nvCxnSpPr>
        <p:spPr>
          <a:xfrm flipV="1">
            <a:off x="4023577" y="1245061"/>
            <a:ext cx="2283916" cy="1501592"/>
          </a:xfrm>
          <a:prstGeom prst="line">
            <a:avLst/>
          </a:prstGeom>
          <a:ln w="12700">
            <a:solidFill>
              <a:srgbClr val="ED000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536C6E2-F067-4659-8817-5DB8DFDC0A3D}"/>
              </a:ext>
            </a:extLst>
          </p:cNvPr>
          <p:cNvCxnSpPr>
            <a:cxnSpLocks/>
          </p:cNvCxnSpPr>
          <p:nvPr/>
        </p:nvCxnSpPr>
        <p:spPr>
          <a:xfrm flipV="1">
            <a:off x="4038092" y="606781"/>
            <a:ext cx="1872642" cy="1116548"/>
          </a:xfrm>
          <a:prstGeom prst="line">
            <a:avLst/>
          </a:prstGeom>
          <a:ln w="12700">
            <a:solidFill>
              <a:srgbClr val="ED000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F54CAE5-5254-4416-A542-FA922DEAAAA6}"/>
              </a:ext>
            </a:extLst>
          </p:cNvPr>
          <p:cNvCxnSpPr>
            <a:cxnSpLocks/>
          </p:cNvCxnSpPr>
          <p:nvPr/>
        </p:nvCxnSpPr>
        <p:spPr>
          <a:xfrm flipV="1">
            <a:off x="4214824" y="2063269"/>
            <a:ext cx="1940791" cy="1703883"/>
          </a:xfrm>
          <a:prstGeom prst="line">
            <a:avLst/>
          </a:prstGeom>
          <a:ln w="12700">
            <a:solidFill>
              <a:srgbClr val="ED000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E6D2941B-F9A4-493C-941F-7710ED7357ED}"/>
              </a:ext>
            </a:extLst>
          </p:cNvPr>
          <p:cNvSpPr/>
          <p:nvPr/>
        </p:nvSpPr>
        <p:spPr>
          <a:xfrm>
            <a:off x="7417837" y="5281127"/>
            <a:ext cx="587828" cy="989044"/>
          </a:xfrm>
          <a:custGeom>
            <a:avLst/>
            <a:gdLst>
              <a:gd name="connsiteX0" fmla="*/ 578498 w 587828"/>
              <a:gd name="connsiteY0" fmla="*/ 989044 h 989044"/>
              <a:gd name="connsiteX1" fmla="*/ 587828 w 587828"/>
              <a:gd name="connsiteY1" fmla="*/ 0 h 989044"/>
              <a:gd name="connsiteX2" fmla="*/ 0 w 587828"/>
              <a:gd name="connsiteY2" fmla="*/ 167951 h 989044"/>
              <a:gd name="connsiteX3" fmla="*/ 578498 w 587828"/>
              <a:gd name="connsiteY3" fmla="*/ 989044 h 98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828" h="989044">
                <a:moveTo>
                  <a:pt x="578498" y="989044"/>
                </a:moveTo>
                <a:lnTo>
                  <a:pt x="587828" y="0"/>
                </a:lnTo>
                <a:lnTo>
                  <a:pt x="0" y="167951"/>
                </a:lnTo>
                <a:lnTo>
                  <a:pt x="578498" y="989044"/>
                </a:lnTo>
                <a:close/>
              </a:path>
            </a:pathLst>
          </a:custGeom>
          <a:solidFill>
            <a:srgbClr val="FFFF00">
              <a:alpha val="22000"/>
            </a:srgb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F94D9805-28EB-4070-A284-92DB2CE95DBD}"/>
              </a:ext>
            </a:extLst>
          </p:cNvPr>
          <p:cNvSpPr/>
          <p:nvPr/>
        </p:nvSpPr>
        <p:spPr>
          <a:xfrm rot="5400000">
            <a:off x="5356164" y="1274414"/>
            <a:ext cx="561931" cy="989044"/>
          </a:xfrm>
          <a:custGeom>
            <a:avLst/>
            <a:gdLst>
              <a:gd name="connsiteX0" fmla="*/ 578498 w 587828"/>
              <a:gd name="connsiteY0" fmla="*/ 989044 h 989044"/>
              <a:gd name="connsiteX1" fmla="*/ 587828 w 587828"/>
              <a:gd name="connsiteY1" fmla="*/ 0 h 989044"/>
              <a:gd name="connsiteX2" fmla="*/ 0 w 587828"/>
              <a:gd name="connsiteY2" fmla="*/ 167951 h 989044"/>
              <a:gd name="connsiteX3" fmla="*/ 578498 w 587828"/>
              <a:gd name="connsiteY3" fmla="*/ 989044 h 98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828" h="989044">
                <a:moveTo>
                  <a:pt x="578498" y="989044"/>
                </a:moveTo>
                <a:lnTo>
                  <a:pt x="587828" y="0"/>
                </a:lnTo>
                <a:lnTo>
                  <a:pt x="0" y="167951"/>
                </a:lnTo>
                <a:lnTo>
                  <a:pt x="578498" y="989044"/>
                </a:lnTo>
                <a:close/>
              </a:path>
            </a:pathLst>
          </a:custGeom>
          <a:solidFill>
            <a:srgbClr val="FFFF00">
              <a:alpha val="22000"/>
            </a:srgb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0736AB2-E8BA-4624-944F-1F5C8E3DB413}"/>
              </a:ext>
            </a:extLst>
          </p:cNvPr>
          <p:cNvCxnSpPr>
            <a:cxnSpLocks/>
          </p:cNvCxnSpPr>
          <p:nvPr/>
        </p:nvCxnSpPr>
        <p:spPr>
          <a:xfrm flipH="1">
            <a:off x="8140653" y="1859872"/>
            <a:ext cx="1072911" cy="167766"/>
          </a:xfrm>
          <a:prstGeom prst="straightConnector1">
            <a:avLst/>
          </a:prstGeom>
          <a:ln w="12700">
            <a:solidFill>
              <a:srgbClr val="0000F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A0B46AC-1F09-4525-9CD5-B457AB0CA672}"/>
              </a:ext>
            </a:extLst>
          </p:cNvPr>
          <p:cNvSpPr txBox="1"/>
          <p:nvPr/>
        </p:nvSpPr>
        <p:spPr>
          <a:xfrm>
            <a:off x="9340903" y="1727271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Rear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axis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center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FC5EA48-C9C1-436A-B4DC-60A03DE18626}"/>
              </a:ext>
            </a:extLst>
          </p:cNvPr>
          <p:cNvSpPr txBox="1"/>
          <p:nvPr/>
        </p:nvSpPr>
        <p:spPr>
          <a:xfrm>
            <a:off x="2402674" y="1082541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0000FF"/>
                </a:solidFill>
              </a:rPr>
              <a:t>Front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axis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 center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4874850-14F3-46A2-B156-B78E655D49D1}"/>
              </a:ext>
            </a:extLst>
          </p:cNvPr>
          <p:cNvCxnSpPr>
            <a:cxnSpLocks/>
          </p:cNvCxnSpPr>
          <p:nvPr/>
        </p:nvCxnSpPr>
        <p:spPr>
          <a:xfrm>
            <a:off x="3024684" y="1327569"/>
            <a:ext cx="1929871" cy="669182"/>
          </a:xfrm>
          <a:prstGeom prst="straightConnector1">
            <a:avLst/>
          </a:prstGeom>
          <a:ln w="12700">
            <a:solidFill>
              <a:srgbClr val="0000FF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75E73A8-AC5E-4872-A5E6-E7CD3A694DA9}"/>
              </a:ext>
            </a:extLst>
          </p:cNvPr>
          <p:cNvSpPr txBox="1"/>
          <p:nvPr/>
        </p:nvSpPr>
        <p:spPr>
          <a:xfrm>
            <a:off x="4330918" y="762072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FR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574D29C-8C25-4382-ABC3-D40BB0194539}"/>
              </a:ext>
            </a:extLst>
          </p:cNvPr>
          <p:cNvSpPr txBox="1"/>
          <p:nvPr/>
        </p:nvSpPr>
        <p:spPr>
          <a:xfrm>
            <a:off x="4739942" y="3356148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FL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A4A306C-F100-4B08-B32A-B4AE933526A4}"/>
              </a:ext>
            </a:extLst>
          </p:cNvPr>
          <p:cNvSpPr txBox="1"/>
          <p:nvPr/>
        </p:nvSpPr>
        <p:spPr>
          <a:xfrm>
            <a:off x="8200802" y="3170955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/>
              <a:t>R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L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3EF955A-B0F4-426C-8D8E-672CA5AD0287}"/>
              </a:ext>
            </a:extLst>
          </p:cNvPr>
          <p:cNvSpPr txBox="1"/>
          <p:nvPr/>
        </p:nvSpPr>
        <p:spPr>
          <a:xfrm>
            <a:off x="8140653" y="822503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/>
              <a:t>RR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FF70A6D-22DC-42F8-A903-AB7C7D30EAD0}"/>
              </a:ext>
            </a:extLst>
          </p:cNvPr>
          <p:cNvCxnSpPr>
            <a:cxnSpLocks/>
          </p:cNvCxnSpPr>
          <p:nvPr/>
        </p:nvCxnSpPr>
        <p:spPr>
          <a:xfrm flipH="1">
            <a:off x="5063094" y="3723627"/>
            <a:ext cx="2883819" cy="12717"/>
          </a:xfrm>
          <a:prstGeom prst="straightConnector1">
            <a:avLst/>
          </a:prstGeom>
          <a:ln w="158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8DFC213A-33BB-4C2F-843B-8CDD55E15466}"/>
              </a:ext>
            </a:extLst>
          </p:cNvPr>
          <p:cNvSpPr txBox="1"/>
          <p:nvPr/>
        </p:nvSpPr>
        <p:spPr>
          <a:xfrm>
            <a:off x="6531430" y="3492528"/>
            <a:ext cx="1415484" cy="2151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 err="1">
                <a:solidFill>
                  <a:schemeClr val="accent1"/>
                </a:solidFill>
              </a:rPr>
              <a:t>Wheelbase</a:t>
            </a:r>
            <a:r>
              <a:rPr lang="hu-HU" sz="1200" kern="0" dirty="0">
                <a:solidFill>
                  <a:schemeClr val="accent1"/>
                </a:solidFill>
              </a:rPr>
              <a:t> </a:t>
            </a:r>
            <a:r>
              <a:rPr lang="hu-HU" sz="1200" kern="0" dirty="0" err="1">
                <a:solidFill>
                  <a:schemeClr val="accent1"/>
                </a:solidFill>
              </a:rPr>
              <a:t>length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BF34138-0361-4E5E-AA14-51ECE9870202}"/>
              </a:ext>
            </a:extLst>
          </p:cNvPr>
          <p:cNvSpPr txBox="1"/>
          <p:nvPr/>
        </p:nvSpPr>
        <p:spPr>
          <a:xfrm>
            <a:off x="2483612" y="3074740"/>
            <a:ext cx="1541242" cy="3763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rPr>
              <a:t>Virtual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rPr>
              <a:t> Front Center (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rPr>
              <a:t>driven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rPr>
              <a:t>)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CA4D531-B427-4232-B06C-7CFB48EE9B2F}"/>
              </a:ext>
            </a:extLst>
          </p:cNvPr>
          <p:cNvSpPr txBox="1"/>
          <p:nvPr/>
        </p:nvSpPr>
        <p:spPr>
          <a:xfrm>
            <a:off x="6104218" y="1624015"/>
            <a:ext cx="1374186" cy="2026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 err="1">
                <a:solidFill>
                  <a:srgbClr val="CC9900"/>
                </a:solidFill>
              </a:rPr>
              <a:t>Road</a:t>
            </a:r>
            <a:r>
              <a:rPr lang="hu-HU" sz="1200" kern="0" dirty="0">
                <a:solidFill>
                  <a:srgbClr val="CC9900"/>
                </a:solidFill>
              </a:rPr>
              <a:t> Wheel </a:t>
            </a:r>
            <a:r>
              <a:rPr lang="hu-HU" sz="1200" kern="0" dirty="0" err="1">
                <a:solidFill>
                  <a:srgbClr val="CC9900"/>
                </a:solidFill>
              </a:rPr>
              <a:t>Angle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6B1CC7E-EB26-42EF-88D8-49F08136BB92}"/>
              </a:ext>
            </a:extLst>
          </p:cNvPr>
          <p:cNvCxnSpPr>
            <a:cxnSpLocks/>
          </p:cNvCxnSpPr>
          <p:nvPr/>
        </p:nvCxnSpPr>
        <p:spPr>
          <a:xfrm flipV="1">
            <a:off x="6972300" y="1324037"/>
            <a:ext cx="4075246" cy="3403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005D95E-1B03-4422-8353-1D4C8B849643}"/>
              </a:ext>
            </a:extLst>
          </p:cNvPr>
          <p:cNvCxnSpPr>
            <a:cxnSpLocks/>
          </p:cNvCxnSpPr>
          <p:nvPr/>
        </p:nvCxnSpPr>
        <p:spPr>
          <a:xfrm>
            <a:off x="7009923" y="2821123"/>
            <a:ext cx="2547031" cy="5371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29DD26F2-61DA-4E74-8860-03E12209C7C2}"/>
              </a:ext>
            </a:extLst>
          </p:cNvPr>
          <p:cNvCxnSpPr>
            <a:cxnSpLocks/>
          </p:cNvCxnSpPr>
          <p:nvPr/>
        </p:nvCxnSpPr>
        <p:spPr>
          <a:xfrm>
            <a:off x="8901405" y="1352032"/>
            <a:ext cx="6986" cy="1429547"/>
          </a:xfrm>
          <a:prstGeom prst="straightConnector1">
            <a:avLst/>
          </a:prstGeom>
          <a:ln w="158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4E901BB-69E8-4E2D-AB51-28C5DE2A3AB5}"/>
              </a:ext>
            </a:extLst>
          </p:cNvPr>
          <p:cNvSpPr txBox="1"/>
          <p:nvPr/>
        </p:nvSpPr>
        <p:spPr>
          <a:xfrm>
            <a:off x="8961401" y="1391256"/>
            <a:ext cx="1415484" cy="2151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 err="1">
                <a:solidFill>
                  <a:schemeClr val="accent1"/>
                </a:solidFill>
              </a:rPr>
              <a:t>Rear</a:t>
            </a:r>
            <a:r>
              <a:rPr lang="hu-HU" sz="1200" kern="0" dirty="0">
                <a:solidFill>
                  <a:schemeClr val="accent1"/>
                </a:solidFill>
              </a:rPr>
              <a:t> </a:t>
            </a:r>
            <a:r>
              <a:rPr lang="hu-HU" sz="1200" kern="0" dirty="0" err="1">
                <a:solidFill>
                  <a:schemeClr val="accent1"/>
                </a:solidFill>
              </a:rPr>
              <a:t>axle</a:t>
            </a:r>
            <a:r>
              <a:rPr lang="hu-HU" sz="1200" kern="0" dirty="0">
                <a:solidFill>
                  <a:schemeClr val="accent1"/>
                </a:solidFill>
              </a:rPr>
              <a:t> </a:t>
            </a:r>
            <a:r>
              <a:rPr lang="hu-HU" sz="1200" kern="0" dirty="0" err="1">
                <a:solidFill>
                  <a:schemeClr val="accent1"/>
                </a:solidFill>
              </a:rPr>
              <a:t>width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A51784E-2A40-4391-AC9B-7CB98E4C9AE8}"/>
              </a:ext>
            </a:extLst>
          </p:cNvPr>
          <p:cNvCxnSpPr>
            <a:cxnSpLocks/>
          </p:cNvCxnSpPr>
          <p:nvPr/>
        </p:nvCxnSpPr>
        <p:spPr>
          <a:xfrm>
            <a:off x="9076158" y="2999925"/>
            <a:ext cx="0" cy="3270246"/>
          </a:xfrm>
          <a:prstGeom prst="straightConnector1">
            <a:avLst/>
          </a:prstGeom>
          <a:ln w="15875"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0604668-FCB6-493E-ACAD-E263DED916C0}"/>
              </a:ext>
            </a:extLst>
          </p:cNvPr>
          <p:cNvCxnSpPr>
            <a:cxnSpLocks/>
            <a:stCxn id="40" idx="6"/>
          </p:cNvCxnSpPr>
          <p:nvPr/>
        </p:nvCxnSpPr>
        <p:spPr>
          <a:xfrm flipV="1">
            <a:off x="8066362" y="2051731"/>
            <a:ext cx="2187423" cy="606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D157337-1318-45C7-953D-A1F1F3B3DA7A}"/>
              </a:ext>
            </a:extLst>
          </p:cNvPr>
          <p:cNvCxnSpPr>
            <a:cxnSpLocks/>
          </p:cNvCxnSpPr>
          <p:nvPr/>
        </p:nvCxnSpPr>
        <p:spPr>
          <a:xfrm>
            <a:off x="7643445" y="6347068"/>
            <a:ext cx="3232615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B7F9A340-7398-444C-9CCB-B216DAE71904}"/>
              </a:ext>
            </a:extLst>
          </p:cNvPr>
          <p:cNvSpPr txBox="1"/>
          <p:nvPr/>
        </p:nvSpPr>
        <p:spPr>
          <a:xfrm>
            <a:off x="9161947" y="4195687"/>
            <a:ext cx="833729" cy="3703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kern="0" dirty="0">
                <a:solidFill>
                  <a:srgbClr val="ED0007"/>
                </a:solidFill>
              </a:rPr>
              <a:t>r</a:t>
            </a:r>
            <a:r>
              <a:rPr lang="hu-HU" sz="1200" kern="0" dirty="0">
                <a:solidFill>
                  <a:srgbClr val="ED0007"/>
                </a:solidFill>
              </a:rPr>
              <a:t> </a:t>
            </a:r>
            <a:r>
              <a:rPr lang="hu-HU" sz="800" kern="0" dirty="0">
                <a:solidFill>
                  <a:srgbClr val="ED0007"/>
                </a:solidFill>
              </a:rPr>
              <a:t>RLW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524D0641-ED3A-4D3A-B245-69C2FC7D774F}"/>
              </a:ext>
            </a:extLst>
          </p:cNvPr>
          <p:cNvCxnSpPr>
            <a:cxnSpLocks/>
          </p:cNvCxnSpPr>
          <p:nvPr/>
        </p:nvCxnSpPr>
        <p:spPr>
          <a:xfrm>
            <a:off x="9938644" y="2092854"/>
            <a:ext cx="0" cy="4162799"/>
          </a:xfrm>
          <a:prstGeom prst="straightConnector1">
            <a:avLst/>
          </a:prstGeom>
          <a:ln w="15875"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EEA8B9C4-F050-453C-BE28-8EEFA7BFDC04}"/>
              </a:ext>
            </a:extLst>
          </p:cNvPr>
          <p:cNvSpPr txBox="1"/>
          <p:nvPr/>
        </p:nvSpPr>
        <p:spPr>
          <a:xfrm>
            <a:off x="10042331" y="3551155"/>
            <a:ext cx="833729" cy="3703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kern="0" dirty="0">
                <a:solidFill>
                  <a:srgbClr val="ED0007"/>
                </a:solidFill>
              </a:rPr>
              <a:t>r</a:t>
            </a:r>
            <a:r>
              <a:rPr lang="hu-HU" sz="1200" kern="0" dirty="0">
                <a:solidFill>
                  <a:srgbClr val="ED0007"/>
                </a:solidFill>
              </a:rPr>
              <a:t> </a:t>
            </a:r>
            <a:r>
              <a:rPr lang="hu-HU" sz="800" kern="0" dirty="0" err="1">
                <a:solidFill>
                  <a:srgbClr val="ED0007"/>
                </a:solidFill>
              </a:rPr>
              <a:t>RCenter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18D1A5B7-474F-42F2-9A9D-23305F6CF6D3}"/>
              </a:ext>
            </a:extLst>
          </p:cNvPr>
          <p:cNvCxnSpPr>
            <a:cxnSpLocks/>
          </p:cNvCxnSpPr>
          <p:nvPr/>
        </p:nvCxnSpPr>
        <p:spPr>
          <a:xfrm>
            <a:off x="10661456" y="1172269"/>
            <a:ext cx="0" cy="5126950"/>
          </a:xfrm>
          <a:prstGeom prst="straightConnector1">
            <a:avLst/>
          </a:prstGeom>
          <a:ln w="15875"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700F5967-AEB6-464B-8CFC-3561E43938C7}"/>
              </a:ext>
            </a:extLst>
          </p:cNvPr>
          <p:cNvSpPr txBox="1"/>
          <p:nvPr/>
        </p:nvSpPr>
        <p:spPr>
          <a:xfrm>
            <a:off x="10791378" y="3023988"/>
            <a:ext cx="833729" cy="3703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kern="0" dirty="0">
                <a:solidFill>
                  <a:srgbClr val="ED0007"/>
                </a:solidFill>
              </a:rPr>
              <a:t>r</a:t>
            </a:r>
            <a:r>
              <a:rPr lang="hu-HU" sz="1200" kern="0" dirty="0">
                <a:solidFill>
                  <a:srgbClr val="ED0007"/>
                </a:solidFill>
              </a:rPr>
              <a:t> </a:t>
            </a:r>
            <a:r>
              <a:rPr lang="hu-HU" sz="800" kern="0" dirty="0">
                <a:solidFill>
                  <a:srgbClr val="ED0007"/>
                </a:solidFill>
              </a:rPr>
              <a:t>RRW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FE468D5-C7ED-4FFE-8B41-3AC732FB6458}"/>
              </a:ext>
            </a:extLst>
          </p:cNvPr>
          <p:cNvSpPr txBox="1"/>
          <p:nvPr/>
        </p:nvSpPr>
        <p:spPr>
          <a:xfrm>
            <a:off x="5815019" y="4010498"/>
            <a:ext cx="833729" cy="3703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kern="0" dirty="0">
                <a:solidFill>
                  <a:srgbClr val="FF9900"/>
                </a:solidFill>
              </a:rPr>
              <a:t>r</a:t>
            </a:r>
            <a:r>
              <a:rPr lang="hu-HU" sz="1200" kern="0" dirty="0">
                <a:solidFill>
                  <a:srgbClr val="FF9900"/>
                </a:solidFill>
              </a:rPr>
              <a:t> </a:t>
            </a:r>
            <a:r>
              <a:rPr lang="hu-HU" sz="800" kern="0" dirty="0">
                <a:solidFill>
                  <a:srgbClr val="FF9900"/>
                </a:solidFill>
              </a:rPr>
              <a:t>FLW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FBDE2BA-002C-4184-8FD0-FFA5C4F99767}"/>
              </a:ext>
            </a:extLst>
          </p:cNvPr>
          <p:cNvSpPr txBox="1"/>
          <p:nvPr/>
        </p:nvSpPr>
        <p:spPr>
          <a:xfrm>
            <a:off x="6238524" y="2979217"/>
            <a:ext cx="833729" cy="3703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kern="0" dirty="0">
                <a:solidFill>
                  <a:srgbClr val="FF9900"/>
                </a:solidFill>
              </a:rPr>
              <a:t>r</a:t>
            </a:r>
            <a:r>
              <a:rPr lang="hu-HU" sz="1200" kern="0" dirty="0">
                <a:solidFill>
                  <a:srgbClr val="FF9900"/>
                </a:solidFill>
              </a:rPr>
              <a:t> </a:t>
            </a:r>
            <a:r>
              <a:rPr lang="hu-HU" sz="800" kern="0" dirty="0">
                <a:solidFill>
                  <a:srgbClr val="FF9900"/>
                </a:solidFill>
              </a:rPr>
              <a:t>FRW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6EFB659-C81C-416B-B5E8-F65BD87EDBDF}"/>
              </a:ext>
            </a:extLst>
          </p:cNvPr>
          <p:cNvSpPr txBox="1"/>
          <p:nvPr/>
        </p:nvSpPr>
        <p:spPr>
          <a:xfrm>
            <a:off x="6231884" y="5027009"/>
            <a:ext cx="833729" cy="3703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kern="0" dirty="0">
                <a:solidFill>
                  <a:srgbClr val="FF9900"/>
                </a:solidFill>
              </a:rPr>
              <a:t>r</a:t>
            </a:r>
            <a:r>
              <a:rPr lang="hu-HU" sz="1200" kern="0" dirty="0">
                <a:solidFill>
                  <a:srgbClr val="FF9900"/>
                </a:solidFill>
              </a:rPr>
              <a:t> </a:t>
            </a:r>
            <a:r>
              <a:rPr lang="hu-HU" sz="800" kern="0" dirty="0" err="1">
                <a:solidFill>
                  <a:srgbClr val="FF9900"/>
                </a:solidFill>
              </a:rPr>
              <a:t>FCenter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</a:endParaRP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359925CF-58BE-46E9-A30F-E025276ECAB7}"/>
              </a:ext>
            </a:extLst>
          </p:cNvPr>
          <p:cNvCxnSpPr>
            <a:cxnSpLocks/>
          </p:cNvCxnSpPr>
          <p:nvPr/>
        </p:nvCxnSpPr>
        <p:spPr>
          <a:xfrm flipV="1">
            <a:off x="6406225" y="4541346"/>
            <a:ext cx="347588" cy="485662"/>
          </a:xfrm>
          <a:prstGeom prst="straightConnector1">
            <a:avLst/>
          </a:prstGeom>
          <a:ln w="12700">
            <a:solidFill>
              <a:srgbClr val="FF99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BCF99FBE-6441-4821-BF4C-D12DB1C1847E}"/>
              </a:ext>
            </a:extLst>
          </p:cNvPr>
          <p:cNvSpPr/>
          <p:nvPr/>
        </p:nvSpPr>
        <p:spPr>
          <a:xfrm>
            <a:off x="7983665" y="1278251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547D755-064E-48EC-8208-3C8101020155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8019665" y="1146143"/>
            <a:ext cx="0" cy="132108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DAF2364-7699-4745-AE99-8466076CE0ED}"/>
              </a:ext>
            </a:extLst>
          </p:cNvPr>
          <p:cNvCxnSpPr>
            <a:cxnSpLocks/>
          </p:cNvCxnSpPr>
          <p:nvPr/>
        </p:nvCxnSpPr>
        <p:spPr>
          <a:xfrm flipV="1">
            <a:off x="8019665" y="2867817"/>
            <a:ext cx="0" cy="132108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2524E89D-5809-43E0-9DBD-3C35EF577DD7}"/>
              </a:ext>
            </a:extLst>
          </p:cNvPr>
          <p:cNvSpPr/>
          <p:nvPr/>
        </p:nvSpPr>
        <p:spPr>
          <a:xfrm>
            <a:off x="7986300" y="2791635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A7182BB-6A2A-48BA-8279-8E5FD78160A5}"/>
              </a:ext>
            </a:extLst>
          </p:cNvPr>
          <p:cNvCxnSpPr>
            <a:cxnSpLocks/>
          </p:cNvCxnSpPr>
          <p:nvPr/>
        </p:nvCxnSpPr>
        <p:spPr>
          <a:xfrm flipH="1" flipV="1">
            <a:off x="4968875" y="1184275"/>
            <a:ext cx="74396" cy="126840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0BCCCD2B-CE26-43D1-BB88-C692B3AEC34C}"/>
              </a:ext>
            </a:extLst>
          </p:cNvPr>
          <p:cNvSpPr/>
          <p:nvPr/>
        </p:nvSpPr>
        <p:spPr>
          <a:xfrm>
            <a:off x="5020897" y="1291440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4881056-99B8-4025-8830-3A2BBD71A444}"/>
              </a:ext>
            </a:extLst>
          </p:cNvPr>
          <p:cNvSpPr/>
          <p:nvPr/>
        </p:nvSpPr>
        <p:spPr>
          <a:xfrm>
            <a:off x="5021772" y="2769647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865663C-EF95-4A62-B225-221B3DADA5B4}"/>
              </a:ext>
            </a:extLst>
          </p:cNvPr>
          <p:cNvCxnSpPr>
            <a:cxnSpLocks/>
          </p:cNvCxnSpPr>
          <p:nvPr/>
        </p:nvCxnSpPr>
        <p:spPr>
          <a:xfrm flipH="1" flipV="1">
            <a:off x="5073266" y="2822714"/>
            <a:ext cx="86903" cy="101461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9F0C0B-C88C-47B9-B98C-005BAB4B9E20}"/>
              </a:ext>
            </a:extLst>
          </p:cNvPr>
          <p:cNvCxnSpPr>
            <a:cxnSpLocks/>
          </p:cNvCxnSpPr>
          <p:nvPr/>
        </p:nvCxnSpPr>
        <p:spPr>
          <a:xfrm flipV="1">
            <a:off x="456626" y="1333712"/>
            <a:ext cx="5242544" cy="8112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B4AAA18-AB0D-408A-B462-C382A34A7EF1}"/>
              </a:ext>
            </a:extLst>
          </p:cNvPr>
          <p:cNvCxnSpPr>
            <a:cxnSpLocks/>
          </p:cNvCxnSpPr>
          <p:nvPr/>
        </p:nvCxnSpPr>
        <p:spPr>
          <a:xfrm flipV="1">
            <a:off x="445819" y="2810738"/>
            <a:ext cx="5242544" cy="8112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34A32F8-320A-420B-B2EF-0167C27665A9}"/>
              </a:ext>
            </a:extLst>
          </p:cNvPr>
          <p:cNvCxnSpPr>
            <a:cxnSpLocks/>
          </p:cNvCxnSpPr>
          <p:nvPr/>
        </p:nvCxnSpPr>
        <p:spPr>
          <a:xfrm>
            <a:off x="546938" y="1352032"/>
            <a:ext cx="6986" cy="1429547"/>
          </a:xfrm>
          <a:prstGeom prst="straightConnector1">
            <a:avLst/>
          </a:prstGeom>
          <a:ln w="158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6E53509-28AF-4282-A908-998C1467AE37}"/>
              </a:ext>
            </a:extLst>
          </p:cNvPr>
          <p:cNvSpPr txBox="1"/>
          <p:nvPr/>
        </p:nvSpPr>
        <p:spPr>
          <a:xfrm>
            <a:off x="606934" y="1391256"/>
            <a:ext cx="1415484" cy="2151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chemeClr val="accent1"/>
                </a:solidFill>
              </a:rPr>
              <a:t>Front </a:t>
            </a:r>
            <a:r>
              <a:rPr lang="hu-HU" sz="1200" kern="0" dirty="0" err="1">
                <a:solidFill>
                  <a:schemeClr val="accent1"/>
                </a:solidFill>
              </a:rPr>
              <a:t>axle</a:t>
            </a:r>
            <a:r>
              <a:rPr lang="hu-HU" sz="1200" kern="0" dirty="0">
                <a:solidFill>
                  <a:schemeClr val="accent1"/>
                </a:solidFill>
              </a:rPr>
              <a:t> </a:t>
            </a:r>
            <a:r>
              <a:rPr lang="hu-HU" sz="1200" kern="0" dirty="0" err="1">
                <a:solidFill>
                  <a:schemeClr val="accent1"/>
                </a:solidFill>
              </a:rPr>
              <a:t>width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EBF30D5-2BF0-4D51-A195-90B7493B3F4A}"/>
              </a:ext>
            </a:extLst>
          </p:cNvPr>
          <p:cNvCxnSpPr>
            <a:cxnSpLocks/>
          </p:cNvCxnSpPr>
          <p:nvPr/>
        </p:nvCxnSpPr>
        <p:spPr>
          <a:xfrm>
            <a:off x="7557760" y="1148039"/>
            <a:ext cx="3233618" cy="0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38FD3FD-ABFF-44AF-A9B4-99CD3902A19E}"/>
              </a:ext>
            </a:extLst>
          </p:cNvPr>
          <p:cNvCxnSpPr>
            <a:cxnSpLocks/>
          </p:cNvCxnSpPr>
          <p:nvPr/>
        </p:nvCxnSpPr>
        <p:spPr>
          <a:xfrm flipH="1">
            <a:off x="8898578" y="1161686"/>
            <a:ext cx="4127" cy="162351"/>
          </a:xfrm>
          <a:prstGeom prst="straightConnector1">
            <a:avLst/>
          </a:prstGeom>
          <a:ln w="15875">
            <a:solidFill>
              <a:srgbClr val="00884A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180702B-6C4B-4D7C-B439-88FBFDBEDA54}"/>
              </a:ext>
            </a:extLst>
          </p:cNvPr>
          <p:cNvSpPr txBox="1"/>
          <p:nvPr/>
        </p:nvSpPr>
        <p:spPr>
          <a:xfrm>
            <a:off x="8961401" y="1137819"/>
            <a:ext cx="1415484" cy="2151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100" kern="0" dirty="0" err="1">
                <a:solidFill>
                  <a:srgbClr val="00884A"/>
                </a:solidFill>
              </a:rPr>
              <a:t>Stub</a:t>
            </a:r>
            <a:r>
              <a:rPr lang="hu-HU" sz="1100" kern="0" dirty="0">
                <a:solidFill>
                  <a:srgbClr val="00884A"/>
                </a:solidFill>
              </a:rPr>
              <a:t> </a:t>
            </a:r>
            <a:r>
              <a:rPr lang="hu-HU" sz="1100" kern="0" dirty="0" err="1">
                <a:solidFill>
                  <a:srgbClr val="00884A"/>
                </a:solidFill>
              </a:rPr>
              <a:t>axle</a:t>
            </a:r>
            <a:r>
              <a:rPr lang="hu-HU" sz="1100" kern="0" dirty="0">
                <a:solidFill>
                  <a:srgbClr val="00884A"/>
                </a:solidFill>
              </a:rPr>
              <a:t> </a:t>
            </a:r>
            <a:r>
              <a:rPr lang="hu-HU" sz="1100" kern="0" dirty="0" err="1">
                <a:solidFill>
                  <a:srgbClr val="00884A"/>
                </a:solidFill>
              </a:rPr>
              <a:t>length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884A"/>
              </a:solidFill>
              <a:effectLst/>
              <a:uLnTx/>
              <a:uFillTx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9FCDFDB-3154-4D09-8878-1C7D89B5DFDC}"/>
              </a:ext>
            </a:extLst>
          </p:cNvPr>
          <p:cNvCxnSpPr>
            <a:cxnSpLocks/>
          </p:cNvCxnSpPr>
          <p:nvPr/>
        </p:nvCxnSpPr>
        <p:spPr>
          <a:xfrm>
            <a:off x="7557760" y="2985801"/>
            <a:ext cx="1721228" cy="7519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6C2CCB7-238B-4D5C-B7DD-938BDB0D61F0}"/>
              </a:ext>
            </a:extLst>
          </p:cNvPr>
          <p:cNvCxnSpPr>
            <a:cxnSpLocks/>
          </p:cNvCxnSpPr>
          <p:nvPr/>
        </p:nvCxnSpPr>
        <p:spPr>
          <a:xfrm flipH="1">
            <a:off x="8906198" y="2829662"/>
            <a:ext cx="4127" cy="162351"/>
          </a:xfrm>
          <a:prstGeom prst="straightConnector1">
            <a:avLst/>
          </a:prstGeom>
          <a:ln w="15875">
            <a:solidFill>
              <a:srgbClr val="00884A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C455936-5969-437C-9445-A035A5245DD9}"/>
              </a:ext>
            </a:extLst>
          </p:cNvPr>
          <p:cNvCxnSpPr>
            <a:cxnSpLocks/>
          </p:cNvCxnSpPr>
          <p:nvPr/>
        </p:nvCxnSpPr>
        <p:spPr>
          <a:xfrm flipV="1">
            <a:off x="5048794" y="866763"/>
            <a:ext cx="777072" cy="465144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CD31EE9-4687-435F-9B72-651330CB137E}"/>
              </a:ext>
            </a:extLst>
          </p:cNvPr>
          <p:cNvCxnSpPr>
            <a:cxnSpLocks/>
          </p:cNvCxnSpPr>
          <p:nvPr/>
        </p:nvCxnSpPr>
        <p:spPr>
          <a:xfrm>
            <a:off x="5547049" y="828488"/>
            <a:ext cx="94495" cy="142480"/>
          </a:xfrm>
          <a:prstGeom prst="straightConnector1">
            <a:avLst/>
          </a:prstGeom>
          <a:ln w="15875">
            <a:solidFill>
              <a:srgbClr val="00884A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6170054-AE60-4FFD-B7DC-31FDD1F27AB6}"/>
              </a:ext>
            </a:extLst>
          </p:cNvPr>
          <p:cNvCxnSpPr>
            <a:cxnSpLocks/>
          </p:cNvCxnSpPr>
          <p:nvPr/>
        </p:nvCxnSpPr>
        <p:spPr>
          <a:xfrm flipV="1">
            <a:off x="4313154" y="2801871"/>
            <a:ext cx="738414" cy="635449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2D83FB8-5623-44B7-AE14-51AA2B6F28E2}"/>
              </a:ext>
            </a:extLst>
          </p:cNvPr>
          <p:cNvCxnSpPr>
            <a:cxnSpLocks/>
          </p:cNvCxnSpPr>
          <p:nvPr/>
        </p:nvCxnSpPr>
        <p:spPr>
          <a:xfrm>
            <a:off x="4493658" y="3288722"/>
            <a:ext cx="116232" cy="125601"/>
          </a:xfrm>
          <a:prstGeom prst="straightConnector1">
            <a:avLst/>
          </a:prstGeom>
          <a:ln w="15875">
            <a:solidFill>
              <a:srgbClr val="00884A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024AC64-FB02-4817-85C7-C69DD8879C80}"/>
              </a:ext>
            </a:extLst>
          </p:cNvPr>
          <p:cNvCxnSpPr>
            <a:cxnSpLocks/>
          </p:cNvCxnSpPr>
          <p:nvPr/>
        </p:nvCxnSpPr>
        <p:spPr>
          <a:xfrm flipV="1">
            <a:off x="3893318" y="2375357"/>
            <a:ext cx="814839" cy="66585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D2F8775-83D0-434B-BDA9-2A7290A31AB7}"/>
              </a:ext>
            </a:extLst>
          </p:cNvPr>
          <p:cNvSpPr txBox="1"/>
          <p:nvPr/>
        </p:nvSpPr>
        <p:spPr>
          <a:xfrm>
            <a:off x="5784013" y="1710109"/>
            <a:ext cx="160208" cy="2009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l-GR" sz="1400" dirty="0">
                <a:solidFill>
                  <a:srgbClr val="CC9900"/>
                </a:solidFill>
                <a:latin typeface="Lucida Console" panose="020B0609040504020204" pitchFamily="49" charset="0"/>
              </a:rPr>
              <a:t>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D4576A2-40ED-4F2E-AF58-4099D24B91A4}"/>
              </a:ext>
            </a:extLst>
          </p:cNvPr>
          <p:cNvSpPr txBox="1"/>
          <p:nvPr/>
        </p:nvSpPr>
        <p:spPr>
          <a:xfrm>
            <a:off x="7746692" y="5447273"/>
            <a:ext cx="160208" cy="2009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l-GR" sz="1400" dirty="0">
                <a:solidFill>
                  <a:srgbClr val="CC9900"/>
                </a:solidFill>
                <a:latin typeface="Lucida Console" panose="020B0609040504020204" pitchFamily="49" charset="0"/>
              </a:rPr>
              <a:t>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31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turning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movement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- delta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heading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angle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CD2C8A-7F62-48CE-9DB5-ACD8181E950D}"/>
              </a:ext>
            </a:extLst>
          </p:cNvPr>
          <p:cNvSpPr txBox="1"/>
          <p:nvPr/>
        </p:nvSpPr>
        <p:spPr>
          <a:xfrm>
            <a:off x="456626" y="4928095"/>
            <a:ext cx="6624106" cy="5184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lang="hu-HU" sz="1200" kern="0" dirty="0">
              <a:solidFill>
                <a:srgbClr val="007B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BA832E-B6D8-4DD5-995B-2EC06CD0BA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9299" y="639927"/>
            <a:ext cx="7492611" cy="560283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6EC1BAA-4179-4EE0-BAD9-87F161B97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0852432">
            <a:off x="1796650" y="1231724"/>
            <a:ext cx="7492611" cy="560283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CC33E11-4733-41E6-987F-58F7D2EE7780}"/>
              </a:ext>
            </a:extLst>
          </p:cNvPr>
          <p:cNvSpPr/>
          <p:nvPr/>
        </p:nvSpPr>
        <p:spPr>
          <a:xfrm rot="13435579">
            <a:off x="7496052" y="5572162"/>
            <a:ext cx="1178230" cy="240748"/>
          </a:xfrm>
          <a:custGeom>
            <a:avLst/>
            <a:gdLst>
              <a:gd name="connsiteX0" fmla="*/ 578498 w 587828"/>
              <a:gd name="connsiteY0" fmla="*/ 989044 h 989044"/>
              <a:gd name="connsiteX1" fmla="*/ 587828 w 587828"/>
              <a:gd name="connsiteY1" fmla="*/ 0 h 989044"/>
              <a:gd name="connsiteX2" fmla="*/ 0 w 587828"/>
              <a:gd name="connsiteY2" fmla="*/ 167951 h 989044"/>
              <a:gd name="connsiteX3" fmla="*/ 578498 w 587828"/>
              <a:gd name="connsiteY3" fmla="*/ 989044 h 98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828" h="989044">
                <a:moveTo>
                  <a:pt x="578498" y="989044"/>
                </a:moveTo>
                <a:lnTo>
                  <a:pt x="587828" y="0"/>
                </a:lnTo>
                <a:lnTo>
                  <a:pt x="0" y="167951"/>
                </a:lnTo>
                <a:lnTo>
                  <a:pt x="578498" y="989044"/>
                </a:lnTo>
                <a:close/>
              </a:path>
            </a:pathLst>
          </a:custGeom>
          <a:solidFill>
            <a:srgbClr val="FFFF00">
              <a:alpha val="22000"/>
            </a:srgb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F64E49B-CECF-417F-A4FD-77FC3D8F1EE9}"/>
              </a:ext>
            </a:extLst>
          </p:cNvPr>
          <p:cNvSpPr/>
          <p:nvPr/>
        </p:nvSpPr>
        <p:spPr>
          <a:xfrm rot="19064451">
            <a:off x="5179380" y="1664957"/>
            <a:ext cx="1178230" cy="240748"/>
          </a:xfrm>
          <a:custGeom>
            <a:avLst/>
            <a:gdLst>
              <a:gd name="connsiteX0" fmla="*/ 578498 w 587828"/>
              <a:gd name="connsiteY0" fmla="*/ 989044 h 989044"/>
              <a:gd name="connsiteX1" fmla="*/ 587828 w 587828"/>
              <a:gd name="connsiteY1" fmla="*/ 0 h 989044"/>
              <a:gd name="connsiteX2" fmla="*/ 0 w 587828"/>
              <a:gd name="connsiteY2" fmla="*/ 167951 h 989044"/>
              <a:gd name="connsiteX3" fmla="*/ 578498 w 587828"/>
              <a:gd name="connsiteY3" fmla="*/ 989044 h 98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828" h="989044">
                <a:moveTo>
                  <a:pt x="578498" y="989044"/>
                </a:moveTo>
                <a:lnTo>
                  <a:pt x="587828" y="0"/>
                </a:lnTo>
                <a:lnTo>
                  <a:pt x="0" y="167951"/>
                </a:lnTo>
                <a:lnTo>
                  <a:pt x="578498" y="989044"/>
                </a:lnTo>
                <a:close/>
              </a:path>
            </a:pathLst>
          </a:custGeom>
          <a:solidFill>
            <a:srgbClr val="FFFF00">
              <a:alpha val="22000"/>
            </a:srgb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3F39F8E-2110-4F16-AA57-2C554DDF83FF}"/>
              </a:ext>
            </a:extLst>
          </p:cNvPr>
          <p:cNvSpPr/>
          <p:nvPr/>
        </p:nvSpPr>
        <p:spPr>
          <a:xfrm rot="10159959">
            <a:off x="6811149" y="1880354"/>
            <a:ext cx="1178230" cy="240748"/>
          </a:xfrm>
          <a:custGeom>
            <a:avLst/>
            <a:gdLst>
              <a:gd name="connsiteX0" fmla="*/ 578498 w 587828"/>
              <a:gd name="connsiteY0" fmla="*/ 989044 h 989044"/>
              <a:gd name="connsiteX1" fmla="*/ 587828 w 587828"/>
              <a:gd name="connsiteY1" fmla="*/ 0 h 989044"/>
              <a:gd name="connsiteX2" fmla="*/ 0 w 587828"/>
              <a:gd name="connsiteY2" fmla="*/ 167951 h 989044"/>
              <a:gd name="connsiteX3" fmla="*/ 578498 w 587828"/>
              <a:gd name="connsiteY3" fmla="*/ 989044 h 98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828" h="989044">
                <a:moveTo>
                  <a:pt x="578498" y="989044"/>
                </a:moveTo>
                <a:lnTo>
                  <a:pt x="587828" y="0"/>
                </a:lnTo>
                <a:lnTo>
                  <a:pt x="0" y="167951"/>
                </a:lnTo>
                <a:lnTo>
                  <a:pt x="578498" y="989044"/>
                </a:lnTo>
                <a:close/>
              </a:path>
            </a:pathLst>
          </a:custGeom>
          <a:solidFill>
            <a:srgbClr val="FFFF00">
              <a:alpha val="22000"/>
            </a:srgb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5043CD-2FAF-4249-9AF0-721845B9F8F5}"/>
              </a:ext>
            </a:extLst>
          </p:cNvPr>
          <p:cNvSpPr txBox="1"/>
          <p:nvPr/>
        </p:nvSpPr>
        <p:spPr>
          <a:xfrm>
            <a:off x="616834" y="4731938"/>
            <a:ext cx="1541242" cy="615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Heading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angle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change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after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dTime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 and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VehSpeed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rgbClr val="00CC00"/>
                </a:solidFill>
                <a:effectLst/>
                <a:uLnTx/>
                <a:uFillTx/>
              </a:rPr>
              <a:t>&gt;0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CC00"/>
              </a:solidFill>
              <a:effectLst/>
              <a:uLnTx/>
              <a:uFillTx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684A4D6-9DAA-425C-AFF6-EEDEFAF7F2E1}"/>
              </a:ext>
            </a:extLst>
          </p:cNvPr>
          <p:cNvCxnSpPr>
            <a:cxnSpLocks/>
          </p:cNvCxnSpPr>
          <p:nvPr/>
        </p:nvCxnSpPr>
        <p:spPr>
          <a:xfrm>
            <a:off x="2360090" y="4970617"/>
            <a:ext cx="5328334" cy="385154"/>
          </a:xfrm>
          <a:prstGeom prst="straightConnector1">
            <a:avLst/>
          </a:prstGeom>
          <a:ln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A5CF976-CDCE-46E3-8448-6AA96D2D3EC8}"/>
              </a:ext>
            </a:extLst>
          </p:cNvPr>
          <p:cNvSpPr txBox="1"/>
          <p:nvPr/>
        </p:nvSpPr>
        <p:spPr>
          <a:xfrm>
            <a:off x="7747741" y="5310131"/>
            <a:ext cx="160208" cy="2009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l-GR" sz="1200" dirty="0">
                <a:solidFill>
                  <a:srgbClr val="00884A"/>
                </a:solidFill>
                <a:latin typeface="Bosch Office Sans" pitchFamily="2" charset="0"/>
              </a:rPr>
              <a:t>β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884A"/>
              </a:solidFill>
              <a:effectLst/>
              <a:uLnTx/>
              <a:uFillTx/>
              <a:latin typeface="Bosch Office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31E8FE-70E6-4B17-B362-07C4353FA789}"/>
              </a:ext>
            </a:extLst>
          </p:cNvPr>
          <p:cNvSpPr txBox="1"/>
          <p:nvPr/>
        </p:nvSpPr>
        <p:spPr>
          <a:xfrm>
            <a:off x="6920524" y="1990992"/>
            <a:ext cx="160208" cy="2009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l-GR" sz="1200" dirty="0">
                <a:solidFill>
                  <a:srgbClr val="00884A"/>
                </a:solidFill>
                <a:latin typeface="Bosch Office Sans" pitchFamily="2" charset="0"/>
              </a:rPr>
              <a:t>β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884A"/>
              </a:solidFill>
              <a:effectLst/>
              <a:uLnTx/>
              <a:uFillTx/>
              <a:latin typeface="Bosch Office Sans" pitchFamily="2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952EE-B2A9-4AE2-95AA-DB0D4B5CF6EF}"/>
              </a:ext>
            </a:extLst>
          </p:cNvPr>
          <p:cNvSpPr txBox="1"/>
          <p:nvPr/>
        </p:nvSpPr>
        <p:spPr>
          <a:xfrm>
            <a:off x="6058382" y="1373851"/>
            <a:ext cx="160208" cy="2009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l-GR" sz="1200" dirty="0">
                <a:solidFill>
                  <a:srgbClr val="00884A"/>
                </a:solidFill>
                <a:latin typeface="Bosch Office Sans" pitchFamily="2" charset="0"/>
              </a:rPr>
              <a:t>β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884A"/>
              </a:solidFill>
              <a:effectLst/>
              <a:uLnTx/>
              <a:uFillTx/>
              <a:latin typeface="Bosch Office Sans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850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turning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movement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- input/output (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distances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road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wheel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angles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CD2C8A-7F62-48CE-9DB5-ACD8181E950D}"/>
              </a:ext>
            </a:extLst>
          </p:cNvPr>
          <p:cNvSpPr txBox="1"/>
          <p:nvPr/>
        </p:nvSpPr>
        <p:spPr>
          <a:xfrm>
            <a:off x="456626" y="4928095"/>
            <a:ext cx="6624106" cy="5184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lang="hu-HU" sz="1200" kern="0" dirty="0">
              <a:solidFill>
                <a:srgbClr val="007B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BD84CC-60B7-4BE9-8D36-77403ABDF471}"/>
                  </a:ext>
                </a:extLst>
              </p:cNvPr>
              <p:cNvSpPr txBox="1"/>
              <p:nvPr/>
            </p:nvSpPr>
            <p:spPr>
              <a:xfrm>
                <a:off x="296419" y="959301"/>
                <a:ext cx="7285480" cy="51429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600" b="1" dirty="0">
                    <a:latin typeface="Bosch Office Sans" pitchFamily="2" charset="0"/>
                    <a:cs typeface="Calibri" panose="020F0502020204030204" pitchFamily="34" charset="0"/>
                  </a:rPr>
                  <a:t>Inputs: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deltaTime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 err="1">
                    <a:solidFill>
                      <a:srgbClr val="CC990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Road</a:t>
                </a:r>
                <a:r>
                  <a:rPr lang="hu-HU" sz="1200" dirty="0">
                    <a:solidFill>
                      <a:srgbClr val="CC990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Wheel </a:t>
                </a:r>
                <a:r>
                  <a:rPr lang="hu-HU" sz="1200" dirty="0" err="1">
                    <a:solidFill>
                      <a:srgbClr val="CC990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Angle</a:t>
                </a:r>
                <a:endParaRPr lang="hu-HU" sz="1200" dirty="0">
                  <a:solidFill>
                    <a:srgbClr val="CC9900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Wheelbase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,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Rear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, 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Front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,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Stub</a:t>
                </a:r>
                <a:r>
                  <a:rPr lang="hu-HU" sz="1200" dirty="0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200" dirty="0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endParaRPr lang="hu-HU" sz="1200" dirty="0">
                  <a:solidFill>
                    <a:srgbClr val="007BC0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600" b="1" dirty="0" err="1">
                    <a:latin typeface="Bosch Office Sans" pitchFamily="2" charset="0"/>
                    <a:cs typeface="Calibri" panose="020F0502020204030204" pitchFamily="34" charset="0"/>
                  </a:rPr>
                  <a:t>Outputs</a:t>
                </a:r>
                <a:r>
                  <a:rPr lang="hu-HU" sz="1600" b="1" dirty="0">
                    <a:latin typeface="Bosch Office Sans" pitchFamily="2" charset="0"/>
                    <a:cs typeface="Calibri" panose="020F0502020204030204" pitchFamily="34" charset="0"/>
                  </a:rPr>
                  <a:t>: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RLW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=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RCenter</a:t>
                </a:r>
                <a:r>
                  <a:rPr lang="hu-HU" sz="1200" kern="0" dirty="0"/>
                  <a:t> +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(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Rear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/ 2 +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Stub</a:t>
                </a:r>
                <a:r>
                  <a:rPr lang="hu-HU" sz="1200" dirty="0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200" dirty="0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)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RRW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=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RCenter</a:t>
                </a:r>
                <a:r>
                  <a:rPr lang="hu-HU" sz="1200" kern="0" dirty="0"/>
                  <a:t> -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(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Rear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/ 2 +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Stub</a:t>
                </a:r>
                <a:r>
                  <a:rPr lang="hu-HU" sz="1200" dirty="0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200" dirty="0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)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400" kern="0" dirty="0" err="1">
                    <a:solidFill>
                      <a:srgbClr val="FF99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9900"/>
                    </a:solidFill>
                  </a:rPr>
                  <a:t>FLW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=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Wheelbase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/ sin(RWA FL) +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Stub</a:t>
                </a:r>
                <a:r>
                  <a:rPr lang="hu-HU" sz="1200" dirty="0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200" dirty="0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400" kern="0" dirty="0" err="1">
                    <a:solidFill>
                      <a:srgbClr val="FF99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9900"/>
                    </a:solidFill>
                  </a:rPr>
                  <a:t>FRW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=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Wheelbase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1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/ sin(RWA FL) -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Stub</a:t>
                </a:r>
                <a:r>
                  <a:rPr lang="hu-HU" sz="1200" dirty="0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200" dirty="0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884A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endParaRPr lang="hu-HU" sz="1200" dirty="0">
                  <a:solidFill>
                    <a:srgbClr val="00884A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RWA FL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2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arctan</m:t>
                    </m:r>
                    <m:d>
                      <m:dPr>
                        <m:ctrlPr>
                          <a:rPr lang="hu-HU" sz="12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2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Wheelbase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length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hu-HU" sz="1400" kern="0" dirty="0" smtClean="0">
                                <a:solidFill>
                                  <a:srgbClr val="ED0007"/>
                                </a:solidFill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hu-HU" sz="700" kern="0" dirty="0" smtClean="0">
                                <a:solidFill>
                                  <a:srgbClr val="ED0007"/>
                                </a:solidFill>
                              </a:rPr>
                              <m:t>RCenter</m:t>
                            </m:r>
                            <m:r>
                              <m:rPr>
                                <m:nor/>
                              </m:rPr>
                              <a:rPr lang="hu-HU" sz="1200" kern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kern="0" dirty="0"/>
                              <m:t>+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Front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axle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length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/ 2))</m:t>
                            </m:r>
                          </m:den>
                        </m:f>
                      </m:e>
                    </m:d>
                  </m:oMath>
                </a14:m>
                <a:endParaRPr lang="hu-HU" sz="1200" dirty="0">
                  <a:solidFill>
                    <a:srgbClr val="ED0007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RWA FR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2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arctan</m:t>
                    </m:r>
                    <m:d>
                      <m:dPr>
                        <m:ctrlPr>
                          <a:rPr lang="hu-HU" sz="12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2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Wheelbase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length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hu-HU" sz="1400" kern="0" dirty="0">
                                <a:solidFill>
                                  <a:srgbClr val="ED0007"/>
                                </a:solidFill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hu-HU" sz="700" kern="0" dirty="0">
                                <a:solidFill>
                                  <a:srgbClr val="ED0007"/>
                                </a:solidFill>
                              </a:rPr>
                              <m:t>RCenter</m:t>
                            </m:r>
                            <m:r>
                              <m:rPr>
                                <m:nor/>
                              </m:rPr>
                              <a:rPr lang="hu-HU" sz="1200" kern="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b="0" i="0" kern="0" dirty="0" smtClean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Front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axle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length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/ 2))</m:t>
                            </m:r>
                          </m:den>
                        </m:f>
                      </m:e>
                    </m:d>
                  </m:oMath>
                </a14:m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or</a:t>
                </a: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RWA FL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2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arctan</m:t>
                    </m:r>
                    <m:d>
                      <m:dPr>
                        <m:ctrlPr>
                          <a:rPr lang="hu-HU" sz="12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2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hu-HU" sz="1200" b="0" i="0" dirty="0" smtClean="0">
                                <a:solidFill>
                                  <a:schemeClr val="tx1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hu-HU" sz="1200" b="0" i="0" dirty="0" smtClean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hu-HU" sz="1200" i="1" dirty="0" smtClean="0">
                                    <a:solidFill>
                                      <a:srgbClr val="007BC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200" b="0" i="0" dirty="0" smtClean="0">
                                    <a:solidFill>
                                      <a:schemeClr val="tx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200" b="0" i="0" dirty="0" smtClean="0">
                                    <a:solidFill>
                                      <a:schemeClr val="tx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tan</m:t>
                                </m:r>
                                <m:r>
                                  <m:rPr>
                                    <m:nor/>
                                  </m:rPr>
                                  <a:rPr lang="hu-HU" sz="1200" b="0" i="0" dirty="0" smtClean="0">
                                    <a:solidFill>
                                      <a:schemeClr val="tx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hu-HU" sz="1200" b="0" i="0" dirty="0" smtClean="0">
                                    <a:solidFill>
                                      <a:srgbClr val="CC990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Road</m:t>
                                </m:r>
                                <m:r>
                                  <m:rPr>
                                    <m:nor/>
                                  </m:rPr>
                                  <a:rPr lang="hu-HU" sz="1200" b="0" i="0" dirty="0" smtClean="0">
                                    <a:solidFill>
                                      <a:srgbClr val="CC990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b="0" i="0" dirty="0" smtClean="0">
                                    <a:solidFill>
                                      <a:srgbClr val="CC990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Wheel</m:t>
                                </m:r>
                                <m:r>
                                  <m:rPr>
                                    <m:nor/>
                                  </m:rPr>
                                  <a:rPr lang="hu-HU" sz="1200" b="0" i="0" dirty="0" smtClean="0">
                                    <a:solidFill>
                                      <a:srgbClr val="CC990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b="0" i="0" dirty="0" smtClean="0">
                                    <a:solidFill>
                                      <a:srgbClr val="CC990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Angle</m:t>
                                </m:r>
                                <m:r>
                                  <m:rPr>
                                    <m:nor/>
                                  </m:rPr>
                                  <a:rPr lang="hu-HU" sz="1200" b="0" i="0" dirty="0" smtClean="0">
                                    <a:solidFill>
                                      <a:schemeClr val="tx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hu-HU" sz="1200" b="0" i="0" dirty="0" smtClean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kern="0" dirty="0"/>
                              <m:t>+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hu-HU" sz="1200" i="1" dirty="0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Front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axle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/ 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Wheelbase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hu-HU" sz="1200" b="0" i="0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RWA FR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2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arctan</m:t>
                    </m:r>
                    <m:d>
                      <m:dPr>
                        <m:ctrlPr>
                          <a:rPr lang="hu-HU" sz="12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2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hu-HU" sz="1200" i="1" dirty="0">
                                    <a:solidFill>
                                      <a:srgbClr val="007BC0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tan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CC990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Road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CC990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CC990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Wheel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CC990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CC990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Angle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hu-HU" sz="1200" b="0" i="0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kern="0" dirty="0"/>
                              <m:t>−</m:t>
                            </m:r>
                            <m:r>
                              <a:rPr lang="hu-HU" sz="1200" b="0" i="1" kern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hu-HU" sz="1200" i="1" dirty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Front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axle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/ 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Wheelbase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hu-HU" sz="1200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hu-HU" sz="1200" dirty="0">
                  <a:solidFill>
                    <a:srgbClr val="ED0007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hu-HU" sz="1200" dirty="0">
                  <a:solidFill>
                    <a:srgbClr val="ED0007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BD84CC-60B7-4BE9-8D36-77403ABDF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19" y="959301"/>
                <a:ext cx="7285480" cy="5142919"/>
              </a:xfrm>
              <a:prstGeom prst="rect">
                <a:avLst/>
              </a:prstGeom>
              <a:blipFill>
                <a:blip r:embed="rId2"/>
                <a:stretch>
                  <a:fillRect l="-1757" t="-1185" b="-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D5FD322D-DD3F-4207-A778-5AA75355E6EE}"/>
              </a:ext>
            </a:extLst>
          </p:cNvPr>
          <p:cNvSpPr txBox="1"/>
          <p:nvPr/>
        </p:nvSpPr>
        <p:spPr>
          <a:xfrm>
            <a:off x="7581899" y="959300"/>
            <a:ext cx="3993607" cy="51429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sz="1600" b="1" dirty="0" err="1">
                <a:latin typeface="Bosch Office Sans" pitchFamily="2" charset="0"/>
                <a:cs typeface="Calibri" panose="020F0502020204030204" pitchFamily="34" charset="0"/>
              </a:rPr>
              <a:t>Where</a:t>
            </a:r>
            <a:r>
              <a:rPr lang="hu-HU" sz="1600" b="1" dirty="0">
                <a:latin typeface="Bosch Office Sans" pitchFamily="2" charset="0"/>
                <a:cs typeface="Calibri" panose="020F0502020204030204" pitchFamily="34" charset="0"/>
              </a:rPr>
              <a:t>: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1400" kern="0" dirty="0" err="1">
                <a:solidFill>
                  <a:srgbClr val="FF9900"/>
                </a:solidFill>
              </a:rPr>
              <a:t>r</a:t>
            </a:r>
            <a:r>
              <a:rPr lang="hu-HU" sz="700" kern="0" dirty="0" err="1">
                <a:solidFill>
                  <a:srgbClr val="FF9900"/>
                </a:solidFill>
              </a:rPr>
              <a:t>FCenter</a:t>
            </a:r>
            <a:r>
              <a:rPr lang="hu-HU" sz="1200" kern="0" dirty="0"/>
              <a:t> = </a:t>
            </a:r>
            <a:r>
              <a:rPr lang="hu-HU" sz="1200" dirty="0" err="1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Wheelbase</a:t>
            </a:r>
            <a:r>
              <a:rPr lang="hu-HU" sz="1200" dirty="0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sz="1200" dirty="0" err="1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length</a:t>
            </a:r>
            <a:r>
              <a:rPr lang="hu-HU" sz="1200" dirty="0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sz="1200" dirty="0">
                <a:latin typeface="Bosch Office Sans" pitchFamily="2" charset="0"/>
                <a:cs typeface="Calibri" panose="020F0502020204030204" pitchFamily="34" charset="0"/>
              </a:rPr>
              <a:t>/ sin(</a:t>
            </a:r>
            <a:r>
              <a:rPr lang="hu-HU" sz="1200" dirty="0" err="1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Road</a:t>
            </a:r>
            <a:r>
              <a:rPr lang="hu-HU" sz="1200" dirty="0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 Wheel </a:t>
            </a:r>
            <a:r>
              <a:rPr lang="hu-HU" sz="1200" dirty="0" err="1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Angle</a:t>
            </a:r>
            <a:r>
              <a:rPr lang="hu-HU" sz="1200" dirty="0">
                <a:latin typeface="Bosch Office Sans" pitchFamily="2" charset="0"/>
                <a:cs typeface="Calibri" panose="020F0502020204030204" pitchFamily="34" charset="0"/>
              </a:rPr>
              <a:t>)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1400" kern="0" dirty="0" err="1">
                <a:solidFill>
                  <a:srgbClr val="ED0007"/>
                </a:solidFill>
              </a:rPr>
              <a:t>r</a:t>
            </a:r>
            <a:r>
              <a:rPr lang="hu-HU" sz="700" kern="0" dirty="0" err="1">
                <a:solidFill>
                  <a:srgbClr val="ED0007"/>
                </a:solidFill>
              </a:rPr>
              <a:t>RCenter</a:t>
            </a:r>
            <a:r>
              <a:rPr lang="hu-HU" sz="1200" kern="0" dirty="0"/>
              <a:t> = </a:t>
            </a:r>
            <a:r>
              <a:rPr lang="hu-HU" sz="1400" kern="0" dirty="0" err="1">
                <a:solidFill>
                  <a:srgbClr val="FF9900"/>
                </a:solidFill>
              </a:rPr>
              <a:t>r</a:t>
            </a:r>
            <a:r>
              <a:rPr lang="hu-HU" sz="700" kern="0" dirty="0" err="1">
                <a:solidFill>
                  <a:srgbClr val="FF9900"/>
                </a:solidFill>
              </a:rPr>
              <a:t>FCenter</a:t>
            </a:r>
            <a:r>
              <a:rPr lang="hu-HU" sz="1200" dirty="0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sz="1200" dirty="0">
                <a:latin typeface="Bosch Office Sans" pitchFamily="2" charset="0"/>
                <a:cs typeface="Calibri" panose="020F0502020204030204" pitchFamily="34" charset="0"/>
              </a:rPr>
              <a:t>* cos(</a:t>
            </a:r>
            <a:r>
              <a:rPr lang="hu-HU" sz="1200" dirty="0" err="1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Road</a:t>
            </a:r>
            <a:r>
              <a:rPr lang="hu-HU" sz="1200" dirty="0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 Wheel </a:t>
            </a:r>
            <a:r>
              <a:rPr lang="hu-HU" sz="1200" dirty="0" err="1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Angle</a:t>
            </a:r>
            <a:r>
              <a:rPr lang="hu-HU" sz="1200" dirty="0">
                <a:latin typeface="Bosch Office Sans" pitchFamily="2" charset="0"/>
                <a:cs typeface="Calibri" panose="020F0502020204030204" pitchFamily="34" charset="0"/>
              </a:rPr>
              <a:t>)</a:t>
            </a:r>
            <a:br>
              <a:rPr lang="hu-HU" sz="1200" dirty="0">
                <a:latin typeface="Bosch Office Sans" pitchFamily="2" charset="0"/>
                <a:cs typeface="Calibri" panose="020F0502020204030204" pitchFamily="34" charset="0"/>
              </a:rPr>
            </a:br>
            <a:r>
              <a:rPr lang="hu-HU" sz="1200" dirty="0" err="1">
                <a:latin typeface="Bosch Office Sans" pitchFamily="2" charset="0"/>
                <a:cs typeface="Calibri" panose="020F0502020204030204" pitchFamily="34" charset="0"/>
              </a:rPr>
              <a:t>or</a:t>
            </a:r>
            <a:br>
              <a:rPr lang="hu-HU" sz="1400" kern="0" dirty="0">
                <a:solidFill>
                  <a:srgbClr val="ED0007"/>
                </a:solidFill>
                <a:latin typeface="Bosch Office Sans" pitchFamily="2" charset="0"/>
                <a:cs typeface="Calibri" panose="020F0502020204030204" pitchFamily="34" charset="0"/>
              </a:rPr>
            </a:br>
            <a:r>
              <a:rPr lang="hu-HU" sz="1400" kern="0" dirty="0" err="1">
                <a:solidFill>
                  <a:srgbClr val="ED0007"/>
                </a:solidFill>
              </a:rPr>
              <a:t>r</a:t>
            </a:r>
            <a:r>
              <a:rPr lang="hu-HU" sz="700" kern="0" dirty="0" err="1">
                <a:solidFill>
                  <a:srgbClr val="ED0007"/>
                </a:solidFill>
              </a:rPr>
              <a:t>RCenter</a:t>
            </a:r>
            <a:r>
              <a:rPr lang="hu-HU" sz="1200" kern="0" dirty="0"/>
              <a:t> = </a:t>
            </a:r>
            <a:r>
              <a:rPr lang="hu-HU" sz="1200" dirty="0" err="1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Wheelbase</a:t>
            </a:r>
            <a:r>
              <a:rPr lang="hu-HU" sz="1200" dirty="0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sz="1200" dirty="0" err="1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length</a:t>
            </a:r>
            <a:r>
              <a:rPr lang="hu-HU" sz="1200" dirty="0">
                <a:latin typeface="Bosch Office Sans" pitchFamily="2" charset="0"/>
                <a:cs typeface="Calibri" panose="020F0502020204030204" pitchFamily="34" charset="0"/>
              </a:rPr>
              <a:t> / tan(</a:t>
            </a:r>
            <a:r>
              <a:rPr lang="hu-HU" sz="1200" dirty="0" err="1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Road</a:t>
            </a:r>
            <a:r>
              <a:rPr lang="hu-HU" sz="1200" dirty="0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 Wheel </a:t>
            </a:r>
            <a:r>
              <a:rPr lang="hu-HU" sz="1200" dirty="0" err="1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Angle</a:t>
            </a:r>
            <a:r>
              <a:rPr lang="hu-HU" sz="1200" dirty="0">
                <a:latin typeface="Bosch Office Sans" pitchFamily="2" charset="0"/>
                <a:cs typeface="Calibri" panose="020F0502020204030204" pitchFamily="34" charset="0"/>
              </a:rPr>
              <a:t>)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hu-HU" sz="1200" dirty="0">
              <a:latin typeface="Bosch Office Sans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473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turning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movement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- front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side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wheel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angle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as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basis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12</a:t>
            </a:fld>
            <a:endParaRPr lang="en-US" noProof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CD2C8A-7F62-48CE-9DB5-ACD8181E950D}"/>
              </a:ext>
            </a:extLst>
          </p:cNvPr>
          <p:cNvSpPr txBox="1"/>
          <p:nvPr/>
        </p:nvSpPr>
        <p:spPr>
          <a:xfrm>
            <a:off x="456626" y="4928095"/>
            <a:ext cx="6624106" cy="5184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lang="hu-HU" sz="1200" kern="0" dirty="0">
              <a:solidFill>
                <a:srgbClr val="007B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BD84CC-60B7-4BE9-8D36-77403ABDF471}"/>
                  </a:ext>
                </a:extLst>
              </p:cNvPr>
              <p:cNvSpPr txBox="1"/>
              <p:nvPr/>
            </p:nvSpPr>
            <p:spPr>
              <a:xfrm>
                <a:off x="343832" y="916459"/>
                <a:ext cx="7285480" cy="51429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600" b="1" dirty="0">
                    <a:latin typeface="Bosch Office Sans" pitchFamily="2" charset="0"/>
                    <a:cs typeface="Calibri" panose="020F0502020204030204" pitchFamily="34" charset="0"/>
                  </a:rPr>
                  <a:t>Inputs: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Wheelbase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, 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Front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, RWA FL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or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RWA FR</a:t>
                </a: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600" b="1" dirty="0" err="1">
                    <a:latin typeface="Bosch Office Sans" pitchFamily="2" charset="0"/>
                    <a:cs typeface="Calibri" panose="020F0502020204030204" pitchFamily="34" charset="0"/>
                  </a:rPr>
                  <a:t>Outputs</a:t>
                </a:r>
                <a:r>
                  <a:rPr lang="hu-HU" sz="1600" b="1" dirty="0">
                    <a:latin typeface="Bosch Office Sans" pitchFamily="2" charset="0"/>
                    <a:cs typeface="Calibri" panose="020F0502020204030204" pitchFamily="34" charset="0"/>
                  </a:rPr>
                  <a:t>:</a:t>
                </a: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From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the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following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formulas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: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sz="1200" kern="0" dirty="0">
                        <a:solidFill>
                          <a:srgbClr val="ED0007"/>
                        </a:solidFill>
                      </a:rPr>
                      <m:t>r</m:t>
                    </m:r>
                    <m:r>
                      <m:rPr>
                        <m:nor/>
                      </m:rPr>
                      <a:rPr lang="hu-HU" sz="600" kern="0" dirty="0">
                        <a:solidFill>
                          <a:srgbClr val="ED0007"/>
                        </a:solidFill>
                      </a:rPr>
                      <m:t>RCenter</m:t>
                    </m:r>
                    <m:r>
                      <m:rPr>
                        <m:nor/>
                      </m:rPr>
                      <a:rPr lang="hu-HU" sz="1100" kern="0" dirty="0"/>
                      <m:t> </m:t>
                    </m:r>
                  </m:oMath>
                </a14:m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1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hu-HU" sz="1100" dirty="0">
                            <a:solidFill>
                              <a:srgbClr val="007BC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Wheelbase</m:t>
                        </m:r>
                        <m:r>
                          <m:rPr>
                            <m:nor/>
                          </m:rPr>
                          <a:rPr lang="hu-HU" sz="1100" dirty="0">
                            <a:solidFill>
                              <a:srgbClr val="007BC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100" dirty="0">
                            <a:solidFill>
                              <a:srgbClr val="007BC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length</m:t>
                        </m:r>
                      </m:num>
                      <m:den>
                        <m:r>
                          <m:rPr>
                            <m:nor/>
                          </m:rPr>
                          <a:rPr lang="hu-HU" sz="1100" dirty="0" smtClean="0">
                            <a:cs typeface="Calibri" panose="020F0502020204030204" pitchFamily="34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hu-HU" sz="1100" dirty="0">
                            <a:cs typeface="Calibri" panose="020F0502020204030204" pitchFamily="34" charset="0"/>
                          </a:rPr>
                          <m:t>an</m:t>
                        </m:r>
                        <m:r>
                          <m:rPr>
                            <m:nor/>
                          </m:rPr>
                          <a:rPr lang="hu-HU" sz="1100" dirty="0">
                            <a:cs typeface="Calibri" panose="020F050202020403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cs typeface="Calibri" panose="020F0502020204030204" pitchFamily="34" charset="0"/>
                          </a:rPr>
                          <m:t>RWA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cs typeface="Calibri" panose="020F0502020204030204" pitchFamily="34" charset="0"/>
                          </a:rPr>
                          <m:t>FL</m:t>
                        </m:r>
                        <m:r>
                          <m:rPr>
                            <m:nor/>
                          </m:rPr>
                          <a:rPr lang="hu-HU" sz="11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)</m:t>
                        </m:r>
                        <m:r>
                          <a:rPr lang="hu-HU" sz="11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 - (Front </a:t>
                </a:r>
                <a:r>
                  <a:rPr lang="hu-HU" sz="1100" dirty="0" err="1"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100" dirty="0" err="1"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 / 2)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sz="1200" kern="0" dirty="0">
                        <a:solidFill>
                          <a:srgbClr val="ED0007"/>
                        </a:solidFill>
                      </a:rPr>
                      <m:t>r</m:t>
                    </m:r>
                    <m:r>
                      <m:rPr>
                        <m:nor/>
                      </m:rPr>
                      <a:rPr lang="hu-HU" sz="600" kern="0" dirty="0">
                        <a:solidFill>
                          <a:srgbClr val="ED0007"/>
                        </a:solidFill>
                      </a:rPr>
                      <m:t>RCenter</m:t>
                    </m:r>
                    <m:r>
                      <m:rPr>
                        <m:nor/>
                      </m:rPr>
                      <a:rPr lang="hu-HU" sz="1100" kern="0" dirty="0"/>
                      <m:t> </m:t>
                    </m:r>
                  </m:oMath>
                </a14:m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1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hu-HU" sz="1100" dirty="0">
                            <a:solidFill>
                              <a:srgbClr val="007BC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Wheelbase</m:t>
                        </m:r>
                        <m:r>
                          <m:rPr>
                            <m:nor/>
                          </m:rPr>
                          <a:rPr lang="hu-HU" sz="1100" dirty="0">
                            <a:solidFill>
                              <a:srgbClr val="007BC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100" dirty="0">
                            <a:solidFill>
                              <a:srgbClr val="007BC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length</m:t>
                        </m:r>
                      </m:num>
                      <m:den>
                        <m:r>
                          <m:rPr>
                            <m:nor/>
                          </m:rPr>
                          <a:rPr lang="hu-HU" sz="1100" dirty="0" smtClean="0">
                            <a:cs typeface="Calibri" panose="020F0502020204030204" pitchFamily="34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hu-HU" sz="1100" dirty="0">
                            <a:cs typeface="Calibri" panose="020F0502020204030204" pitchFamily="34" charset="0"/>
                          </a:rPr>
                          <m:t>an</m:t>
                        </m:r>
                        <m:r>
                          <m:rPr>
                            <m:nor/>
                          </m:rPr>
                          <a:rPr lang="hu-HU" sz="1100" dirty="0">
                            <a:cs typeface="Calibri" panose="020F050202020403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cs typeface="Calibri" panose="020F0502020204030204" pitchFamily="34" charset="0"/>
                          </a:rPr>
                          <m:t>RWA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cs typeface="Calibri" panose="020F0502020204030204" pitchFamily="34" charset="0"/>
                          </a:rPr>
                          <m:t>FR</m:t>
                        </m:r>
                        <m:r>
                          <m:rPr>
                            <m:nor/>
                          </m:rPr>
                          <a:rPr lang="hu-HU" sz="11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)</m:t>
                        </m:r>
                        <m:r>
                          <a:rPr lang="hu-HU" sz="11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 + (Front </a:t>
                </a:r>
                <a:r>
                  <a:rPr lang="hu-HU" sz="1100" dirty="0" err="1">
                    <a:latin typeface="Bosch Office Sans" pitchFamily="2" charset="0"/>
                    <a:cs typeface="Calibri" panose="020F0502020204030204" pitchFamily="34" charset="0"/>
                  </a:rPr>
                  <a:t>axle</a:t>
                </a:r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100" dirty="0" err="1"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 / 2)</a:t>
                </a: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lang="hu-HU" sz="14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The RWA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values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are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: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000" dirty="0">
                    <a:latin typeface="Bosch Office Sans" pitchFamily="2" charset="0"/>
                    <a:cs typeface="Calibri" panose="020F0502020204030204" pitchFamily="34" charset="0"/>
                  </a:rPr>
                  <a:t>RWA FR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arctan</m:t>
                    </m:r>
                    <m:d>
                      <m:dPr>
                        <m:ctrlPr>
                          <a:rPr lang="hu-HU" sz="1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hu-HU" sz="1000" dirty="0" smtClean="0">
                                <a:solidFill>
                                  <a:schemeClr val="tx1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hu-HU" sz="1000" b="0" i="1" dirty="0" smtClean="0">
                                <a:solidFill>
                                  <a:srgbClr val="007B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  <m:f>
                              <m:fPr>
                                <m:ctrlPr>
                                  <a:rPr lang="hu-HU" sz="1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tx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cs typeface="Calibri" panose="020F0502020204030204" pitchFamily="34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cs typeface="Calibri" panose="020F0502020204030204" pitchFamily="34" charset="0"/>
                                  </a:rPr>
                                  <m:t>an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RWA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FL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  <m:r>
                                  <a:rPr lang="hu-HU" sz="1000" i="1" dirty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hu-HU" sz="10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hu-HU" sz="10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 </m:t>
                            </m:r>
                            <m:f>
                              <m:fPr>
                                <m:ctrlPr>
                                  <a:rPr lang="hu-HU" sz="1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Front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axle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Wheelbase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</m:den>
                            </m:f>
                            <m:r>
                              <a:rPr lang="hu-HU" sz="1000" b="0" i="1" dirty="0" smtClean="0">
                                <a:solidFill>
                                  <a:srgbClr val="007B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</m:den>
                        </m:f>
                      </m:e>
                    </m:d>
                  </m:oMath>
                </a14:m>
                <a:endParaRPr lang="hu-HU" sz="10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000" dirty="0">
                    <a:latin typeface="Bosch Office Sans" pitchFamily="2" charset="0"/>
                    <a:cs typeface="Calibri" panose="020F0502020204030204" pitchFamily="34" charset="0"/>
                  </a:rPr>
                  <a:t>RWA FL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arctan</m:t>
                    </m:r>
                    <m:d>
                      <m:dPr>
                        <m:ctrlPr>
                          <a:rPr lang="hu-HU" sz="1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hu-HU" sz="1000" dirty="0" smtClean="0">
                                <a:solidFill>
                                  <a:schemeClr val="tx1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hu-HU" sz="1000" b="0" i="1" dirty="0" smtClean="0">
                                <a:solidFill>
                                  <a:srgbClr val="007B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  <m:f>
                              <m:fPr>
                                <m:ctrlPr>
                                  <a:rPr lang="hu-HU" sz="1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tx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cs typeface="Calibri" panose="020F0502020204030204" pitchFamily="34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cs typeface="Calibri" panose="020F0502020204030204" pitchFamily="34" charset="0"/>
                                  </a:rPr>
                                  <m:t>an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RWA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FR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  <m:r>
                                  <a:rPr lang="hu-HU" sz="1000" i="1" dirty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hu-HU" sz="10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hu-HU" sz="1000" b="0" i="1" dirty="0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hu-HU" sz="1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Front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axle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Wheelbase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</m:den>
                            </m:f>
                            <m:r>
                              <a:rPr lang="hu-HU" sz="1000" b="0" i="1" dirty="0" smtClean="0">
                                <a:solidFill>
                                  <a:srgbClr val="007B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</m:den>
                        </m:f>
                      </m:e>
                    </m:d>
                  </m:oMath>
                </a14:m>
                <a:endParaRPr lang="hu-HU" sz="10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000" dirty="0" err="1">
                    <a:solidFill>
                      <a:srgbClr val="CC990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Road</a:t>
                </a:r>
                <a:r>
                  <a:rPr lang="hu-HU" sz="1000" dirty="0">
                    <a:solidFill>
                      <a:srgbClr val="CC990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Wheel </a:t>
                </a:r>
                <a:r>
                  <a:rPr lang="hu-HU" sz="1000" dirty="0" err="1">
                    <a:solidFill>
                      <a:srgbClr val="CC990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Angle</a:t>
                </a:r>
                <a:r>
                  <a:rPr lang="hu-HU" sz="1000" dirty="0">
                    <a:latin typeface="Bosch Office Sans" pitchFamily="2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arctan</m:t>
                    </m:r>
                    <m:d>
                      <m:dPr>
                        <m:ctrlPr>
                          <a:rPr lang="hu-HU" sz="1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hu-HU" sz="1000" dirty="0" smtClean="0">
                                <a:solidFill>
                                  <a:schemeClr val="tx1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hu-HU" sz="1000" i="1" dirty="0">
                                <a:solidFill>
                                  <a:srgbClr val="007B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  <m:f>
                              <m:fPr>
                                <m:ctrlPr>
                                  <a:rPr lang="hu-HU" sz="1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tx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cs typeface="Calibri" panose="020F0502020204030204" pitchFamily="34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cs typeface="Calibri" panose="020F0502020204030204" pitchFamily="34" charset="0"/>
                                  </a:rPr>
                                  <m:t>an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RWA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FL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  <m:r>
                                  <a:rPr lang="hu-HU" sz="1000" i="1" dirty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hu-HU" sz="10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hu-HU" sz="10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 </m:t>
                            </m:r>
                            <m:f>
                              <m:fPr>
                                <m:ctrlPr>
                                  <a:rPr lang="hu-HU" sz="1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Front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axle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solidFill>
                                      <a:schemeClr val="tx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/2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Wheelbase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</m:den>
                            </m:f>
                            <m:r>
                              <a:rPr lang="hu-HU" sz="1000" i="1" dirty="0">
                                <a:solidFill>
                                  <a:srgbClr val="007B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</m:den>
                        </m:f>
                      </m:e>
                    </m:d>
                  </m:oMath>
                </a14:m>
                <a:endParaRPr lang="hu-HU" sz="10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000" dirty="0" err="1">
                    <a:solidFill>
                      <a:srgbClr val="CC990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Road</a:t>
                </a:r>
                <a:r>
                  <a:rPr lang="hu-HU" sz="1000" dirty="0">
                    <a:solidFill>
                      <a:srgbClr val="CC990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Wheel </a:t>
                </a:r>
                <a:r>
                  <a:rPr lang="hu-HU" sz="1000" dirty="0" err="1">
                    <a:solidFill>
                      <a:srgbClr val="CC990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Angle</a:t>
                </a:r>
                <a:r>
                  <a:rPr lang="hu-HU" sz="1000" dirty="0">
                    <a:latin typeface="Bosch Office Sans" pitchFamily="2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arctan</m:t>
                    </m:r>
                    <m:d>
                      <m:dPr>
                        <m:ctrlPr>
                          <a:rPr lang="hu-HU" sz="1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0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hu-HU" sz="1000" dirty="0" smtClean="0">
                                <a:solidFill>
                                  <a:schemeClr val="tx1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hu-HU" sz="1000" i="1" dirty="0">
                                <a:solidFill>
                                  <a:srgbClr val="007B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  <m:f>
                              <m:fPr>
                                <m:ctrlPr>
                                  <a:rPr lang="hu-HU" sz="1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solidFill>
                                      <a:schemeClr val="tx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000" dirty="0" smtClean="0">
                                    <a:cs typeface="Calibri" panose="020F0502020204030204" pitchFamily="34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cs typeface="Calibri" panose="020F0502020204030204" pitchFamily="34" charset="0"/>
                                  </a:rPr>
                                  <m:t>an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RWA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cs typeface="Calibri" panose="020F0502020204030204" pitchFamily="34" charset="0"/>
                                  </a:rPr>
                                  <m:t>FR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  <m:r>
                                  <a:rPr lang="hu-HU" sz="1000" i="1" dirty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</m:den>
                            </m:f>
                            <m:r>
                              <m:rPr>
                                <m:nor/>
                              </m:rPr>
                              <a:rPr lang="hu-HU" sz="10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a:rPr lang="hu-HU" sz="10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+ </m:t>
                            </m:r>
                            <m:f>
                              <m:fPr>
                                <m:ctrlPr>
                                  <a:rPr lang="hu-HU" sz="10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Front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axle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chemeClr val="accent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  <m:r>
                                  <m:rPr>
                                    <m:nor/>
                                  </m:rPr>
                                  <a:rPr lang="hu-HU" sz="1000" b="0" i="0" dirty="0" smtClean="0">
                                    <a:solidFill>
                                      <a:schemeClr val="tx1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/2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Wheelbase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0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</m:den>
                            </m:f>
                            <m:r>
                              <a:rPr lang="hu-HU" sz="1000" i="1" dirty="0">
                                <a:solidFill>
                                  <a:srgbClr val="007BC0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  </m:t>
                            </m:r>
                          </m:den>
                        </m:f>
                      </m:e>
                    </m:d>
                  </m:oMath>
                </a14:m>
                <a:endParaRPr lang="hu-HU" sz="10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BD84CC-60B7-4BE9-8D36-77403ABDF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32" y="916459"/>
                <a:ext cx="7285480" cy="5142919"/>
              </a:xfrm>
              <a:prstGeom prst="rect">
                <a:avLst/>
              </a:prstGeom>
              <a:blipFill>
                <a:blip r:embed="rId2"/>
                <a:stretch>
                  <a:fillRect l="-1672" t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D5FD322D-DD3F-4207-A778-5AA75355E6EE}"/>
              </a:ext>
            </a:extLst>
          </p:cNvPr>
          <p:cNvSpPr txBox="1"/>
          <p:nvPr/>
        </p:nvSpPr>
        <p:spPr>
          <a:xfrm>
            <a:off x="7581899" y="959300"/>
            <a:ext cx="3993607" cy="51429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hu-HU" sz="1600" b="1" dirty="0" err="1">
                <a:latin typeface="Bosch Office Sans" pitchFamily="2" charset="0"/>
                <a:cs typeface="Calibri" panose="020F0502020204030204" pitchFamily="34" charset="0"/>
              </a:rPr>
              <a:t>Where</a:t>
            </a:r>
            <a:r>
              <a:rPr lang="hu-HU" sz="1600" b="1" dirty="0">
                <a:latin typeface="Bosch Office Sans" pitchFamily="2" charset="0"/>
                <a:cs typeface="Calibri" panose="020F0502020204030204" pitchFamily="34" charset="0"/>
              </a:rPr>
              <a:t>:</a:t>
            </a:r>
          </a:p>
          <a:p>
            <a:pPr marL="285750" indent="-285750" fontAlgn="auto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u-HU" sz="1400" kern="0" dirty="0" err="1">
                <a:solidFill>
                  <a:srgbClr val="ED0007"/>
                </a:solidFill>
              </a:rPr>
              <a:t>r</a:t>
            </a:r>
            <a:r>
              <a:rPr lang="hu-HU" sz="800" kern="0" dirty="0" err="1">
                <a:solidFill>
                  <a:srgbClr val="ED0007"/>
                </a:solidFill>
              </a:rPr>
              <a:t>RCenter</a:t>
            </a:r>
            <a:r>
              <a:rPr lang="hu-HU" sz="1200" kern="0" dirty="0"/>
              <a:t> = </a:t>
            </a:r>
            <a:r>
              <a:rPr lang="hu-HU" sz="1200" dirty="0" err="1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Wheelbase</a:t>
            </a:r>
            <a:r>
              <a:rPr lang="hu-HU" sz="1200" dirty="0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 </a:t>
            </a:r>
            <a:r>
              <a:rPr lang="hu-HU" sz="1200" dirty="0" err="1">
                <a:solidFill>
                  <a:srgbClr val="007BC0"/>
                </a:solidFill>
                <a:latin typeface="Bosch Office Sans" pitchFamily="2" charset="0"/>
                <a:cs typeface="Calibri" panose="020F0502020204030204" pitchFamily="34" charset="0"/>
              </a:rPr>
              <a:t>length</a:t>
            </a:r>
            <a:r>
              <a:rPr lang="hu-HU" sz="1200" dirty="0">
                <a:latin typeface="Bosch Office Sans" pitchFamily="2" charset="0"/>
                <a:cs typeface="Calibri" panose="020F0502020204030204" pitchFamily="34" charset="0"/>
              </a:rPr>
              <a:t> / tan(</a:t>
            </a:r>
            <a:r>
              <a:rPr lang="hu-HU" sz="1200" dirty="0" err="1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Road</a:t>
            </a:r>
            <a:r>
              <a:rPr lang="hu-HU" sz="1200" dirty="0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 Wheel </a:t>
            </a:r>
            <a:r>
              <a:rPr lang="hu-HU" sz="1200" dirty="0" err="1">
                <a:solidFill>
                  <a:srgbClr val="CC9900"/>
                </a:solidFill>
                <a:latin typeface="Bosch Office Sans" pitchFamily="2" charset="0"/>
                <a:cs typeface="Calibri" panose="020F0502020204030204" pitchFamily="34" charset="0"/>
              </a:rPr>
              <a:t>Angle</a:t>
            </a:r>
            <a:r>
              <a:rPr lang="hu-HU" sz="1200" dirty="0">
                <a:latin typeface="Bosch Office Sans" pitchFamily="2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5450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turning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movement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- input/output (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wheel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speeds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heading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angle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change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13</a:t>
            </a:fld>
            <a:endParaRPr lang="en-US" noProof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CD2C8A-7F62-48CE-9DB5-ACD8181E950D}"/>
              </a:ext>
            </a:extLst>
          </p:cNvPr>
          <p:cNvSpPr txBox="1"/>
          <p:nvPr/>
        </p:nvSpPr>
        <p:spPr>
          <a:xfrm>
            <a:off x="456626" y="4928095"/>
            <a:ext cx="6624106" cy="5184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lang="hu-HU" sz="1200" kern="0" dirty="0">
              <a:solidFill>
                <a:srgbClr val="007B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BD84CC-60B7-4BE9-8D36-77403ABDF471}"/>
                  </a:ext>
                </a:extLst>
              </p:cNvPr>
              <p:cNvSpPr txBox="1"/>
              <p:nvPr/>
            </p:nvSpPr>
            <p:spPr>
              <a:xfrm>
                <a:off x="296419" y="959301"/>
                <a:ext cx="7285480" cy="51429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600" b="1" dirty="0">
                    <a:latin typeface="Bosch Office Sans" pitchFamily="2" charset="0"/>
                    <a:cs typeface="Calibri" panose="020F0502020204030204" pitchFamily="34" charset="0"/>
                  </a:rPr>
                  <a:t>Outputs:</a:t>
                </a: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400" b="1" dirty="0">
                    <a:latin typeface="Bosch Office Sans" pitchFamily="2" charset="0"/>
                    <a:cs typeface="Calibri" panose="020F0502020204030204" pitchFamily="34" charset="0"/>
                  </a:rPr>
                  <a:t>Front </a:t>
                </a:r>
                <a:r>
                  <a:rPr lang="hu-HU" sz="1400" b="1" dirty="0" err="1">
                    <a:latin typeface="Bosch Office Sans" pitchFamily="2" charset="0"/>
                    <a:cs typeface="Calibri" panose="020F0502020204030204" pitchFamily="34" charset="0"/>
                  </a:rPr>
                  <a:t>driven</a:t>
                </a:r>
                <a:r>
                  <a:rPr lang="hu-HU" sz="1400" b="1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b="1" dirty="0" err="1">
                    <a:latin typeface="Bosch Office Sans" pitchFamily="2" charset="0"/>
                    <a:cs typeface="Calibri" panose="020F0502020204030204" pitchFamily="34" charset="0"/>
                  </a:rPr>
                  <a:t>wheels</a:t>
                </a:r>
                <a:r>
                  <a:rPr lang="hu-HU" sz="1400" b="1" dirty="0">
                    <a:latin typeface="Bosch Office Sans" pitchFamily="2" charset="0"/>
                    <a:cs typeface="Calibri" panose="020F0502020204030204" pitchFamily="34" charset="0"/>
                  </a:rPr>
                  <a:t>: 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(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reference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point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is </a:t>
                </a:r>
                <a:r>
                  <a:rPr lang="hu-HU" sz="1400" dirty="0">
                    <a:solidFill>
                      <a:srgbClr val="0000FF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Front </a:t>
                </a:r>
                <a:r>
                  <a:rPr lang="hu-HU" sz="1400" dirty="0" err="1">
                    <a:solidFill>
                      <a:srgbClr val="0000FF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axis</a:t>
                </a:r>
                <a:r>
                  <a:rPr lang="hu-HU" sz="1400" dirty="0">
                    <a:solidFill>
                      <a:srgbClr val="0000FF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center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)</a:t>
                </a:r>
                <a:endParaRPr lang="hu-HU" sz="16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 FL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(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kph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) =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* (</a:t>
                </a:r>
                <a:r>
                  <a:rPr lang="hu-HU" sz="1400" kern="0" dirty="0" err="1">
                    <a:solidFill>
                      <a:srgbClr val="FF99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9900"/>
                    </a:solidFill>
                  </a:rPr>
                  <a:t>FLW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/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400" kern="0" dirty="0" err="1">
                    <a:solidFill>
                      <a:srgbClr val="FF99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9900"/>
                    </a:solidFill>
                  </a:rPr>
                  <a:t>FCenter</a:t>
                </a:r>
                <a:r>
                  <a:rPr lang="hu-HU" sz="1200" kern="0" dirty="0"/>
                  <a:t>)</a:t>
                </a: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 FR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(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kph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) =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* (</a:t>
                </a:r>
                <a:r>
                  <a:rPr lang="hu-HU" sz="1400" kern="0" dirty="0" err="1">
                    <a:solidFill>
                      <a:srgbClr val="FF99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9900"/>
                    </a:solidFill>
                  </a:rPr>
                  <a:t>FRW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/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400" kern="0" dirty="0" err="1">
                    <a:solidFill>
                      <a:srgbClr val="FF99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9900"/>
                    </a:solidFill>
                  </a:rPr>
                  <a:t>FCenter</a:t>
                </a:r>
                <a:r>
                  <a:rPr lang="hu-HU" sz="1200" kern="0" dirty="0"/>
                  <a:t>)</a:t>
                </a: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 RL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(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kph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) =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* (</a:t>
                </a: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RLW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/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400" kern="0" dirty="0" err="1">
                    <a:solidFill>
                      <a:srgbClr val="FF99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9900"/>
                    </a:solidFill>
                  </a:rPr>
                  <a:t>FCenter</a:t>
                </a:r>
                <a:r>
                  <a:rPr lang="hu-HU" sz="1200" kern="0" dirty="0"/>
                  <a:t>)</a:t>
                </a: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 RR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(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kph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) =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* (</a:t>
                </a: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RRW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/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400" kern="0" dirty="0" err="1">
                    <a:solidFill>
                      <a:srgbClr val="FF99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9900"/>
                    </a:solidFill>
                  </a:rPr>
                  <a:t>FCenter</a:t>
                </a:r>
                <a:r>
                  <a:rPr lang="hu-HU" sz="1200" kern="0" dirty="0"/>
                  <a:t>)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deltaHeadingAngle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2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VehicleSpeed</m:t>
                        </m:r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∗ </m:t>
                        </m:r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deltaTime</m:t>
                        </m:r>
                      </m:num>
                      <m:den>
                        <m:r>
                          <m:rPr>
                            <m:nor/>
                          </m:rPr>
                          <a:rPr lang="hu-HU" sz="1400" kern="0" dirty="0" smtClean="0">
                            <a:solidFill>
                              <a:srgbClr val="FF99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hu-HU" sz="700" b="0" i="0" kern="0" dirty="0" smtClean="0">
                            <a:solidFill>
                              <a:srgbClr val="FF9900"/>
                            </a:solidFill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hu-HU" sz="700" kern="0" dirty="0" smtClean="0">
                            <a:solidFill>
                              <a:srgbClr val="FF9900"/>
                            </a:solidFill>
                          </a:rPr>
                          <m:t>Center</m:t>
                        </m:r>
                      </m:den>
                    </m:f>
                  </m:oMath>
                </a14:m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Yaw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rate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2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deltaHeadingAngle</m:t>
                        </m:r>
                      </m:num>
                      <m:den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deltaTime</m:t>
                        </m:r>
                      </m:den>
                    </m:f>
                  </m:oMath>
                </a14:m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400" b="1" dirty="0" err="1">
                    <a:latin typeface="Bosch Office Sans" pitchFamily="2" charset="0"/>
                    <a:cs typeface="Calibri" panose="020F0502020204030204" pitchFamily="34" charset="0"/>
                  </a:rPr>
                  <a:t>Rear</a:t>
                </a:r>
                <a:r>
                  <a:rPr lang="hu-HU" sz="1400" b="1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b="1" dirty="0" err="1">
                    <a:latin typeface="Bosch Office Sans" pitchFamily="2" charset="0"/>
                    <a:cs typeface="Calibri" panose="020F0502020204030204" pitchFamily="34" charset="0"/>
                  </a:rPr>
                  <a:t>driven</a:t>
                </a:r>
                <a:r>
                  <a:rPr lang="hu-HU" sz="1400" b="1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b="1" dirty="0" err="1">
                    <a:latin typeface="Bosch Office Sans" pitchFamily="2" charset="0"/>
                    <a:cs typeface="Calibri" panose="020F0502020204030204" pitchFamily="34" charset="0"/>
                  </a:rPr>
                  <a:t>wheels</a:t>
                </a:r>
                <a:r>
                  <a:rPr lang="hu-HU" sz="1400" b="1" dirty="0">
                    <a:latin typeface="Bosch Office Sans" pitchFamily="2" charset="0"/>
                    <a:cs typeface="Calibri" panose="020F0502020204030204" pitchFamily="34" charset="0"/>
                  </a:rPr>
                  <a:t>: 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(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reference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point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is </a:t>
                </a:r>
                <a:r>
                  <a:rPr lang="hu-HU" sz="1400" dirty="0" err="1">
                    <a:solidFill>
                      <a:srgbClr val="0000FF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Rear</a:t>
                </a:r>
                <a:r>
                  <a:rPr lang="hu-HU" sz="1400" dirty="0">
                    <a:solidFill>
                      <a:srgbClr val="0000FF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dirty="0" err="1">
                    <a:solidFill>
                      <a:srgbClr val="0000FF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axis</a:t>
                </a:r>
                <a:r>
                  <a:rPr lang="hu-HU" sz="1400" dirty="0">
                    <a:solidFill>
                      <a:srgbClr val="0000FF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center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)</a:t>
                </a:r>
                <a:endParaRPr lang="hu-HU" sz="1400" b="1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 FL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(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kph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) =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* (</a:t>
                </a:r>
                <a:r>
                  <a:rPr lang="hu-HU" sz="1400" kern="0" dirty="0" err="1">
                    <a:solidFill>
                      <a:srgbClr val="FF99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9900"/>
                    </a:solidFill>
                  </a:rPr>
                  <a:t>FLW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/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RCenter</a:t>
                </a:r>
                <a:r>
                  <a:rPr lang="hu-HU" sz="1200" kern="0" dirty="0"/>
                  <a:t>)</a:t>
                </a: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 FR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(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kph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) =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* (</a:t>
                </a:r>
                <a:r>
                  <a:rPr lang="hu-HU" sz="1400" kern="0" dirty="0" err="1">
                    <a:solidFill>
                      <a:srgbClr val="FF99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9900"/>
                    </a:solidFill>
                  </a:rPr>
                  <a:t>FRW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/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RCenter</a:t>
                </a:r>
                <a:r>
                  <a:rPr lang="hu-HU" sz="1200" kern="0" dirty="0"/>
                  <a:t>)</a:t>
                </a: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 RL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(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kph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) =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* (</a:t>
                </a: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RLW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/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RCenter</a:t>
                </a:r>
                <a:r>
                  <a:rPr lang="hu-HU" sz="1200" kern="0" dirty="0"/>
                  <a:t>)</a:t>
                </a: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RW RR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(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kph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) =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Speed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* (</a:t>
                </a: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RRW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200" kern="0" dirty="0"/>
                  <a:t>/</a:t>
                </a:r>
                <a:r>
                  <a:rPr lang="hu-HU" sz="1200" kern="0" dirty="0">
                    <a:solidFill>
                      <a:srgbClr val="FF9900"/>
                    </a:solidFill>
                  </a:rPr>
                  <a:t> </a:t>
                </a:r>
                <a:r>
                  <a:rPr lang="hu-HU" sz="1400" kern="0" dirty="0" err="1">
                    <a:solidFill>
                      <a:srgbClr val="ED0007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ED0007"/>
                    </a:solidFill>
                  </a:rPr>
                  <a:t>RCenter</a:t>
                </a:r>
                <a:r>
                  <a:rPr lang="hu-HU" sz="1200" kern="0" dirty="0"/>
                  <a:t>)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deltaHeadingAngle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2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VehicleSpeed</m:t>
                        </m:r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∗ </m:t>
                        </m:r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deltaTime</m:t>
                        </m:r>
                      </m:num>
                      <m:den>
                        <m:r>
                          <m:rPr>
                            <m:nor/>
                          </m:rPr>
                          <a:rPr lang="hu-HU" sz="1400" kern="0" dirty="0" smtClean="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hu-HU" sz="700" kern="0" dirty="0" smtClean="0">
                            <a:solidFill>
                              <a:srgbClr val="FF0000"/>
                            </a:solidFill>
                          </a:rPr>
                          <m:t>RCenter</m:t>
                        </m:r>
                      </m:den>
                    </m:f>
                  </m:oMath>
                </a14:m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Yaw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latin typeface="Bosch Office Sans" pitchFamily="2" charset="0"/>
                    <a:cs typeface="Calibri" panose="020F0502020204030204" pitchFamily="34" charset="0"/>
                  </a:rPr>
                  <a:t>rate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2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deltaHeadingAngle</m:t>
                        </m:r>
                      </m:num>
                      <m:den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deltaTime</m:t>
                        </m:r>
                      </m:den>
                    </m:f>
                  </m:oMath>
                </a14:m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BD84CC-60B7-4BE9-8D36-77403ABDF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19" y="959301"/>
                <a:ext cx="7285480" cy="5142919"/>
              </a:xfrm>
              <a:prstGeom prst="rect">
                <a:avLst/>
              </a:prstGeom>
              <a:blipFill>
                <a:blip r:embed="rId2"/>
                <a:stretch>
                  <a:fillRect l="-1757" t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9349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889BBA0-4EC7-49A4-B1DA-382891FF08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637" y="780210"/>
            <a:ext cx="5491114" cy="2611805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turning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movement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Max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allowed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RWA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14</a:t>
            </a:fld>
            <a:endParaRPr lang="en-US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B42292-C681-4F2C-8A73-0881B31E112B}"/>
              </a:ext>
            </a:extLst>
          </p:cNvPr>
          <p:cNvSpPr/>
          <p:nvPr/>
        </p:nvSpPr>
        <p:spPr>
          <a:xfrm>
            <a:off x="7643445" y="997286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315714-AC74-4D05-AD74-CE7363A14A3D}"/>
              </a:ext>
            </a:extLst>
          </p:cNvPr>
          <p:cNvSpPr/>
          <p:nvPr/>
        </p:nvSpPr>
        <p:spPr>
          <a:xfrm>
            <a:off x="7643445" y="2826146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504115-1961-4B9E-ABD9-03043EEB7246}"/>
              </a:ext>
            </a:extLst>
          </p:cNvPr>
          <p:cNvCxnSpPr>
            <a:cxnSpLocks/>
            <a:stCxn id="34" idx="0"/>
            <a:endCxn id="2" idx="2"/>
          </p:cNvCxnSpPr>
          <p:nvPr/>
        </p:nvCxnSpPr>
        <p:spPr>
          <a:xfrm flipV="1">
            <a:off x="8018584" y="1314610"/>
            <a:ext cx="0" cy="1511536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74FEDD2-330A-43E0-8AC7-3009EA1209D6}"/>
              </a:ext>
            </a:extLst>
          </p:cNvPr>
          <p:cNvSpPr/>
          <p:nvPr/>
        </p:nvSpPr>
        <p:spPr>
          <a:xfrm>
            <a:off x="7970803" y="2007617"/>
            <a:ext cx="95559" cy="100354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3EA533-ED6A-436A-8E58-D9BC72B672BA}"/>
              </a:ext>
            </a:extLst>
          </p:cNvPr>
          <p:cNvSpPr/>
          <p:nvPr/>
        </p:nvSpPr>
        <p:spPr>
          <a:xfrm rot="19751278">
            <a:off x="4588107" y="1013607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08F5C63-CC95-4D64-8189-80C4193E5272}"/>
              </a:ext>
            </a:extLst>
          </p:cNvPr>
          <p:cNvSpPr/>
          <p:nvPr/>
        </p:nvSpPr>
        <p:spPr>
          <a:xfrm rot="19142306">
            <a:off x="4790963" y="2771845"/>
            <a:ext cx="750277" cy="317324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39B3C80-C854-46B2-A60B-5CC5821525C6}"/>
              </a:ext>
            </a:extLst>
          </p:cNvPr>
          <p:cNvCxnSpPr>
            <a:cxnSpLocks/>
          </p:cNvCxnSpPr>
          <p:nvPr/>
        </p:nvCxnSpPr>
        <p:spPr>
          <a:xfrm flipV="1">
            <a:off x="5056550" y="1312233"/>
            <a:ext cx="0" cy="148289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634C5F40-BE6A-4546-9B32-3D081C20A310}"/>
              </a:ext>
            </a:extLst>
          </p:cNvPr>
          <p:cNvSpPr/>
          <p:nvPr/>
        </p:nvSpPr>
        <p:spPr>
          <a:xfrm>
            <a:off x="5008772" y="2004510"/>
            <a:ext cx="95559" cy="100354"/>
          </a:xfrm>
          <a:prstGeom prst="ellipse">
            <a:avLst/>
          </a:prstGeom>
          <a:solidFill>
            <a:srgbClr val="0000FF"/>
          </a:solidFill>
          <a:ln w="9525" cap="flat" cmpd="sng" algn="ctr">
            <a:solidFill>
              <a:srgbClr val="0000FF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78B35D1-701C-4195-9F90-2E2E988B8D3C}"/>
              </a:ext>
            </a:extLst>
          </p:cNvPr>
          <p:cNvCxnSpPr>
            <a:cxnSpLocks/>
          </p:cNvCxnSpPr>
          <p:nvPr/>
        </p:nvCxnSpPr>
        <p:spPr>
          <a:xfrm flipH="1" flipV="1">
            <a:off x="1938215" y="2054687"/>
            <a:ext cx="6008698" cy="1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515A68F-DE28-406F-8F4B-6E25C96BF9EE}"/>
              </a:ext>
            </a:extLst>
          </p:cNvPr>
          <p:cNvSpPr/>
          <p:nvPr/>
        </p:nvSpPr>
        <p:spPr>
          <a:xfrm rot="19596989">
            <a:off x="4681412" y="1904279"/>
            <a:ext cx="750277" cy="317324"/>
          </a:xfrm>
          <a:prstGeom prst="rect">
            <a:avLst/>
          </a:prstGeom>
          <a:solidFill>
            <a:schemeClr val="bg2">
              <a:lumMod val="50000"/>
              <a:alpha val="39000"/>
            </a:scheme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43C0ECD-236A-4687-AE9A-BAE22ED1C13B}"/>
              </a:ext>
            </a:extLst>
          </p:cNvPr>
          <p:cNvCxnSpPr>
            <a:cxnSpLocks/>
          </p:cNvCxnSpPr>
          <p:nvPr/>
        </p:nvCxnSpPr>
        <p:spPr>
          <a:xfrm flipV="1">
            <a:off x="8015950" y="3023988"/>
            <a:ext cx="6543" cy="3311498"/>
          </a:xfrm>
          <a:prstGeom prst="line">
            <a:avLst/>
          </a:prstGeom>
          <a:ln w="22225">
            <a:solidFill>
              <a:srgbClr val="FF99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12764FE-7D02-450D-ADC0-7EEB42FD7E13}"/>
              </a:ext>
            </a:extLst>
          </p:cNvPr>
          <p:cNvCxnSpPr>
            <a:cxnSpLocks/>
          </p:cNvCxnSpPr>
          <p:nvPr/>
        </p:nvCxnSpPr>
        <p:spPr>
          <a:xfrm flipH="1" flipV="1">
            <a:off x="5063095" y="2053681"/>
            <a:ext cx="2959398" cy="4272477"/>
          </a:xfrm>
          <a:prstGeom prst="line">
            <a:avLst/>
          </a:prstGeom>
          <a:ln w="15875">
            <a:solidFill>
              <a:srgbClr val="FF9900"/>
            </a:solidFill>
            <a:prstDash val="lg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0088199-9143-43E4-B403-950AF51E1C41}"/>
              </a:ext>
            </a:extLst>
          </p:cNvPr>
          <p:cNvCxnSpPr>
            <a:cxnSpLocks/>
          </p:cNvCxnSpPr>
          <p:nvPr/>
        </p:nvCxnSpPr>
        <p:spPr>
          <a:xfrm flipV="1">
            <a:off x="4023577" y="1245061"/>
            <a:ext cx="2283916" cy="1501592"/>
          </a:xfrm>
          <a:prstGeom prst="line">
            <a:avLst/>
          </a:prstGeom>
          <a:ln w="12700">
            <a:solidFill>
              <a:srgbClr val="ED000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E6D2941B-F9A4-493C-941F-7710ED7357ED}"/>
              </a:ext>
            </a:extLst>
          </p:cNvPr>
          <p:cNvSpPr/>
          <p:nvPr/>
        </p:nvSpPr>
        <p:spPr>
          <a:xfrm>
            <a:off x="7417837" y="5281127"/>
            <a:ext cx="587828" cy="989044"/>
          </a:xfrm>
          <a:custGeom>
            <a:avLst/>
            <a:gdLst>
              <a:gd name="connsiteX0" fmla="*/ 578498 w 587828"/>
              <a:gd name="connsiteY0" fmla="*/ 989044 h 989044"/>
              <a:gd name="connsiteX1" fmla="*/ 587828 w 587828"/>
              <a:gd name="connsiteY1" fmla="*/ 0 h 989044"/>
              <a:gd name="connsiteX2" fmla="*/ 0 w 587828"/>
              <a:gd name="connsiteY2" fmla="*/ 167951 h 989044"/>
              <a:gd name="connsiteX3" fmla="*/ 578498 w 587828"/>
              <a:gd name="connsiteY3" fmla="*/ 989044 h 98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828" h="989044">
                <a:moveTo>
                  <a:pt x="578498" y="989044"/>
                </a:moveTo>
                <a:lnTo>
                  <a:pt x="587828" y="0"/>
                </a:lnTo>
                <a:lnTo>
                  <a:pt x="0" y="167951"/>
                </a:lnTo>
                <a:lnTo>
                  <a:pt x="578498" y="989044"/>
                </a:lnTo>
                <a:close/>
              </a:path>
            </a:pathLst>
          </a:custGeom>
          <a:solidFill>
            <a:srgbClr val="FFFF00">
              <a:alpha val="22000"/>
            </a:srgb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F94D9805-28EB-4070-A284-92DB2CE95DBD}"/>
              </a:ext>
            </a:extLst>
          </p:cNvPr>
          <p:cNvSpPr/>
          <p:nvPr/>
        </p:nvSpPr>
        <p:spPr>
          <a:xfrm rot="5400000">
            <a:off x="5356164" y="1274414"/>
            <a:ext cx="561931" cy="989044"/>
          </a:xfrm>
          <a:custGeom>
            <a:avLst/>
            <a:gdLst>
              <a:gd name="connsiteX0" fmla="*/ 578498 w 587828"/>
              <a:gd name="connsiteY0" fmla="*/ 989044 h 989044"/>
              <a:gd name="connsiteX1" fmla="*/ 587828 w 587828"/>
              <a:gd name="connsiteY1" fmla="*/ 0 h 989044"/>
              <a:gd name="connsiteX2" fmla="*/ 0 w 587828"/>
              <a:gd name="connsiteY2" fmla="*/ 167951 h 989044"/>
              <a:gd name="connsiteX3" fmla="*/ 578498 w 587828"/>
              <a:gd name="connsiteY3" fmla="*/ 989044 h 98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7828" h="989044">
                <a:moveTo>
                  <a:pt x="578498" y="989044"/>
                </a:moveTo>
                <a:lnTo>
                  <a:pt x="587828" y="0"/>
                </a:lnTo>
                <a:lnTo>
                  <a:pt x="0" y="167951"/>
                </a:lnTo>
                <a:lnTo>
                  <a:pt x="578498" y="989044"/>
                </a:lnTo>
                <a:close/>
              </a:path>
            </a:pathLst>
          </a:custGeom>
          <a:solidFill>
            <a:srgbClr val="FFFF00">
              <a:alpha val="22000"/>
            </a:srgbClr>
          </a:solidFill>
          <a:ln w="9525" cap="flat" cmpd="sng" algn="ctr">
            <a:solidFill>
              <a:srgbClr val="3F136C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75E73A8-AC5E-4872-A5E6-E7CD3A694DA9}"/>
              </a:ext>
            </a:extLst>
          </p:cNvPr>
          <p:cNvSpPr txBox="1"/>
          <p:nvPr/>
        </p:nvSpPr>
        <p:spPr>
          <a:xfrm>
            <a:off x="4330918" y="762072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FR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574D29C-8C25-4382-ABC3-D40BB0194539}"/>
              </a:ext>
            </a:extLst>
          </p:cNvPr>
          <p:cNvSpPr txBox="1"/>
          <p:nvPr/>
        </p:nvSpPr>
        <p:spPr>
          <a:xfrm>
            <a:off x="4739942" y="3356148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FL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A4A306C-F100-4B08-B32A-B4AE933526A4}"/>
              </a:ext>
            </a:extLst>
          </p:cNvPr>
          <p:cNvSpPr txBox="1"/>
          <p:nvPr/>
        </p:nvSpPr>
        <p:spPr>
          <a:xfrm>
            <a:off x="8106081" y="2570926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/>
              <a:t>R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L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3EF955A-B0F4-426C-8D8E-672CA5AD0287}"/>
              </a:ext>
            </a:extLst>
          </p:cNvPr>
          <p:cNvSpPr txBox="1"/>
          <p:nvPr/>
        </p:nvSpPr>
        <p:spPr>
          <a:xfrm>
            <a:off x="8121417" y="1427806"/>
            <a:ext cx="1138335" cy="2164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/>
              <a:t>RR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CA4D531-B427-4232-B06C-7CFB48EE9B2F}"/>
              </a:ext>
            </a:extLst>
          </p:cNvPr>
          <p:cNvSpPr txBox="1"/>
          <p:nvPr/>
        </p:nvSpPr>
        <p:spPr>
          <a:xfrm>
            <a:off x="6104218" y="1624015"/>
            <a:ext cx="1374186" cy="2026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 err="1">
                <a:solidFill>
                  <a:srgbClr val="CC9900"/>
                </a:solidFill>
              </a:rPr>
              <a:t>Road</a:t>
            </a:r>
            <a:r>
              <a:rPr lang="hu-HU" sz="1200" kern="0" dirty="0">
                <a:solidFill>
                  <a:srgbClr val="CC9900"/>
                </a:solidFill>
              </a:rPr>
              <a:t> Wheel </a:t>
            </a:r>
            <a:r>
              <a:rPr lang="hu-HU" sz="1200" kern="0" dirty="0" err="1">
                <a:solidFill>
                  <a:srgbClr val="CC9900"/>
                </a:solidFill>
              </a:rPr>
              <a:t>Angle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</a:endParaRP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D157337-1318-45C7-953D-A1F1F3B3DA7A}"/>
              </a:ext>
            </a:extLst>
          </p:cNvPr>
          <p:cNvCxnSpPr>
            <a:cxnSpLocks/>
          </p:cNvCxnSpPr>
          <p:nvPr/>
        </p:nvCxnSpPr>
        <p:spPr>
          <a:xfrm>
            <a:off x="7643445" y="6347068"/>
            <a:ext cx="3232615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56EFB659-C81C-416B-B5E8-F65BD87EDBDF}"/>
              </a:ext>
            </a:extLst>
          </p:cNvPr>
          <p:cNvSpPr txBox="1"/>
          <p:nvPr/>
        </p:nvSpPr>
        <p:spPr>
          <a:xfrm>
            <a:off x="6663100" y="3892029"/>
            <a:ext cx="833729" cy="3703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kern="0" dirty="0">
                <a:solidFill>
                  <a:srgbClr val="FF9900"/>
                </a:solidFill>
              </a:rPr>
              <a:t>r</a:t>
            </a:r>
            <a:r>
              <a:rPr lang="hu-HU" sz="1200" kern="0" dirty="0">
                <a:solidFill>
                  <a:srgbClr val="FF9900"/>
                </a:solidFill>
              </a:rPr>
              <a:t> </a:t>
            </a:r>
            <a:r>
              <a:rPr lang="hu-HU" sz="800" kern="0" dirty="0" err="1">
                <a:solidFill>
                  <a:srgbClr val="FF9900"/>
                </a:solidFill>
              </a:rPr>
              <a:t>FCenter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FF9900"/>
              </a:solidFill>
              <a:effectLst/>
              <a:uLnTx/>
              <a:uFillTx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CF99FBE-6441-4821-BF4C-D12DB1C1847E}"/>
              </a:ext>
            </a:extLst>
          </p:cNvPr>
          <p:cNvSpPr/>
          <p:nvPr/>
        </p:nvSpPr>
        <p:spPr>
          <a:xfrm>
            <a:off x="7983665" y="1278251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547D755-064E-48EC-8208-3C8101020155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8019665" y="1146143"/>
            <a:ext cx="0" cy="132108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DAF2364-7699-4745-AE99-8466076CE0ED}"/>
              </a:ext>
            </a:extLst>
          </p:cNvPr>
          <p:cNvCxnSpPr>
            <a:cxnSpLocks/>
          </p:cNvCxnSpPr>
          <p:nvPr/>
        </p:nvCxnSpPr>
        <p:spPr>
          <a:xfrm flipV="1">
            <a:off x="8019665" y="2867817"/>
            <a:ext cx="0" cy="132108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2524E89D-5809-43E0-9DBD-3C35EF577DD7}"/>
              </a:ext>
            </a:extLst>
          </p:cNvPr>
          <p:cNvSpPr/>
          <p:nvPr/>
        </p:nvSpPr>
        <p:spPr>
          <a:xfrm>
            <a:off x="7986300" y="2791635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A7182BB-6A2A-48BA-8279-8E5FD78160A5}"/>
              </a:ext>
            </a:extLst>
          </p:cNvPr>
          <p:cNvCxnSpPr>
            <a:cxnSpLocks/>
          </p:cNvCxnSpPr>
          <p:nvPr/>
        </p:nvCxnSpPr>
        <p:spPr>
          <a:xfrm flipH="1" flipV="1">
            <a:off x="4968875" y="1184275"/>
            <a:ext cx="74396" cy="126840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0BCCCD2B-CE26-43D1-BB88-C692B3AEC34C}"/>
              </a:ext>
            </a:extLst>
          </p:cNvPr>
          <p:cNvSpPr/>
          <p:nvPr/>
        </p:nvSpPr>
        <p:spPr>
          <a:xfrm>
            <a:off x="5020897" y="1291440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4881056-99B8-4025-8830-3A2BBD71A444}"/>
              </a:ext>
            </a:extLst>
          </p:cNvPr>
          <p:cNvSpPr/>
          <p:nvPr/>
        </p:nvSpPr>
        <p:spPr>
          <a:xfrm>
            <a:off x="5021772" y="2769647"/>
            <a:ext cx="72000" cy="72000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865663C-EF95-4A62-B225-221B3DADA5B4}"/>
              </a:ext>
            </a:extLst>
          </p:cNvPr>
          <p:cNvCxnSpPr>
            <a:cxnSpLocks/>
          </p:cNvCxnSpPr>
          <p:nvPr/>
        </p:nvCxnSpPr>
        <p:spPr>
          <a:xfrm flipH="1" flipV="1">
            <a:off x="5073266" y="2822714"/>
            <a:ext cx="86903" cy="101461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D2F8775-83D0-434B-BDA9-2A7290A31AB7}"/>
              </a:ext>
            </a:extLst>
          </p:cNvPr>
          <p:cNvSpPr txBox="1"/>
          <p:nvPr/>
        </p:nvSpPr>
        <p:spPr>
          <a:xfrm>
            <a:off x="5784013" y="1710109"/>
            <a:ext cx="160208" cy="2009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l-GR" sz="1400" dirty="0">
                <a:solidFill>
                  <a:srgbClr val="CC9900"/>
                </a:solidFill>
                <a:latin typeface="Lucida Console" panose="020B0609040504020204" pitchFamily="49" charset="0"/>
              </a:rPr>
              <a:t>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D4576A2-40ED-4F2E-AF58-4099D24B91A4}"/>
              </a:ext>
            </a:extLst>
          </p:cNvPr>
          <p:cNvSpPr txBox="1"/>
          <p:nvPr/>
        </p:nvSpPr>
        <p:spPr>
          <a:xfrm>
            <a:off x="7746692" y="5447273"/>
            <a:ext cx="160208" cy="2009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l-GR" sz="1400" dirty="0">
                <a:solidFill>
                  <a:srgbClr val="CC9900"/>
                </a:solidFill>
                <a:latin typeface="Lucida Console" panose="020B0609040504020204" pitchFamily="49" charset="0"/>
              </a:rPr>
              <a:t>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CC9900"/>
              </a:solidFill>
              <a:effectLst/>
              <a:uLnTx/>
              <a:uFillTx/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B400272-C21A-417A-8FD0-EFD658B6FF39}"/>
              </a:ext>
            </a:extLst>
          </p:cNvPr>
          <p:cNvCxnSpPr>
            <a:cxnSpLocks/>
          </p:cNvCxnSpPr>
          <p:nvPr/>
        </p:nvCxnSpPr>
        <p:spPr>
          <a:xfrm>
            <a:off x="3618926" y="941368"/>
            <a:ext cx="6634859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EBBE872-21B3-43F5-93D0-EE10C4D53F02}"/>
              </a:ext>
            </a:extLst>
          </p:cNvPr>
          <p:cNvCxnSpPr>
            <a:cxnSpLocks/>
          </p:cNvCxnSpPr>
          <p:nvPr/>
        </p:nvCxnSpPr>
        <p:spPr>
          <a:xfrm>
            <a:off x="3637976" y="3217757"/>
            <a:ext cx="6615809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B41A569-DA38-4F81-B4E7-BF988708899F}"/>
              </a:ext>
            </a:extLst>
          </p:cNvPr>
          <p:cNvCxnSpPr>
            <a:cxnSpLocks/>
          </p:cNvCxnSpPr>
          <p:nvPr/>
        </p:nvCxnSpPr>
        <p:spPr>
          <a:xfrm flipV="1">
            <a:off x="3780851" y="866581"/>
            <a:ext cx="0" cy="4781624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FE6850D-40B1-4861-B98A-2116B4BC9ADF}"/>
              </a:ext>
            </a:extLst>
          </p:cNvPr>
          <p:cNvCxnSpPr>
            <a:cxnSpLocks/>
          </p:cNvCxnSpPr>
          <p:nvPr/>
        </p:nvCxnSpPr>
        <p:spPr>
          <a:xfrm>
            <a:off x="9777453" y="941368"/>
            <a:ext cx="0" cy="2276389"/>
          </a:xfrm>
          <a:prstGeom prst="straightConnector1">
            <a:avLst/>
          </a:prstGeom>
          <a:ln w="158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AD134FB-DC89-4965-A065-88FBAC4C6193}"/>
              </a:ext>
            </a:extLst>
          </p:cNvPr>
          <p:cNvSpPr txBox="1"/>
          <p:nvPr/>
        </p:nvSpPr>
        <p:spPr>
          <a:xfrm>
            <a:off x="9837295" y="1915047"/>
            <a:ext cx="1415484" cy="2151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 err="1">
                <a:solidFill>
                  <a:schemeClr val="accent1"/>
                </a:solidFill>
              </a:rPr>
              <a:t>Vehicle</a:t>
            </a:r>
            <a:r>
              <a:rPr lang="hu-HU" sz="1200" kern="0" dirty="0">
                <a:solidFill>
                  <a:schemeClr val="accent1"/>
                </a:solidFill>
              </a:rPr>
              <a:t> </a:t>
            </a:r>
            <a:r>
              <a:rPr lang="hu-HU" sz="1200" kern="0" dirty="0" err="1">
                <a:solidFill>
                  <a:schemeClr val="accent1"/>
                </a:solidFill>
              </a:rPr>
              <a:t>width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67E180D-C618-408C-A7FF-810242197949}"/>
              </a:ext>
            </a:extLst>
          </p:cNvPr>
          <p:cNvCxnSpPr>
            <a:cxnSpLocks/>
            <a:stCxn id="90" idx="0"/>
          </p:cNvCxnSpPr>
          <p:nvPr/>
        </p:nvCxnSpPr>
        <p:spPr>
          <a:xfrm flipH="1" flipV="1">
            <a:off x="3776943" y="941368"/>
            <a:ext cx="4219392" cy="5328803"/>
          </a:xfrm>
          <a:prstGeom prst="line">
            <a:avLst/>
          </a:prstGeom>
          <a:ln w="15875">
            <a:solidFill>
              <a:srgbClr val="0000FF"/>
            </a:solidFill>
            <a:prstDash val="lg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227A678-6886-41F5-8503-0AF25E8A8D43}"/>
              </a:ext>
            </a:extLst>
          </p:cNvPr>
          <p:cNvSpPr txBox="1"/>
          <p:nvPr/>
        </p:nvSpPr>
        <p:spPr>
          <a:xfrm>
            <a:off x="5647027" y="3592555"/>
            <a:ext cx="833729" cy="3703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kern="0" dirty="0">
                <a:solidFill>
                  <a:srgbClr val="0000FF"/>
                </a:solidFill>
              </a:rPr>
              <a:t>r</a:t>
            </a:r>
            <a:r>
              <a:rPr lang="hu-HU" sz="1200" kern="0" dirty="0">
                <a:solidFill>
                  <a:srgbClr val="0000FF"/>
                </a:solidFill>
              </a:rPr>
              <a:t> </a:t>
            </a:r>
            <a:r>
              <a:rPr lang="hu-HU" sz="800" kern="0" dirty="0">
                <a:solidFill>
                  <a:srgbClr val="0000FF"/>
                </a:solidFill>
              </a:rPr>
              <a:t>min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7781984-A457-49D6-A69C-85EA696CE011}"/>
              </a:ext>
            </a:extLst>
          </p:cNvPr>
          <p:cNvCxnSpPr>
            <a:cxnSpLocks/>
            <a:endCxn id="73" idx="4"/>
          </p:cNvCxnSpPr>
          <p:nvPr/>
        </p:nvCxnSpPr>
        <p:spPr>
          <a:xfrm flipV="1">
            <a:off x="5052728" y="2841647"/>
            <a:ext cx="5044" cy="2800809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22D5980-6714-48F6-8773-CDA89DCD763A}"/>
              </a:ext>
            </a:extLst>
          </p:cNvPr>
          <p:cNvCxnSpPr>
            <a:cxnSpLocks/>
          </p:cNvCxnSpPr>
          <p:nvPr/>
        </p:nvCxnSpPr>
        <p:spPr>
          <a:xfrm flipV="1">
            <a:off x="3776943" y="4376163"/>
            <a:ext cx="1243954" cy="1081"/>
          </a:xfrm>
          <a:prstGeom prst="straightConnector1">
            <a:avLst/>
          </a:prstGeom>
          <a:ln w="158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B349173-D4B4-4CAB-ACB7-0FFFDD043BE9}"/>
              </a:ext>
            </a:extLst>
          </p:cNvPr>
          <p:cNvCxnSpPr>
            <a:cxnSpLocks/>
          </p:cNvCxnSpPr>
          <p:nvPr/>
        </p:nvCxnSpPr>
        <p:spPr>
          <a:xfrm>
            <a:off x="5073266" y="4367719"/>
            <a:ext cx="2910399" cy="0"/>
          </a:xfrm>
          <a:prstGeom prst="straightConnector1">
            <a:avLst/>
          </a:prstGeom>
          <a:ln w="15875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82AD7E4C-B434-4617-B57B-09B70999DE31}"/>
              </a:ext>
            </a:extLst>
          </p:cNvPr>
          <p:cNvSpPr txBox="1"/>
          <p:nvPr/>
        </p:nvSpPr>
        <p:spPr>
          <a:xfrm>
            <a:off x="3948263" y="4452962"/>
            <a:ext cx="1415484" cy="2151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chemeClr val="accent1"/>
                </a:solidFill>
              </a:rPr>
              <a:t>Front overhang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A2BD8F8-67F0-43FB-87D4-DAB4EE1274DB}"/>
              </a:ext>
            </a:extLst>
          </p:cNvPr>
          <p:cNvSpPr txBox="1"/>
          <p:nvPr/>
        </p:nvSpPr>
        <p:spPr>
          <a:xfrm>
            <a:off x="5193576" y="4449812"/>
            <a:ext cx="1415484" cy="2151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 err="1">
                <a:solidFill>
                  <a:schemeClr val="accent1"/>
                </a:solidFill>
              </a:rPr>
              <a:t>Wheelbase</a:t>
            </a:r>
            <a:r>
              <a:rPr lang="hu-HU" sz="1200" kern="0" dirty="0">
                <a:solidFill>
                  <a:schemeClr val="accent1"/>
                </a:solidFill>
              </a:rPr>
              <a:t> </a:t>
            </a:r>
            <a:r>
              <a:rPr lang="hu-HU" sz="1200" kern="0" dirty="0" err="1">
                <a:solidFill>
                  <a:schemeClr val="accent1"/>
                </a:solidFill>
              </a:rPr>
              <a:t>length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67337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turning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movement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Max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allowed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RWA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calculation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15</a:t>
            </a:fld>
            <a:endParaRPr lang="en-US" noProof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CD2C8A-7F62-48CE-9DB5-ACD8181E950D}"/>
              </a:ext>
            </a:extLst>
          </p:cNvPr>
          <p:cNvSpPr txBox="1"/>
          <p:nvPr/>
        </p:nvSpPr>
        <p:spPr>
          <a:xfrm>
            <a:off x="456626" y="4928095"/>
            <a:ext cx="6624106" cy="5184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lang="hu-HU" sz="1200" kern="0" dirty="0">
              <a:solidFill>
                <a:srgbClr val="007B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BD84CC-60B7-4BE9-8D36-77403ABDF471}"/>
                  </a:ext>
                </a:extLst>
              </p:cNvPr>
              <p:cNvSpPr txBox="1"/>
              <p:nvPr/>
            </p:nvSpPr>
            <p:spPr>
              <a:xfrm>
                <a:off x="296419" y="959301"/>
                <a:ext cx="8914256" cy="51429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b="1" dirty="0">
                    <a:latin typeface="Bosch Office Sans" pitchFamily="2" charset="0"/>
                    <a:cs typeface="Calibri" panose="020F0502020204030204" pitchFamily="34" charset="0"/>
                  </a:rPr>
                  <a:t>Inputs: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Wheelbase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,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width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sz="1200" kern="0" dirty="0" smtClean="0">
                        <a:solidFill>
                          <a:schemeClr val="accent1"/>
                        </a:solidFill>
                      </a:rPr>
                      <m:t>Front</m:t>
                    </m:r>
                    <m:r>
                      <m:rPr>
                        <m:nor/>
                      </m:rPr>
                      <a:rPr lang="hu-HU" sz="1200" kern="0" dirty="0" smtClean="0">
                        <a:solidFill>
                          <a:schemeClr val="accent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hu-HU" sz="1200" kern="0" dirty="0" smtClean="0">
                        <a:solidFill>
                          <a:schemeClr val="accent1"/>
                        </a:solidFill>
                      </a:rPr>
                      <m:t>overhang</m:t>
                    </m:r>
                  </m:oMath>
                </a14:m>
                <a:endParaRPr lang="hu-HU" sz="1200" dirty="0">
                  <a:solidFill>
                    <a:srgbClr val="007BC0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400" kern="0" dirty="0" err="1">
                    <a:solidFill>
                      <a:srgbClr val="0000FF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0000FF"/>
                    </a:solidFill>
                  </a:rPr>
                  <a:t>min</a:t>
                </a:r>
                <a:endParaRPr lang="hu-HU" sz="700" dirty="0">
                  <a:solidFill>
                    <a:srgbClr val="0000FF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b="1" dirty="0" err="1">
                    <a:latin typeface="Bosch Office Sans" pitchFamily="2" charset="0"/>
                    <a:cs typeface="Calibri" panose="020F0502020204030204" pitchFamily="34" charset="0"/>
                  </a:rPr>
                  <a:t>Outputs</a:t>
                </a:r>
                <a:r>
                  <a:rPr lang="hu-HU" b="1" dirty="0">
                    <a:latin typeface="Bosch Office Sans" pitchFamily="2" charset="0"/>
                    <a:cs typeface="Calibri" panose="020F0502020204030204" pitchFamily="34" charset="0"/>
                  </a:rPr>
                  <a:t>:</a:t>
                </a: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400" kern="0" dirty="0" err="1"/>
                  <a:t>From</a:t>
                </a:r>
                <a:r>
                  <a:rPr lang="hu-HU" sz="1400" kern="0" dirty="0"/>
                  <a:t> </a:t>
                </a:r>
                <a:r>
                  <a:rPr lang="hu-HU" sz="1400" kern="0" dirty="0" err="1"/>
                  <a:t>the</a:t>
                </a:r>
                <a:r>
                  <a:rPr lang="hu-HU" sz="1400" kern="0" dirty="0"/>
                  <a:t> </a:t>
                </a:r>
                <a:r>
                  <a:rPr lang="hu-HU" sz="1400" kern="0" dirty="0" err="1"/>
                  <a:t>following</a:t>
                </a:r>
                <a:r>
                  <a:rPr lang="hu-HU" sz="1400" kern="0" dirty="0"/>
                  <a:t> </a:t>
                </a:r>
                <a:r>
                  <a:rPr lang="hu-HU" sz="1400" kern="0" dirty="0" err="1"/>
                  <a:t>formulas</a:t>
                </a:r>
                <a:r>
                  <a:rPr lang="hu-HU" sz="1400" kern="0" dirty="0"/>
                  <a:t>:</a:t>
                </a: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lang="hu-HU" sz="1200" kern="0" dirty="0"/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400" kern="0" dirty="0" err="1">
                    <a:solidFill>
                      <a:srgbClr val="0000FF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0000FF"/>
                    </a:solidFill>
                  </a:rPr>
                  <a:t>min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hu-HU" sz="12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hu-HU" sz="12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sz="1200" b="0" i="1" kern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hu-HU" sz="1400" kern="0" dirty="0" smtClean="0">
                                <a:solidFill>
                                  <a:srgbClr val="FF0000"/>
                                </a:solidFill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hu-HU" sz="700" b="0" i="0" kern="0" dirty="0" smtClean="0">
                                <a:solidFill>
                                  <a:srgbClr val="FF0000"/>
                                </a:solidFill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hu-HU" sz="700" kern="0" dirty="0" smtClean="0">
                                <a:solidFill>
                                  <a:srgbClr val="FF0000"/>
                                </a:solidFill>
                              </a:rPr>
                              <m:t>Center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+ 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chemeClr val="accent1"/>
                                </a:solidFill>
                              </a:rPr>
                              <m:t>Vehicle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chemeClr val="accent1"/>
                                </a:solidFill>
                              </a:rPr>
                              <m:t>width</m:t>
                            </m:r>
                            <m:r>
                              <a:rPr lang="hu-HU" sz="1200" i="1" kern="0" dirty="0">
                                <a:latin typeface="Cambria Math" panose="02040503050406030204" pitchFamily="18" charset="0"/>
                              </a:rPr>
                              <m:t>/2</m:t>
                            </m:r>
                            <m:r>
                              <a:rPr lang="hu-HU" sz="12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p>
                            <m:r>
                              <a:rPr lang="hu-HU" sz="12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+ </m:t>
                        </m:r>
                        <m:sSup>
                          <m:sSupPr>
                            <m:ctrlPr>
                              <a:rPr lang="hu-HU" sz="12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hu-HU" sz="1200" kern="0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chemeClr val="accent1"/>
                                </a:solidFill>
                              </a:rPr>
                              <m:t>Front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chemeClr val="accent1"/>
                                </a:solidFill>
                              </a:rPr>
                              <m:t>overhang</m:t>
                            </m:r>
                            <m:r>
                              <m:rPr>
                                <m:nor/>
                              </m:rPr>
                              <a:rPr lang="en-US" sz="12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+ </m:t>
                            </m:r>
                            <m:r>
                              <m:rPr>
                                <m:nor/>
                              </m:rPr>
                              <a:rPr lang="hu-HU" sz="1200" b="0" i="0" kern="0" dirty="0" smtClean="0">
                                <a:solidFill>
                                  <a:schemeClr val="accent1"/>
                                </a:solidFill>
                              </a:rPr>
                              <m:t>Wheelbase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b="0" i="0" kern="0" dirty="0" smtClean="0">
                                <a:solidFill>
                                  <a:schemeClr val="accent1"/>
                                </a:solidFill>
                              </a:rPr>
                              <m:t>length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p>
                            <m:r>
                              <a:rPr lang="hu-HU" sz="12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hu-HU" sz="12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br>
                  <a:rPr lang="hu-HU" sz="1200" b="0" kern="0" dirty="0">
                    <a:latin typeface="Bosch Office Sans" pitchFamily="2" charset="0"/>
                  </a:rPr>
                </a:br>
                <a:r>
                  <a:rPr lang="hu-HU" sz="1200" kern="0" dirty="0" err="1"/>
                  <a:t>from</a:t>
                </a:r>
                <a:r>
                  <a:rPr lang="hu-HU" sz="1200" kern="0" dirty="0"/>
                  <a:t> </a:t>
                </a:r>
                <a:r>
                  <a:rPr lang="hu-HU" sz="1200" kern="0" dirty="0" err="1"/>
                  <a:t>it</a:t>
                </a:r>
                <a:r>
                  <a:rPr lang="hu-HU" sz="1200" kern="0" dirty="0"/>
                  <a:t>: </a:t>
                </a:r>
                <a:br>
                  <a:rPr lang="hu-HU" sz="1200" kern="0" dirty="0"/>
                </a:br>
                <a:r>
                  <a:rPr lang="hu-HU" sz="1200" kern="0" dirty="0"/>
                  <a:t>	</a:t>
                </a:r>
                <a:r>
                  <a:rPr lang="hu-HU" sz="1400" kern="0" dirty="0" err="1">
                    <a:solidFill>
                      <a:srgbClr val="FF00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0000"/>
                    </a:solidFill>
                  </a:rPr>
                  <a:t>RCenter</a:t>
                </a:r>
                <a:r>
                  <a:rPr lang="hu-HU" sz="700" kern="0" dirty="0"/>
                  <a:t> =</a:t>
                </a:r>
                <a:r>
                  <a:rPr lang="hu-HU" sz="1400" dirty="0"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hu-HU" sz="12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hu-HU" sz="12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hu-HU" sz="1400" kern="0" dirty="0" smtClean="0">
                                <a:solidFill>
                                  <a:srgbClr val="0000FF"/>
                                </a:solidFill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hu-HU" sz="700" kern="0" dirty="0" smtClean="0">
                                <a:solidFill>
                                  <a:srgbClr val="0000FF"/>
                                </a:solidFill>
                              </a:rPr>
                              <m:t>min</m:t>
                            </m:r>
                          </m:e>
                          <m:sup>
                            <m:r>
                              <a:rPr lang="hu-HU" sz="12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hu-HU" sz="12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− </m:t>
                        </m:r>
                        <m:sSup>
                          <m:sSupPr>
                            <m:ctrlPr>
                              <a:rPr lang="hu-HU" sz="12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hu-HU" sz="1200" kern="0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chemeClr val="accent1"/>
                                </a:solidFill>
                              </a:rPr>
                              <m:t>Front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chemeClr val="accent1"/>
                                </a:solidFill>
                              </a:rPr>
                              <m:t>overhang</m:t>
                            </m:r>
                            <m:r>
                              <m:rPr>
                                <m:nor/>
                              </m:rPr>
                              <a:rPr lang="en-US" sz="12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+ </m:t>
                            </m:r>
                            <m:r>
                              <m:rPr>
                                <m:nor/>
                              </m:rPr>
                              <a:rPr lang="hu-HU" sz="1200" b="0" i="0" dirty="0" smtClean="0">
                                <a:solidFill>
                                  <a:schemeClr val="accent1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Wheelbase</m:t>
                            </m:r>
                            <m:r>
                              <m:rPr>
                                <m:nor/>
                              </m:rPr>
                              <a:rPr lang="hu-HU" sz="1200" b="0" i="0" dirty="0" smtClean="0">
                                <a:solidFill>
                                  <a:schemeClr val="accent1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200" b="0" i="0" kern="0" dirty="0" smtClean="0">
                                <a:solidFill>
                                  <a:schemeClr val="accent1"/>
                                </a:solidFill>
                              </a:rPr>
                              <m:t>length</m:t>
                            </m:r>
                            <m:r>
                              <m:rPr>
                                <m:nor/>
                              </m:rPr>
                              <a:rPr lang="hu-HU" sz="12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p>
                            <m:r>
                              <a:rPr lang="hu-HU" sz="12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hu-HU" sz="1200" i="1" ker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  <m:r>
                      <m:rPr>
                        <m:nor/>
                      </m:rPr>
                      <a:rPr lang="hu-HU" sz="1200" dirty="0">
                        <a:latin typeface="Bosch Office Sans" pitchFamily="2" charset="0"/>
                        <a:cs typeface="Calibri" panose="020F0502020204030204" pitchFamily="34" charset="0"/>
                      </a:rPr>
                      <m:t> − </m:t>
                    </m:r>
                    <m:r>
                      <m:rPr>
                        <m:nor/>
                      </m:rPr>
                      <a:rPr lang="hu-HU" sz="1200" kern="0" dirty="0">
                        <a:solidFill>
                          <a:schemeClr val="accent1"/>
                        </a:solidFill>
                      </a:rPr>
                      <m:t>Vehicle</m:t>
                    </m:r>
                    <m:r>
                      <m:rPr>
                        <m:nor/>
                      </m:rPr>
                      <a:rPr lang="hu-HU" sz="1200" kern="0" dirty="0">
                        <a:solidFill>
                          <a:schemeClr val="accent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hu-HU" sz="1200" kern="0" dirty="0">
                        <a:solidFill>
                          <a:schemeClr val="accent1"/>
                        </a:solidFill>
                      </a:rPr>
                      <m:t>width</m:t>
                    </m:r>
                    <m:r>
                      <m:rPr>
                        <m:nor/>
                      </m:rPr>
                      <a:rPr lang="hu-HU" sz="1200" kern="0" dirty="0">
                        <a:solidFill>
                          <a:schemeClr val="accent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hu-HU" sz="1200" dirty="0">
                        <a:latin typeface="Bosch Office Sans" pitchFamily="2" charset="0"/>
                        <a:cs typeface="Calibri" panose="020F0502020204030204" pitchFamily="34" charset="0"/>
                      </a:rPr>
                      <m:t>/2</m:t>
                    </m:r>
                  </m:oMath>
                </a14:m>
                <a:r>
                  <a:rPr lang="hu-HU" sz="1400" kern="0" dirty="0">
                    <a:solidFill>
                      <a:srgbClr val="FF9900"/>
                    </a:solidFill>
                  </a:rPr>
                  <a:t> </a:t>
                </a:r>
                <a:br>
                  <a:rPr lang="hu-HU" sz="1400" kern="0" dirty="0">
                    <a:solidFill>
                      <a:srgbClr val="FF9900"/>
                    </a:solidFill>
                  </a:rPr>
                </a:br>
                <a:r>
                  <a:rPr lang="hu-HU" sz="1400" kern="0" dirty="0">
                    <a:solidFill>
                      <a:srgbClr val="FF9900"/>
                    </a:solidFill>
                  </a:rPr>
                  <a:t>	</a:t>
                </a:r>
                <a:r>
                  <a:rPr lang="hu-HU" sz="1100" i="1" kern="0" dirty="0" err="1"/>
                  <a:t>Note</a:t>
                </a:r>
                <a:r>
                  <a:rPr lang="hu-HU" sz="1100" i="1" kern="0" dirty="0"/>
                  <a:t>: </a:t>
                </a:r>
                <a:r>
                  <a:rPr lang="hu-HU" sz="1400" i="1" kern="0" dirty="0" err="1">
                    <a:solidFill>
                      <a:srgbClr val="FF0000"/>
                    </a:solidFill>
                  </a:rPr>
                  <a:t>r</a:t>
                </a:r>
                <a:r>
                  <a:rPr lang="hu-HU" sz="700" i="1" kern="0" dirty="0" err="1">
                    <a:solidFill>
                      <a:srgbClr val="FF0000"/>
                    </a:solidFill>
                  </a:rPr>
                  <a:t>RCenter</a:t>
                </a:r>
                <a:r>
                  <a:rPr lang="hu-HU" sz="1100" i="1" kern="0" dirty="0"/>
                  <a:t> &gt; 0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hu-HU" sz="1100" kern="0" dirty="0">
                  <a:solidFill>
                    <a:srgbClr val="FF9900"/>
                  </a:solidFill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400" kern="0" dirty="0" err="1">
                    <a:solidFill>
                      <a:srgbClr val="FF0000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FF0000"/>
                    </a:solidFill>
                  </a:rPr>
                  <a:t>RCenter</a:t>
                </a:r>
                <a:r>
                  <a:rPr lang="hu-HU" sz="1200" kern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20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hu-HU" sz="1200" dirty="0">
                            <a:solidFill>
                              <a:srgbClr val="007BC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Wheelbase</m:t>
                        </m:r>
                        <m:r>
                          <m:rPr>
                            <m:nor/>
                          </m:rPr>
                          <a:rPr lang="hu-HU" sz="1200" dirty="0">
                            <a:solidFill>
                              <a:srgbClr val="007BC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200" dirty="0">
                            <a:solidFill>
                              <a:srgbClr val="007BC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length</m:t>
                        </m:r>
                      </m:num>
                      <m:den>
                        <m:r>
                          <m:rPr>
                            <m:nor/>
                          </m:rPr>
                          <a:rPr lang="hu-HU" sz="12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hu-HU" sz="12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hu-HU" sz="1200" dirty="0">
                            <a:solidFill>
                              <a:srgbClr val="CC990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Road</m:t>
                        </m:r>
                        <m:r>
                          <m:rPr>
                            <m:nor/>
                          </m:rPr>
                          <a:rPr lang="hu-HU" sz="1200" dirty="0">
                            <a:solidFill>
                              <a:srgbClr val="CC990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200" dirty="0">
                            <a:solidFill>
                              <a:srgbClr val="CC990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Wheel</m:t>
                        </m:r>
                        <m:r>
                          <m:rPr>
                            <m:nor/>
                          </m:rPr>
                          <a:rPr lang="hu-HU" sz="1200" dirty="0">
                            <a:solidFill>
                              <a:srgbClr val="CC990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200" dirty="0">
                            <a:solidFill>
                              <a:srgbClr val="CC9900"/>
                            </a:solidFill>
                            <a:latin typeface="Bosch Office Sans" pitchFamily="2" charset="0"/>
                            <a:cs typeface="Calibri" panose="020F0502020204030204" pitchFamily="34" charset="0"/>
                          </a:rPr>
                          <m:t>Angle</m:t>
                        </m:r>
                        <m:r>
                          <m:rPr>
                            <m:nor/>
                          </m:rPr>
                          <a:rPr lang="hu-HU" sz="12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den>
                    </m:f>
                  </m:oMath>
                </a14:m>
                <a:endParaRPr lang="hu-HU" sz="14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lang="hu-HU" sz="14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The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absolute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value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of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max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RWA is:</a:t>
                </a: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sz="1200" dirty="0">
                        <a:solidFill>
                          <a:srgbClr val="CC9900"/>
                        </a:solidFill>
                        <a:latin typeface="Bosch Office Sans" pitchFamily="2" charset="0"/>
                        <a:cs typeface="Calibri" panose="020F0502020204030204" pitchFamily="34" charset="0"/>
                      </a:rPr>
                      <m:t>Road</m:t>
                    </m:r>
                    <m:r>
                      <m:rPr>
                        <m:nor/>
                      </m:rPr>
                      <a:rPr lang="hu-HU" sz="1200" dirty="0">
                        <a:solidFill>
                          <a:srgbClr val="CC9900"/>
                        </a:solidFill>
                        <a:latin typeface="Bosch Office Sans" pitchFamily="2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hu-HU" sz="1200" dirty="0">
                        <a:solidFill>
                          <a:srgbClr val="CC9900"/>
                        </a:solidFill>
                        <a:latin typeface="Bosch Office Sans" pitchFamily="2" charset="0"/>
                        <a:cs typeface="Calibri" panose="020F0502020204030204" pitchFamily="34" charset="0"/>
                      </a:rPr>
                      <m:t>Wheel</m:t>
                    </m:r>
                    <m:r>
                      <m:rPr>
                        <m:nor/>
                      </m:rPr>
                      <a:rPr lang="hu-HU" sz="1200" dirty="0">
                        <a:solidFill>
                          <a:srgbClr val="CC9900"/>
                        </a:solidFill>
                        <a:latin typeface="Bosch Office Sans" pitchFamily="2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hu-HU" sz="1200" dirty="0">
                        <a:solidFill>
                          <a:srgbClr val="CC9900"/>
                        </a:solidFill>
                        <a:latin typeface="Bosch Office Sans" pitchFamily="2" charset="0"/>
                        <a:cs typeface="Calibri" panose="020F0502020204030204" pitchFamily="34" charset="0"/>
                      </a:rPr>
                      <m:t>Angle</m:t>
                    </m:r>
                    <m:r>
                      <a:rPr lang="hu-HU" sz="12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unc>
                      <m:funcPr>
                        <m:ctrlPr>
                          <a:rPr lang="hu-HU" sz="12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hu-HU" sz="1200" b="0" i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hu-HU" sz="12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hu-HU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Wheelbase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solidFill>
                                      <a:srgbClr val="007BC0"/>
                                    </a:solidFill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length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hu-HU" sz="1200" i="1"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hu-HU" sz="1200" i="1" ker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hu-HU" sz="1400" kern="0" dirty="0" smtClean="0">
                                            <a:solidFill>
                                              <a:srgbClr val="0000FF"/>
                                            </a:solidFill>
                                          </a:rPr>
                                          <m:t>r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hu-HU" sz="700" kern="0" dirty="0" smtClean="0">
                                            <a:solidFill>
                                              <a:srgbClr val="0000FF"/>
                                            </a:solidFill>
                                          </a:rPr>
                                          <m:t>min</m:t>
                                        </m:r>
                                      </m:e>
                                      <m:sup>
                                        <m:r>
                                          <a:rPr lang="hu-HU" sz="1200" i="1" ker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hu-HU" sz="1200" dirty="0">
                                        <a:latin typeface="Bosch Office Sans" pitchFamily="2" charset="0"/>
                                        <a:cs typeface="Calibri" panose="020F0502020204030204" pitchFamily="34" charset="0"/>
                                      </a:rPr>
                                      <m:t> − </m:t>
                                    </m:r>
                                    <m:sSup>
                                      <m:sSupPr>
                                        <m:ctrlPr>
                                          <a:rPr lang="hu-HU" sz="1200" i="1" ker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hu-HU" sz="1200" kern="0" dirty="0"/>
                                          <m:t>(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hu-HU" sz="1200" kern="0" dirty="0">
                                            <a:solidFill>
                                              <a:schemeClr val="accent1"/>
                                            </a:solidFill>
                                          </a:rPr>
                                          <m:t>Front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hu-HU" sz="1200" kern="0" dirty="0">
                                            <a:solidFill>
                                              <a:schemeClr val="accent1"/>
                                            </a:solidFill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hu-HU" sz="1200" kern="0" dirty="0">
                                            <a:solidFill>
                                              <a:schemeClr val="accent1"/>
                                            </a:solidFill>
                                          </a:rPr>
                                          <m:t>overhang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sz="1200" kern="0" dirty="0" smtClean="0">
                                            <a:solidFill>
                                              <a:schemeClr val="tx1"/>
                                            </a:solidFill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hu-HU" sz="1200" dirty="0" smtClean="0">
                                            <a:solidFill>
                                              <a:schemeClr val="tx1"/>
                                            </a:solidFill>
                                            <a:latin typeface="Bosch Office Sans" pitchFamily="2" charset="0"/>
                                            <a:cs typeface="Calibri" panose="020F0502020204030204" pitchFamily="34" charset="0"/>
                                          </a:rPr>
                                          <m:t>+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hu-HU" sz="1200" b="0" i="0" dirty="0" smtClean="0">
                                            <a:solidFill>
                                              <a:schemeClr val="accent1"/>
                                            </a:solidFill>
                                            <a:latin typeface="Bosch Office Sans" pitchFamily="2" charset="0"/>
                                            <a:cs typeface="Calibri" panose="020F0502020204030204" pitchFamily="34" charset="0"/>
                                          </a:rPr>
                                          <m:t>Wheelbase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hu-HU" sz="1200" b="0" i="0" dirty="0" smtClean="0">
                                            <a:solidFill>
                                              <a:schemeClr val="accent1"/>
                                            </a:solidFill>
                                            <a:latin typeface="Bosch Office Sans" pitchFamily="2" charset="0"/>
                                            <a:cs typeface="Calibri" panose="020F0502020204030204" pitchFamily="34" charset="0"/>
                                          </a:rPr>
                                          <m:t> 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hu-HU" sz="1200" b="0" i="0" dirty="0" smtClean="0">
                                            <a:solidFill>
                                              <a:schemeClr val="accent1"/>
                                            </a:solidFill>
                                            <a:latin typeface="Bosch Office Sans" pitchFamily="2" charset="0"/>
                                            <a:cs typeface="Calibri" panose="020F0502020204030204" pitchFamily="34" charset="0"/>
                                          </a:rPr>
                                          <m:t>length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hu-HU" sz="1200" dirty="0">
                                            <a:latin typeface="Bosch Office Sans" pitchFamily="2" charset="0"/>
                                            <a:cs typeface="Calibri" panose="020F0502020204030204" pitchFamily="34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hu-HU" sz="1200" i="1" ker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hu-HU" sz="1200" i="1" ker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rad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−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kern="0" dirty="0">
                                    <a:solidFill>
                                      <a:schemeClr val="accent1"/>
                                    </a:solidFill>
                                  </a:rPr>
                                  <m:t>Vehicle</m:t>
                                </m:r>
                                <m:r>
                                  <m:rPr>
                                    <m:nor/>
                                  </m:rPr>
                                  <a:rPr lang="hu-HU" sz="1200" kern="0" dirty="0">
                                    <a:solidFill>
                                      <a:schemeClr val="accent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kern="0" dirty="0">
                                    <a:solidFill>
                                      <a:schemeClr val="accent1"/>
                                    </a:solidFill>
                                  </a:rPr>
                                  <m:t>width</m:t>
                                </m:r>
                                <m:r>
                                  <m:rPr>
                                    <m:nor/>
                                  </m:rPr>
                                  <a:rPr lang="hu-HU" sz="1200" kern="0" dirty="0">
                                    <a:solidFill>
                                      <a:schemeClr val="accent1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hu-HU" sz="12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/2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hu-HU" sz="1200" b="0" dirty="0">
                  <a:solidFill>
                    <a:schemeClr val="tx1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endParaRPr lang="hu-HU" sz="1200" dirty="0">
                  <a:latin typeface="Bosch Office Sans" pitchFamily="2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BD84CC-60B7-4BE9-8D36-77403ABDF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19" y="959301"/>
                <a:ext cx="8914256" cy="5142919"/>
              </a:xfrm>
              <a:prstGeom prst="rect">
                <a:avLst/>
              </a:prstGeom>
              <a:blipFill>
                <a:blip r:embed="rId2"/>
                <a:stretch>
                  <a:fillRect l="-1642" t="-1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725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turning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movement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Max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allowed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RWA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calculation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side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RWA)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16</a:t>
            </a:fld>
            <a:endParaRPr lang="en-US" noProof="1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CD2C8A-7F62-48CE-9DB5-ACD8181E950D}"/>
              </a:ext>
            </a:extLst>
          </p:cNvPr>
          <p:cNvSpPr txBox="1"/>
          <p:nvPr/>
        </p:nvSpPr>
        <p:spPr>
          <a:xfrm>
            <a:off x="456626" y="4928095"/>
            <a:ext cx="6624106" cy="5184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lang="hu-HU" sz="1200" kern="0" dirty="0">
              <a:solidFill>
                <a:srgbClr val="007B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BD84CC-60B7-4BE9-8D36-77403ABDF471}"/>
                  </a:ext>
                </a:extLst>
              </p:cNvPr>
              <p:cNvSpPr txBox="1"/>
              <p:nvPr/>
            </p:nvSpPr>
            <p:spPr>
              <a:xfrm>
                <a:off x="296419" y="959301"/>
                <a:ext cx="11353714" cy="51429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b="1" dirty="0">
                    <a:latin typeface="Bosch Office Sans" pitchFamily="2" charset="0"/>
                    <a:cs typeface="Calibri" panose="020F0502020204030204" pitchFamily="34" charset="0"/>
                  </a:rPr>
                  <a:t>Inputs: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Wheelbase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length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,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Vehicle</a:t>
                </a:r>
                <a:r>
                  <a:rPr lang="hu-HU" sz="1200" dirty="0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200" dirty="0" err="1">
                    <a:solidFill>
                      <a:srgbClr val="007BC0"/>
                    </a:solidFill>
                    <a:latin typeface="Bosch Office Sans" pitchFamily="2" charset="0"/>
                    <a:cs typeface="Calibri" panose="020F0502020204030204" pitchFamily="34" charset="0"/>
                  </a:rPr>
                  <a:t>width</a:t>
                </a:r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sz="1200" kern="0" dirty="0" smtClean="0">
                        <a:solidFill>
                          <a:schemeClr val="accent1"/>
                        </a:solidFill>
                      </a:rPr>
                      <m:t>Front</m:t>
                    </m:r>
                    <m:r>
                      <m:rPr>
                        <m:nor/>
                      </m:rPr>
                      <a:rPr lang="hu-HU" sz="1200" kern="0" dirty="0" smtClean="0">
                        <a:solidFill>
                          <a:schemeClr val="accent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hu-HU" sz="1200" kern="0" dirty="0" smtClean="0">
                        <a:solidFill>
                          <a:schemeClr val="accent1"/>
                        </a:solidFill>
                      </a:rPr>
                      <m:t>overhang</m:t>
                    </m:r>
                  </m:oMath>
                </a14:m>
                <a:r>
                  <a:rPr lang="hu-HU" sz="1200" dirty="0">
                    <a:latin typeface="Bosch Office Sans" pitchFamily="2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sz="1200" kern="0" dirty="0">
                        <a:solidFill>
                          <a:schemeClr val="accent1"/>
                        </a:solidFill>
                      </a:rPr>
                      <m:t>Front</m:t>
                    </m:r>
                    <m:r>
                      <m:rPr>
                        <m:nor/>
                      </m:rPr>
                      <a:rPr lang="hu-HU" sz="1200" kern="0" dirty="0">
                        <a:solidFill>
                          <a:schemeClr val="accent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hu-HU" sz="1200" b="0" i="0" kern="0" dirty="0" smtClean="0">
                        <a:solidFill>
                          <a:schemeClr val="accent1"/>
                        </a:solidFill>
                      </a:rPr>
                      <m:t>axle</m:t>
                    </m:r>
                    <m:r>
                      <m:rPr>
                        <m:nor/>
                      </m:rPr>
                      <a:rPr lang="hu-HU" sz="1200" b="0" i="0" kern="0" dirty="0" smtClean="0">
                        <a:solidFill>
                          <a:schemeClr val="accent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hu-HU" sz="1200" b="0" i="0" kern="0" dirty="0" smtClean="0">
                        <a:solidFill>
                          <a:schemeClr val="accent1"/>
                        </a:solidFill>
                      </a:rPr>
                      <m:t>length</m:t>
                    </m:r>
                  </m:oMath>
                </a14:m>
                <a:endParaRPr lang="hu-HU" sz="1200" dirty="0">
                  <a:solidFill>
                    <a:srgbClr val="007BC0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400" kern="0" dirty="0" err="1">
                    <a:solidFill>
                      <a:srgbClr val="0000FF"/>
                    </a:solidFill>
                  </a:rPr>
                  <a:t>r</a:t>
                </a:r>
                <a:r>
                  <a:rPr lang="hu-HU" sz="700" kern="0" dirty="0" err="1">
                    <a:solidFill>
                      <a:srgbClr val="0000FF"/>
                    </a:solidFill>
                  </a:rPr>
                  <a:t>min</a:t>
                </a:r>
                <a:endParaRPr lang="hu-HU" sz="700" dirty="0">
                  <a:solidFill>
                    <a:srgbClr val="0000FF"/>
                  </a:solidFill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b="1" dirty="0" err="1">
                    <a:latin typeface="Bosch Office Sans" pitchFamily="2" charset="0"/>
                    <a:cs typeface="Calibri" panose="020F0502020204030204" pitchFamily="34" charset="0"/>
                  </a:rPr>
                  <a:t>Outputs</a:t>
                </a:r>
                <a:r>
                  <a:rPr lang="hu-HU" b="1" dirty="0">
                    <a:latin typeface="Bosch Office Sans" pitchFamily="2" charset="0"/>
                    <a:cs typeface="Calibri" panose="020F0502020204030204" pitchFamily="34" charset="0"/>
                  </a:rPr>
                  <a:t>:</a:t>
                </a: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400" kern="0" dirty="0" err="1"/>
                  <a:t>From</a:t>
                </a:r>
                <a:r>
                  <a:rPr lang="hu-HU" sz="1400" kern="0" dirty="0"/>
                  <a:t> </a:t>
                </a:r>
                <a:r>
                  <a:rPr lang="hu-HU" sz="1400" kern="0" dirty="0" err="1"/>
                  <a:t>the</a:t>
                </a:r>
                <a:r>
                  <a:rPr lang="hu-HU" sz="1400" kern="0" dirty="0"/>
                  <a:t> </a:t>
                </a:r>
                <a:r>
                  <a:rPr lang="hu-HU" sz="1400" kern="0" dirty="0" err="1"/>
                  <a:t>following</a:t>
                </a:r>
                <a:r>
                  <a:rPr lang="hu-HU" sz="1400" kern="0" dirty="0"/>
                  <a:t> </a:t>
                </a:r>
                <a:r>
                  <a:rPr lang="hu-HU" sz="1400" kern="0" dirty="0" err="1"/>
                  <a:t>formulas</a:t>
                </a:r>
                <a:r>
                  <a:rPr lang="hu-HU" sz="1400" kern="0" dirty="0"/>
                  <a:t>: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200" kern="0" dirty="0">
                    <a:solidFill>
                      <a:srgbClr val="0000FF"/>
                    </a:solidFill>
                  </a:rPr>
                  <a:t>r</a:t>
                </a:r>
                <a:r>
                  <a:rPr lang="hu-HU" sz="600" kern="0" dirty="0" err="1">
                    <a:solidFill>
                      <a:srgbClr val="0000FF"/>
                    </a:solidFill>
                  </a:rPr>
                  <a:t>min</a:t>
                </a:r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 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hu-HU" sz="11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hu-HU" sz="11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sz="1100" i="1" ker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rgbClr val="FF0000"/>
                                </a:solidFill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hu-HU" sz="600" kern="0" dirty="0">
                                <a:solidFill>
                                  <a:srgbClr val="FF0000"/>
                                </a:solidFill>
                              </a:rPr>
                              <m:t>RCenter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+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Vehicle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width</m:t>
                            </m:r>
                            <m:r>
                              <a:rPr lang="hu-HU" sz="1100" i="1" kern="0" dirty="0">
                                <a:latin typeface="Cambria Math" panose="02040503050406030204" pitchFamily="18" charset="0"/>
                              </a:rPr>
                              <m:t>/2</m:t>
                            </m:r>
                            <m:r>
                              <a:rPr lang="hu-HU" sz="11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p>
                            <m:r>
                              <a:rPr lang="hu-HU" sz="11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hu-HU" sz="11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+ </m:t>
                        </m:r>
                        <m:sSup>
                          <m:sSupPr>
                            <m:ctrlPr>
                              <a:rPr lang="hu-HU" sz="11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hu-HU" sz="1100" kern="0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Front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overhang</m:t>
                            </m:r>
                            <m:r>
                              <m:rPr>
                                <m:nor/>
                              </m:rPr>
                              <a:rPr lang="en-US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+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Vehicle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width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p>
                            <m:r>
                              <a:rPr lang="hu-HU" sz="11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hu-HU" sz="1100" i="1" ker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br>
                  <a:rPr lang="hu-HU" sz="1100" kern="0" dirty="0">
                    <a:latin typeface="Bosch Office Sans" pitchFamily="2" charset="0"/>
                  </a:rPr>
                </a:br>
                <a:r>
                  <a:rPr lang="hu-HU" sz="1100" kern="0" dirty="0" err="1"/>
                  <a:t>from</a:t>
                </a:r>
                <a:r>
                  <a:rPr lang="hu-HU" sz="1100" kern="0" dirty="0"/>
                  <a:t> it: </a:t>
                </a:r>
                <a:br>
                  <a:rPr lang="hu-HU" sz="1100" kern="0" dirty="0"/>
                </a:br>
                <a:r>
                  <a:rPr lang="hu-HU" sz="1100" kern="0" dirty="0"/>
                  <a:t>	</a:t>
                </a:r>
                <a:r>
                  <a:rPr lang="hu-HU" sz="1200" kern="0" dirty="0" err="1">
                    <a:solidFill>
                      <a:srgbClr val="FF0000"/>
                    </a:solidFill>
                  </a:rPr>
                  <a:t>r</a:t>
                </a:r>
                <a:r>
                  <a:rPr lang="hu-HU" sz="600" kern="0" dirty="0" err="1">
                    <a:solidFill>
                      <a:srgbClr val="FF0000"/>
                    </a:solidFill>
                  </a:rPr>
                  <a:t>RCenter</a:t>
                </a:r>
                <a:r>
                  <a:rPr lang="hu-HU" sz="1200" dirty="0"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hu-HU" sz="11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hu-HU" sz="11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hu-HU" sz="1200" kern="0" dirty="0">
                                <a:solidFill>
                                  <a:srgbClr val="0000FF"/>
                                </a:solidFill>
                              </a:rPr>
                              <m:t>r</m:t>
                            </m:r>
                            <m:r>
                              <m:rPr>
                                <m:nor/>
                              </m:rPr>
                              <a:rPr lang="hu-HU" sz="600" kern="0" dirty="0">
                                <a:solidFill>
                                  <a:srgbClr val="0000FF"/>
                                </a:solidFill>
                              </a:rPr>
                              <m:t>min</m:t>
                            </m:r>
                          </m:e>
                          <m:sup>
                            <m:r>
                              <a:rPr lang="hu-HU" sz="11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hu-HU" sz="1100" dirty="0">
                            <a:latin typeface="Bosch Office Sans" pitchFamily="2" charset="0"/>
                            <a:cs typeface="Calibri" panose="020F0502020204030204" pitchFamily="34" charset="0"/>
                          </a:rPr>
                          <m:t> − </m:t>
                        </m:r>
                        <m:sSup>
                          <m:sSupPr>
                            <m:ctrlPr>
                              <a:rPr lang="hu-HU" sz="1100" i="1" ker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hu-HU" sz="1100" kern="0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Front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overhang</m:t>
                            </m:r>
                            <m:r>
                              <m:rPr>
                                <m:nor/>
                              </m:rPr>
                              <a:rPr lang="en-US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+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Vehicle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width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)</m:t>
                            </m:r>
                          </m:e>
                          <m:sup>
                            <m:r>
                              <a:rPr lang="hu-HU" sz="11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hu-HU" sz="1100" i="1" ker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  <m:r>
                      <m:rPr>
                        <m:nor/>
                      </m:rPr>
                      <a:rPr lang="hu-HU" sz="1100" dirty="0">
                        <a:latin typeface="Bosch Office Sans" pitchFamily="2" charset="0"/>
                        <a:cs typeface="Calibri" panose="020F0502020204030204" pitchFamily="34" charset="0"/>
                      </a:rPr>
                      <m:t> − </m:t>
                    </m:r>
                    <m:r>
                      <m:rPr>
                        <m:nor/>
                      </m:rPr>
                      <a:rPr lang="hu-HU" sz="1100" kern="0" dirty="0">
                        <a:solidFill>
                          <a:schemeClr val="accent1"/>
                        </a:solidFill>
                      </a:rPr>
                      <m:t>Vehicle</m:t>
                    </m:r>
                    <m:r>
                      <m:rPr>
                        <m:nor/>
                      </m:rPr>
                      <a:rPr lang="hu-HU" sz="1100" kern="0" dirty="0">
                        <a:solidFill>
                          <a:schemeClr val="accent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hu-HU" sz="1100" kern="0" dirty="0">
                        <a:solidFill>
                          <a:schemeClr val="accent1"/>
                        </a:solidFill>
                      </a:rPr>
                      <m:t>width</m:t>
                    </m:r>
                    <m:r>
                      <m:rPr>
                        <m:nor/>
                      </m:rPr>
                      <a:rPr lang="hu-HU" sz="1100" kern="0" dirty="0">
                        <a:solidFill>
                          <a:schemeClr val="accent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hu-HU" sz="1100" dirty="0">
                        <a:latin typeface="Bosch Office Sans" pitchFamily="2" charset="0"/>
                        <a:cs typeface="Calibri" panose="020F0502020204030204" pitchFamily="34" charset="0"/>
                      </a:rPr>
                      <m:t>/2</m:t>
                    </m:r>
                  </m:oMath>
                </a14:m>
                <a:r>
                  <a:rPr lang="hu-HU" sz="1200" kern="0" dirty="0"/>
                  <a:t> </a:t>
                </a:r>
                <a:br>
                  <a:rPr lang="hu-HU" sz="1200" kern="0" dirty="0"/>
                </a:br>
                <a:r>
                  <a:rPr lang="hu-HU" sz="1200" kern="0" dirty="0"/>
                  <a:t>	</a:t>
                </a:r>
                <a:r>
                  <a:rPr lang="hu-HU" sz="900" i="1" kern="0" dirty="0" err="1"/>
                  <a:t>Note</a:t>
                </a:r>
                <a:r>
                  <a:rPr lang="hu-HU" sz="900" i="1" kern="0" dirty="0"/>
                  <a:t>: </a:t>
                </a:r>
                <a:r>
                  <a:rPr lang="hu-HU" sz="900" i="1" kern="0" dirty="0" err="1"/>
                  <a:t>since</a:t>
                </a:r>
                <a:r>
                  <a:rPr lang="hu-HU" sz="900" i="1" kern="0" dirty="0"/>
                  <a:t> </a:t>
                </a:r>
                <a:r>
                  <a:rPr lang="hu-HU" sz="1200" i="1" kern="0" dirty="0" err="1">
                    <a:solidFill>
                      <a:srgbClr val="FF0000"/>
                    </a:solidFill>
                  </a:rPr>
                  <a:t>r</a:t>
                </a:r>
                <a:r>
                  <a:rPr lang="hu-HU" sz="600" i="1" kern="0" dirty="0" err="1">
                    <a:solidFill>
                      <a:srgbClr val="FF0000"/>
                    </a:solidFill>
                  </a:rPr>
                  <a:t>RCenter</a:t>
                </a:r>
                <a:r>
                  <a:rPr lang="hu-HU" sz="900" i="1" kern="0" dirty="0"/>
                  <a:t> &gt; 0  -&gt;  RW FL = </a:t>
                </a:r>
                <a:r>
                  <a:rPr lang="hu-HU" sz="900" i="1" kern="0" dirty="0" err="1"/>
                  <a:t>outer</a:t>
                </a:r>
                <a:r>
                  <a:rPr lang="hu-HU" sz="900" i="1" kern="0" dirty="0"/>
                  <a:t> </a:t>
                </a:r>
                <a:r>
                  <a:rPr lang="hu-HU" sz="900" i="1" kern="0" dirty="0" err="1"/>
                  <a:t>wheel</a:t>
                </a:r>
                <a:r>
                  <a:rPr lang="hu-HU" sz="900" i="1" kern="0" dirty="0"/>
                  <a:t>, RW FR = </a:t>
                </a:r>
                <a:r>
                  <a:rPr lang="hu-HU" sz="900" i="1" kern="0" dirty="0" err="1"/>
                  <a:t>inner</a:t>
                </a:r>
                <a:r>
                  <a:rPr lang="hu-HU" sz="900" i="1" kern="0" dirty="0"/>
                  <a:t> </a:t>
                </a:r>
                <a:r>
                  <a:rPr lang="hu-HU" sz="900" i="1" kern="0" dirty="0" err="1"/>
                  <a:t>wheel</a:t>
                </a:r>
                <a:endParaRPr lang="hu-HU" sz="1100" i="1" kern="0" dirty="0">
                  <a:solidFill>
                    <a:srgbClr val="FF9900"/>
                  </a:solidFill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lang="hu-HU" sz="1200" kern="0" dirty="0">
                  <a:solidFill>
                    <a:srgbClr val="ED0007"/>
                  </a:solidFill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sz="1200" kern="0" dirty="0">
                        <a:solidFill>
                          <a:srgbClr val="ED0007"/>
                        </a:solidFill>
                      </a:rPr>
                      <m:t>r</m:t>
                    </m:r>
                    <m:r>
                      <m:rPr>
                        <m:nor/>
                      </m:rPr>
                      <a:rPr lang="hu-HU" sz="500" kern="0" dirty="0">
                        <a:solidFill>
                          <a:srgbClr val="ED0007"/>
                        </a:solidFill>
                      </a:rPr>
                      <m:t>RCenter</m:t>
                    </m:r>
                    <m:r>
                      <m:rPr>
                        <m:nor/>
                      </m:rPr>
                      <a:rPr lang="hu-HU" sz="1100" kern="0" dirty="0"/>
                      <m:t> </m:t>
                    </m:r>
                  </m:oMath>
                </a14:m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1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hu-HU" sz="1100" dirty="0" smtClean="0">
                            <a:solidFill>
                              <a:schemeClr val="accent1"/>
                            </a:solidFill>
                            <a:latin typeface="+mn-lt"/>
                            <a:cs typeface="Calibri" panose="020F0502020204030204" pitchFamily="34" charset="0"/>
                          </a:rPr>
                          <m:t>Wheelbase</m:t>
                        </m:r>
                        <m:r>
                          <m:rPr>
                            <m:nor/>
                          </m:rPr>
                          <a:rPr lang="hu-HU" sz="1100" dirty="0" smtClean="0">
                            <a:solidFill>
                              <a:schemeClr val="accent1"/>
                            </a:solidFill>
                            <a:latin typeface="+mn-lt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100" dirty="0" smtClean="0">
                            <a:solidFill>
                              <a:schemeClr val="accent1"/>
                            </a:solidFill>
                            <a:latin typeface="+mn-lt"/>
                            <a:cs typeface="Calibri" panose="020F0502020204030204" pitchFamily="34" charset="0"/>
                          </a:rPr>
                          <m:t>length</m:t>
                        </m:r>
                      </m:num>
                      <m:den>
                        <m:r>
                          <m:rPr>
                            <m:nor/>
                          </m:rPr>
                          <a:rPr lang="hu-HU" sz="1100" dirty="0">
                            <a:latin typeface="+mn-lt"/>
                            <a:cs typeface="Calibri" panose="020F0502020204030204" pitchFamily="34" charset="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hu-HU" sz="1100" dirty="0">
                            <a:latin typeface="+mn-lt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latin typeface="+mn-lt"/>
                            <a:cs typeface="Calibri" panose="020F0502020204030204" pitchFamily="34" charset="0"/>
                          </a:rPr>
                          <m:t>RWA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latin typeface="+mn-lt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latin typeface="+mn-lt"/>
                            <a:cs typeface="Calibri" panose="020F0502020204030204" pitchFamily="34" charset="0"/>
                          </a:rPr>
                          <m:t>outer</m:t>
                        </m:r>
                        <m:r>
                          <m:rPr>
                            <m:nor/>
                          </m:rPr>
                          <a:rPr lang="hu-HU" sz="1100" dirty="0">
                            <a:latin typeface="+mn-lt"/>
                            <a:cs typeface="Calibri" panose="020F0502020204030204" pitchFamily="34" charset="0"/>
                          </a:rPr>
                          <m:t>)</m:t>
                        </m:r>
                        <m:r>
                          <a:rPr lang="hu-HU" sz="1100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hu-HU" sz="1100" dirty="0">
                    <a:latin typeface="+mn-lt"/>
                    <a:cs typeface="Calibri" panose="020F0502020204030204" pitchFamily="34" charset="0"/>
                  </a:rPr>
                  <a:t> - (</a:t>
                </a:r>
                <a:r>
                  <a:rPr lang="hu-HU" sz="1100" dirty="0">
                    <a:solidFill>
                      <a:schemeClr val="accent1"/>
                    </a:solidFill>
                    <a:latin typeface="+mn-lt"/>
                    <a:cs typeface="Calibri" panose="020F0502020204030204" pitchFamily="34" charset="0"/>
                  </a:rPr>
                  <a:t>Front </a:t>
                </a:r>
                <a:r>
                  <a:rPr lang="hu-HU" sz="1100" dirty="0" err="1">
                    <a:solidFill>
                      <a:schemeClr val="accent1"/>
                    </a:solidFill>
                    <a:latin typeface="+mn-lt"/>
                    <a:cs typeface="Calibri" panose="020F0502020204030204" pitchFamily="34" charset="0"/>
                  </a:rPr>
                  <a:t>axle</a:t>
                </a:r>
                <a:r>
                  <a:rPr lang="hu-HU" sz="1100" dirty="0">
                    <a:solidFill>
                      <a:schemeClr val="accent1"/>
                    </a:solidFill>
                    <a:latin typeface="+mn-lt"/>
                    <a:cs typeface="Calibri" panose="020F0502020204030204" pitchFamily="34" charset="0"/>
                  </a:rPr>
                  <a:t> </a:t>
                </a:r>
                <a:r>
                  <a:rPr lang="hu-HU" sz="1100" dirty="0" err="1">
                    <a:solidFill>
                      <a:schemeClr val="accent1"/>
                    </a:solidFill>
                    <a:latin typeface="+mn-lt"/>
                    <a:cs typeface="Calibri" panose="020F0502020204030204" pitchFamily="34" charset="0"/>
                  </a:rPr>
                  <a:t>length</a:t>
                </a:r>
                <a:r>
                  <a:rPr lang="hu-HU" sz="1100" dirty="0">
                    <a:latin typeface="+mn-lt"/>
                    <a:cs typeface="Calibri" panose="020F0502020204030204" pitchFamily="34" charset="0"/>
                  </a:rPr>
                  <a:t> / 2)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hu-HU" sz="1200" kern="0" dirty="0">
                        <a:solidFill>
                          <a:srgbClr val="ED0007"/>
                        </a:solidFill>
                        <a:latin typeface="+mn-lt"/>
                      </a:rPr>
                      <m:t>r</m:t>
                    </m:r>
                    <m:r>
                      <m:rPr>
                        <m:nor/>
                      </m:rPr>
                      <a:rPr lang="hu-HU" sz="500" kern="0" dirty="0">
                        <a:solidFill>
                          <a:srgbClr val="ED0007"/>
                        </a:solidFill>
                        <a:latin typeface="+mn-lt"/>
                      </a:rPr>
                      <m:t>RCenter</m:t>
                    </m:r>
                    <m:r>
                      <m:rPr>
                        <m:nor/>
                      </m:rPr>
                      <a:rPr lang="hu-HU" sz="1100" kern="0" dirty="0">
                        <a:latin typeface="+mn-lt"/>
                      </a:rPr>
                      <m:t> </m:t>
                    </m:r>
                  </m:oMath>
                </a14:m>
                <a:r>
                  <a:rPr lang="hu-HU" sz="1100" dirty="0">
                    <a:latin typeface="+mn-lt"/>
                    <a:cs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u-HU" sz="11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hu-HU" sz="1100" dirty="0">
                            <a:solidFill>
                              <a:srgbClr val="007BC0"/>
                            </a:solidFill>
                            <a:latin typeface="+mn-lt"/>
                            <a:cs typeface="Calibri" panose="020F0502020204030204" pitchFamily="34" charset="0"/>
                          </a:rPr>
                          <m:t>Wheelbase</m:t>
                        </m:r>
                        <m:r>
                          <m:rPr>
                            <m:nor/>
                          </m:rPr>
                          <a:rPr lang="hu-HU" sz="1100" dirty="0">
                            <a:solidFill>
                              <a:srgbClr val="007BC0"/>
                            </a:solidFill>
                            <a:latin typeface="+mn-lt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100" dirty="0">
                            <a:solidFill>
                              <a:srgbClr val="007BC0"/>
                            </a:solidFill>
                            <a:latin typeface="+mn-lt"/>
                            <a:cs typeface="Calibri" panose="020F0502020204030204" pitchFamily="34" charset="0"/>
                          </a:rPr>
                          <m:t>length</m:t>
                        </m:r>
                      </m:num>
                      <m:den>
                        <m:r>
                          <m:rPr>
                            <m:nor/>
                          </m:rPr>
                          <a:rPr lang="hu-HU" sz="1100" dirty="0">
                            <a:latin typeface="+mn-lt"/>
                            <a:cs typeface="Calibri" panose="020F0502020204030204" pitchFamily="34" charset="0"/>
                          </a:rPr>
                          <m:t>tan</m:t>
                        </m:r>
                        <m:r>
                          <m:rPr>
                            <m:nor/>
                          </m:rPr>
                          <a:rPr lang="hu-HU" sz="1100" dirty="0">
                            <a:latin typeface="+mn-lt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latin typeface="+mn-lt"/>
                            <a:cs typeface="Calibri" panose="020F0502020204030204" pitchFamily="34" charset="0"/>
                          </a:rPr>
                          <m:t>RWA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latin typeface="+mn-lt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hu-HU" sz="1100" b="0" i="0" dirty="0" smtClean="0">
                            <a:latin typeface="+mn-lt"/>
                            <a:cs typeface="Calibri" panose="020F0502020204030204" pitchFamily="34" charset="0"/>
                          </a:rPr>
                          <m:t>inner</m:t>
                        </m:r>
                        <m:r>
                          <m:rPr>
                            <m:nor/>
                          </m:rPr>
                          <a:rPr lang="hu-HU" sz="1100" dirty="0">
                            <a:latin typeface="+mn-lt"/>
                            <a:cs typeface="Calibri" panose="020F0502020204030204" pitchFamily="34" charset="0"/>
                          </a:rPr>
                          <m:t>)</m:t>
                        </m:r>
                        <m:r>
                          <a:rPr lang="hu-HU" sz="1100" i="1" dirty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hu-HU" sz="1100" dirty="0">
                    <a:latin typeface="+mn-lt"/>
                    <a:cs typeface="Calibri" panose="020F0502020204030204" pitchFamily="34" charset="0"/>
                  </a:rPr>
                  <a:t> + (</a:t>
                </a:r>
                <a:r>
                  <a:rPr lang="hu-HU" sz="1100" dirty="0">
                    <a:solidFill>
                      <a:schemeClr val="accent1"/>
                    </a:solidFill>
                    <a:latin typeface="+mn-lt"/>
                    <a:cs typeface="Calibri" panose="020F0502020204030204" pitchFamily="34" charset="0"/>
                  </a:rPr>
                  <a:t>Front </a:t>
                </a:r>
                <a:r>
                  <a:rPr lang="hu-HU" sz="1100" dirty="0" err="1">
                    <a:solidFill>
                      <a:schemeClr val="accent1"/>
                    </a:solidFill>
                    <a:latin typeface="+mn-lt"/>
                    <a:cs typeface="Calibri" panose="020F0502020204030204" pitchFamily="34" charset="0"/>
                  </a:rPr>
                  <a:t>axle</a:t>
                </a:r>
                <a:r>
                  <a:rPr lang="hu-HU" sz="1100" dirty="0">
                    <a:solidFill>
                      <a:schemeClr val="accent1"/>
                    </a:solidFill>
                    <a:latin typeface="+mn-lt"/>
                    <a:cs typeface="Calibri" panose="020F0502020204030204" pitchFamily="34" charset="0"/>
                  </a:rPr>
                  <a:t> </a:t>
                </a:r>
                <a:r>
                  <a:rPr lang="hu-HU" sz="1100" dirty="0" err="1">
                    <a:solidFill>
                      <a:schemeClr val="accent1"/>
                    </a:solidFill>
                    <a:latin typeface="+mn-lt"/>
                    <a:cs typeface="Calibri" panose="020F0502020204030204" pitchFamily="34" charset="0"/>
                  </a:rPr>
                  <a:t>length</a:t>
                </a:r>
                <a:r>
                  <a:rPr lang="hu-HU" sz="1100" dirty="0">
                    <a:latin typeface="+mn-lt"/>
                    <a:cs typeface="Calibri" panose="020F0502020204030204" pitchFamily="34" charset="0"/>
                  </a:rPr>
                  <a:t> / 2)</a:t>
                </a: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lang="hu-HU" sz="140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The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absolut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value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of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max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RWA of front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side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</a:t>
                </a:r>
                <a:r>
                  <a:rPr lang="hu-HU" sz="1400" dirty="0" err="1">
                    <a:latin typeface="Bosch Office Sans" pitchFamily="2" charset="0"/>
                    <a:cs typeface="Calibri" panose="020F0502020204030204" pitchFamily="34" charset="0"/>
                  </a:rPr>
                  <a:t>wheels</a:t>
                </a:r>
                <a:r>
                  <a:rPr lang="hu-HU" sz="1400" dirty="0">
                    <a:latin typeface="Bosch Office Sans" pitchFamily="2" charset="0"/>
                    <a:cs typeface="Calibri" panose="020F0502020204030204" pitchFamily="34" charset="0"/>
                  </a:rPr>
                  <a:t> is:</a:t>
                </a: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RWA </a:t>
                </a:r>
                <a:r>
                  <a:rPr lang="hu-HU" sz="1100" dirty="0" err="1">
                    <a:latin typeface="Bosch Office Sans" pitchFamily="2" charset="0"/>
                    <a:cs typeface="Calibri" panose="020F0502020204030204" pitchFamily="34" charset="0"/>
                  </a:rPr>
                  <a:t>outer</a:t>
                </a:r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1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arctan</m:t>
                    </m:r>
                    <m:d>
                      <m:dPr>
                        <m:ctrlPr>
                          <a:rPr lang="hu-HU" sz="11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1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hu-HU" sz="11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Wheelbase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length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hu-HU" sz="11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hu-HU" sz="1100" i="1" ker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hu-HU" sz="1200" kern="0" dirty="0">
                                        <a:solidFill>
                                          <a:srgbClr val="0000FF"/>
                                        </a:solidFill>
                                      </a:rPr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600" kern="0" dirty="0">
                                        <a:solidFill>
                                          <a:srgbClr val="0000FF"/>
                                        </a:solidFill>
                                      </a:rPr>
                                      <m:t>min</m:t>
                                    </m:r>
                                  </m:e>
                                  <m:sup>
                                    <m:r>
                                      <a:rPr lang="hu-HU" sz="1100" i="1" ker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hu-HU" sz="11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− </m:t>
                                </m:r>
                                <m:sSup>
                                  <m:sSupPr>
                                    <m:ctrlPr>
                                      <a:rPr lang="hu-HU" sz="1100" i="1" ker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hu-HU" sz="1100" kern="0" dirty="0"/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Front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overhang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dirty="0">
                                        <a:latin typeface="Bosch Office Sans" pitchFamily="2" charset="0"/>
                                        <a:cs typeface="Calibri" panose="020F0502020204030204" pitchFamily="34" charset="0"/>
                                      </a:rPr>
                                      <m:t>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Vehicle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width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dirty="0">
                                        <a:latin typeface="Bosch Office Sans" pitchFamily="2" charset="0"/>
                                        <a:cs typeface="Calibri" panose="020F0502020204030204" pitchFamily="34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hu-HU" sz="1100" i="1" ker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hu-HU" sz="1100" i="1" ker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rad>
                            <m:r>
                              <m:rPr>
                                <m:nor/>
                              </m:rPr>
                              <a:rPr lang="hu-HU" sz="11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Vehicle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width</m:t>
                            </m:r>
                            <m:r>
                              <m:rPr>
                                <m:nor/>
                              </m:rPr>
                              <a:rPr lang="hu-HU" sz="1100" b="0" i="0" kern="0" dirty="0" smtClean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b="0" i="0" kern="0" dirty="0" smtClean="0">
                                <a:solidFill>
                                  <a:schemeClr val="tx1"/>
                                </a:solidFill>
                              </a:rPr>
                              <m:t>/2</m:t>
                            </m:r>
                            <m:r>
                              <m:rPr>
                                <m:nor/>
                              </m:rPr>
                              <a:rPr lang="hu-HU" sz="1100" b="0" i="0" kern="0" dirty="0" smtClean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b="0" i="0" dirty="0" smtClean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+ </m:t>
                            </m:r>
                            <m:r>
                              <m:rPr>
                                <m:nor/>
                              </m:rPr>
                              <a:rPr lang="hu-HU" sz="1100" b="0" i="0" kern="0" dirty="0" smtClean="0">
                                <a:solidFill>
                                  <a:schemeClr val="accent1"/>
                                </a:solidFill>
                              </a:rPr>
                              <m:t>Front</m:t>
                            </m:r>
                            <m:r>
                              <m:rPr>
                                <m:nor/>
                              </m:rPr>
                              <a:rPr lang="hu-HU" sz="1100" b="0" i="0" kern="0" dirty="0" smtClean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b="0" i="0" kern="0" dirty="0" smtClean="0">
                                <a:solidFill>
                                  <a:schemeClr val="accent1"/>
                                </a:solidFill>
                              </a:rPr>
                              <m:t>axle</m:t>
                            </m:r>
                            <m:r>
                              <m:rPr>
                                <m:nor/>
                              </m:rPr>
                              <a:rPr lang="hu-HU" sz="1100" b="0" i="0" kern="0" dirty="0" smtClean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b="0" i="0" kern="0" dirty="0" smtClean="0">
                                <a:solidFill>
                                  <a:schemeClr val="accent1"/>
                                </a:solidFill>
                              </a:rPr>
                              <m:t>length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/2)</m:t>
                            </m:r>
                            <m:r>
                              <a:rPr lang="hu-HU" sz="11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hu-HU" sz="1100" b="0" dirty="0">
                  <a:latin typeface="Bosch Office Sans" pitchFamily="2" charset="0"/>
                  <a:cs typeface="Calibri" panose="020F0502020204030204" pitchFamily="34" charset="0"/>
                </a:endParaRPr>
              </a:p>
              <a:p>
                <a:pPr marL="285750" indent="-285750" fontAlgn="auto">
                  <a:spcBef>
                    <a:spcPts val="5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RWA </a:t>
                </a:r>
                <a:r>
                  <a:rPr lang="hu-HU" sz="1100" dirty="0" err="1">
                    <a:latin typeface="Bosch Office Sans" pitchFamily="2" charset="0"/>
                    <a:cs typeface="Calibri" panose="020F0502020204030204" pitchFamily="34" charset="0"/>
                  </a:rPr>
                  <a:t>inner</a:t>
                </a:r>
                <a:r>
                  <a:rPr lang="hu-HU" sz="1100" dirty="0">
                    <a:latin typeface="Bosch Office Sans" pitchFamily="2" charset="0"/>
                    <a:cs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u-HU" sz="11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arctan</m:t>
                    </m:r>
                    <m:d>
                      <m:dPr>
                        <m:ctrlPr>
                          <a:rPr lang="hu-HU" sz="11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hu-HU" sz="11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hu-HU" sz="11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Wheelbase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solidFill>
                                  <a:srgbClr val="007BC0"/>
                                </a:solidFill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length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hu-HU" sz="1100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hu-HU" sz="1100" i="1" ker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hu-HU" sz="1200" kern="0" dirty="0">
                                        <a:solidFill>
                                          <a:srgbClr val="0000FF"/>
                                        </a:solidFill>
                                      </a:rPr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600" kern="0" dirty="0">
                                        <a:solidFill>
                                          <a:srgbClr val="0000FF"/>
                                        </a:solidFill>
                                      </a:rPr>
                                      <m:t>min</m:t>
                                    </m:r>
                                  </m:e>
                                  <m:sup>
                                    <m:r>
                                      <a:rPr lang="hu-HU" sz="1100" i="1" ker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hu-HU" sz="1100" dirty="0">
                                    <a:latin typeface="Bosch Office Sans" pitchFamily="2" charset="0"/>
                                    <a:cs typeface="Calibri" panose="020F0502020204030204" pitchFamily="34" charset="0"/>
                                  </a:rPr>
                                  <m:t> − </m:t>
                                </m:r>
                                <m:sSup>
                                  <m:sSupPr>
                                    <m:ctrlPr>
                                      <a:rPr lang="hu-HU" sz="1100" i="1" ker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hu-HU" sz="1100" kern="0" dirty="0"/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Front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overhang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dirty="0">
                                        <a:latin typeface="Bosch Office Sans" pitchFamily="2" charset="0"/>
                                        <a:cs typeface="Calibri" panose="020F0502020204030204" pitchFamily="34" charset="0"/>
                                      </a:rPr>
                                      <m:t>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Vehicle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kern="0" dirty="0">
                                        <a:solidFill>
                                          <a:schemeClr val="accent1"/>
                                        </a:solidFill>
                                      </a:rPr>
                                      <m:t>width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u-HU" sz="1100" dirty="0">
                                        <a:latin typeface="Bosch Office Sans" pitchFamily="2" charset="0"/>
                                        <a:cs typeface="Calibri" panose="020F0502020204030204" pitchFamily="34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hu-HU" sz="1100" i="1" ker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hu-HU" sz="1100" i="1" ker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rad>
                            <m:r>
                              <m:rPr>
                                <m:nor/>
                              </m:rPr>
                              <a:rPr lang="hu-HU" sz="11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−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Vehicle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width</m:t>
                            </m:r>
                            <m:r>
                              <m:rPr>
                                <m:nor/>
                              </m:rPr>
                              <a:rPr lang="hu-HU" sz="1100" b="0" i="0" kern="0" dirty="0" smtClean="0">
                                <a:solidFill>
                                  <a:schemeClr val="tx1"/>
                                </a:solidFill>
                              </a:rPr>
                              <m:t> /2 </m:t>
                            </m:r>
                            <m:r>
                              <m:rPr>
                                <m:nor/>
                              </m:rPr>
                              <a:rPr lang="hu-HU" sz="1100" b="0" i="0" dirty="0" smtClean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−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Front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axle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hu-HU" sz="1100" kern="0" dirty="0">
                                <a:solidFill>
                                  <a:schemeClr val="accent1"/>
                                </a:solidFill>
                              </a:rPr>
                              <m:t>length</m:t>
                            </m:r>
                            <m:r>
                              <m:rPr>
                                <m:nor/>
                              </m:rPr>
                              <a:rPr lang="hu-HU" sz="1100" dirty="0">
                                <a:latin typeface="Bosch Office Sans" pitchFamily="2" charset="0"/>
                                <a:cs typeface="Calibri" panose="020F0502020204030204" pitchFamily="34" charset="0"/>
                              </a:rPr>
                              <m:t> /2)</m:t>
                            </m:r>
                            <m:r>
                              <a:rPr lang="hu-HU" sz="1100" i="1" dirty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endParaRPr lang="hu-HU" sz="1100" b="0" dirty="0">
                  <a:latin typeface="Bosch Office Sans" pitchFamily="2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BD84CC-60B7-4BE9-8D36-77403ABDF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19" y="959301"/>
                <a:ext cx="11353714" cy="5142919"/>
              </a:xfrm>
              <a:prstGeom prst="rect">
                <a:avLst/>
              </a:prstGeom>
              <a:blipFill>
                <a:blip r:embed="rId2"/>
                <a:stretch>
                  <a:fillRect l="-1289" t="-1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223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Lateral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Active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steering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flow)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17</a:t>
            </a:fld>
            <a:endParaRPr lang="en-US" noProof="1"/>
          </a:p>
        </p:txBody>
      </p:sp>
      <p:cxnSp>
        <p:nvCxnSpPr>
          <p:cNvPr id="8" name="Straight Arrow Connector 7"/>
          <p:cNvCxnSpPr>
            <a:cxnSpLocks/>
            <a:endCxn id="78" idx="1"/>
          </p:cNvCxnSpPr>
          <p:nvPr/>
        </p:nvCxnSpPr>
        <p:spPr>
          <a:xfrm>
            <a:off x="379567" y="4634791"/>
            <a:ext cx="3015572" cy="358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87259" y="4676389"/>
            <a:ext cx="1663575" cy="5283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hil_drv</a:t>
            </a:r>
            <a:r>
              <a:rPr lang="hu-HU" sz="1200" kern="0" dirty="0">
                <a:solidFill>
                  <a:srgbClr val="FF0000"/>
                </a:solidFill>
              </a:rPr>
              <a:t>::</a:t>
            </a:r>
            <a:r>
              <a:rPr lang="hu-HU" sz="1200" kern="0" dirty="0" err="1">
                <a:solidFill>
                  <a:srgbClr val="FF0000"/>
                </a:solidFill>
              </a:rPr>
              <a:t>rwa_req</a:t>
            </a:r>
            <a:endParaRPr lang="hu-HU" sz="1200" kern="0" dirty="0">
              <a:solidFill>
                <a:srgbClr val="FF0000"/>
              </a:solidFill>
            </a:endParaRPr>
          </a:p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hil_drv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::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max_yaw</a:t>
            </a:r>
            <a:r>
              <a:rPr lang="hu-HU" sz="1200" kern="0" dirty="0">
                <a:solidFill>
                  <a:srgbClr val="FF0000"/>
                </a:solidFill>
              </a:rPr>
              <a:t>_</a:t>
            </a:r>
            <a:r>
              <a:rPr lang="hu-HU" sz="1200" kern="0" dirty="0" err="1">
                <a:solidFill>
                  <a:srgbClr val="FF0000"/>
                </a:solidFill>
              </a:rPr>
              <a:t>rate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11" name="Straight Arrow Connector 10"/>
          <p:cNvCxnSpPr>
            <a:cxnSpLocks/>
            <a:endCxn id="17" idx="1"/>
          </p:cNvCxnSpPr>
          <p:nvPr/>
        </p:nvCxnSpPr>
        <p:spPr>
          <a:xfrm>
            <a:off x="288083" y="2707733"/>
            <a:ext cx="3175738" cy="0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6797" y="2742356"/>
            <a:ext cx="1351286" cy="4631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FF0000"/>
                </a:solidFill>
              </a:rPr>
              <a:t>h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il_adas</a:t>
            </a:r>
            <a:r>
              <a:rPr lang="hu-HU" sz="1200" kern="0" dirty="0">
                <a:solidFill>
                  <a:srgbClr val="FF0000"/>
                </a:solidFill>
              </a:rPr>
              <a:t>::</a:t>
            </a:r>
            <a:r>
              <a:rPr lang="hu-HU" sz="1200" kern="0" dirty="0" err="1">
                <a:solidFill>
                  <a:srgbClr val="FF0000"/>
                </a:solidFill>
              </a:rPr>
              <a:t>rwa_req</a:t>
            </a:r>
            <a:endParaRPr lang="hu-HU" sz="1200" kern="0" dirty="0">
              <a:solidFill>
                <a:srgbClr val="FF0000"/>
              </a:solidFill>
            </a:endParaRPr>
          </a:p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lang="hu-HU" sz="1200" kern="0" dirty="0">
                <a:solidFill>
                  <a:srgbClr val="FF0000"/>
                </a:solidFill>
              </a:rPr>
              <a:t>h</a:t>
            </a:r>
            <a:r>
              <a:rPr kumimoji="0" lang="hu-HU" sz="1200" b="0" i="0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il_adas</a:t>
            </a:r>
            <a:r>
              <a:rPr kumimoji="0" lang="hu-HU" sz="1200" b="0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::</a:t>
            </a:r>
            <a:r>
              <a:rPr lang="hu-HU" sz="1200" kern="0" dirty="0" err="1">
                <a:solidFill>
                  <a:srgbClr val="FF0000"/>
                </a:solidFill>
              </a:rPr>
              <a:t>req_type</a:t>
            </a:r>
            <a:endParaRPr kumimoji="0" lang="en-US" sz="1200" b="0" i="0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cxnSpLocks/>
            <a:endCxn id="76" idx="1"/>
          </p:cNvCxnSpPr>
          <p:nvPr/>
        </p:nvCxnSpPr>
        <p:spPr>
          <a:xfrm>
            <a:off x="379567" y="3692924"/>
            <a:ext cx="3084254" cy="1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6000" y="3742060"/>
            <a:ext cx="1425127" cy="172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FF0000"/>
                </a:solidFill>
              </a:rPr>
              <a:t>h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il_drv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::</a:t>
            </a:r>
            <a:r>
              <a:rPr lang="hu-HU" sz="1200" kern="0" dirty="0" err="1">
                <a:solidFill>
                  <a:srgbClr val="FF0000"/>
                </a:solidFill>
              </a:rPr>
              <a:t>swa_req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17" name="Diamond 16"/>
          <p:cNvSpPr/>
          <p:nvPr/>
        </p:nvSpPr>
        <p:spPr>
          <a:xfrm>
            <a:off x="3463821" y="2334582"/>
            <a:ext cx="1757562" cy="746302"/>
          </a:xfrm>
          <a:prstGeom prst="diamond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26" name="Straight Arrow Connector 25"/>
          <p:cNvCxnSpPr>
            <a:cxnSpLocks/>
          </p:cNvCxnSpPr>
          <p:nvPr/>
        </p:nvCxnSpPr>
        <p:spPr>
          <a:xfrm>
            <a:off x="8489011" y="2699110"/>
            <a:ext cx="2377799" cy="239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811935" y="2746955"/>
            <a:ext cx="1766308" cy="4917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hil_hvm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::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swa</a:t>
            </a:r>
            <a:endParaRPr kumimoji="0" lang="hu-HU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hil_hvm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::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rwa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66151" y="2523524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yes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94610" y="3427730"/>
            <a:ext cx="1106231" cy="4216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lang="hu-HU" sz="900" kern="0" dirty="0"/>
              <a:t>[3]</a:t>
            </a:r>
            <a:br>
              <a:rPr lang="hu-HU" sz="900" i="1" kern="0" dirty="0"/>
            </a:br>
            <a:r>
              <a:rPr lang="hu-HU" sz="900" i="1" kern="0" dirty="0"/>
              <a:t>Driver SWA </a:t>
            </a:r>
            <a:r>
              <a:rPr lang="hu-HU" sz="900" i="1" kern="0" dirty="0" err="1"/>
              <a:t>request</a:t>
            </a:r>
            <a:r>
              <a:rPr lang="hu-HU" sz="900" kern="0" dirty="0"/>
              <a:t> is </a:t>
            </a:r>
            <a:r>
              <a:rPr lang="hu-HU" sz="900" kern="0" dirty="0" err="1"/>
              <a:t>active</a:t>
            </a:r>
            <a:r>
              <a:rPr lang="hu-HU" sz="900" kern="0" dirty="0"/>
              <a:t> </a:t>
            </a:r>
            <a:r>
              <a:rPr lang="hu-HU" sz="900" kern="0" dirty="0" err="1"/>
              <a:t>or</a:t>
            </a:r>
            <a:r>
              <a:rPr lang="hu-HU" sz="900" kern="0" dirty="0"/>
              <a:t> </a:t>
            </a:r>
            <a:r>
              <a:rPr lang="hu-HU" sz="900" kern="0" dirty="0" err="1"/>
              <a:t>passive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73790" y="2159733"/>
            <a:ext cx="1915221" cy="2411792"/>
          </a:xfrm>
          <a:prstGeom prst="roundRect">
            <a:avLst>
              <a:gd name="adj" fmla="val 0"/>
            </a:avLst>
          </a:prstGeom>
          <a:solidFill>
            <a:srgbClr val="C7E6A4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SWA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arbitration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49981" y="2999660"/>
            <a:ext cx="1389095" cy="734504"/>
          </a:xfrm>
          <a:prstGeom prst="rect">
            <a:avLst/>
          </a:prstGeom>
          <a:solidFill>
            <a:srgbClr val="B6DF8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PID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logic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on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steering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wheel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02871" y="3788127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yes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CD401F-BB06-DD02-EEEF-78EB19EAB114}"/>
              </a:ext>
            </a:extLst>
          </p:cNvPr>
          <p:cNvSpPr txBox="1"/>
          <p:nvPr/>
        </p:nvSpPr>
        <p:spPr>
          <a:xfrm>
            <a:off x="8903621" y="1422657"/>
            <a:ext cx="1342703" cy="246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OUTPUT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0671EA-C1E1-9AE3-A78A-2F9D8E3CE4AF}"/>
              </a:ext>
            </a:extLst>
          </p:cNvPr>
          <p:cNvSpPr txBox="1"/>
          <p:nvPr/>
        </p:nvSpPr>
        <p:spPr>
          <a:xfrm>
            <a:off x="872781" y="1422657"/>
            <a:ext cx="1342703" cy="246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b="1" kern="0" dirty="0">
                <a:solidFill>
                  <a:srgbClr val="ED0007"/>
                </a:solidFill>
              </a:rPr>
              <a:t>IN</a:t>
            </a:r>
            <a:r>
              <a:rPr kumimoji="0" lang="hu-HU" b="1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rPr>
              <a:t>PUT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89B9E3-57C3-2F0F-468B-205701C8A7A8}"/>
              </a:ext>
            </a:extLst>
          </p:cNvPr>
          <p:cNvSpPr txBox="1"/>
          <p:nvPr/>
        </p:nvSpPr>
        <p:spPr>
          <a:xfrm>
            <a:off x="5126556" y="1422657"/>
            <a:ext cx="1342703" cy="246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b="1" kern="0" dirty="0"/>
              <a:t>CLASSE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B3B958-0A50-4D02-7918-8B4EE5B9C500}"/>
              </a:ext>
            </a:extLst>
          </p:cNvPr>
          <p:cNvSpPr txBox="1"/>
          <p:nvPr/>
        </p:nvSpPr>
        <p:spPr>
          <a:xfrm>
            <a:off x="6849982" y="2504609"/>
            <a:ext cx="1389094" cy="264780"/>
          </a:xfrm>
          <a:prstGeom prst="rect">
            <a:avLst/>
          </a:prstGeom>
          <a:solidFill>
            <a:srgbClr val="006600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RWA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request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8C43C0C-EC3E-5F25-7671-DDE28E683A61}"/>
              </a:ext>
            </a:extLst>
          </p:cNvPr>
          <p:cNvCxnSpPr>
            <a:cxnSpLocks/>
          </p:cNvCxnSpPr>
          <p:nvPr/>
        </p:nvCxnSpPr>
        <p:spPr>
          <a:xfrm>
            <a:off x="7536917" y="2769389"/>
            <a:ext cx="0" cy="2180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6547B2-6610-36CF-A7D7-F5F31010EEE3}"/>
              </a:ext>
            </a:extLst>
          </p:cNvPr>
          <p:cNvCxnSpPr>
            <a:cxnSpLocks/>
            <a:endCxn id="119" idx="0"/>
          </p:cNvCxnSpPr>
          <p:nvPr/>
        </p:nvCxnSpPr>
        <p:spPr>
          <a:xfrm>
            <a:off x="7536917" y="3743495"/>
            <a:ext cx="7612" cy="3240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560C452C-14FE-1563-FCB4-01DCE33A03CC}"/>
              </a:ext>
            </a:extLst>
          </p:cNvPr>
          <p:cNvSpPr/>
          <p:nvPr/>
        </p:nvSpPr>
        <p:spPr>
          <a:xfrm>
            <a:off x="3463821" y="3279110"/>
            <a:ext cx="1741026" cy="827629"/>
          </a:xfrm>
          <a:prstGeom prst="diamond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8160C6-A780-0D79-13FE-F9122092575A}"/>
              </a:ext>
            </a:extLst>
          </p:cNvPr>
          <p:cNvSpPr txBox="1"/>
          <p:nvPr/>
        </p:nvSpPr>
        <p:spPr>
          <a:xfrm>
            <a:off x="3794610" y="4395132"/>
            <a:ext cx="1106231" cy="46147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lang="hu-HU" sz="900" kern="0" dirty="0"/>
              <a:t>[4]</a:t>
            </a:r>
            <a:br>
              <a:rPr lang="hu-HU" sz="900" i="1" kern="0" dirty="0"/>
            </a:br>
            <a:r>
              <a:rPr lang="hu-HU" sz="900" i="1" kern="0" dirty="0"/>
              <a:t>Driver RWA </a:t>
            </a:r>
            <a:r>
              <a:rPr lang="hu-HU" sz="900" i="1" kern="0" dirty="0" err="1"/>
              <a:t>request</a:t>
            </a:r>
            <a:r>
              <a:rPr lang="hu-HU" sz="900" kern="0" dirty="0"/>
              <a:t> is </a:t>
            </a:r>
            <a:r>
              <a:rPr lang="hu-HU" sz="900" kern="0" dirty="0" err="1"/>
              <a:t>active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8" name="Diamond 77">
            <a:extLst>
              <a:ext uri="{FF2B5EF4-FFF2-40B4-BE49-F238E27FC236}">
                <a16:creationId xmlns:a16="http://schemas.microsoft.com/office/drawing/2014/main" id="{EC3F7855-8E68-9A49-7771-1A516ACF388E}"/>
              </a:ext>
            </a:extLst>
          </p:cNvPr>
          <p:cNvSpPr/>
          <p:nvPr/>
        </p:nvSpPr>
        <p:spPr>
          <a:xfrm>
            <a:off x="3395139" y="4314721"/>
            <a:ext cx="1889179" cy="640855"/>
          </a:xfrm>
          <a:prstGeom prst="diamond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095F8FC-B8AD-0401-72FC-44FC2E530A93}"/>
              </a:ext>
            </a:extLst>
          </p:cNvPr>
          <p:cNvCxnSpPr>
            <a:cxnSpLocks/>
          </p:cNvCxnSpPr>
          <p:nvPr/>
        </p:nvCxnSpPr>
        <p:spPr>
          <a:xfrm>
            <a:off x="4339553" y="4113485"/>
            <a:ext cx="1" cy="184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88A93F5-8B11-82E5-5FB9-7CE45B4DA4B3}"/>
              </a:ext>
            </a:extLst>
          </p:cNvPr>
          <p:cNvSpPr txBox="1"/>
          <p:nvPr/>
        </p:nvSpPr>
        <p:spPr>
          <a:xfrm>
            <a:off x="4392309" y="4096472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no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3CB41F6-5167-DB1F-626F-87D18E514033}"/>
              </a:ext>
            </a:extLst>
          </p:cNvPr>
          <p:cNvSpPr txBox="1"/>
          <p:nvPr/>
        </p:nvSpPr>
        <p:spPr>
          <a:xfrm>
            <a:off x="5273115" y="4462295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yes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143FA81-EFAA-1E09-A6DF-813D4FA8BDB2}"/>
              </a:ext>
            </a:extLst>
          </p:cNvPr>
          <p:cNvSpPr/>
          <p:nvPr/>
        </p:nvSpPr>
        <p:spPr>
          <a:xfrm>
            <a:off x="4305612" y="1313391"/>
            <a:ext cx="67879" cy="7065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5EA2F20-59B5-80D4-6944-A75B6DD3EC66}"/>
              </a:ext>
            </a:extLst>
          </p:cNvPr>
          <p:cNvCxnSpPr>
            <a:cxnSpLocks/>
            <a:stCxn id="159" idx="2"/>
            <a:endCxn id="17" idx="0"/>
          </p:cNvCxnSpPr>
          <p:nvPr/>
        </p:nvCxnSpPr>
        <p:spPr>
          <a:xfrm flipH="1">
            <a:off x="4342602" y="2175370"/>
            <a:ext cx="10249" cy="159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A932F8A-6A2E-2729-2E35-3D99C11CB23B}"/>
              </a:ext>
            </a:extLst>
          </p:cNvPr>
          <p:cNvCxnSpPr>
            <a:cxnSpLocks/>
            <a:endCxn id="113" idx="0"/>
          </p:cNvCxnSpPr>
          <p:nvPr/>
        </p:nvCxnSpPr>
        <p:spPr>
          <a:xfrm>
            <a:off x="4333875" y="1085850"/>
            <a:ext cx="5677" cy="22754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97D088D-45B4-052E-9F6B-9B98C2C5D0D0}"/>
              </a:ext>
            </a:extLst>
          </p:cNvPr>
          <p:cNvSpPr txBox="1"/>
          <p:nvPr/>
        </p:nvSpPr>
        <p:spPr>
          <a:xfrm>
            <a:off x="3691747" y="845020"/>
            <a:ext cx="1342703" cy="246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 err="1"/>
              <a:t>Cycle</a:t>
            </a:r>
            <a:r>
              <a:rPr lang="hu-HU" sz="1200" kern="0" dirty="0"/>
              <a:t> </a:t>
            </a:r>
            <a:r>
              <a:rPr lang="hu-HU" sz="1200" kern="0" dirty="0" err="1"/>
              <a:t>begin</a:t>
            </a:r>
            <a:endParaRPr kumimoji="0" lang="en-US" sz="12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36275CA-20F6-14CA-52DA-AE6286039247}"/>
              </a:ext>
            </a:extLst>
          </p:cNvPr>
          <p:cNvCxnSpPr>
            <a:cxnSpLocks/>
          </p:cNvCxnSpPr>
          <p:nvPr/>
        </p:nvCxnSpPr>
        <p:spPr>
          <a:xfrm>
            <a:off x="4339553" y="3079562"/>
            <a:ext cx="1" cy="184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F776C31-12BA-259E-009E-70961A3F8972}"/>
              </a:ext>
            </a:extLst>
          </p:cNvPr>
          <p:cNvSpPr txBox="1"/>
          <p:nvPr/>
        </p:nvSpPr>
        <p:spPr>
          <a:xfrm>
            <a:off x="4372280" y="3083735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no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910118-B4FE-48C0-0C77-B95E7EF109A3}"/>
              </a:ext>
            </a:extLst>
          </p:cNvPr>
          <p:cNvSpPr txBox="1"/>
          <p:nvPr/>
        </p:nvSpPr>
        <p:spPr>
          <a:xfrm>
            <a:off x="3820375" y="2507198"/>
            <a:ext cx="1106231" cy="4560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lang="hu-HU" sz="900" kern="0" dirty="0"/>
              <a:t>[2]</a:t>
            </a:r>
            <a:br>
              <a:rPr lang="hu-HU" sz="900" i="1" kern="0" dirty="0"/>
            </a:br>
            <a:r>
              <a:rPr lang="hu-HU" sz="900" i="1" kern="0" dirty="0"/>
              <a:t>ADAS RWA </a:t>
            </a:r>
            <a:r>
              <a:rPr lang="hu-HU" sz="900" i="1" kern="0" dirty="0" err="1"/>
              <a:t>request</a:t>
            </a:r>
            <a:r>
              <a:rPr lang="hu-HU" sz="900" kern="0" dirty="0"/>
              <a:t> is </a:t>
            </a:r>
            <a:r>
              <a:rPr lang="hu-HU" sz="900" kern="0" dirty="0" err="1"/>
              <a:t>active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725580D-0802-FF34-42BF-91EBC0E1D032}"/>
              </a:ext>
            </a:extLst>
          </p:cNvPr>
          <p:cNvSpPr txBox="1"/>
          <p:nvPr/>
        </p:nvSpPr>
        <p:spPr>
          <a:xfrm>
            <a:off x="6849982" y="4067500"/>
            <a:ext cx="1389094" cy="264780"/>
          </a:xfrm>
          <a:prstGeom prst="rect">
            <a:avLst/>
          </a:prstGeom>
          <a:solidFill>
            <a:srgbClr val="006600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SWA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request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2799993-744C-2FB4-D1DE-DE8A1BF75AF2}"/>
              </a:ext>
            </a:extLst>
          </p:cNvPr>
          <p:cNvCxnSpPr>
            <a:cxnSpLocks/>
            <a:stCxn id="76" idx="3"/>
            <a:endCxn id="119" idx="1"/>
          </p:cNvCxnSpPr>
          <p:nvPr/>
        </p:nvCxnSpPr>
        <p:spPr>
          <a:xfrm>
            <a:off x="5204847" y="3692925"/>
            <a:ext cx="1645135" cy="5069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cxnSpLocks/>
          </p:cNvCxnSpPr>
          <p:nvPr/>
        </p:nvCxnSpPr>
        <p:spPr>
          <a:xfrm flipH="1" flipV="1">
            <a:off x="5714420" y="2636999"/>
            <a:ext cx="8156" cy="285391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  <a:effectLst>
            <a:glow rad="139700">
              <a:schemeClr val="bg1"/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C73071B-DC16-6098-C37B-E2A83869AEF9}"/>
              </a:ext>
            </a:extLst>
          </p:cNvPr>
          <p:cNvCxnSpPr>
            <a:cxnSpLocks/>
          </p:cNvCxnSpPr>
          <p:nvPr/>
        </p:nvCxnSpPr>
        <p:spPr>
          <a:xfrm>
            <a:off x="5292801" y="4635148"/>
            <a:ext cx="4216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  <a:stCxn id="17" idx="3"/>
          </p:cNvCxnSpPr>
          <p:nvPr/>
        </p:nvCxnSpPr>
        <p:spPr>
          <a:xfrm>
            <a:off x="5221383" y="2707733"/>
            <a:ext cx="5008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E6C0A62-87F6-F39D-7089-AD5F8AF2BF19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5719928" y="2636999"/>
            <a:ext cx="11300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B20C89EB-CB01-EB2B-5A07-9FD4CA81036C}"/>
              </a:ext>
            </a:extLst>
          </p:cNvPr>
          <p:cNvSpPr txBox="1"/>
          <p:nvPr/>
        </p:nvSpPr>
        <p:spPr>
          <a:xfrm>
            <a:off x="2567611" y="5432455"/>
            <a:ext cx="1106231" cy="2509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lang="hu-HU" sz="900" kern="0" dirty="0" err="1"/>
              <a:t>hil_hvm</a:t>
            </a:r>
            <a:r>
              <a:rPr lang="hu-HU" sz="900" kern="0" dirty="0"/>
              <a:t>::</a:t>
            </a:r>
            <a:r>
              <a:rPr lang="hu-HU" sz="900" kern="0" dirty="0" err="1"/>
              <a:t>velocity</a:t>
            </a:r>
            <a:r>
              <a:rPr lang="hu-HU" sz="900" kern="0" dirty="0"/>
              <a:t> != 0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026DDAFD-11F9-9962-E78F-D73117183B9F}"/>
              </a:ext>
            </a:extLst>
          </p:cNvPr>
          <p:cNvSpPr/>
          <p:nvPr/>
        </p:nvSpPr>
        <p:spPr>
          <a:xfrm>
            <a:off x="2363576" y="5194044"/>
            <a:ext cx="1514302" cy="640855"/>
          </a:xfrm>
          <a:prstGeom prst="diamond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6E694C67-20CE-4064-0CC8-62A9C613873A}"/>
              </a:ext>
            </a:extLst>
          </p:cNvPr>
          <p:cNvCxnSpPr>
            <a:cxnSpLocks/>
            <a:endCxn id="130" idx="0"/>
          </p:cNvCxnSpPr>
          <p:nvPr/>
        </p:nvCxnSpPr>
        <p:spPr>
          <a:xfrm flipH="1">
            <a:off x="3120727" y="4961714"/>
            <a:ext cx="1217148" cy="2323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B17B99FD-BCA8-ED4F-0AE4-1FB01170823B}"/>
              </a:ext>
            </a:extLst>
          </p:cNvPr>
          <p:cNvSpPr txBox="1"/>
          <p:nvPr/>
        </p:nvSpPr>
        <p:spPr>
          <a:xfrm>
            <a:off x="3463821" y="4886875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no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5DD7981-3D2F-63AE-52FF-F11950CC638B}"/>
              </a:ext>
            </a:extLst>
          </p:cNvPr>
          <p:cNvSpPr txBox="1"/>
          <p:nvPr/>
        </p:nvSpPr>
        <p:spPr>
          <a:xfrm>
            <a:off x="5271437" y="5310524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yes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7D94F37-C6A6-E2F5-DBED-670897EC8591}"/>
              </a:ext>
            </a:extLst>
          </p:cNvPr>
          <p:cNvCxnSpPr>
            <a:cxnSpLocks/>
            <a:stCxn id="138" idx="3"/>
          </p:cNvCxnSpPr>
          <p:nvPr/>
        </p:nvCxnSpPr>
        <p:spPr>
          <a:xfrm flipV="1">
            <a:off x="5260898" y="5483377"/>
            <a:ext cx="461369" cy="834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41">
            <a:extLst>
              <a:ext uri="{FF2B5EF4-FFF2-40B4-BE49-F238E27FC236}">
                <a16:creationId xmlns:a16="http://schemas.microsoft.com/office/drawing/2014/main" id="{FC14A443-22D7-2D18-DB28-8912AE4253CD}"/>
              </a:ext>
            </a:extLst>
          </p:cNvPr>
          <p:cNvSpPr/>
          <p:nvPr/>
        </p:nvSpPr>
        <p:spPr>
          <a:xfrm>
            <a:off x="4112099" y="5151973"/>
            <a:ext cx="1148799" cy="829727"/>
          </a:xfrm>
          <a:prstGeom prst="roundRect">
            <a:avLst>
              <a:gd name="adj" fmla="val 0"/>
            </a:avLst>
          </a:prstGeom>
          <a:solidFill>
            <a:srgbClr val="C7E6A4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100" kern="0" dirty="0" err="1">
                <a:solidFill>
                  <a:srgbClr val="000000"/>
                </a:solidFill>
                <a:latin typeface="Bosch Office Sans"/>
              </a:rPr>
              <a:t>Move</a:t>
            </a:r>
            <a:r>
              <a:rPr lang="hu-HU" sz="1100" kern="0" dirty="0">
                <a:solidFill>
                  <a:srgbClr val="000000"/>
                </a:solidFill>
                <a:latin typeface="Bosch Office Sans"/>
              </a:rPr>
              <a:t> </a:t>
            </a:r>
            <a:r>
              <a:rPr lang="hu-HU" sz="1100" kern="0" dirty="0" err="1">
                <a:solidFill>
                  <a:srgbClr val="000000"/>
                </a:solidFill>
                <a:latin typeface="Bosch Office Sans"/>
              </a:rPr>
              <a:t>steering</a:t>
            </a:r>
            <a:r>
              <a:rPr lang="hu-HU" sz="1100" kern="0" dirty="0">
                <a:solidFill>
                  <a:srgbClr val="000000"/>
                </a:solidFill>
                <a:latin typeface="Bosch Office Sans"/>
              </a:rPr>
              <a:t> </a:t>
            </a:r>
            <a:r>
              <a:rPr lang="hu-HU" sz="1100" kern="0" dirty="0" err="1">
                <a:solidFill>
                  <a:srgbClr val="000000"/>
                </a:solidFill>
                <a:latin typeface="Bosch Office Sans"/>
              </a:rPr>
              <a:t>wheel</a:t>
            </a:r>
            <a:r>
              <a:rPr lang="hu-HU" sz="1100" kern="0" dirty="0">
                <a:solidFill>
                  <a:srgbClr val="000000"/>
                </a:solidFill>
                <a:latin typeface="Bosch Office Sans"/>
              </a:rPr>
              <a:t> </a:t>
            </a:r>
            <a:r>
              <a:rPr lang="hu-HU" sz="1100" kern="0" dirty="0" err="1">
                <a:solidFill>
                  <a:srgbClr val="000000"/>
                </a:solidFill>
                <a:latin typeface="Bosch Office Sans"/>
              </a:rPr>
              <a:t>to</a:t>
            </a:r>
            <a:r>
              <a:rPr lang="hu-HU" sz="1100" kern="0" dirty="0">
                <a:solidFill>
                  <a:srgbClr val="000000"/>
                </a:solidFill>
                <a:latin typeface="Bosch Office Sans"/>
              </a:rPr>
              <a:t> center </a:t>
            </a:r>
            <a:r>
              <a:rPr lang="hu-HU" sz="1100" kern="0" dirty="0" err="1">
                <a:solidFill>
                  <a:srgbClr val="000000"/>
                </a:solidFill>
                <a:latin typeface="Bosch Office Sans"/>
              </a:rPr>
              <a:t>position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EF3F73B-9A74-AAEB-CD0C-1033166DC7DA}"/>
              </a:ext>
            </a:extLst>
          </p:cNvPr>
          <p:cNvCxnSpPr>
            <a:cxnSpLocks/>
            <a:endCxn id="138" idx="1"/>
          </p:cNvCxnSpPr>
          <p:nvPr/>
        </p:nvCxnSpPr>
        <p:spPr>
          <a:xfrm>
            <a:off x="3878554" y="5520967"/>
            <a:ext cx="233545" cy="45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Diamond 158">
            <a:extLst>
              <a:ext uri="{FF2B5EF4-FFF2-40B4-BE49-F238E27FC236}">
                <a16:creationId xmlns:a16="http://schemas.microsoft.com/office/drawing/2014/main" id="{BFA6DB34-CD7C-0146-EA41-B65B3AA65FCC}"/>
              </a:ext>
            </a:extLst>
          </p:cNvPr>
          <p:cNvSpPr/>
          <p:nvPr/>
        </p:nvSpPr>
        <p:spPr>
          <a:xfrm>
            <a:off x="3484319" y="1619501"/>
            <a:ext cx="1737064" cy="555869"/>
          </a:xfrm>
          <a:prstGeom prst="diamond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813BF38-EDCE-1716-0FE4-A860DB2DC760}"/>
              </a:ext>
            </a:extLst>
          </p:cNvPr>
          <p:cNvSpPr txBox="1"/>
          <p:nvPr/>
        </p:nvSpPr>
        <p:spPr>
          <a:xfrm>
            <a:off x="3809985" y="1674907"/>
            <a:ext cx="1106231" cy="4449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lang="hu-HU" sz="900" kern="0" dirty="0"/>
              <a:t>[1]</a:t>
            </a:r>
            <a:br>
              <a:rPr lang="hu-HU" sz="900" i="1" kern="0" dirty="0"/>
            </a:br>
            <a:r>
              <a:rPr lang="hu-HU" sz="900" i="1" kern="0" dirty="0" err="1"/>
              <a:t>wheel</a:t>
            </a:r>
            <a:r>
              <a:rPr lang="hu-HU" sz="900" i="1" kern="0" dirty="0"/>
              <a:t> </a:t>
            </a:r>
            <a:r>
              <a:rPr lang="hu-HU" sz="900" i="1" kern="0" dirty="0" err="1"/>
              <a:t>angle</a:t>
            </a:r>
            <a:r>
              <a:rPr lang="hu-HU" sz="900" i="1" kern="0" dirty="0"/>
              <a:t> </a:t>
            </a:r>
            <a:r>
              <a:rPr lang="hu-HU" sz="900" i="1" kern="0" dirty="0" err="1"/>
              <a:t>control</a:t>
            </a:r>
            <a:r>
              <a:rPr lang="hu-HU" sz="900" kern="0" dirty="0"/>
              <a:t> is </a:t>
            </a:r>
            <a:r>
              <a:rPr lang="hu-HU" sz="900" kern="0" dirty="0" err="1"/>
              <a:t>active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309D08DE-1C9B-17FE-80F3-DEE5C144E8CA}"/>
              </a:ext>
            </a:extLst>
          </p:cNvPr>
          <p:cNvCxnSpPr>
            <a:cxnSpLocks/>
          </p:cNvCxnSpPr>
          <p:nvPr/>
        </p:nvCxnSpPr>
        <p:spPr>
          <a:xfrm>
            <a:off x="4342905" y="1367589"/>
            <a:ext cx="0" cy="265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86DA6BBF-4A2F-9D66-0FD3-873AC8ED4574}"/>
              </a:ext>
            </a:extLst>
          </p:cNvPr>
          <p:cNvSpPr txBox="1"/>
          <p:nvPr/>
        </p:nvSpPr>
        <p:spPr>
          <a:xfrm>
            <a:off x="4305612" y="2161073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yes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53395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Lateral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Active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steering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CLASSE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logic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18</a:t>
            </a:fld>
            <a:endParaRPr lang="en-US" noProof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D088D-45B4-052E-9F6B-9B98C2C5D0D0}"/>
              </a:ext>
            </a:extLst>
          </p:cNvPr>
          <p:cNvSpPr txBox="1"/>
          <p:nvPr/>
        </p:nvSpPr>
        <p:spPr>
          <a:xfrm>
            <a:off x="296419" y="809805"/>
            <a:ext cx="7915275" cy="50480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  <a:tab pos="361950" algn="l"/>
              </a:tabLst>
            </a:pPr>
            <a:r>
              <a:rPr lang="hu-HU" sz="1600" b="1" kern="0" dirty="0"/>
              <a:t>[1] </a:t>
            </a:r>
            <a:r>
              <a:rPr lang="hu-HU" sz="1600" b="1" i="1" kern="0" dirty="0"/>
              <a:t>Wheel </a:t>
            </a:r>
            <a:r>
              <a:rPr lang="hu-HU" sz="1600" b="1" i="1" kern="0" dirty="0" err="1"/>
              <a:t>angle</a:t>
            </a:r>
            <a:r>
              <a:rPr lang="hu-HU" sz="1600" b="1" i="1" kern="0" dirty="0"/>
              <a:t> </a:t>
            </a:r>
            <a:r>
              <a:rPr lang="hu-HU" sz="1600" b="1" i="1" kern="0" dirty="0" err="1"/>
              <a:t>control</a:t>
            </a:r>
            <a:r>
              <a:rPr lang="hu-HU" sz="1600" b="1" kern="0" dirty="0"/>
              <a:t> :</a:t>
            </a:r>
          </a:p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If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lvl="1"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/>
              <a:t>Front RWA </a:t>
            </a:r>
            <a:r>
              <a:rPr lang="hu-HU" sz="1400" kern="0" dirty="0" err="1"/>
              <a:t>control</a:t>
            </a:r>
            <a:r>
              <a:rPr lang="hu-HU" sz="1400" kern="0" dirty="0"/>
              <a:t> </a:t>
            </a:r>
            <a:r>
              <a:rPr lang="hu-HU" sz="1400" kern="0" dirty="0" err="1"/>
              <a:t>flag</a:t>
            </a:r>
            <a:r>
              <a:rPr lang="hu-HU" sz="1400" kern="0" dirty="0"/>
              <a:t> has </a:t>
            </a:r>
            <a:r>
              <a:rPr lang="hu-HU" sz="1400" kern="0" dirty="0" err="1"/>
              <a:t>been</a:t>
            </a:r>
            <a:r>
              <a:rPr lang="hu-HU" sz="1400" kern="0" dirty="0"/>
              <a:t> </a:t>
            </a:r>
            <a:r>
              <a:rPr lang="hu-HU" sz="1400" kern="0" dirty="0" err="1"/>
              <a:t>set</a:t>
            </a:r>
            <a:r>
              <a:rPr lang="hu-HU" sz="1400" kern="0" dirty="0"/>
              <a:t> </a:t>
            </a:r>
            <a:r>
              <a:rPr lang="hu-HU" sz="1400" kern="0" dirty="0" err="1"/>
              <a:t>to</a:t>
            </a:r>
            <a:r>
              <a:rPr lang="hu-HU" sz="1400" kern="0" dirty="0"/>
              <a:t> „</a:t>
            </a:r>
            <a:r>
              <a:rPr lang="hu-HU" sz="1400" i="1" kern="0" dirty="0"/>
              <a:t>USER”</a:t>
            </a:r>
            <a:endParaRPr lang="hu-HU" sz="1400" kern="0" dirty="0"/>
          </a:p>
          <a:p>
            <a:pPr lvl="1"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/>
              <a:t>or</a:t>
            </a:r>
            <a:r>
              <a:rPr lang="hu-HU" sz="1400" kern="0" dirty="0"/>
              <a:t> </a:t>
            </a:r>
            <a:r>
              <a:rPr lang="hu-HU" sz="1400" kern="0" dirty="0" err="1"/>
              <a:t>Rear</a:t>
            </a:r>
            <a:r>
              <a:rPr lang="hu-HU" sz="1400" kern="0" dirty="0"/>
              <a:t> RWA </a:t>
            </a:r>
            <a:r>
              <a:rPr lang="hu-HU" sz="1400" kern="0" dirty="0" err="1"/>
              <a:t>control</a:t>
            </a:r>
            <a:r>
              <a:rPr lang="hu-HU" sz="1400" kern="0" dirty="0"/>
              <a:t> </a:t>
            </a:r>
            <a:r>
              <a:rPr lang="hu-HU" sz="1400" kern="0" dirty="0" err="1"/>
              <a:t>flag</a:t>
            </a:r>
            <a:r>
              <a:rPr lang="hu-HU" sz="1400" kern="0" dirty="0"/>
              <a:t> has </a:t>
            </a:r>
            <a:r>
              <a:rPr lang="hu-HU" sz="1400" kern="0" dirty="0" err="1"/>
              <a:t>been</a:t>
            </a:r>
            <a:r>
              <a:rPr lang="hu-HU" sz="1400" kern="0" dirty="0"/>
              <a:t> </a:t>
            </a:r>
            <a:r>
              <a:rPr lang="hu-HU" sz="1400" kern="0" dirty="0" err="1"/>
              <a:t>set</a:t>
            </a:r>
            <a:r>
              <a:rPr lang="hu-HU" sz="1400" kern="0" dirty="0"/>
              <a:t> </a:t>
            </a:r>
            <a:r>
              <a:rPr lang="hu-HU" sz="1400" kern="0" dirty="0" err="1"/>
              <a:t>to</a:t>
            </a:r>
            <a:r>
              <a:rPr lang="hu-HU" sz="1400" kern="0" dirty="0"/>
              <a:t> „</a:t>
            </a:r>
            <a:r>
              <a:rPr lang="hu-HU" sz="1400" i="1" kern="0" dirty="0"/>
              <a:t>USER”</a:t>
            </a:r>
          </a:p>
          <a:p>
            <a:pPr lvl="1"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/>
              <a:t>or</a:t>
            </a:r>
            <a:r>
              <a:rPr lang="hu-HU" sz="1400" kern="0" dirty="0"/>
              <a:t> </a:t>
            </a:r>
            <a:r>
              <a:rPr lang="hu-HU" sz="1400" kern="0" dirty="0" err="1"/>
              <a:t>There</a:t>
            </a:r>
            <a:r>
              <a:rPr lang="hu-HU" sz="1400" kern="0" dirty="0"/>
              <a:t> is </a:t>
            </a:r>
            <a:r>
              <a:rPr lang="hu-HU" sz="1400" kern="0" dirty="0" err="1"/>
              <a:t>active</a:t>
            </a:r>
            <a:r>
              <a:rPr lang="hu-HU" sz="1400" kern="0" dirty="0"/>
              <a:t> driver/</a:t>
            </a:r>
            <a:r>
              <a:rPr lang="hu-HU" sz="1400" kern="0" dirty="0" err="1"/>
              <a:t>user</a:t>
            </a:r>
            <a:r>
              <a:rPr lang="hu-HU" sz="1400" kern="0" dirty="0"/>
              <a:t> </a:t>
            </a:r>
            <a:r>
              <a:rPr lang="hu-HU" sz="1400" kern="0" dirty="0" err="1"/>
              <a:t>steering</a:t>
            </a:r>
            <a:r>
              <a:rPr lang="hu-HU" sz="1400" kern="0" dirty="0"/>
              <a:t> (</a:t>
            </a:r>
            <a:r>
              <a:rPr lang="hu-HU" sz="1400" kern="0" dirty="0" err="1">
                <a:solidFill>
                  <a:srgbClr val="FF0000"/>
                </a:solidFill>
              </a:rPr>
              <a:t>hil_drv</a:t>
            </a:r>
            <a:r>
              <a:rPr lang="hu-HU" sz="1400" kern="0" dirty="0">
                <a:solidFill>
                  <a:srgbClr val="FF0000"/>
                </a:solidFill>
              </a:rPr>
              <a:t>::</a:t>
            </a:r>
            <a:r>
              <a:rPr lang="hu-HU" sz="1400" kern="0" dirty="0" err="1">
                <a:solidFill>
                  <a:srgbClr val="FF0000"/>
                </a:solidFill>
              </a:rPr>
              <a:t>swa_req</a:t>
            </a:r>
            <a:r>
              <a:rPr lang="hu-HU" sz="1400" kern="0" dirty="0"/>
              <a:t> has </a:t>
            </a:r>
            <a:r>
              <a:rPr lang="hu-HU" sz="1400" kern="0" dirty="0" err="1"/>
              <a:t>been</a:t>
            </a:r>
            <a:r>
              <a:rPr lang="hu-HU" sz="1400" kern="0" dirty="0"/>
              <a:t> </a:t>
            </a:r>
            <a:r>
              <a:rPr lang="hu-HU" sz="1400" kern="0" dirty="0" err="1"/>
              <a:t>changed</a:t>
            </a:r>
            <a:r>
              <a:rPr lang="hu-HU" sz="1400" kern="0" dirty="0"/>
              <a:t> </a:t>
            </a:r>
            <a:r>
              <a:rPr lang="hu-HU" sz="1400" kern="0" dirty="0" err="1"/>
              <a:t>by</a:t>
            </a:r>
            <a:r>
              <a:rPr lang="hu-HU" sz="1400" kern="0" dirty="0"/>
              <a:t> </a:t>
            </a:r>
            <a:r>
              <a:rPr lang="hu-HU" sz="1400" kern="0" dirty="0" err="1"/>
              <a:t>user</a:t>
            </a:r>
            <a:r>
              <a:rPr lang="hu-HU" sz="1400" kern="0" dirty="0"/>
              <a:t>)</a:t>
            </a:r>
          </a:p>
          <a:p>
            <a:pPr lvl="1"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/>
              <a:t>or</a:t>
            </a:r>
            <a:r>
              <a:rPr lang="hu-HU" sz="1400" kern="0" dirty="0"/>
              <a:t> RWA is </a:t>
            </a:r>
            <a:r>
              <a:rPr lang="hu-HU" sz="1400" kern="0" dirty="0" err="1"/>
              <a:t>requested</a:t>
            </a:r>
            <a:r>
              <a:rPr lang="hu-HU" sz="1400" kern="0" dirty="0"/>
              <a:t> </a:t>
            </a:r>
            <a:r>
              <a:rPr lang="hu-HU" sz="1400" kern="0" dirty="0" err="1"/>
              <a:t>by</a:t>
            </a:r>
            <a:r>
              <a:rPr lang="hu-HU" sz="1400" kern="0" dirty="0"/>
              <a:t> driver/</a:t>
            </a:r>
            <a:r>
              <a:rPr lang="hu-HU" sz="1400" kern="0" dirty="0" err="1"/>
              <a:t>user</a:t>
            </a:r>
            <a:r>
              <a:rPr lang="hu-HU" sz="1400" kern="0" dirty="0"/>
              <a:t> (</a:t>
            </a:r>
            <a:r>
              <a:rPr lang="hu-HU" sz="1400" kern="0" dirty="0" err="1">
                <a:solidFill>
                  <a:srgbClr val="FF0000"/>
                </a:solidFill>
              </a:rPr>
              <a:t>hil_drv</a:t>
            </a:r>
            <a:r>
              <a:rPr lang="hu-HU" sz="1400" kern="0" dirty="0">
                <a:solidFill>
                  <a:srgbClr val="FF0000"/>
                </a:solidFill>
              </a:rPr>
              <a:t>::</a:t>
            </a:r>
            <a:r>
              <a:rPr lang="hu-HU" sz="1400" kern="0" dirty="0" err="1">
                <a:solidFill>
                  <a:srgbClr val="FF0000"/>
                </a:solidFill>
              </a:rPr>
              <a:t>rwa_req</a:t>
            </a:r>
            <a:r>
              <a:rPr lang="hu-HU" sz="1400" kern="0" dirty="0"/>
              <a:t> has </a:t>
            </a:r>
            <a:r>
              <a:rPr lang="hu-HU" sz="1400" kern="0" dirty="0" err="1"/>
              <a:t>been</a:t>
            </a:r>
            <a:r>
              <a:rPr lang="hu-HU" sz="1400" kern="0" dirty="0"/>
              <a:t> </a:t>
            </a:r>
            <a:r>
              <a:rPr lang="hu-HU" sz="1400" kern="0" dirty="0" err="1"/>
              <a:t>changed</a:t>
            </a:r>
            <a:r>
              <a:rPr lang="hu-HU" sz="1400" kern="0" dirty="0"/>
              <a:t> </a:t>
            </a:r>
            <a:r>
              <a:rPr lang="hu-HU" sz="1400" kern="0" dirty="0" err="1"/>
              <a:t>by</a:t>
            </a:r>
            <a:r>
              <a:rPr lang="hu-HU" sz="1400" kern="0" dirty="0"/>
              <a:t> </a:t>
            </a:r>
            <a:r>
              <a:rPr lang="hu-HU" sz="1400" kern="0" dirty="0" err="1"/>
              <a:t>user</a:t>
            </a:r>
            <a:r>
              <a:rPr lang="hu-HU" sz="1400" kern="0" dirty="0"/>
              <a:t>)</a:t>
            </a:r>
          </a:p>
          <a:p>
            <a:pPr lvl="1"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/>
              <a:t>or</a:t>
            </a:r>
            <a:r>
              <a:rPr lang="hu-HU" sz="1400" kern="0" dirty="0"/>
              <a:t> </a:t>
            </a:r>
            <a:r>
              <a:rPr lang="hu-HU" sz="1400" kern="0" dirty="0" err="1"/>
              <a:t>rhere</a:t>
            </a:r>
            <a:r>
              <a:rPr lang="hu-HU" sz="1400" kern="0" dirty="0"/>
              <a:t> is </a:t>
            </a:r>
            <a:r>
              <a:rPr lang="hu-HU" sz="1400" kern="0" dirty="0" err="1"/>
              <a:t>active</a:t>
            </a:r>
            <a:r>
              <a:rPr lang="hu-HU" sz="1400" kern="0" dirty="0"/>
              <a:t> ADAS </a:t>
            </a:r>
            <a:r>
              <a:rPr lang="hu-HU" sz="1400" kern="0" dirty="0" err="1"/>
              <a:t>steering</a:t>
            </a:r>
            <a:r>
              <a:rPr lang="hu-HU" sz="1400" kern="0" dirty="0"/>
              <a:t> </a:t>
            </a:r>
            <a:r>
              <a:rPr lang="hu-HU" sz="1400" kern="0" dirty="0" err="1"/>
              <a:t>requesting</a:t>
            </a:r>
            <a:endParaRPr lang="hu-HU" sz="1400" kern="0" dirty="0"/>
          </a:p>
          <a:p>
            <a:pPr marL="0" lvl="1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Then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	Wheel </a:t>
            </a:r>
            <a:r>
              <a:rPr lang="hu-HU" sz="1400" i="1" kern="0" dirty="0" err="1"/>
              <a:t>angle</a:t>
            </a:r>
            <a:r>
              <a:rPr lang="hu-HU" sz="1400" i="1" kern="0" dirty="0"/>
              <a:t> </a:t>
            </a:r>
            <a:r>
              <a:rPr lang="hu-HU" sz="1400" i="1" kern="0" dirty="0" err="1"/>
              <a:t>control</a:t>
            </a:r>
            <a:r>
              <a:rPr lang="hu-HU" sz="1400" kern="0" dirty="0"/>
              <a:t> is </a:t>
            </a:r>
            <a:r>
              <a:rPr lang="hu-HU" sz="1400" b="1" kern="0" dirty="0" err="1"/>
              <a:t>active</a:t>
            </a:r>
            <a:endParaRPr lang="hu-HU" sz="1400" b="1" kern="0" dirty="0"/>
          </a:p>
          <a:p>
            <a:pPr marL="0" lvl="1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endParaRPr lang="hu-HU" sz="1400" kern="0" dirty="0"/>
          </a:p>
          <a:p>
            <a:pPr marL="0" lvl="1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u="sng" kern="0" dirty="0" err="1"/>
              <a:t>Note</a:t>
            </a:r>
            <a:r>
              <a:rPr lang="hu-HU" sz="1400" kern="0" dirty="0"/>
              <a:t>:</a:t>
            </a:r>
          </a:p>
          <a:p>
            <a:pPr marL="0" lvl="1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Wheel </a:t>
            </a:r>
            <a:r>
              <a:rPr lang="hu-HU" sz="1400" i="1" kern="0" dirty="0" err="1"/>
              <a:t>angle</a:t>
            </a:r>
            <a:r>
              <a:rPr lang="hu-HU" sz="1400" i="1" kern="0" dirty="0"/>
              <a:t> </a:t>
            </a:r>
            <a:r>
              <a:rPr lang="hu-HU" sz="1400" i="1" kern="0" dirty="0" err="1"/>
              <a:t>control</a:t>
            </a:r>
            <a:r>
              <a:rPr lang="hu-HU" sz="1400" kern="0" dirty="0"/>
              <a:t> is </a:t>
            </a:r>
            <a:r>
              <a:rPr lang="hu-HU" sz="1400" kern="0" dirty="0" err="1"/>
              <a:t>used</a:t>
            </a:r>
            <a:r>
              <a:rPr lang="hu-HU" sz="1400" kern="0" dirty="0"/>
              <a:t> </a:t>
            </a:r>
            <a:r>
              <a:rPr lang="hu-HU" sz="1400" kern="0" dirty="0" err="1"/>
              <a:t>to</a:t>
            </a:r>
            <a:r>
              <a:rPr lang="hu-HU" sz="1400" kern="0" dirty="0"/>
              <a:t> </a:t>
            </a:r>
            <a:r>
              <a:rPr lang="hu-HU" sz="1400" kern="0" dirty="0" err="1"/>
              <a:t>enable</a:t>
            </a:r>
            <a:r>
              <a:rPr lang="hu-HU" sz="1400" kern="0" dirty="0"/>
              <a:t>/</a:t>
            </a:r>
            <a:r>
              <a:rPr lang="hu-HU" sz="1400" kern="0" dirty="0" err="1"/>
              <a:t>disable</a:t>
            </a:r>
            <a:r>
              <a:rPr lang="hu-HU" sz="1400" kern="0" dirty="0"/>
              <a:t> driver </a:t>
            </a:r>
            <a:r>
              <a:rPr lang="hu-HU" sz="1400" kern="0" dirty="0" err="1"/>
              <a:t>control</a:t>
            </a:r>
            <a:r>
              <a:rPr lang="hu-HU" sz="1400" kern="0" dirty="0"/>
              <a:t> of </a:t>
            </a:r>
            <a:r>
              <a:rPr lang="hu-HU" sz="1400" kern="0" dirty="0" err="1"/>
              <a:t>simulation</a:t>
            </a:r>
            <a:r>
              <a:rPr lang="hu-HU" sz="1400" kern="0" dirty="0"/>
              <a:t> </a:t>
            </a:r>
            <a:r>
              <a:rPr lang="hu-HU" sz="1400" kern="0" dirty="0" err="1"/>
              <a:t>tool</a:t>
            </a:r>
            <a:r>
              <a:rPr lang="hu-HU" sz="1400" kern="0" dirty="0"/>
              <a:t> (</a:t>
            </a:r>
            <a:r>
              <a:rPr lang="hu-HU" sz="1400" kern="0" dirty="0" err="1"/>
              <a:t>for</a:t>
            </a:r>
            <a:r>
              <a:rPr lang="hu-HU" sz="1400" kern="0" dirty="0"/>
              <a:t> ex.: </a:t>
            </a:r>
            <a:r>
              <a:rPr lang="hu-HU" sz="1400" kern="0" dirty="0" err="1"/>
              <a:t>CarMaker</a:t>
            </a:r>
            <a:r>
              <a:rPr lang="hu-HU" sz="1400" kern="0" dirty="0"/>
              <a:t>).</a:t>
            </a:r>
          </a:p>
          <a:p>
            <a:pPr marL="0" lvl="1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/>
              <a:t>It</a:t>
            </a:r>
            <a:r>
              <a:rPr lang="hu-HU" sz="1400" kern="0" dirty="0"/>
              <a:t> </a:t>
            </a:r>
            <a:r>
              <a:rPr lang="hu-HU" sz="1400" kern="0" dirty="0" err="1"/>
              <a:t>shall</a:t>
            </a:r>
            <a:r>
              <a:rPr lang="hu-HU" sz="1400" kern="0" dirty="0"/>
              <a:t> only be </a:t>
            </a:r>
            <a:r>
              <a:rPr lang="hu-HU" sz="1400" kern="0" dirty="0" err="1"/>
              <a:t>set</a:t>
            </a:r>
            <a:r>
              <a:rPr lang="hu-HU" sz="1400" kern="0" dirty="0"/>
              <a:t> </a:t>
            </a:r>
            <a:r>
              <a:rPr lang="hu-HU" sz="1400" kern="0" dirty="0" err="1"/>
              <a:t>to</a:t>
            </a:r>
            <a:r>
              <a:rPr lang="hu-HU" sz="1400" kern="0" dirty="0"/>
              <a:t> </a:t>
            </a:r>
            <a:r>
              <a:rPr lang="hu-HU" sz="1400" b="1" kern="0" dirty="0" err="1"/>
              <a:t>inactive</a:t>
            </a:r>
            <a:r>
              <a:rPr lang="hu-HU" sz="1400" kern="0" dirty="0"/>
              <a:t> </a:t>
            </a:r>
            <a:r>
              <a:rPr lang="hu-HU" sz="1400" kern="0" dirty="0" err="1"/>
              <a:t>by</a:t>
            </a:r>
            <a:r>
              <a:rPr lang="hu-HU" sz="1400" kern="0" dirty="0"/>
              <a:t> </a:t>
            </a:r>
            <a:r>
              <a:rPr lang="hu-HU" sz="1400" kern="0" dirty="0" err="1"/>
              <a:t>user</a:t>
            </a:r>
            <a:r>
              <a:rPr lang="hu-HU" sz="1400" kern="0" dirty="0"/>
              <a:t>.</a:t>
            </a:r>
          </a:p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  <a:tab pos="361950" algn="l"/>
              </a:tabLst>
            </a:pPr>
            <a:endParaRPr lang="hu-HU" sz="1400" kern="0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A1CBC68-84E8-8503-95FB-1B4A7B502DF9}"/>
              </a:ext>
            </a:extLst>
          </p:cNvPr>
          <p:cNvGrpSpPr/>
          <p:nvPr/>
        </p:nvGrpSpPr>
        <p:grpSpPr>
          <a:xfrm>
            <a:off x="8730881" y="1014341"/>
            <a:ext cx="2664845" cy="2473578"/>
            <a:chOff x="8730881" y="1014341"/>
            <a:chExt cx="2664845" cy="2473578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FB6B211-9508-ACB7-024C-9F350F3669C2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>
              <a:off x="8730881" y="2901979"/>
              <a:ext cx="351051" cy="1954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6691DD2-E71E-379C-774C-60F9BD677B7F}"/>
                </a:ext>
              </a:extLst>
            </p:cNvPr>
            <p:cNvCxnSpPr>
              <a:cxnSpLocks/>
              <a:endCxn id="52" idx="1"/>
            </p:cNvCxnSpPr>
            <p:nvPr/>
          </p:nvCxnSpPr>
          <p:spPr>
            <a:xfrm>
              <a:off x="8730881" y="1906035"/>
              <a:ext cx="342896" cy="4402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5897A59-3087-C93D-8E95-2963B5D06F81}"/>
                </a:ext>
              </a:extLst>
            </p:cNvPr>
            <p:cNvCxnSpPr>
              <a:cxnSpLocks/>
              <a:endCxn id="56" idx="1"/>
            </p:cNvCxnSpPr>
            <p:nvPr/>
          </p:nvCxnSpPr>
          <p:spPr>
            <a:xfrm>
              <a:off x="8730881" y="2432880"/>
              <a:ext cx="351051" cy="1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mond 51">
              <a:extLst>
                <a:ext uri="{FF2B5EF4-FFF2-40B4-BE49-F238E27FC236}">
                  <a16:creationId xmlns:a16="http://schemas.microsoft.com/office/drawing/2014/main" id="{4726634E-5D48-9E71-7C5D-522F2F95CBEB}"/>
                </a:ext>
              </a:extLst>
            </p:cNvPr>
            <p:cNvSpPr/>
            <p:nvPr/>
          </p:nvSpPr>
          <p:spPr>
            <a:xfrm>
              <a:off x="9073777" y="1741178"/>
              <a:ext cx="754439" cy="338517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9F08AD0-295F-14A9-0152-29D1D81358B5}"/>
                </a:ext>
              </a:extLst>
            </p:cNvPr>
            <p:cNvCxnSpPr>
              <a:cxnSpLocks/>
              <a:stCxn id="55" idx="3"/>
            </p:cNvCxnSpPr>
            <p:nvPr/>
          </p:nvCxnSpPr>
          <p:spPr>
            <a:xfrm>
              <a:off x="11082472" y="2568018"/>
              <a:ext cx="313254" cy="0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ACBD4F4-CE43-A7BB-E7D6-5B941FC2F565}"/>
                </a:ext>
              </a:extLst>
            </p:cNvPr>
            <p:cNvSpPr txBox="1"/>
            <p:nvPr/>
          </p:nvSpPr>
          <p:spPr>
            <a:xfrm>
              <a:off x="8893803" y="2349051"/>
              <a:ext cx="1106231" cy="1797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[3]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55" name="Rounded Rectangle 41">
              <a:extLst>
                <a:ext uri="{FF2B5EF4-FFF2-40B4-BE49-F238E27FC236}">
                  <a16:creationId xmlns:a16="http://schemas.microsoft.com/office/drawing/2014/main" id="{3008D508-E7A8-8075-4CB5-11E8F3C2EF19}"/>
                </a:ext>
              </a:extLst>
            </p:cNvPr>
            <p:cNvSpPr/>
            <p:nvPr/>
          </p:nvSpPr>
          <p:spPr>
            <a:xfrm>
              <a:off x="10292444" y="2065260"/>
              <a:ext cx="790028" cy="1005516"/>
            </a:xfrm>
            <a:prstGeom prst="roundRect">
              <a:avLst>
                <a:gd name="adj" fmla="val 0"/>
              </a:avLst>
            </a:prstGeom>
            <a:solidFill>
              <a:srgbClr val="C7E6A4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rtlCol="0" anchor="t"/>
            <a:lstStyle/>
            <a:p>
              <a:pPr marL="0" marR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56" name="Diamond 55">
              <a:extLst>
                <a:ext uri="{FF2B5EF4-FFF2-40B4-BE49-F238E27FC236}">
                  <a16:creationId xmlns:a16="http://schemas.microsoft.com/office/drawing/2014/main" id="{880FBEBB-8D60-43CD-F6F3-5521668182B1}"/>
                </a:ext>
              </a:extLst>
            </p:cNvPr>
            <p:cNvSpPr/>
            <p:nvPr/>
          </p:nvSpPr>
          <p:spPr>
            <a:xfrm>
              <a:off x="9081932" y="2263622"/>
              <a:ext cx="746284" cy="338517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C09C139-BB81-0E1C-4ED5-4B4E68E300D1}"/>
                </a:ext>
              </a:extLst>
            </p:cNvPr>
            <p:cNvSpPr txBox="1"/>
            <p:nvPr/>
          </p:nvSpPr>
          <p:spPr>
            <a:xfrm>
              <a:off x="8893803" y="2828637"/>
              <a:ext cx="1106231" cy="1803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[4]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58" name="Diamond 57">
              <a:extLst>
                <a:ext uri="{FF2B5EF4-FFF2-40B4-BE49-F238E27FC236}">
                  <a16:creationId xmlns:a16="http://schemas.microsoft.com/office/drawing/2014/main" id="{D0F2570B-FF06-1224-E4F9-34B2537E537B}"/>
                </a:ext>
              </a:extLst>
            </p:cNvPr>
            <p:cNvSpPr/>
            <p:nvPr/>
          </p:nvSpPr>
          <p:spPr>
            <a:xfrm>
              <a:off x="9081932" y="2741843"/>
              <a:ext cx="746285" cy="324179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0B39662-DAEB-DA4E-E135-730813978044}"/>
                </a:ext>
              </a:extLst>
            </p:cNvPr>
            <p:cNvCxnSpPr>
              <a:cxnSpLocks/>
              <a:stCxn id="56" idx="2"/>
              <a:endCxn id="58" idx="0"/>
            </p:cNvCxnSpPr>
            <p:nvPr/>
          </p:nvCxnSpPr>
          <p:spPr>
            <a:xfrm>
              <a:off x="9455074" y="2602139"/>
              <a:ext cx="1" cy="1397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8630559D-EBA1-0B4F-8FD7-D74752920E41}"/>
                </a:ext>
              </a:extLst>
            </p:cNvPr>
            <p:cNvCxnSpPr>
              <a:cxnSpLocks/>
              <a:stCxn id="73" idx="2"/>
              <a:endCxn id="52" idx="0"/>
            </p:cNvCxnSpPr>
            <p:nvPr/>
          </p:nvCxnSpPr>
          <p:spPr>
            <a:xfrm>
              <a:off x="9446920" y="1567478"/>
              <a:ext cx="4077" cy="173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5C20769-7C24-D98A-8FAA-ED22F2814754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2" y="2090058"/>
              <a:ext cx="1" cy="1842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6511602-4F60-8794-4CB0-9C8A5217AFA5}"/>
                </a:ext>
              </a:extLst>
            </p:cNvPr>
            <p:cNvSpPr txBox="1"/>
            <p:nvPr/>
          </p:nvSpPr>
          <p:spPr>
            <a:xfrm>
              <a:off x="9283626" y="1833773"/>
              <a:ext cx="342897" cy="1515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[2]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E81C1D54-22D9-9383-A70E-D708E0E93A2D}"/>
                </a:ext>
              </a:extLst>
            </p:cNvPr>
            <p:cNvCxnSpPr>
              <a:cxnSpLocks/>
              <a:stCxn id="56" idx="3"/>
              <a:endCxn id="77" idx="1"/>
            </p:cNvCxnSpPr>
            <p:nvPr/>
          </p:nvCxnSpPr>
          <p:spPr>
            <a:xfrm>
              <a:off x="9828216" y="2432881"/>
              <a:ext cx="607211" cy="3936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B1739CE-F00D-DF78-98DD-484E2F2E2E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2063" y="2021569"/>
              <a:ext cx="6361" cy="135018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  <a:effectLst>
              <a:glow rad="139700">
                <a:schemeClr val="bg1"/>
              </a:glow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538901F-E843-53EF-47D2-DA771B12B594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>
              <a:off x="9828217" y="2903933"/>
              <a:ext cx="2379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E07A766-8CE5-C2FA-1C28-BD6DF1CE63F6}"/>
                </a:ext>
              </a:extLst>
            </p:cNvPr>
            <p:cNvCxnSpPr>
              <a:cxnSpLocks/>
              <a:stCxn id="52" idx="3"/>
            </p:cNvCxnSpPr>
            <p:nvPr/>
          </p:nvCxnSpPr>
          <p:spPr>
            <a:xfrm>
              <a:off x="9828216" y="1910437"/>
              <a:ext cx="237924" cy="1075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B121949C-8109-34C6-DBD0-9EA8CF8F52DB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10068424" y="2009140"/>
              <a:ext cx="367003" cy="2828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Diamond 67">
              <a:extLst>
                <a:ext uri="{FF2B5EF4-FFF2-40B4-BE49-F238E27FC236}">
                  <a16:creationId xmlns:a16="http://schemas.microsoft.com/office/drawing/2014/main" id="{158F08B1-A11C-013F-F2D5-D215ACC58F64}"/>
                </a:ext>
              </a:extLst>
            </p:cNvPr>
            <p:cNvSpPr/>
            <p:nvPr/>
          </p:nvSpPr>
          <p:spPr>
            <a:xfrm>
              <a:off x="8730881" y="3164203"/>
              <a:ext cx="612164" cy="289332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F126B06-268C-C55D-0A5A-F3980B44464A}"/>
                </a:ext>
              </a:extLst>
            </p:cNvPr>
            <p:cNvCxnSpPr>
              <a:cxnSpLocks/>
              <a:stCxn id="58" idx="2"/>
              <a:endCxn id="68" idx="0"/>
            </p:cNvCxnSpPr>
            <p:nvPr/>
          </p:nvCxnSpPr>
          <p:spPr>
            <a:xfrm flipH="1">
              <a:off x="9036963" y="3066022"/>
              <a:ext cx="418112" cy="981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75975795-90A4-27E2-8A5B-D3638E23B564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flipV="1">
              <a:off x="9880095" y="3361727"/>
              <a:ext cx="186045" cy="100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ounded Rectangle 41">
              <a:extLst>
                <a:ext uri="{FF2B5EF4-FFF2-40B4-BE49-F238E27FC236}">
                  <a16:creationId xmlns:a16="http://schemas.microsoft.com/office/drawing/2014/main" id="{451F358B-5FF2-5B0E-F147-6F69F68717BD}"/>
                </a:ext>
              </a:extLst>
            </p:cNvPr>
            <p:cNvSpPr/>
            <p:nvPr/>
          </p:nvSpPr>
          <p:spPr>
            <a:xfrm>
              <a:off x="9504790" y="3255588"/>
              <a:ext cx="375305" cy="232331"/>
            </a:xfrm>
            <a:prstGeom prst="roundRect">
              <a:avLst>
                <a:gd name="adj" fmla="val 0"/>
              </a:avLst>
            </a:prstGeom>
            <a:solidFill>
              <a:srgbClr val="C7E6A4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2DA3886-E37F-0E91-6617-CB217EDEF4A4}"/>
                </a:ext>
              </a:extLst>
            </p:cNvPr>
            <p:cNvCxnSpPr>
              <a:cxnSpLocks/>
              <a:stCxn id="68" idx="3"/>
              <a:endCxn id="71" idx="1"/>
            </p:cNvCxnSpPr>
            <p:nvPr/>
          </p:nvCxnSpPr>
          <p:spPr>
            <a:xfrm>
              <a:off x="9343045" y="3308869"/>
              <a:ext cx="161745" cy="628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Diamond 72">
              <a:extLst>
                <a:ext uri="{FF2B5EF4-FFF2-40B4-BE49-F238E27FC236}">
                  <a16:creationId xmlns:a16="http://schemas.microsoft.com/office/drawing/2014/main" id="{1AB5DC08-D93E-C8B1-9BF5-C7EF8CD9A7D5}"/>
                </a:ext>
              </a:extLst>
            </p:cNvPr>
            <p:cNvSpPr/>
            <p:nvPr/>
          </p:nvSpPr>
          <p:spPr>
            <a:xfrm>
              <a:off x="9065623" y="1279719"/>
              <a:ext cx="762594" cy="287759"/>
            </a:xfrm>
            <a:prstGeom prst="diamond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D548534-EF3F-BAF6-D6C2-657DDF642D0B}"/>
                </a:ext>
              </a:extLst>
            </p:cNvPr>
            <p:cNvSpPr txBox="1"/>
            <p:nvPr/>
          </p:nvSpPr>
          <p:spPr>
            <a:xfrm>
              <a:off x="9283626" y="1344502"/>
              <a:ext cx="342896" cy="1949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[1]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7BAF2AD7-2F4B-3F39-72C2-337AB0B0C4EE}"/>
                </a:ext>
              </a:extLst>
            </p:cNvPr>
            <p:cNvCxnSpPr>
              <a:cxnSpLocks/>
            </p:cNvCxnSpPr>
            <p:nvPr/>
          </p:nvCxnSpPr>
          <p:spPr>
            <a:xfrm>
              <a:off x="9446919" y="1014341"/>
              <a:ext cx="0" cy="2653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CFF6E75-9B63-4880-4643-499B14B9835F}"/>
                </a:ext>
              </a:extLst>
            </p:cNvPr>
            <p:cNvSpPr txBox="1"/>
            <p:nvPr/>
          </p:nvSpPr>
          <p:spPr>
            <a:xfrm>
              <a:off x="10435427" y="2157808"/>
              <a:ext cx="447801" cy="268393"/>
            </a:xfrm>
            <a:prstGeom prst="rect">
              <a:avLst/>
            </a:prstGeom>
            <a:solidFill>
              <a:srgbClr val="0066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RWA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25B6CA9-9357-AEB5-A2CE-47A7F1D20F9F}"/>
                </a:ext>
              </a:extLst>
            </p:cNvPr>
            <p:cNvSpPr txBox="1"/>
            <p:nvPr/>
          </p:nvSpPr>
          <p:spPr>
            <a:xfrm>
              <a:off x="10435427" y="2692354"/>
              <a:ext cx="447801" cy="268393"/>
            </a:xfrm>
            <a:prstGeom prst="rect">
              <a:avLst/>
            </a:prstGeom>
            <a:solidFill>
              <a:srgbClr val="0066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SWA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4607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Lateral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Active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steering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CLASSE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logic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19</a:t>
            </a:fld>
            <a:endParaRPr lang="en-US" noProof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D088D-45B4-052E-9F6B-9B98C2C5D0D0}"/>
              </a:ext>
            </a:extLst>
          </p:cNvPr>
          <p:cNvSpPr txBox="1"/>
          <p:nvPr/>
        </p:nvSpPr>
        <p:spPr>
          <a:xfrm>
            <a:off x="296419" y="809805"/>
            <a:ext cx="7915275" cy="50480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  <a:tab pos="361950" algn="l"/>
              </a:tabLst>
            </a:pPr>
            <a:r>
              <a:rPr lang="hu-HU" sz="1600" b="1" kern="0" dirty="0"/>
              <a:t>[2] </a:t>
            </a:r>
            <a:r>
              <a:rPr lang="hu-HU" sz="1600" b="1" i="1" kern="0" dirty="0"/>
              <a:t>ADAS RWA </a:t>
            </a:r>
            <a:r>
              <a:rPr lang="hu-HU" sz="1600" b="1" i="1" kern="0" dirty="0" err="1"/>
              <a:t>request</a:t>
            </a:r>
            <a:r>
              <a:rPr lang="hu-HU" sz="1600" b="1" i="1" kern="0" dirty="0"/>
              <a:t> </a:t>
            </a:r>
            <a:endParaRPr lang="hu-HU" sz="1600" b="1" kern="0" dirty="0"/>
          </a:p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If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/>
              <a:t>	ADAS is </a:t>
            </a:r>
            <a:r>
              <a:rPr lang="hu-HU" sz="1400" kern="0" dirty="0" err="1"/>
              <a:t>requesting</a:t>
            </a:r>
            <a:r>
              <a:rPr lang="hu-HU" sz="1400" kern="0" dirty="0"/>
              <a:t> </a:t>
            </a:r>
            <a:r>
              <a:rPr lang="hu-HU" sz="1400" kern="0" dirty="0" err="1"/>
              <a:t>steering</a:t>
            </a:r>
            <a:r>
              <a:rPr lang="hu-HU" sz="1400" kern="0" dirty="0"/>
              <a:t> (</a:t>
            </a:r>
            <a:r>
              <a:rPr lang="hu-HU" sz="1400" kern="0" dirty="0" err="1">
                <a:solidFill>
                  <a:srgbClr val="FF0000"/>
                </a:solidFill>
              </a:rPr>
              <a:t>hil_adas</a:t>
            </a:r>
            <a:r>
              <a:rPr lang="hu-HU" sz="1400" kern="0" dirty="0">
                <a:solidFill>
                  <a:srgbClr val="FF0000"/>
                </a:solidFill>
              </a:rPr>
              <a:t>::</a:t>
            </a:r>
            <a:r>
              <a:rPr lang="hu-HU" sz="1400" kern="0" dirty="0" err="1">
                <a:solidFill>
                  <a:srgbClr val="FF0000"/>
                </a:solidFill>
              </a:rPr>
              <a:t>rwa_req</a:t>
            </a:r>
            <a:r>
              <a:rPr lang="hu-HU" sz="1400" kern="0" dirty="0"/>
              <a:t> != 0)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/>
              <a:t>	</a:t>
            </a:r>
            <a:r>
              <a:rPr lang="hu-HU" sz="1400" kern="0" dirty="0" err="1"/>
              <a:t>or</a:t>
            </a:r>
            <a:r>
              <a:rPr lang="hu-HU" sz="1400" kern="0" dirty="0"/>
              <a:t> ADAS </a:t>
            </a:r>
            <a:r>
              <a:rPr lang="hu-HU" sz="1400" kern="0" dirty="0" err="1"/>
              <a:t>steering</a:t>
            </a:r>
            <a:r>
              <a:rPr lang="hu-HU" sz="1400" kern="0" dirty="0"/>
              <a:t> </a:t>
            </a:r>
            <a:r>
              <a:rPr lang="hu-HU" sz="1400" kern="0" dirty="0" err="1"/>
              <a:t>request</a:t>
            </a:r>
            <a:r>
              <a:rPr lang="hu-HU" sz="1400" kern="0" dirty="0"/>
              <a:t> is </a:t>
            </a:r>
            <a:r>
              <a:rPr lang="hu-HU" sz="1400" kern="0" dirty="0" err="1"/>
              <a:t>active</a:t>
            </a:r>
            <a:r>
              <a:rPr lang="hu-HU" sz="1400" kern="0" dirty="0"/>
              <a:t> (</a:t>
            </a:r>
            <a:r>
              <a:rPr lang="hu-HU" sz="1400" kern="0" dirty="0" err="1">
                <a:solidFill>
                  <a:srgbClr val="FF0000"/>
                </a:solidFill>
              </a:rPr>
              <a:t>hil_adas</a:t>
            </a:r>
            <a:r>
              <a:rPr lang="hu-HU" sz="1400" kern="0" dirty="0">
                <a:solidFill>
                  <a:srgbClr val="FF0000"/>
                </a:solidFill>
              </a:rPr>
              <a:t>::</a:t>
            </a:r>
            <a:r>
              <a:rPr lang="hu-HU" sz="1400" kern="0" dirty="0" err="1">
                <a:solidFill>
                  <a:srgbClr val="FF0000"/>
                </a:solidFill>
              </a:rPr>
              <a:t>req_type</a:t>
            </a:r>
            <a:r>
              <a:rPr lang="hu-HU" sz="1400" kern="0" dirty="0"/>
              <a:t> != „</a:t>
            </a:r>
            <a:r>
              <a:rPr lang="hu-HU" sz="1400" i="1" kern="0" dirty="0"/>
              <a:t>no </a:t>
            </a:r>
            <a:r>
              <a:rPr lang="hu-HU" sz="1400" i="1" kern="0" dirty="0" err="1"/>
              <a:t>request</a:t>
            </a:r>
            <a:r>
              <a:rPr lang="hu-HU" sz="1400" i="1" kern="0" dirty="0"/>
              <a:t>”</a:t>
            </a:r>
            <a:r>
              <a:rPr lang="hu-HU" sz="1400" kern="0" dirty="0"/>
              <a:t>)</a:t>
            </a:r>
          </a:p>
          <a:p>
            <a:pPr marL="0" lvl="1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Then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	ADAS RWA </a:t>
            </a:r>
            <a:r>
              <a:rPr lang="hu-HU" sz="1400" i="1" kern="0" dirty="0" err="1"/>
              <a:t>request</a:t>
            </a:r>
            <a:r>
              <a:rPr lang="hu-HU" sz="1400" i="1" kern="0" dirty="0"/>
              <a:t> </a:t>
            </a:r>
            <a:r>
              <a:rPr lang="hu-HU" sz="1400" kern="0" dirty="0"/>
              <a:t>is </a:t>
            </a:r>
            <a:r>
              <a:rPr lang="hu-HU" sz="1400" b="1" kern="0" dirty="0" err="1"/>
              <a:t>active</a:t>
            </a:r>
            <a:endParaRPr lang="hu-HU" sz="1400" kern="0" dirty="0"/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Else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	ADAS RWA </a:t>
            </a:r>
            <a:r>
              <a:rPr lang="hu-HU" sz="1400" i="1" kern="0" dirty="0" err="1"/>
              <a:t>request</a:t>
            </a:r>
            <a:r>
              <a:rPr lang="hu-HU" sz="1400" i="1" kern="0" dirty="0"/>
              <a:t> </a:t>
            </a:r>
            <a:r>
              <a:rPr lang="hu-HU" sz="1400" kern="0" dirty="0"/>
              <a:t>is </a:t>
            </a:r>
            <a:r>
              <a:rPr lang="hu-HU" sz="1400" b="1" kern="0" dirty="0" err="1"/>
              <a:t>inactive</a:t>
            </a:r>
            <a:endParaRPr lang="hu-HU" sz="1400" b="1" kern="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FB52F30-60F4-CF12-1A89-7749133CA7DD}"/>
              </a:ext>
            </a:extLst>
          </p:cNvPr>
          <p:cNvGrpSpPr/>
          <p:nvPr/>
        </p:nvGrpSpPr>
        <p:grpSpPr>
          <a:xfrm>
            <a:off x="8730881" y="1014341"/>
            <a:ext cx="2664845" cy="2473578"/>
            <a:chOff x="8730881" y="1014341"/>
            <a:chExt cx="2664845" cy="247357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8092C47-6720-A3C4-7724-7D0A694572F4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8730881" y="2901979"/>
              <a:ext cx="351051" cy="1954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6B87ACD-F353-2BA3-89C7-1E979B247587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8730881" y="1906035"/>
              <a:ext cx="342896" cy="4402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A8D1929-45AB-BAD8-4D15-09C4F53A4AB6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8730881" y="2432880"/>
              <a:ext cx="351051" cy="1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mond 7">
              <a:extLst>
                <a:ext uri="{FF2B5EF4-FFF2-40B4-BE49-F238E27FC236}">
                  <a16:creationId xmlns:a16="http://schemas.microsoft.com/office/drawing/2014/main" id="{5FAFF745-0CE0-C9F6-3074-548704D9487D}"/>
                </a:ext>
              </a:extLst>
            </p:cNvPr>
            <p:cNvSpPr/>
            <p:nvPr/>
          </p:nvSpPr>
          <p:spPr>
            <a:xfrm>
              <a:off x="9073777" y="1741178"/>
              <a:ext cx="754439" cy="338517"/>
            </a:xfrm>
            <a:prstGeom prst="diamond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CDB062E-7863-6CA4-7798-C2444900A552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11082472" y="2568018"/>
              <a:ext cx="313254" cy="0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60D28A2-4117-CD93-20F0-342E80331869}"/>
                </a:ext>
              </a:extLst>
            </p:cNvPr>
            <p:cNvSpPr txBox="1"/>
            <p:nvPr/>
          </p:nvSpPr>
          <p:spPr>
            <a:xfrm>
              <a:off x="8893803" y="2349051"/>
              <a:ext cx="1106231" cy="1797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[3]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1" name="Rounded Rectangle 41">
              <a:extLst>
                <a:ext uri="{FF2B5EF4-FFF2-40B4-BE49-F238E27FC236}">
                  <a16:creationId xmlns:a16="http://schemas.microsoft.com/office/drawing/2014/main" id="{D66ACAAB-2CA4-8527-7F1D-5AE5D9AB3301}"/>
                </a:ext>
              </a:extLst>
            </p:cNvPr>
            <p:cNvSpPr/>
            <p:nvPr/>
          </p:nvSpPr>
          <p:spPr>
            <a:xfrm>
              <a:off x="10292444" y="2065260"/>
              <a:ext cx="790028" cy="1005516"/>
            </a:xfrm>
            <a:prstGeom prst="roundRect">
              <a:avLst>
                <a:gd name="adj" fmla="val 0"/>
              </a:avLst>
            </a:prstGeom>
            <a:solidFill>
              <a:srgbClr val="C7E6A4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rtlCol="0" anchor="t"/>
            <a:lstStyle/>
            <a:p>
              <a:pPr marL="0" marR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EA2EFD31-B951-600C-E2A2-EF59F750E48E}"/>
                </a:ext>
              </a:extLst>
            </p:cNvPr>
            <p:cNvSpPr/>
            <p:nvPr/>
          </p:nvSpPr>
          <p:spPr>
            <a:xfrm>
              <a:off x="9081932" y="2263622"/>
              <a:ext cx="746284" cy="338517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36FC3B-DE5D-4477-A5C5-F2DA04E14947}"/>
                </a:ext>
              </a:extLst>
            </p:cNvPr>
            <p:cNvSpPr txBox="1"/>
            <p:nvPr/>
          </p:nvSpPr>
          <p:spPr>
            <a:xfrm>
              <a:off x="8893803" y="2828637"/>
              <a:ext cx="1106231" cy="1803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[4]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0415242B-863A-049C-A5EE-9FD73EAFB007}"/>
                </a:ext>
              </a:extLst>
            </p:cNvPr>
            <p:cNvSpPr/>
            <p:nvPr/>
          </p:nvSpPr>
          <p:spPr>
            <a:xfrm>
              <a:off x="9081932" y="2741843"/>
              <a:ext cx="746285" cy="324179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9241616-6AEB-2C0C-88C5-E9749A3F0DDB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9455074" y="2602139"/>
              <a:ext cx="1" cy="1397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47E1D8E-A423-C377-41E2-AFAEA773407A}"/>
                </a:ext>
              </a:extLst>
            </p:cNvPr>
            <p:cNvCxnSpPr>
              <a:cxnSpLocks/>
              <a:stCxn id="30" idx="2"/>
              <a:endCxn id="8" idx="0"/>
            </p:cNvCxnSpPr>
            <p:nvPr/>
          </p:nvCxnSpPr>
          <p:spPr>
            <a:xfrm>
              <a:off x="9446920" y="1567478"/>
              <a:ext cx="4077" cy="173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2C63CF4-DD8F-9A3A-ACDF-19789C3297F4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2" y="2090058"/>
              <a:ext cx="1" cy="1842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8E801F-A87C-5CE3-D1E2-66FE0FBADC52}"/>
                </a:ext>
              </a:extLst>
            </p:cNvPr>
            <p:cNvSpPr txBox="1"/>
            <p:nvPr/>
          </p:nvSpPr>
          <p:spPr>
            <a:xfrm>
              <a:off x="9283626" y="1833773"/>
              <a:ext cx="342897" cy="1515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[2]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0A50CF2-C24B-C491-4530-56428DBF612C}"/>
                </a:ext>
              </a:extLst>
            </p:cNvPr>
            <p:cNvCxnSpPr>
              <a:cxnSpLocks/>
              <a:stCxn id="12" idx="3"/>
              <a:endCxn id="34" idx="1"/>
            </p:cNvCxnSpPr>
            <p:nvPr/>
          </p:nvCxnSpPr>
          <p:spPr>
            <a:xfrm>
              <a:off x="9828216" y="2432881"/>
              <a:ext cx="607211" cy="3936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1EA675D-6B19-1D0A-009C-5D19C3819E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2063" y="2021569"/>
              <a:ext cx="6361" cy="135018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  <a:effectLst>
              <a:glow rad="139700">
                <a:schemeClr val="bg1"/>
              </a:glow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BDDB25A-45F9-B291-05F1-D64358C0C70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9828217" y="2903933"/>
              <a:ext cx="2379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1B2022B-F277-6BCB-6747-D593225D44B4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9828216" y="1910437"/>
              <a:ext cx="237924" cy="1075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44C7C0F-2877-E2F8-37B3-12EC074F030E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10068424" y="2009140"/>
              <a:ext cx="367003" cy="2828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Diamond 24">
              <a:extLst>
                <a:ext uri="{FF2B5EF4-FFF2-40B4-BE49-F238E27FC236}">
                  <a16:creationId xmlns:a16="http://schemas.microsoft.com/office/drawing/2014/main" id="{CC76BA23-55EA-F9E2-DBA2-D5076D0C6E2D}"/>
                </a:ext>
              </a:extLst>
            </p:cNvPr>
            <p:cNvSpPr/>
            <p:nvPr/>
          </p:nvSpPr>
          <p:spPr>
            <a:xfrm>
              <a:off x="8730881" y="3164203"/>
              <a:ext cx="612164" cy="289332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1930D5B-5C94-FE40-A28B-38A49886DF54}"/>
                </a:ext>
              </a:extLst>
            </p:cNvPr>
            <p:cNvCxnSpPr>
              <a:cxnSpLocks/>
              <a:stCxn id="14" idx="2"/>
              <a:endCxn id="25" idx="0"/>
            </p:cNvCxnSpPr>
            <p:nvPr/>
          </p:nvCxnSpPr>
          <p:spPr>
            <a:xfrm flipH="1">
              <a:off x="9036963" y="3066022"/>
              <a:ext cx="418112" cy="981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F0CE622-A0A2-328F-25A9-4CB26A96FFF2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 flipV="1">
              <a:off x="9880095" y="3361727"/>
              <a:ext cx="186045" cy="100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41">
              <a:extLst>
                <a:ext uri="{FF2B5EF4-FFF2-40B4-BE49-F238E27FC236}">
                  <a16:creationId xmlns:a16="http://schemas.microsoft.com/office/drawing/2014/main" id="{D298805D-552C-8E34-51B6-8B3E6AA96C6B}"/>
                </a:ext>
              </a:extLst>
            </p:cNvPr>
            <p:cNvSpPr/>
            <p:nvPr/>
          </p:nvSpPr>
          <p:spPr>
            <a:xfrm>
              <a:off x="9504790" y="3255588"/>
              <a:ext cx="375305" cy="232331"/>
            </a:xfrm>
            <a:prstGeom prst="roundRect">
              <a:avLst>
                <a:gd name="adj" fmla="val 0"/>
              </a:avLst>
            </a:prstGeom>
            <a:solidFill>
              <a:srgbClr val="C7E6A4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EE4CB2E-3204-C668-B078-7152A1437D4B}"/>
                </a:ext>
              </a:extLst>
            </p:cNvPr>
            <p:cNvCxnSpPr>
              <a:cxnSpLocks/>
              <a:stCxn id="25" idx="3"/>
              <a:endCxn id="28" idx="1"/>
            </p:cNvCxnSpPr>
            <p:nvPr/>
          </p:nvCxnSpPr>
          <p:spPr>
            <a:xfrm>
              <a:off x="9343045" y="3308869"/>
              <a:ext cx="161745" cy="628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Diamond 29">
              <a:extLst>
                <a:ext uri="{FF2B5EF4-FFF2-40B4-BE49-F238E27FC236}">
                  <a16:creationId xmlns:a16="http://schemas.microsoft.com/office/drawing/2014/main" id="{EE44CB68-8CC7-9B42-2FC7-EEA9B373FDF3}"/>
                </a:ext>
              </a:extLst>
            </p:cNvPr>
            <p:cNvSpPr/>
            <p:nvPr/>
          </p:nvSpPr>
          <p:spPr>
            <a:xfrm>
              <a:off x="9065623" y="1279719"/>
              <a:ext cx="762594" cy="287759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5E5732-267C-F168-9FE4-71A82AFF696B}"/>
                </a:ext>
              </a:extLst>
            </p:cNvPr>
            <p:cNvSpPr txBox="1"/>
            <p:nvPr/>
          </p:nvSpPr>
          <p:spPr>
            <a:xfrm>
              <a:off x="9283626" y="1344502"/>
              <a:ext cx="342896" cy="1949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[1]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FF47FA1-BDDF-3E51-C8D9-069194F23CB1}"/>
                </a:ext>
              </a:extLst>
            </p:cNvPr>
            <p:cNvCxnSpPr>
              <a:cxnSpLocks/>
            </p:cNvCxnSpPr>
            <p:nvPr/>
          </p:nvCxnSpPr>
          <p:spPr>
            <a:xfrm>
              <a:off x="9446919" y="1014341"/>
              <a:ext cx="0" cy="2653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E46E96B-4F47-183C-6D25-DB766A09CE80}"/>
                </a:ext>
              </a:extLst>
            </p:cNvPr>
            <p:cNvSpPr txBox="1"/>
            <p:nvPr/>
          </p:nvSpPr>
          <p:spPr>
            <a:xfrm>
              <a:off x="10435427" y="2157808"/>
              <a:ext cx="447801" cy="268393"/>
            </a:xfrm>
            <a:prstGeom prst="rect">
              <a:avLst/>
            </a:prstGeom>
            <a:solidFill>
              <a:srgbClr val="0066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RWA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45E4E0F-4FF0-98F9-288E-F59FEFC37357}"/>
                </a:ext>
              </a:extLst>
            </p:cNvPr>
            <p:cNvSpPr txBox="1"/>
            <p:nvPr/>
          </p:nvSpPr>
          <p:spPr>
            <a:xfrm>
              <a:off x="10435427" y="2692354"/>
              <a:ext cx="447801" cy="268393"/>
            </a:xfrm>
            <a:prstGeom prst="rect">
              <a:avLst/>
            </a:prstGeom>
            <a:solidFill>
              <a:srgbClr val="0066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hu-HU" sz="1200" kern="0" dirty="0">
                  <a:solidFill>
                    <a:schemeClr val="bg1"/>
                  </a:solidFill>
                </a:rPr>
                <a:t>S</a:t>
              </a: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WA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1905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Lateral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Active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steering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CLASSE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logic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20</a:t>
            </a:fld>
            <a:endParaRPr lang="en-US" noProof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D088D-45B4-052E-9F6B-9B98C2C5D0D0}"/>
              </a:ext>
            </a:extLst>
          </p:cNvPr>
          <p:cNvSpPr txBox="1"/>
          <p:nvPr/>
        </p:nvSpPr>
        <p:spPr>
          <a:xfrm>
            <a:off x="296419" y="809805"/>
            <a:ext cx="7915275" cy="50480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  <a:tab pos="361950" algn="l"/>
              </a:tabLst>
            </a:pPr>
            <a:r>
              <a:rPr lang="hu-HU" sz="1600" b="1" kern="0" dirty="0"/>
              <a:t>[3] </a:t>
            </a:r>
            <a:r>
              <a:rPr lang="hu-HU" sz="1600" b="1" i="1" kern="0" dirty="0"/>
              <a:t>Driver SWA </a:t>
            </a:r>
            <a:r>
              <a:rPr lang="hu-HU" sz="1600" b="1" i="1" kern="0" dirty="0" err="1"/>
              <a:t>request</a:t>
            </a:r>
            <a:r>
              <a:rPr lang="hu-HU" sz="1600" b="1" i="1" kern="0" dirty="0"/>
              <a:t> </a:t>
            </a:r>
            <a:endParaRPr lang="hu-HU" sz="1600" b="1" kern="0" dirty="0"/>
          </a:p>
          <a:p>
            <a:pPr indent="-456938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If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/>
              <a:t>	Driver/</a:t>
            </a:r>
            <a:r>
              <a:rPr lang="hu-HU" sz="1400" kern="0" dirty="0" err="1"/>
              <a:t>user</a:t>
            </a:r>
            <a:r>
              <a:rPr lang="hu-HU" sz="1400" kern="0" dirty="0"/>
              <a:t> is </a:t>
            </a:r>
            <a:r>
              <a:rPr lang="hu-HU" sz="1400" kern="0" dirty="0" err="1"/>
              <a:t>steering</a:t>
            </a:r>
            <a:r>
              <a:rPr lang="hu-HU" sz="1400" kern="0" dirty="0"/>
              <a:t> (</a:t>
            </a:r>
            <a:r>
              <a:rPr lang="hu-HU" sz="1400" kern="0" dirty="0" err="1">
                <a:solidFill>
                  <a:srgbClr val="FF0000"/>
                </a:solidFill>
              </a:rPr>
              <a:t>hil_drv</a:t>
            </a:r>
            <a:r>
              <a:rPr lang="hu-HU" sz="1400" kern="0" dirty="0">
                <a:solidFill>
                  <a:srgbClr val="FF0000"/>
                </a:solidFill>
              </a:rPr>
              <a:t>::</a:t>
            </a:r>
            <a:r>
              <a:rPr lang="hu-HU" sz="1400" kern="0" dirty="0" err="1">
                <a:solidFill>
                  <a:srgbClr val="FF0000"/>
                </a:solidFill>
              </a:rPr>
              <a:t>swa_req</a:t>
            </a:r>
            <a:r>
              <a:rPr lang="hu-HU" sz="1400" kern="0" dirty="0"/>
              <a:t> has </a:t>
            </a:r>
            <a:r>
              <a:rPr lang="hu-HU" sz="1400" kern="0" dirty="0" err="1"/>
              <a:t>been</a:t>
            </a:r>
            <a:r>
              <a:rPr lang="hu-HU" sz="1400" kern="0" dirty="0"/>
              <a:t> </a:t>
            </a:r>
            <a:r>
              <a:rPr lang="hu-HU" sz="1400" kern="0" dirty="0" err="1"/>
              <a:t>changed</a:t>
            </a:r>
            <a:r>
              <a:rPr lang="hu-HU" sz="1400" kern="0" dirty="0"/>
              <a:t> </a:t>
            </a:r>
            <a:r>
              <a:rPr lang="hu-HU" sz="1400" kern="0" dirty="0" err="1"/>
              <a:t>by</a:t>
            </a:r>
            <a:r>
              <a:rPr lang="hu-HU" sz="1400" kern="0" dirty="0"/>
              <a:t> </a:t>
            </a:r>
            <a:r>
              <a:rPr lang="hu-HU" sz="1400" kern="0" dirty="0" err="1"/>
              <a:t>user</a:t>
            </a:r>
            <a:r>
              <a:rPr lang="hu-HU" sz="1400" kern="0" dirty="0"/>
              <a:t>)</a:t>
            </a:r>
          </a:p>
          <a:p>
            <a:pPr indent="-456938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Then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	Driver SWA </a:t>
            </a:r>
            <a:r>
              <a:rPr lang="hu-HU" sz="1400" i="1" kern="0" dirty="0" err="1"/>
              <a:t>request</a:t>
            </a:r>
            <a:r>
              <a:rPr lang="hu-HU" sz="1400" kern="0" dirty="0"/>
              <a:t> is </a:t>
            </a:r>
            <a:r>
              <a:rPr lang="hu-HU" sz="1400" b="1" kern="0" dirty="0" err="1"/>
              <a:t>active</a:t>
            </a:r>
            <a:endParaRPr lang="hu-HU" sz="1400" b="1" kern="0" dirty="0"/>
          </a:p>
          <a:p>
            <a:pPr indent="-456938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Else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if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b="1" kern="0" dirty="0"/>
              <a:t>	</a:t>
            </a:r>
            <a:r>
              <a:rPr lang="hu-HU" sz="1400" kern="0" dirty="0"/>
              <a:t>Driver/</a:t>
            </a:r>
            <a:r>
              <a:rPr lang="hu-HU" sz="1400" kern="0" dirty="0" err="1"/>
              <a:t>user</a:t>
            </a:r>
            <a:r>
              <a:rPr lang="hu-HU" sz="1400" kern="0" dirty="0"/>
              <a:t> is no more </a:t>
            </a:r>
            <a:r>
              <a:rPr lang="hu-HU" sz="1400" kern="0" dirty="0" err="1"/>
              <a:t>steering</a:t>
            </a:r>
            <a:r>
              <a:rPr lang="hu-HU" sz="1400" kern="0" dirty="0"/>
              <a:t> </a:t>
            </a:r>
            <a:r>
              <a:rPr lang="hu-HU" sz="1400" kern="0" dirty="0" err="1"/>
              <a:t>actively</a:t>
            </a:r>
            <a:r>
              <a:rPr lang="hu-HU" sz="1400" kern="0" dirty="0"/>
              <a:t>,</a:t>
            </a:r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/>
              <a:t>	and no </a:t>
            </a:r>
            <a:r>
              <a:rPr lang="hu-HU" sz="1400" kern="0" dirty="0" err="1"/>
              <a:t>other</a:t>
            </a:r>
            <a:r>
              <a:rPr lang="hu-HU" sz="1400" kern="0" dirty="0"/>
              <a:t> Driver/ADAS </a:t>
            </a:r>
            <a:r>
              <a:rPr lang="hu-HU" sz="1400" kern="0" dirty="0" err="1"/>
              <a:t>request</a:t>
            </a:r>
            <a:r>
              <a:rPr lang="hu-HU" sz="1400" kern="0" dirty="0"/>
              <a:t> has </a:t>
            </a:r>
            <a:r>
              <a:rPr lang="hu-HU" sz="1400" kern="0" dirty="0" err="1"/>
              <a:t>become</a:t>
            </a:r>
            <a:r>
              <a:rPr lang="hu-HU" sz="1400" kern="0" dirty="0"/>
              <a:t> </a:t>
            </a:r>
            <a:r>
              <a:rPr lang="hu-HU" sz="1400" kern="0" dirty="0" err="1"/>
              <a:t>active</a:t>
            </a:r>
            <a:endParaRPr lang="hu-HU" sz="1400" kern="0" dirty="0"/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Then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 </a:t>
            </a:r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/>
              <a:t>	</a:t>
            </a:r>
            <a:r>
              <a:rPr lang="hu-HU" sz="1400" i="1" kern="0" dirty="0"/>
              <a:t> Driver SWA </a:t>
            </a:r>
            <a:r>
              <a:rPr lang="hu-HU" sz="1400" i="1" kern="0" dirty="0" err="1"/>
              <a:t>request</a:t>
            </a:r>
            <a:r>
              <a:rPr lang="hu-HU" sz="1400" kern="0" dirty="0"/>
              <a:t> is </a:t>
            </a:r>
            <a:r>
              <a:rPr lang="hu-HU" sz="1400" b="1" kern="0" dirty="0" err="1"/>
              <a:t>passive</a:t>
            </a:r>
            <a:endParaRPr lang="hu-HU" sz="1400" kern="0" dirty="0"/>
          </a:p>
          <a:p>
            <a:pPr indent="-456938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Else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if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	</a:t>
            </a:r>
            <a:r>
              <a:rPr lang="hu-HU" sz="1400" kern="0" dirty="0" err="1"/>
              <a:t>other</a:t>
            </a:r>
            <a:r>
              <a:rPr lang="hu-HU" sz="1400" kern="0" dirty="0"/>
              <a:t> Driver/ADAS </a:t>
            </a:r>
            <a:r>
              <a:rPr lang="hu-HU" sz="1400" kern="0" dirty="0" err="1"/>
              <a:t>request</a:t>
            </a:r>
            <a:r>
              <a:rPr lang="hu-HU" sz="1400" kern="0" dirty="0"/>
              <a:t> has </a:t>
            </a:r>
            <a:r>
              <a:rPr lang="hu-HU" sz="1400" kern="0" dirty="0" err="1"/>
              <a:t>just</a:t>
            </a:r>
            <a:r>
              <a:rPr lang="hu-HU" sz="1400" kern="0" dirty="0"/>
              <a:t> </a:t>
            </a:r>
            <a:r>
              <a:rPr lang="hu-HU" sz="1400" kern="0" dirty="0" err="1"/>
              <a:t>become</a:t>
            </a:r>
            <a:r>
              <a:rPr lang="hu-HU" sz="1400" kern="0" dirty="0"/>
              <a:t> </a:t>
            </a:r>
            <a:r>
              <a:rPr lang="hu-HU" sz="1400" kern="0" dirty="0" err="1"/>
              <a:t>active</a:t>
            </a:r>
            <a:endParaRPr lang="hu-HU" sz="1400" kern="0" dirty="0"/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	</a:t>
            </a:r>
            <a:r>
              <a:rPr lang="hu-HU" sz="1400" kern="0" dirty="0" err="1"/>
              <a:t>or</a:t>
            </a:r>
            <a:r>
              <a:rPr lang="hu-HU" sz="1400" kern="0" dirty="0"/>
              <a:t> </a:t>
            </a:r>
            <a:r>
              <a:rPr lang="hu-HU" sz="1400" i="1" kern="0" dirty="0"/>
              <a:t>Wheel </a:t>
            </a:r>
            <a:r>
              <a:rPr lang="hu-HU" sz="1400" i="1" kern="0" dirty="0" err="1"/>
              <a:t>angle</a:t>
            </a:r>
            <a:r>
              <a:rPr lang="hu-HU" sz="1400" i="1" kern="0" dirty="0"/>
              <a:t> </a:t>
            </a:r>
            <a:r>
              <a:rPr lang="hu-HU" sz="1400" i="1" kern="0" dirty="0" err="1"/>
              <a:t>control</a:t>
            </a:r>
            <a:r>
              <a:rPr lang="hu-HU" sz="1400" i="1" kern="0" dirty="0"/>
              <a:t> </a:t>
            </a:r>
            <a:r>
              <a:rPr lang="hu-HU" sz="1400" kern="0" dirty="0"/>
              <a:t>has </a:t>
            </a:r>
            <a:r>
              <a:rPr lang="hu-HU" sz="1400" kern="0" dirty="0" err="1"/>
              <a:t>become</a:t>
            </a:r>
            <a:r>
              <a:rPr lang="hu-HU" sz="1400" kern="0" dirty="0"/>
              <a:t> </a:t>
            </a:r>
            <a:r>
              <a:rPr lang="hu-HU" sz="1400" kern="0" dirty="0" err="1"/>
              <a:t>inactive</a:t>
            </a:r>
            <a:endParaRPr lang="hu-HU" sz="1400" kern="0" dirty="0"/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Then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	Driver SWA </a:t>
            </a:r>
            <a:r>
              <a:rPr lang="hu-HU" sz="1400" i="1" kern="0" dirty="0" err="1"/>
              <a:t>request</a:t>
            </a:r>
            <a:r>
              <a:rPr lang="hu-HU" sz="1400" kern="0" dirty="0"/>
              <a:t> is </a:t>
            </a:r>
            <a:r>
              <a:rPr lang="hu-HU" sz="1400" b="1" kern="0" dirty="0" err="1"/>
              <a:t>inactive</a:t>
            </a:r>
            <a:endParaRPr lang="hu-HU" sz="1400" b="1" kern="0" dirty="0"/>
          </a:p>
          <a:p>
            <a:pPr indent="-275963"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b="1" kern="0" dirty="0"/>
              <a:t>	</a:t>
            </a:r>
            <a:r>
              <a:rPr lang="hu-HU" sz="1400" kern="0" dirty="0" err="1">
                <a:solidFill>
                  <a:srgbClr val="FF0000"/>
                </a:solidFill>
              </a:rPr>
              <a:t>hil_drv</a:t>
            </a:r>
            <a:r>
              <a:rPr lang="hu-HU" sz="1400" kern="0" dirty="0">
                <a:solidFill>
                  <a:srgbClr val="FF0000"/>
                </a:solidFill>
              </a:rPr>
              <a:t>::</a:t>
            </a:r>
            <a:r>
              <a:rPr lang="hu-HU" sz="1400" kern="0" dirty="0" err="1">
                <a:solidFill>
                  <a:srgbClr val="FF0000"/>
                </a:solidFill>
              </a:rPr>
              <a:t>swa_req</a:t>
            </a:r>
            <a:r>
              <a:rPr lang="hu-HU" sz="1400" kern="0" dirty="0"/>
              <a:t> </a:t>
            </a:r>
            <a:r>
              <a:rPr lang="hu-HU" sz="1400" kern="0" dirty="0" err="1"/>
              <a:t>follows</a:t>
            </a:r>
            <a:r>
              <a:rPr lang="hu-HU" sz="1400" kern="0" dirty="0"/>
              <a:t> </a:t>
            </a:r>
            <a:r>
              <a:rPr lang="hu-HU" sz="1400" kern="0" dirty="0" err="1">
                <a:solidFill>
                  <a:srgbClr val="0000FF"/>
                </a:solidFill>
              </a:rPr>
              <a:t>hil_hvm</a:t>
            </a:r>
            <a:r>
              <a:rPr lang="hu-HU" sz="1400" kern="0" dirty="0">
                <a:solidFill>
                  <a:srgbClr val="0000FF"/>
                </a:solidFill>
              </a:rPr>
              <a:t>::</a:t>
            </a:r>
            <a:r>
              <a:rPr lang="hu-HU" sz="1400" kern="0" dirty="0" err="1">
                <a:solidFill>
                  <a:srgbClr val="0000FF"/>
                </a:solidFill>
              </a:rPr>
              <a:t>swa</a:t>
            </a:r>
            <a:endParaRPr lang="hu-HU" sz="1400" b="1" kern="0" dirty="0">
              <a:solidFill>
                <a:srgbClr val="0000FF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17AD2D3-B657-FF61-279A-BB5F2E248929}"/>
              </a:ext>
            </a:extLst>
          </p:cNvPr>
          <p:cNvGrpSpPr/>
          <p:nvPr/>
        </p:nvGrpSpPr>
        <p:grpSpPr>
          <a:xfrm>
            <a:off x="8730881" y="1014341"/>
            <a:ext cx="2664845" cy="2473578"/>
            <a:chOff x="8730881" y="1014341"/>
            <a:chExt cx="2664845" cy="2473578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42A5560A-5266-17E8-17FA-9103B73B75EA}"/>
                </a:ext>
              </a:extLst>
            </p:cNvPr>
            <p:cNvSpPr/>
            <p:nvPr/>
          </p:nvSpPr>
          <p:spPr>
            <a:xfrm>
              <a:off x="9081932" y="2263622"/>
              <a:ext cx="746284" cy="338517"/>
            </a:xfrm>
            <a:prstGeom prst="diamond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D6BCFEA-94F4-20DE-7AB1-9AB7D003056A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8730881" y="2901979"/>
              <a:ext cx="351051" cy="1954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C221885-2DE3-BF04-C03F-7F67AB9FF87E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8730881" y="1906035"/>
              <a:ext cx="342896" cy="4402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A3C4347-8F87-CE34-A36A-01597AAB2919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8730881" y="2432880"/>
              <a:ext cx="351051" cy="1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mond 7">
              <a:extLst>
                <a:ext uri="{FF2B5EF4-FFF2-40B4-BE49-F238E27FC236}">
                  <a16:creationId xmlns:a16="http://schemas.microsoft.com/office/drawing/2014/main" id="{9AD21B16-5ED0-7ED9-0BDD-64091F5A1A37}"/>
                </a:ext>
              </a:extLst>
            </p:cNvPr>
            <p:cNvSpPr/>
            <p:nvPr/>
          </p:nvSpPr>
          <p:spPr>
            <a:xfrm>
              <a:off x="9073777" y="1741178"/>
              <a:ext cx="754439" cy="338517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F3980A8-992C-FE8E-182F-D7F7CED3F2DA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11082472" y="2568018"/>
              <a:ext cx="313254" cy="0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72108D-3DCC-5CA3-B2D1-7BC404FD6826}"/>
                </a:ext>
              </a:extLst>
            </p:cNvPr>
            <p:cNvSpPr txBox="1"/>
            <p:nvPr/>
          </p:nvSpPr>
          <p:spPr>
            <a:xfrm>
              <a:off x="8893803" y="2349051"/>
              <a:ext cx="1106231" cy="1797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[3]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1" name="Rounded Rectangle 41">
              <a:extLst>
                <a:ext uri="{FF2B5EF4-FFF2-40B4-BE49-F238E27FC236}">
                  <a16:creationId xmlns:a16="http://schemas.microsoft.com/office/drawing/2014/main" id="{3E5169F7-150F-889C-AEB1-E3BB43457EBE}"/>
                </a:ext>
              </a:extLst>
            </p:cNvPr>
            <p:cNvSpPr/>
            <p:nvPr/>
          </p:nvSpPr>
          <p:spPr>
            <a:xfrm>
              <a:off x="10292444" y="2065260"/>
              <a:ext cx="790028" cy="1005516"/>
            </a:xfrm>
            <a:prstGeom prst="roundRect">
              <a:avLst>
                <a:gd name="adj" fmla="val 0"/>
              </a:avLst>
            </a:prstGeom>
            <a:solidFill>
              <a:srgbClr val="C7E6A4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rtlCol="0" anchor="t"/>
            <a:lstStyle/>
            <a:p>
              <a:pPr marL="0" marR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0CC483-4843-6763-C7FD-EFA81DC1B96A}"/>
                </a:ext>
              </a:extLst>
            </p:cNvPr>
            <p:cNvSpPr txBox="1"/>
            <p:nvPr/>
          </p:nvSpPr>
          <p:spPr>
            <a:xfrm>
              <a:off x="8893803" y="2828637"/>
              <a:ext cx="1106231" cy="1803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[4]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64ACCF1A-C77A-0B93-E08C-4C75C989B284}"/>
                </a:ext>
              </a:extLst>
            </p:cNvPr>
            <p:cNvSpPr/>
            <p:nvPr/>
          </p:nvSpPr>
          <p:spPr>
            <a:xfrm>
              <a:off x="9081932" y="2741843"/>
              <a:ext cx="746285" cy="324179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58CC526-9E3B-8174-B398-823957C83B8D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9455074" y="2602139"/>
              <a:ext cx="1" cy="1397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F55B694-102B-48A3-9208-2C253CA2382F}"/>
                </a:ext>
              </a:extLst>
            </p:cNvPr>
            <p:cNvCxnSpPr>
              <a:cxnSpLocks/>
              <a:stCxn id="30" idx="2"/>
              <a:endCxn id="8" idx="0"/>
            </p:cNvCxnSpPr>
            <p:nvPr/>
          </p:nvCxnSpPr>
          <p:spPr>
            <a:xfrm>
              <a:off x="9446920" y="1567478"/>
              <a:ext cx="4077" cy="173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E2F6AA5-C7AB-AD69-6239-70F0C4CC2741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2" y="2090058"/>
              <a:ext cx="1" cy="1842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0522E3-DF0C-4A60-EC6A-41F75D91929C}"/>
                </a:ext>
              </a:extLst>
            </p:cNvPr>
            <p:cNvSpPr txBox="1"/>
            <p:nvPr/>
          </p:nvSpPr>
          <p:spPr>
            <a:xfrm>
              <a:off x="9283626" y="1833773"/>
              <a:ext cx="342897" cy="1515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[2]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FEDDE64-C4FF-A45E-9A05-654C92266840}"/>
                </a:ext>
              </a:extLst>
            </p:cNvPr>
            <p:cNvCxnSpPr>
              <a:cxnSpLocks/>
              <a:stCxn id="12" idx="3"/>
              <a:endCxn id="34" idx="1"/>
            </p:cNvCxnSpPr>
            <p:nvPr/>
          </p:nvCxnSpPr>
          <p:spPr>
            <a:xfrm>
              <a:off x="9828216" y="2432881"/>
              <a:ext cx="607211" cy="3936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A839B9E-3EE0-F28F-5327-D995FEF8C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62063" y="2021569"/>
              <a:ext cx="6361" cy="135018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  <a:effectLst>
              <a:glow rad="139700">
                <a:schemeClr val="bg1"/>
              </a:glow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1A0C8B6-4FA3-2031-D928-27E2A1F63938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9828217" y="2903933"/>
              <a:ext cx="2379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7A46196-C194-12D9-1DCB-BADBA310519D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9828216" y="1910437"/>
              <a:ext cx="237924" cy="1075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7F79966-603E-F31D-4E87-663F4AD81417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10068424" y="2009140"/>
              <a:ext cx="367003" cy="2828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Diamond 24">
              <a:extLst>
                <a:ext uri="{FF2B5EF4-FFF2-40B4-BE49-F238E27FC236}">
                  <a16:creationId xmlns:a16="http://schemas.microsoft.com/office/drawing/2014/main" id="{833B31E2-1A60-0402-FB3A-539237E88E6B}"/>
                </a:ext>
              </a:extLst>
            </p:cNvPr>
            <p:cNvSpPr/>
            <p:nvPr/>
          </p:nvSpPr>
          <p:spPr>
            <a:xfrm>
              <a:off x="8730881" y="3164203"/>
              <a:ext cx="612164" cy="289332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898477A-692D-C703-8238-0D80B3F49195}"/>
                </a:ext>
              </a:extLst>
            </p:cNvPr>
            <p:cNvCxnSpPr>
              <a:cxnSpLocks/>
              <a:stCxn id="14" idx="2"/>
              <a:endCxn id="25" idx="0"/>
            </p:cNvCxnSpPr>
            <p:nvPr/>
          </p:nvCxnSpPr>
          <p:spPr>
            <a:xfrm flipH="1">
              <a:off x="9036963" y="3066022"/>
              <a:ext cx="418112" cy="981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DF3E279-75EE-05AB-ACC5-1C9B19B270BB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 flipV="1">
              <a:off x="9880095" y="3361727"/>
              <a:ext cx="186045" cy="100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41">
              <a:extLst>
                <a:ext uri="{FF2B5EF4-FFF2-40B4-BE49-F238E27FC236}">
                  <a16:creationId xmlns:a16="http://schemas.microsoft.com/office/drawing/2014/main" id="{09B5FDB8-4109-8EC2-8667-948CA6E7551B}"/>
                </a:ext>
              </a:extLst>
            </p:cNvPr>
            <p:cNvSpPr/>
            <p:nvPr/>
          </p:nvSpPr>
          <p:spPr>
            <a:xfrm>
              <a:off x="9504790" y="3255588"/>
              <a:ext cx="375305" cy="232331"/>
            </a:xfrm>
            <a:prstGeom prst="roundRect">
              <a:avLst>
                <a:gd name="adj" fmla="val 0"/>
              </a:avLst>
            </a:prstGeom>
            <a:solidFill>
              <a:srgbClr val="C7E6A4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67CB192-B967-4BFB-2AF6-3FBFF8A1767F}"/>
                </a:ext>
              </a:extLst>
            </p:cNvPr>
            <p:cNvCxnSpPr>
              <a:cxnSpLocks/>
              <a:stCxn id="25" idx="3"/>
              <a:endCxn id="28" idx="1"/>
            </p:cNvCxnSpPr>
            <p:nvPr/>
          </p:nvCxnSpPr>
          <p:spPr>
            <a:xfrm>
              <a:off x="9343045" y="3308869"/>
              <a:ext cx="161745" cy="628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Diamond 29">
              <a:extLst>
                <a:ext uri="{FF2B5EF4-FFF2-40B4-BE49-F238E27FC236}">
                  <a16:creationId xmlns:a16="http://schemas.microsoft.com/office/drawing/2014/main" id="{8FBB338B-935C-0CBC-0A6F-E6268B67FD1E}"/>
                </a:ext>
              </a:extLst>
            </p:cNvPr>
            <p:cNvSpPr/>
            <p:nvPr/>
          </p:nvSpPr>
          <p:spPr>
            <a:xfrm>
              <a:off x="9065623" y="1279719"/>
              <a:ext cx="762594" cy="287759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E2DFD6E-B016-4D29-7CEC-E4C5CB6850F4}"/>
                </a:ext>
              </a:extLst>
            </p:cNvPr>
            <p:cNvSpPr txBox="1"/>
            <p:nvPr/>
          </p:nvSpPr>
          <p:spPr>
            <a:xfrm>
              <a:off x="9283626" y="1344502"/>
              <a:ext cx="342896" cy="1949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[1]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EB3D403-656B-945E-0196-C17621C116F5}"/>
                </a:ext>
              </a:extLst>
            </p:cNvPr>
            <p:cNvCxnSpPr>
              <a:cxnSpLocks/>
            </p:cNvCxnSpPr>
            <p:nvPr/>
          </p:nvCxnSpPr>
          <p:spPr>
            <a:xfrm>
              <a:off x="9446919" y="1014341"/>
              <a:ext cx="0" cy="2653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76C2440-963B-95E8-DC93-6B2416EE7E5A}"/>
                </a:ext>
              </a:extLst>
            </p:cNvPr>
            <p:cNvSpPr txBox="1"/>
            <p:nvPr/>
          </p:nvSpPr>
          <p:spPr>
            <a:xfrm>
              <a:off x="10435427" y="2157808"/>
              <a:ext cx="447801" cy="268393"/>
            </a:xfrm>
            <a:prstGeom prst="rect">
              <a:avLst/>
            </a:prstGeom>
            <a:solidFill>
              <a:srgbClr val="0066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RWA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471A864-C544-722E-D9B5-705464C1A888}"/>
                </a:ext>
              </a:extLst>
            </p:cNvPr>
            <p:cNvSpPr txBox="1"/>
            <p:nvPr/>
          </p:nvSpPr>
          <p:spPr>
            <a:xfrm>
              <a:off x="10435427" y="2692354"/>
              <a:ext cx="447801" cy="268393"/>
            </a:xfrm>
            <a:prstGeom prst="rect">
              <a:avLst/>
            </a:prstGeom>
            <a:solidFill>
              <a:srgbClr val="0066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hu-HU" sz="1200" kern="0" dirty="0">
                  <a:solidFill>
                    <a:schemeClr val="bg1"/>
                  </a:solidFill>
                </a:rPr>
                <a:t>S</a:t>
              </a: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WA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50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Lateral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Active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steering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CLASSE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logic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21</a:t>
            </a:fld>
            <a:endParaRPr lang="en-US" noProof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D088D-45B4-052E-9F6B-9B98C2C5D0D0}"/>
              </a:ext>
            </a:extLst>
          </p:cNvPr>
          <p:cNvSpPr txBox="1"/>
          <p:nvPr/>
        </p:nvSpPr>
        <p:spPr>
          <a:xfrm>
            <a:off x="296419" y="809805"/>
            <a:ext cx="7915275" cy="50480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  <a:tab pos="361950" algn="l"/>
              </a:tabLst>
            </a:pPr>
            <a:r>
              <a:rPr lang="hu-HU" sz="1600" b="1" kern="0" dirty="0"/>
              <a:t>[4] </a:t>
            </a:r>
            <a:r>
              <a:rPr lang="hu-HU" sz="1600" b="1" i="1" kern="0" dirty="0"/>
              <a:t>Driver RWA </a:t>
            </a:r>
            <a:r>
              <a:rPr lang="hu-HU" sz="1600" b="1" i="1" kern="0" dirty="0" err="1"/>
              <a:t>request</a:t>
            </a:r>
            <a:r>
              <a:rPr lang="hu-HU" sz="1600" b="1" i="1" kern="0" dirty="0"/>
              <a:t> </a:t>
            </a:r>
            <a:endParaRPr lang="hu-HU" sz="1600" b="1" kern="0" dirty="0"/>
          </a:p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If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/>
              <a:t>	Driver has </a:t>
            </a:r>
            <a:r>
              <a:rPr lang="hu-HU" sz="1400" kern="0" dirty="0" err="1"/>
              <a:t>requested</a:t>
            </a:r>
            <a:r>
              <a:rPr lang="hu-HU" sz="1400" kern="0" dirty="0"/>
              <a:t> RWA </a:t>
            </a:r>
            <a:r>
              <a:rPr lang="hu-HU" sz="1400" kern="0" dirty="0" err="1"/>
              <a:t>change</a:t>
            </a:r>
            <a:r>
              <a:rPr lang="hu-HU" sz="1400" kern="0" dirty="0"/>
              <a:t> (</a:t>
            </a:r>
            <a:r>
              <a:rPr lang="hu-HU" sz="1400" kern="0" dirty="0" err="1">
                <a:solidFill>
                  <a:srgbClr val="FF0000"/>
                </a:solidFill>
              </a:rPr>
              <a:t>hil_drv</a:t>
            </a:r>
            <a:r>
              <a:rPr lang="hu-HU" sz="1400" kern="0" dirty="0">
                <a:solidFill>
                  <a:srgbClr val="FF0000"/>
                </a:solidFill>
              </a:rPr>
              <a:t>::</a:t>
            </a:r>
            <a:r>
              <a:rPr lang="hu-HU" sz="1400" kern="0" dirty="0" err="1">
                <a:solidFill>
                  <a:srgbClr val="FF0000"/>
                </a:solidFill>
              </a:rPr>
              <a:t>rwa_req</a:t>
            </a:r>
            <a:r>
              <a:rPr lang="hu-HU" sz="1400" kern="0" dirty="0"/>
              <a:t> != 0) 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Then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	Driver RWA </a:t>
            </a:r>
            <a:r>
              <a:rPr lang="hu-HU" sz="1400" i="1" kern="0" dirty="0" err="1"/>
              <a:t>request</a:t>
            </a:r>
            <a:r>
              <a:rPr lang="hu-HU" sz="1400" i="1" kern="0" dirty="0"/>
              <a:t> </a:t>
            </a:r>
            <a:r>
              <a:rPr lang="hu-HU" sz="1400" kern="0" dirty="0"/>
              <a:t>is </a:t>
            </a:r>
            <a:r>
              <a:rPr lang="hu-HU" sz="1400" b="1" kern="0" dirty="0" err="1"/>
              <a:t>active</a:t>
            </a:r>
            <a:endParaRPr lang="hu-HU" sz="1400" kern="0" dirty="0"/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Else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if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/>
              <a:t>	</a:t>
            </a:r>
            <a:r>
              <a:rPr lang="hu-HU" sz="1400" kern="0" dirty="0" err="1"/>
              <a:t>other</a:t>
            </a:r>
            <a:r>
              <a:rPr lang="hu-HU" sz="1400" kern="0" dirty="0"/>
              <a:t> Driver/ADAS </a:t>
            </a:r>
            <a:r>
              <a:rPr lang="hu-HU" sz="1400" kern="0" dirty="0" err="1"/>
              <a:t>request</a:t>
            </a:r>
            <a:r>
              <a:rPr lang="hu-HU" sz="1400" kern="0" dirty="0"/>
              <a:t> has </a:t>
            </a:r>
            <a:r>
              <a:rPr lang="hu-HU" sz="1400" kern="0" dirty="0" err="1"/>
              <a:t>just</a:t>
            </a:r>
            <a:r>
              <a:rPr lang="hu-HU" sz="1400" kern="0" dirty="0"/>
              <a:t> </a:t>
            </a:r>
            <a:r>
              <a:rPr lang="hu-HU" sz="1400" kern="0" dirty="0" err="1"/>
              <a:t>become</a:t>
            </a:r>
            <a:r>
              <a:rPr lang="hu-HU" sz="1400" kern="0" dirty="0"/>
              <a:t> </a:t>
            </a:r>
            <a:r>
              <a:rPr lang="hu-HU" sz="1400" kern="0" dirty="0" err="1"/>
              <a:t>active</a:t>
            </a:r>
            <a:endParaRPr lang="hu-HU" sz="1400" kern="0" dirty="0"/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	</a:t>
            </a:r>
            <a:r>
              <a:rPr lang="hu-HU" sz="1400" kern="0" dirty="0" err="1"/>
              <a:t>or</a:t>
            </a:r>
            <a:r>
              <a:rPr lang="hu-HU" sz="1400" kern="0" dirty="0"/>
              <a:t> </a:t>
            </a:r>
            <a:r>
              <a:rPr lang="hu-HU" sz="1400" i="1" kern="0" dirty="0"/>
              <a:t>Wheel </a:t>
            </a:r>
            <a:r>
              <a:rPr lang="hu-HU" sz="1400" i="1" kern="0" dirty="0" err="1"/>
              <a:t>angle</a:t>
            </a:r>
            <a:r>
              <a:rPr lang="hu-HU" sz="1400" i="1" kern="0" dirty="0"/>
              <a:t> </a:t>
            </a:r>
            <a:r>
              <a:rPr lang="hu-HU" sz="1400" i="1" kern="0" dirty="0" err="1"/>
              <a:t>control</a:t>
            </a:r>
            <a:r>
              <a:rPr lang="hu-HU" sz="1400" i="1" kern="0" dirty="0"/>
              <a:t> </a:t>
            </a:r>
            <a:r>
              <a:rPr lang="hu-HU" sz="1400" kern="0" dirty="0"/>
              <a:t>has </a:t>
            </a:r>
            <a:r>
              <a:rPr lang="hu-HU" sz="1400" kern="0" dirty="0" err="1"/>
              <a:t>become</a:t>
            </a:r>
            <a:r>
              <a:rPr lang="hu-HU" sz="1400" kern="0" dirty="0"/>
              <a:t> </a:t>
            </a:r>
            <a:r>
              <a:rPr lang="hu-HU" sz="1400" kern="0" dirty="0" err="1"/>
              <a:t>inactive</a:t>
            </a:r>
            <a:endParaRPr lang="hu-HU" sz="1400" kern="0" dirty="0"/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kern="0" dirty="0" err="1">
                <a:solidFill>
                  <a:schemeClr val="bg1">
                    <a:lumMod val="65000"/>
                  </a:schemeClr>
                </a:solidFill>
              </a:rPr>
              <a:t>Then</a:t>
            </a:r>
            <a:r>
              <a:rPr lang="hu-HU" sz="1400" kern="0" dirty="0">
                <a:solidFill>
                  <a:schemeClr val="bg1">
                    <a:lumMod val="65000"/>
                  </a:schemeClr>
                </a:solidFill>
              </a:rPr>
              <a:t> :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  <a:tabLst>
                <a:tab pos="180975" algn="l"/>
                <a:tab pos="361950" algn="l"/>
              </a:tabLst>
            </a:pPr>
            <a:r>
              <a:rPr lang="hu-HU" sz="1400" i="1" kern="0" dirty="0"/>
              <a:t>	Driver RWA </a:t>
            </a:r>
            <a:r>
              <a:rPr lang="hu-HU" sz="1400" i="1" kern="0" dirty="0" err="1"/>
              <a:t>request</a:t>
            </a:r>
            <a:r>
              <a:rPr lang="hu-HU" sz="1400" i="1" kern="0" dirty="0"/>
              <a:t> </a:t>
            </a:r>
            <a:r>
              <a:rPr lang="hu-HU" sz="1400" kern="0" dirty="0"/>
              <a:t>is </a:t>
            </a:r>
            <a:r>
              <a:rPr lang="hu-HU" sz="1400" b="1" kern="0" dirty="0" err="1"/>
              <a:t>inactive</a:t>
            </a:r>
            <a:endParaRPr lang="hu-HU" sz="1400" b="1" kern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DFBB8FD-C955-0A8D-63B3-337A0592853B}"/>
              </a:ext>
            </a:extLst>
          </p:cNvPr>
          <p:cNvGrpSpPr/>
          <p:nvPr/>
        </p:nvGrpSpPr>
        <p:grpSpPr>
          <a:xfrm>
            <a:off x="8730881" y="1014341"/>
            <a:ext cx="2664845" cy="2473578"/>
            <a:chOff x="4124047" y="1622233"/>
            <a:chExt cx="2664845" cy="2473578"/>
          </a:xfrm>
        </p:grpSpPr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6204AC10-5229-D15B-1E3F-147508230653}"/>
                </a:ext>
              </a:extLst>
            </p:cNvPr>
            <p:cNvSpPr/>
            <p:nvPr/>
          </p:nvSpPr>
          <p:spPr>
            <a:xfrm>
              <a:off x="4475098" y="3349735"/>
              <a:ext cx="746285" cy="324179"/>
            </a:xfrm>
            <a:prstGeom prst="diamond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B1A853C-CD8F-A75D-2B20-19BBEE09F7DF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4124047" y="3509871"/>
              <a:ext cx="351051" cy="1954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7C684AE-A643-35AD-8075-FC18CE96CDF0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4124047" y="2513927"/>
              <a:ext cx="342896" cy="4402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725ECA7-ECA0-280C-7682-1DFDE4124558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4124047" y="3040772"/>
              <a:ext cx="351051" cy="1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mond 7">
              <a:extLst>
                <a:ext uri="{FF2B5EF4-FFF2-40B4-BE49-F238E27FC236}">
                  <a16:creationId xmlns:a16="http://schemas.microsoft.com/office/drawing/2014/main" id="{37ECAB03-1B77-2F0B-9735-1CAAEAC9087D}"/>
                </a:ext>
              </a:extLst>
            </p:cNvPr>
            <p:cNvSpPr/>
            <p:nvPr/>
          </p:nvSpPr>
          <p:spPr>
            <a:xfrm>
              <a:off x="4466943" y="2349070"/>
              <a:ext cx="754439" cy="338517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A7F1513-D02D-B03C-E807-B5D1D1C869E3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6475638" y="3175910"/>
              <a:ext cx="313254" cy="0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397FFB-E9D0-7CEB-1717-C641F56652C9}"/>
                </a:ext>
              </a:extLst>
            </p:cNvPr>
            <p:cNvSpPr txBox="1"/>
            <p:nvPr/>
          </p:nvSpPr>
          <p:spPr>
            <a:xfrm>
              <a:off x="4286969" y="2956943"/>
              <a:ext cx="1106231" cy="17974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[3]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1" name="Rounded Rectangle 41">
              <a:extLst>
                <a:ext uri="{FF2B5EF4-FFF2-40B4-BE49-F238E27FC236}">
                  <a16:creationId xmlns:a16="http://schemas.microsoft.com/office/drawing/2014/main" id="{E9B266F5-9218-06C5-EB50-C0FB51F913D7}"/>
                </a:ext>
              </a:extLst>
            </p:cNvPr>
            <p:cNvSpPr/>
            <p:nvPr/>
          </p:nvSpPr>
          <p:spPr>
            <a:xfrm>
              <a:off x="5685610" y="2673152"/>
              <a:ext cx="790028" cy="1005516"/>
            </a:xfrm>
            <a:prstGeom prst="roundRect">
              <a:avLst>
                <a:gd name="adj" fmla="val 0"/>
              </a:avLst>
            </a:prstGeom>
            <a:solidFill>
              <a:srgbClr val="C7E6A4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rtlCol="0" anchor="t"/>
            <a:lstStyle/>
            <a:p>
              <a:pPr marL="0" marR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52CB3B2A-2C44-A63F-65D3-530B10D7F8B7}"/>
                </a:ext>
              </a:extLst>
            </p:cNvPr>
            <p:cNvSpPr/>
            <p:nvPr/>
          </p:nvSpPr>
          <p:spPr>
            <a:xfrm>
              <a:off x="4475098" y="2871514"/>
              <a:ext cx="746284" cy="338517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E3E033-F135-A02D-3B91-2B153C85E671}"/>
                </a:ext>
              </a:extLst>
            </p:cNvPr>
            <p:cNvSpPr txBox="1"/>
            <p:nvPr/>
          </p:nvSpPr>
          <p:spPr>
            <a:xfrm>
              <a:off x="4286969" y="3436529"/>
              <a:ext cx="1106231" cy="1803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[4]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CC64B81-CB1C-D878-97FC-F0967C9087C9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>
              <a:off x="4848240" y="3210031"/>
              <a:ext cx="1" cy="1397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4FE06D9-E04C-1640-7AF5-F1905E771ECB}"/>
                </a:ext>
              </a:extLst>
            </p:cNvPr>
            <p:cNvCxnSpPr>
              <a:cxnSpLocks/>
              <a:stCxn id="30" idx="2"/>
              <a:endCxn id="8" idx="0"/>
            </p:cNvCxnSpPr>
            <p:nvPr/>
          </p:nvCxnSpPr>
          <p:spPr>
            <a:xfrm>
              <a:off x="4840086" y="2175370"/>
              <a:ext cx="4077" cy="1737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E5BEDEA-6AE5-4FD4-8FFE-4857F47ED514}"/>
                </a:ext>
              </a:extLst>
            </p:cNvPr>
            <p:cNvCxnSpPr>
              <a:cxnSpLocks/>
            </p:cNvCxnSpPr>
            <p:nvPr/>
          </p:nvCxnSpPr>
          <p:spPr>
            <a:xfrm>
              <a:off x="4843908" y="2697950"/>
              <a:ext cx="1" cy="1842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1D7550B-05D5-9B73-89A6-585E044A6185}"/>
                </a:ext>
              </a:extLst>
            </p:cNvPr>
            <p:cNvSpPr txBox="1"/>
            <p:nvPr/>
          </p:nvSpPr>
          <p:spPr>
            <a:xfrm>
              <a:off x="4676792" y="2441665"/>
              <a:ext cx="342897" cy="1515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[2]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A9D6C99-6A2E-3671-3CF5-5A9DA9B43B22}"/>
                </a:ext>
              </a:extLst>
            </p:cNvPr>
            <p:cNvCxnSpPr>
              <a:cxnSpLocks/>
              <a:stCxn id="12" idx="3"/>
              <a:endCxn id="34" idx="1"/>
            </p:cNvCxnSpPr>
            <p:nvPr/>
          </p:nvCxnSpPr>
          <p:spPr>
            <a:xfrm>
              <a:off x="5221382" y="3040773"/>
              <a:ext cx="607211" cy="3936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E0B257B-E38C-8B8A-E67E-CD6D25DEA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5229" y="2629461"/>
              <a:ext cx="6361" cy="135018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  <a:effectLst>
              <a:glow rad="139700">
                <a:schemeClr val="bg1"/>
              </a:glow>
              <a:softEdge rad="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DF3D9D1-24EE-6794-65FF-D4C0095BCDBB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5221383" y="3511825"/>
              <a:ext cx="23792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6F41031-B1C0-83D0-DC07-02675577EA4C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5221382" y="2518329"/>
              <a:ext cx="237924" cy="1075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3F55231-A139-D012-8714-71DEE8E1BB2B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>
              <a:off x="5461590" y="2617032"/>
              <a:ext cx="367003" cy="2828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Diamond 24">
              <a:extLst>
                <a:ext uri="{FF2B5EF4-FFF2-40B4-BE49-F238E27FC236}">
                  <a16:creationId xmlns:a16="http://schemas.microsoft.com/office/drawing/2014/main" id="{90ECD259-D44C-A356-6AB2-7C3C1A54502F}"/>
                </a:ext>
              </a:extLst>
            </p:cNvPr>
            <p:cNvSpPr/>
            <p:nvPr/>
          </p:nvSpPr>
          <p:spPr>
            <a:xfrm>
              <a:off x="4124047" y="3772095"/>
              <a:ext cx="612164" cy="289332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BF4EBE7-0C7E-23B2-1D6D-7389AF19C3D1}"/>
                </a:ext>
              </a:extLst>
            </p:cNvPr>
            <p:cNvCxnSpPr>
              <a:cxnSpLocks/>
              <a:stCxn id="14" idx="2"/>
              <a:endCxn id="25" idx="0"/>
            </p:cNvCxnSpPr>
            <p:nvPr/>
          </p:nvCxnSpPr>
          <p:spPr>
            <a:xfrm flipH="1">
              <a:off x="4430129" y="3673914"/>
              <a:ext cx="418112" cy="981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1CD34DC-BB6C-1951-4AE4-2422D5AB94BC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 flipV="1">
              <a:off x="5273261" y="3969619"/>
              <a:ext cx="186045" cy="100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41">
              <a:extLst>
                <a:ext uri="{FF2B5EF4-FFF2-40B4-BE49-F238E27FC236}">
                  <a16:creationId xmlns:a16="http://schemas.microsoft.com/office/drawing/2014/main" id="{6F8473CB-7436-768A-07D6-EE90F9E13418}"/>
                </a:ext>
              </a:extLst>
            </p:cNvPr>
            <p:cNvSpPr/>
            <p:nvPr/>
          </p:nvSpPr>
          <p:spPr>
            <a:xfrm>
              <a:off x="4897956" y="3863480"/>
              <a:ext cx="375305" cy="232331"/>
            </a:xfrm>
            <a:prstGeom prst="roundRect">
              <a:avLst>
                <a:gd name="adj" fmla="val 0"/>
              </a:avLst>
            </a:prstGeom>
            <a:solidFill>
              <a:srgbClr val="C7E6A4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4B39C3B-71D2-C19D-9A80-3DDB19C28A74}"/>
                </a:ext>
              </a:extLst>
            </p:cNvPr>
            <p:cNvCxnSpPr>
              <a:cxnSpLocks/>
              <a:stCxn id="25" idx="3"/>
              <a:endCxn id="28" idx="1"/>
            </p:cNvCxnSpPr>
            <p:nvPr/>
          </p:nvCxnSpPr>
          <p:spPr>
            <a:xfrm>
              <a:off x="4736211" y="3916761"/>
              <a:ext cx="161745" cy="628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Diamond 29">
              <a:extLst>
                <a:ext uri="{FF2B5EF4-FFF2-40B4-BE49-F238E27FC236}">
                  <a16:creationId xmlns:a16="http://schemas.microsoft.com/office/drawing/2014/main" id="{8DE5CE86-6519-44A0-662C-90711C33B5F2}"/>
                </a:ext>
              </a:extLst>
            </p:cNvPr>
            <p:cNvSpPr/>
            <p:nvPr/>
          </p:nvSpPr>
          <p:spPr>
            <a:xfrm>
              <a:off x="4458789" y="1887611"/>
              <a:ext cx="762594" cy="287759"/>
            </a:xfrm>
            <a:prstGeom prst="diamond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AB5A558-141D-483A-3383-B6BF5A8A0497}"/>
                </a:ext>
              </a:extLst>
            </p:cNvPr>
            <p:cNvSpPr txBox="1"/>
            <p:nvPr/>
          </p:nvSpPr>
          <p:spPr>
            <a:xfrm>
              <a:off x="4676792" y="1952394"/>
              <a:ext cx="342896" cy="1949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900" b="1" kern="0" dirty="0"/>
                <a:t>[1]</a:t>
              </a:r>
              <a:endPara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F10BE2E-07A1-4560-7328-7AC43C3AF209}"/>
                </a:ext>
              </a:extLst>
            </p:cNvPr>
            <p:cNvCxnSpPr>
              <a:cxnSpLocks/>
            </p:cNvCxnSpPr>
            <p:nvPr/>
          </p:nvCxnSpPr>
          <p:spPr>
            <a:xfrm>
              <a:off x="4840085" y="1622233"/>
              <a:ext cx="0" cy="2653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2793233-9EA7-38B9-A12F-E725E9E6E6AA}"/>
                </a:ext>
              </a:extLst>
            </p:cNvPr>
            <p:cNvSpPr txBox="1"/>
            <p:nvPr/>
          </p:nvSpPr>
          <p:spPr>
            <a:xfrm>
              <a:off x="5828593" y="2765700"/>
              <a:ext cx="447801" cy="268393"/>
            </a:xfrm>
            <a:prstGeom prst="rect">
              <a:avLst/>
            </a:prstGeom>
            <a:solidFill>
              <a:srgbClr val="0066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RWA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9A9CD56-BF26-EEFF-B028-6D6718877EE9}"/>
                </a:ext>
              </a:extLst>
            </p:cNvPr>
            <p:cNvSpPr txBox="1"/>
            <p:nvPr/>
          </p:nvSpPr>
          <p:spPr>
            <a:xfrm>
              <a:off x="5828593" y="3300246"/>
              <a:ext cx="447801" cy="268393"/>
            </a:xfrm>
            <a:prstGeom prst="rect">
              <a:avLst/>
            </a:prstGeom>
            <a:solidFill>
              <a:srgbClr val="006600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hu-HU" sz="1200" kern="0" dirty="0">
                  <a:solidFill>
                    <a:schemeClr val="bg1"/>
                  </a:solidFill>
                </a:rPr>
                <a:t>S</a:t>
              </a: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</a:rPr>
                <a:t>WA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365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Lateral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Active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steering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– CLASSE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logic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22</a:t>
            </a:fld>
            <a:endParaRPr lang="en-US" noProof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7D088D-45B4-052E-9F6B-9B98C2C5D0D0}"/>
              </a:ext>
            </a:extLst>
          </p:cNvPr>
          <p:cNvSpPr txBox="1"/>
          <p:nvPr/>
        </p:nvSpPr>
        <p:spPr>
          <a:xfrm>
            <a:off x="296420" y="809805"/>
            <a:ext cx="2808730" cy="2874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0975" algn="l"/>
                <a:tab pos="361950" algn="l"/>
              </a:tabLst>
            </a:pPr>
            <a:r>
              <a:rPr lang="hu-HU" sz="1600" b="1" kern="0" dirty="0"/>
              <a:t>Driver </a:t>
            </a:r>
            <a:r>
              <a:rPr lang="hu-HU" sz="1600" b="1" kern="0" dirty="0" err="1"/>
              <a:t>torque</a:t>
            </a:r>
            <a:r>
              <a:rPr lang="hu-HU" sz="1600" b="1" kern="0" dirty="0"/>
              <a:t> </a:t>
            </a:r>
            <a:r>
              <a:rPr lang="hu-HU" sz="1600" b="1" kern="0" dirty="0" err="1"/>
              <a:t>calculation</a:t>
            </a:r>
            <a:endParaRPr lang="hu-HU" sz="1600" b="1" kern="0" dirty="0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78C82C0-EF65-F74C-917E-2DBB15DBA310}"/>
              </a:ext>
            </a:extLst>
          </p:cNvPr>
          <p:cNvGrpSpPr/>
          <p:nvPr/>
        </p:nvGrpSpPr>
        <p:grpSpPr>
          <a:xfrm>
            <a:off x="219059" y="1504950"/>
            <a:ext cx="11753408" cy="3971925"/>
            <a:chOff x="219059" y="1504950"/>
            <a:chExt cx="11753408" cy="397192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A7F1513-D02D-B03C-E807-B5D1D1C869E3}"/>
                </a:ext>
              </a:extLst>
            </p:cNvPr>
            <p:cNvCxnSpPr>
              <a:cxnSpLocks/>
            </p:cNvCxnSpPr>
            <p:nvPr/>
          </p:nvCxnSpPr>
          <p:spPr>
            <a:xfrm>
              <a:off x="10788169" y="2796126"/>
              <a:ext cx="1121144" cy="0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ounded Rectangle 41">
              <a:extLst>
                <a:ext uri="{FF2B5EF4-FFF2-40B4-BE49-F238E27FC236}">
                  <a16:creationId xmlns:a16="http://schemas.microsoft.com/office/drawing/2014/main" id="{E9B266F5-9218-06C5-EB50-C0FB51F913D7}"/>
                </a:ext>
              </a:extLst>
            </p:cNvPr>
            <p:cNvSpPr/>
            <p:nvPr/>
          </p:nvSpPr>
          <p:spPr>
            <a:xfrm>
              <a:off x="1686622" y="1504950"/>
              <a:ext cx="9092022" cy="3971925"/>
            </a:xfrm>
            <a:prstGeom prst="roundRect">
              <a:avLst>
                <a:gd name="adj" fmla="val 0"/>
              </a:avLst>
            </a:prstGeom>
            <a:solidFill>
              <a:srgbClr val="C7E6A4"/>
            </a:solidFill>
            <a:ln w="9525" cap="flat" cmpd="sng" algn="ctr">
              <a:solidFill>
                <a:schemeClr val="tx1"/>
              </a:solidFill>
              <a:prstDash val="solid"/>
              <a:round/>
            </a:ln>
            <a:effectLst/>
          </p:spPr>
          <p:txBody>
            <a:bodyPr rtlCol="0" anchor="t"/>
            <a:lstStyle/>
            <a:p>
              <a:pPr marL="0" marR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A9D6C99-6A2E-3671-3CF5-5A9DA9B43B22}"/>
                </a:ext>
              </a:extLst>
            </p:cNvPr>
            <p:cNvCxnSpPr>
              <a:cxnSpLocks/>
            </p:cNvCxnSpPr>
            <p:nvPr/>
          </p:nvCxnSpPr>
          <p:spPr>
            <a:xfrm>
              <a:off x="219059" y="2709748"/>
              <a:ext cx="1467563" cy="0"/>
            </a:xfrm>
            <a:prstGeom prst="straightConnector1">
              <a:avLst/>
            </a:prstGeom>
            <a:ln>
              <a:solidFill>
                <a:srgbClr val="ED000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80410B8-CCC7-E11E-0A55-E640B729D122}"/>
                </a:ext>
              </a:extLst>
            </p:cNvPr>
            <p:cNvSpPr txBox="1"/>
            <p:nvPr/>
          </p:nvSpPr>
          <p:spPr>
            <a:xfrm>
              <a:off x="10779788" y="2869203"/>
              <a:ext cx="1192679" cy="5182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kumimoji="0" lang="hu-HU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hil_drv</a:t>
              </a: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::</a:t>
              </a:r>
              <a:b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</a:br>
              <a:r>
                <a:rPr kumimoji="0" lang="hu-HU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</a:rPr>
                <a:t>steering_torque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endParaRPr>
            </a:p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endParaRPr>
            </a:p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82189A6-2949-80A8-2AEE-C00F8A39BF2E}"/>
                </a:ext>
              </a:extLst>
            </p:cNvPr>
            <p:cNvSpPr txBox="1"/>
            <p:nvPr/>
          </p:nvSpPr>
          <p:spPr>
            <a:xfrm>
              <a:off x="224294" y="2796126"/>
              <a:ext cx="1351286" cy="13116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hu-HU" sz="1200" kern="0" dirty="0">
                  <a:solidFill>
                    <a:srgbClr val="FF0000"/>
                  </a:solidFill>
                </a:rPr>
                <a:t>h</a:t>
              </a:r>
              <a:r>
                <a:rPr kumimoji="0" lang="hu-HU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il_adas</a:t>
              </a:r>
              <a:r>
                <a:rPr lang="hu-HU" sz="1200" kern="0" dirty="0">
                  <a:solidFill>
                    <a:srgbClr val="FF0000"/>
                  </a:solidFill>
                </a:rPr>
                <a:t>::</a:t>
              </a:r>
              <a:r>
                <a:rPr lang="hu-HU" sz="1200" kern="0" dirty="0" err="1">
                  <a:solidFill>
                    <a:srgbClr val="FF0000"/>
                  </a:solidFill>
                </a:rPr>
                <a:t>swa_req</a:t>
              </a:r>
              <a:endParaRPr lang="hu-HU" sz="1200" kern="0" dirty="0">
                <a:solidFill>
                  <a:srgbClr val="FF0000"/>
                </a:solidFill>
              </a:endParaRPr>
            </a:p>
            <a:p>
              <a:pPr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1200" kern="0" dirty="0">
                  <a:solidFill>
                    <a:srgbClr val="FF0000"/>
                  </a:solidFill>
                </a:rPr>
                <a:t>h</a:t>
              </a:r>
              <a:r>
                <a:rPr kumimoji="0" lang="hu-HU" sz="1200" b="0" i="0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il_hvm</a:t>
              </a:r>
              <a:r>
                <a:rPr kumimoji="0" lang="hu-HU" sz="1200" b="0" i="0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::</a:t>
              </a:r>
              <a:r>
                <a:rPr lang="hu-HU" sz="1200" kern="0" dirty="0" err="1">
                  <a:solidFill>
                    <a:srgbClr val="FF0000"/>
                  </a:solidFill>
                </a:rPr>
                <a:t>swa</a:t>
              </a:r>
              <a:endParaRPr lang="hu-HU" sz="1200" kern="0" dirty="0">
                <a:solidFill>
                  <a:srgbClr val="FF0000"/>
                </a:solidFill>
              </a:endParaRPr>
            </a:p>
            <a:p>
              <a:pPr fontAlgn="auto">
                <a:spcBef>
                  <a:spcPts val="500"/>
                </a:spcBef>
                <a:spcAft>
                  <a:spcPts val="0"/>
                </a:spcAft>
              </a:pPr>
              <a:r>
                <a:rPr kumimoji="0" lang="hu-HU" sz="1200" b="0" i="0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hil_hvm</a:t>
              </a:r>
              <a:r>
                <a:rPr kumimoji="0" lang="hu-HU" sz="1200" b="0" i="0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::</a:t>
              </a:r>
              <a:r>
                <a:rPr kumimoji="0" lang="hu-HU" sz="1200" b="0" i="0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yaw_rate</a:t>
              </a:r>
              <a:endParaRPr kumimoji="0" lang="hu-HU" sz="1200" b="0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  <a:p>
              <a:pPr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1200" kern="0" dirty="0" err="1">
                  <a:solidFill>
                    <a:srgbClr val="FF0000"/>
                  </a:solidFill>
                </a:rPr>
                <a:t>hil_drv</a:t>
              </a:r>
              <a:r>
                <a:rPr lang="hu-HU" sz="1200" kern="0" dirty="0">
                  <a:solidFill>
                    <a:srgbClr val="FF0000"/>
                  </a:solidFill>
                </a:rPr>
                <a:t>::</a:t>
              </a:r>
              <a:r>
                <a:rPr lang="hu-HU" sz="1200" kern="0" dirty="0" err="1">
                  <a:solidFill>
                    <a:srgbClr val="FF0000"/>
                  </a:solidFill>
                </a:rPr>
                <a:t>swa_req</a:t>
              </a:r>
              <a:endParaRPr lang="hu-HU" sz="1200" kern="0" dirty="0">
                <a:solidFill>
                  <a:srgbClr val="FF0000"/>
                </a:solidFill>
              </a:endParaRPr>
            </a:p>
            <a:p>
              <a:pPr fontAlgn="auto">
                <a:spcBef>
                  <a:spcPts val="500"/>
                </a:spcBef>
                <a:spcAft>
                  <a:spcPts val="0"/>
                </a:spcAft>
              </a:pPr>
              <a:r>
                <a:rPr kumimoji="0" lang="hu-HU" sz="1200" b="0" i="0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hil_drv</a:t>
              </a:r>
              <a:r>
                <a:rPr kumimoji="0" lang="hu-HU" sz="1200" b="0" i="0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::</a:t>
              </a:r>
              <a:r>
                <a:rPr kumimoji="0" lang="hu-HU" sz="1200" b="0" i="0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rPr>
                <a:t>swa_speed</a:t>
              </a:r>
              <a:endParaRPr kumimoji="0" lang="en-US" sz="1200" b="0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41A6D332-17DC-39DF-3211-4AD106005389}"/>
                </a:ext>
              </a:extLst>
            </p:cNvPr>
            <p:cNvGrpSpPr/>
            <p:nvPr/>
          </p:nvGrpSpPr>
          <p:grpSpPr>
            <a:xfrm>
              <a:off x="1799147" y="2643088"/>
              <a:ext cx="1808305" cy="925051"/>
              <a:chOff x="2071155" y="1746580"/>
              <a:chExt cx="1748369" cy="743926"/>
            </a:xfrm>
            <a:solidFill>
              <a:srgbClr val="B6DF89"/>
            </a:solidFill>
          </p:grpSpPr>
          <p:sp>
            <p:nvSpPr>
              <p:cNvPr id="86" name="Diamond 85">
                <a:extLst>
                  <a:ext uri="{FF2B5EF4-FFF2-40B4-BE49-F238E27FC236}">
                    <a16:creationId xmlns:a16="http://schemas.microsoft.com/office/drawing/2014/main" id="{0D4825BD-AD2D-F8B1-773B-C801C8CF6509}"/>
                  </a:ext>
                </a:extLst>
              </p:cNvPr>
              <p:cNvSpPr/>
              <p:nvPr/>
            </p:nvSpPr>
            <p:spPr>
              <a:xfrm>
                <a:off x="2071155" y="1746580"/>
                <a:ext cx="1748369" cy="743926"/>
              </a:xfrm>
              <a:prstGeom prst="diamond">
                <a:avLst/>
              </a:prstGeom>
              <a:grpFill/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7952209-6981-2AE0-30FF-9E6DBD49C354}"/>
                  </a:ext>
                </a:extLst>
              </p:cNvPr>
              <p:cNvSpPr txBox="1"/>
              <p:nvPr/>
            </p:nvSpPr>
            <p:spPr>
              <a:xfrm>
                <a:off x="2258571" y="2051029"/>
                <a:ext cx="1427301" cy="3655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ctr"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lang="hu-HU" sz="1100" kern="0" dirty="0">
                    <a:solidFill>
                      <a:srgbClr val="ED0007"/>
                    </a:solidFill>
                  </a:rPr>
                  <a:t>h</a:t>
                </a:r>
                <a:r>
                  <a:rPr kumimoji="0" lang="hu-HU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ED0007"/>
                    </a:solidFill>
                    <a:effectLst/>
                    <a:uLnTx/>
                    <a:uFillTx/>
                  </a:rPr>
                  <a:t>il_adas</a:t>
                </a:r>
                <a:r>
                  <a:rPr lang="hu-HU" sz="1100" kern="0" dirty="0">
                    <a:solidFill>
                      <a:srgbClr val="ED0007"/>
                    </a:solidFill>
                  </a:rPr>
                  <a:t>::</a:t>
                </a:r>
                <a:r>
                  <a:rPr lang="hu-HU" sz="1100" kern="0" dirty="0" err="1">
                    <a:solidFill>
                      <a:srgbClr val="ED0007"/>
                    </a:solidFill>
                  </a:rPr>
                  <a:t>swa_req</a:t>
                </a:r>
                <a:r>
                  <a:rPr lang="hu-HU" sz="1100" kern="0" dirty="0"/>
                  <a:t> != 0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4FE0B404-2434-3BFC-2F47-FAEE1FFB67C0}"/>
                </a:ext>
              </a:extLst>
            </p:cNvPr>
            <p:cNvCxnSpPr>
              <a:cxnSpLocks/>
              <a:stCxn id="94" idx="2"/>
              <a:endCxn id="86" idx="0"/>
            </p:cNvCxnSpPr>
            <p:nvPr/>
          </p:nvCxnSpPr>
          <p:spPr>
            <a:xfrm>
              <a:off x="2703300" y="2109798"/>
              <a:ext cx="0" cy="5332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D7849DE-53DB-BB22-C93C-BC4D7E13512C}"/>
                </a:ext>
              </a:extLst>
            </p:cNvPr>
            <p:cNvSpPr txBox="1"/>
            <p:nvPr/>
          </p:nvSpPr>
          <p:spPr>
            <a:xfrm>
              <a:off x="1994996" y="1726839"/>
              <a:ext cx="1416607" cy="382959"/>
            </a:xfrm>
            <a:prstGeom prst="rect">
              <a:avLst/>
            </a:prstGeom>
            <a:solidFill>
              <a:srgbClr val="B6DF89"/>
            </a:solidFill>
            <a:ln>
              <a:solidFill>
                <a:schemeClr val="tx1"/>
              </a:solidFill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 fontAlgn="auto">
                <a:spcBef>
                  <a:spcPts val="500"/>
                </a:spcBef>
                <a:spcAft>
                  <a:spcPts val="0"/>
                </a:spcAft>
              </a:pPr>
              <a:r>
                <a:rPr lang="hu-HU" sz="1400" kern="0" dirty="0"/>
                <a:t>Driver </a:t>
              </a:r>
              <a:r>
                <a:rPr lang="hu-HU" sz="1400" kern="0" dirty="0" err="1"/>
                <a:t>torque</a:t>
              </a:r>
              <a:r>
                <a:rPr lang="hu-HU" sz="1400" kern="0" dirty="0"/>
                <a:t> = 0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7EA31E10-FCFD-02F1-B8A5-B6CCE1B9701B}"/>
                </a:ext>
              </a:extLst>
            </p:cNvPr>
            <p:cNvCxnSpPr>
              <a:cxnSpLocks/>
              <a:stCxn id="86" idx="2"/>
            </p:cNvCxnSpPr>
            <p:nvPr/>
          </p:nvCxnSpPr>
          <p:spPr>
            <a:xfrm flipH="1">
              <a:off x="2703299" y="3568139"/>
              <a:ext cx="1" cy="93263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683A7E4-0747-370D-5E39-7DE782A99821}"/>
                </a:ext>
              </a:extLst>
            </p:cNvPr>
            <p:cNvSpPr txBox="1"/>
            <p:nvPr/>
          </p:nvSpPr>
          <p:spPr>
            <a:xfrm>
              <a:off x="2785002" y="4057107"/>
              <a:ext cx="410229" cy="2182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80975" algn="l"/>
                  <a:tab pos="361950" algn="l"/>
                </a:tabLst>
              </a:pPr>
              <a:r>
                <a:rPr lang="hu-HU" sz="1200" kern="0" dirty="0" err="1"/>
                <a:t>yes</a:t>
              </a:r>
              <a:endParaRPr lang="hu-HU" sz="1200" kern="0" dirty="0"/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385EB966-84E6-EFB2-5B64-9E5D8E9AA627}"/>
                </a:ext>
              </a:extLst>
            </p:cNvPr>
            <p:cNvGrpSpPr/>
            <p:nvPr/>
          </p:nvGrpSpPr>
          <p:grpSpPr>
            <a:xfrm>
              <a:off x="3678595" y="1973105"/>
              <a:ext cx="6818712" cy="3294888"/>
              <a:chOff x="3516670" y="1973105"/>
              <a:chExt cx="6818712" cy="3294888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8A77FDE-D7AC-93D0-B98B-03559487621D}"/>
                  </a:ext>
                </a:extLst>
              </p:cNvPr>
              <p:cNvSpPr txBox="1"/>
              <p:nvPr/>
            </p:nvSpPr>
            <p:spPr>
              <a:xfrm>
                <a:off x="3996419" y="2200457"/>
                <a:ext cx="1686829" cy="3067050"/>
              </a:xfrm>
              <a:prstGeom prst="rect">
                <a:avLst/>
              </a:prstGeom>
              <a:solidFill>
                <a:srgbClr val="C7E6A4"/>
              </a:solidFill>
              <a:ln>
                <a:solidFill>
                  <a:schemeClr val="tx1"/>
                </a:solidFill>
                <a:prstDash val="dash"/>
              </a:ln>
            </p:spPr>
            <p:txBody>
              <a:bodyPr wrap="square" lIns="36000" tIns="36000" rIns="0" bIns="0" rtlCol="0" anchor="t">
                <a:noAutofit/>
              </a:bodyPr>
              <a:lstStyle/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E0511C88-CFEB-6F53-DFCA-88E5B528A113}"/>
                  </a:ext>
                </a:extLst>
              </p:cNvPr>
              <p:cNvGrpSpPr/>
              <p:nvPr/>
            </p:nvGrpSpPr>
            <p:grpSpPr>
              <a:xfrm>
                <a:off x="4107662" y="2338568"/>
                <a:ext cx="1433676" cy="1202511"/>
                <a:chOff x="3928899" y="2243348"/>
                <a:chExt cx="1433676" cy="1202511"/>
              </a:xfrm>
            </p:grpSpPr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8435473-8184-4B36-DA6F-68516D2429C9}"/>
                    </a:ext>
                  </a:extLst>
                </p:cNvPr>
                <p:cNvSpPr txBox="1"/>
                <p:nvPr/>
              </p:nvSpPr>
              <p:spPr>
                <a:xfrm>
                  <a:off x="3928899" y="2243348"/>
                  <a:ext cx="1433676" cy="12025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lIns="36000" tIns="36000" rIns="0" bIns="0" rtlCol="0" anchor="t">
                  <a:noAutofit/>
                </a:bodyPr>
                <a:lstStyle/>
                <a:p>
                  <a:pPr fontAlgn="auto">
                    <a:spcBef>
                      <a:spcPts val="500"/>
                    </a:spcBef>
                    <a:spcAft>
                      <a:spcPts val="0"/>
                    </a:spcAft>
                  </a:pPr>
                  <a:r>
                    <a:rPr kumimoji="0" lang="hu-HU" sz="1200" b="0" i="0" u="none" strike="noStrike" kern="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</a:rPr>
                    <a:t>Yaw</a:t>
                  </a:r>
                  <a:r>
                    <a:rPr kumimoji="0" lang="hu-HU" sz="12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</a:rPr>
                    <a:t> </a:t>
                  </a:r>
                  <a:r>
                    <a:rPr kumimoji="0" lang="hu-HU" sz="1200" b="0" i="0" u="none" strike="noStrike" kern="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</a:rPr>
                    <a:t>rate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E2EBAF7B-CA4E-27FA-1EBA-8C173A7EADC8}"/>
                    </a:ext>
                  </a:extLst>
                </p:cNvPr>
                <p:cNvGrpSpPr/>
                <p:nvPr/>
              </p:nvGrpSpPr>
              <p:grpSpPr>
                <a:xfrm>
                  <a:off x="4001835" y="2546695"/>
                  <a:ext cx="1251608" cy="897473"/>
                  <a:chOff x="4120246" y="2529199"/>
                  <a:chExt cx="1251608" cy="897473"/>
                </a:xfrm>
              </p:grpSpPr>
              <p:cxnSp>
                <p:nvCxnSpPr>
                  <p:cNvPr id="58" name="Straight Arrow Connector 57">
                    <a:extLst>
                      <a:ext uri="{FF2B5EF4-FFF2-40B4-BE49-F238E27FC236}">
                        <a16:creationId xmlns:a16="http://schemas.microsoft.com/office/drawing/2014/main" id="{E069D342-F97E-1836-6320-BF8D33719C2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83282" y="3130090"/>
                    <a:ext cx="108857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Arrow Connector 58">
                    <a:extLst>
                      <a:ext uri="{FF2B5EF4-FFF2-40B4-BE49-F238E27FC236}">
                        <a16:creationId xmlns:a16="http://schemas.microsoft.com/office/drawing/2014/main" id="{6A8C6BE6-4736-AD21-7FFD-90CC017331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435682" y="2529199"/>
                    <a:ext cx="0" cy="75329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Freeform: Shape 64">
                    <a:extLst>
                      <a:ext uri="{FF2B5EF4-FFF2-40B4-BE49-F238E27FC236}">
                        <a16:creationId xmlns:a16="http://schemas.microsoft.com/office/drawing/2014/main" id="{ADBD9907-8ECB-5E62-36AC-6110DFDE5F67}"/>
                      </a:ext>
                    </a:extLst>
                  </p:cNvPr>
                  <p:cNvSpPr/>
                  <p:nvPr/>
                </p:nvSpPr>
                <p:spPr>
                  <a:xfrm>
                    <a:off x="4466162" y="2773039"/>
                    <a:ext cx="748938" cy="304800"/>
                  </a:xfrm>
                  <a:custGeom>
                    <a:avLst/>
                    <a:gdLst>
                      <a:gd name="connsiteX0" fmla="*/ 0 w 748938"/>
                      <a:gd name="connsiteY0" fmla="*/ 304800 h 304800"/>
                      <a:gd name="connsiteX1" fmla="*/ 113212 w 748938"/>
                      <a:gd name="connsiteY1" fmla="*/ 148045 h 304800"/>
                      <a:gd name="connsiteX2" fmla="*/ 365760 w 748938"/>
                      <a:gd name="connsiteY2" fmla="*/ 34834 h 304800"/>
                      <a:gd name="connsiteX3" fmla="*/ 748938 w 748938"/>
                      <a:gd name="connsiteY3" fmla="*/ 0 h 304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938" h="304800">
                        <a:moveTo>
                          <a:pt x="0" y="304800"/>
                        </a:moveTo>
                        <a:cubicBezTo>
                          <a:pt x="26126" y="248919"/>
                          <a:pt x="52252" y="193039"/>
                          <a:pt x="113212" y="148045"/>
                        </a:cubicBezTo>
                        <a:cubicBezTo>
                          <a:pt x="174172" y="103051"/>
                          <a:pt x="259806" y="59508"/>
                          <a:pt x="365760" y="34834"/>
                        </a:cubicBezTo>
                        <a:cubicBezTo>
                          <a:pt x="471714" y="10160"/>
                          <a:pt x="610326" y="5080"/>
                          <a:pt x="748938" y="0"/>
                        </a:cubicBezTo>
                      </a:path>
                    </a:pathLst>
                  </a:custGeom>
                  <a:noFill/>
                  <a:ln w="9525" cap="flat" cmpd="sng" algn="ctr">
                    <a:solidFill>
                      <a:srgbClr val="0000FF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8A623209-8862-FC46-DFD3-C1313DE9495A}"/>
                      </a:ext>
                    </a:extLst>
                  </p:cNvPr>
                  <p:cNvSpPr txBox="1"/>
                  <p:nvPr/>
                </p:nvSpPr>
                <p:spPr>
                  <a:xfrm>
                    <a:off x="4120246" y="2758204"/>
                    <a:ext cx="326072" cy="2695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marR="0" defTabSz="914400" eaLnBrk="1" fontAlgn="auto" latinLnBrk="0" hangingPunct="1">
                      <a:spcBef>
                        <a:spcPts val="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>
                        <a:tab pos="180975" algn="l"/>
                        <a:tab pos="361950" algn="l"/>
                      </a:tabLst>
                    </a:pPr>
                    <a:r>
                      <a:rPr lang="hu-HU" sz="1100" kern="0" dirty="0"/>
                      <a:t>Nm</a:t>
                    </a:r>
                    <a:endParaRPr lang="hu-HU" sz="1100" b="1" kern="0" dirty="0"/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3A507531-5933-250C-6B57-1CA521A655B5}"/>
                      </a:ext>
                    </a:extLst>
                  </p:cNvPr>
                  <p:cNvSpPr txBox="1"/>
                  <p:nvPr/>
                </p:nvSpPr>
                <p:spPr>
                  <a:xfrm>
                    <a:off x="4635269" y="3158318"/>
                    <a:ext cx="593607" cy="2683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marR="0" defTabSz="914400" eaLnBrk="1" fontAlgn="auto" latinLnBrk="0" hangingPunct="1">
                      <a:spcBef>
                        <a:spcPts val="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>
                        <a:tab pos="180975" algn="l"/>
                        <a:tab pos="361950" algn="l"/>
                      </a:tabLst>
                    </a:pPr>
                    <a:r>
                      <a:rPr lang="hu-HU" sz="1050" kern="0" dirty="0" err="1"/>
                      <a:t>Yaw</a:t>
                    </a:r>
                    <a:r>
                      <a:rPr lang="hu-HU" sz="1050" kern="0" dirty="0"/>
                      <a:t> </a:t>
                    </a:r>
                    <a:r>
                      <a:rPr lang="hu-HU" sz="1050" kern="0" dirty="0" err="1"/>
                      <a:t>rate</a:t>
                    </a:r>
                    <a:endParaRPr lang="hu-HU" sz="1050" b="1" kern="0" dirty="0"/>
                  </a:p>
                </p:txBody>
              </p:sp>
            </p:grp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0914924-F911-662E-3EDE-AC506D1F7FC1}"/>
                  </a:ext>
                </a:extLst>
              </p:cNvPr>
              <p:cNvSpPr txBox="1"/>
              <p:nvPr/>
            </p:nvSpPr>
            <p:spPr>
              <a:xfrm>
                <a:off x="5670665" y="2200456"/>
                <a:ext cx="224335" cy="3067051"/>
              </a:xfrm>
              <a:prstGeom prst="rect">
                <a:avLst/>
              </a:prstGeom>
              <a:solidFill>
                <a:srgbClr val="C7E6A4"/>
              </a:solidFill>
              <a:ln>
                <a:solidFill>
                  <a:schemeClr val="tx1"/>
                </a:solidFill>
                <a:prstDash val="dash"/>
              </a:ln>
            </p:spPr>
            <p:txBody>
              <a:bodyPr wrap="square" lIns="36000" tIns="36000" rIns="0" bIns="0" rtlCol="0" anchor="ctr">
                <a:noAutofit/>
              </a:bodyPr>
              <a:lstStyle/>
              <a:p>
                <a:pPr algn="ctr"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kumimoji="0" lang="hu-HU" sz="2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+</a:t>
                </a: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A9F7C15-D4CF-66E3-FC4F-B28E4B778935}"/>
                  </a:ext>
                </a:extLst>
              </p:cNvPr>
              <p:cNvSpPr txBox="1"/>
              <p:nvPr/>
            </p:nvSpPr>
            <p:spPr>
              <a:xfrm>
                <a:off x="5893107" y="2200455"/>
                <a:ext cx="2138681" cy="3067052"/>
              </a:xfrm>
              <a:prstGeom prst="rect">
                <a:avLst/>
              </a:prstGeom>
              <a:solidFill>
                <a:srgbClr val="C7E6A4"/>
              </a:solidFill>
              <a:ln>
                <a:solidFill>
                  <a:schemeClr val="tx1"/>
                </a:solidFill>
                <a:prstDash val="dash"/>
              </a:ln>
            </p:spPr>
            <p:txBody>
              <a:bodyPr wrap="square" lIns="36000" tIns="36000" rIns="0" bIns="0" rtlCol="0" anchor="t">
                <a:noAutofit/>
              </a:bodyPr>
              <a:lstStyle/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3EA742E8-A8AF-5D20-50A6-6B8F7190B167}"/>
                  </a:ext>
                </a:extLst>
              </p:cNvPr>
              <p:cNvGrpSpPr/>
              <p:nvPr/>
            </p:nvGrpSpPr>
            <p:grpSpPr>
              <a:xfrm>
                <a:off x="6010310" y="3916259"/>
                <a:ext cx="1909082" cy="1218222"/>
                <a:chOff x="6360156" y="3042757"/>
                <a:chExt cx="1909082" cy="1218222"/>
              </a:xfrm>
            </p:grpSpPr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3E198E13-5948-69CD-D928-F1B3CACB07BB}"/>
                    </a:ext>
                  </a:extLst>
                </p:cNvPr>
                <p:cNvSpPr txBox="1"/>
                <p:nvPr/>
              </p:nvSpPr>
              <p:spPr>
                <a:xfrm>
                  <a:off x="6360156" y="3042757"/>
                  <a:ext cx="1909082" cy="12025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lIns="36000" tIns="36000" rIns="0" bIns="0" rtlCol="0" anchor="t">
                  <a:noAutofit/>
                </a:bodyPr>
                <a:lstStyle/>
                <a:p>
                  <a:pPr fontAlgn="auto">
                    <a:spcBef>
                      <a:spcPts val="500"/>
                    </a:spcBef>
                    <a:spcAft>
                      <a:spcPts val="0"/>
                    </a:spcAft>
                  </a:pPr>
                  <a:r>
                    <a:rPr lang="hu-HU" sz="1200" kern="0" dirty="0"/>
                    <a:t>Delta SWA (Driver - HVM)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86DBA680-3517-7C79-DFDC-4F4EF31D42E5}"/>
                    </a:ext>
                  </a:extLst>
                </p:cNvPr>
                <p:cNvGrpSpPr/>
                <p:nvPr/>
              </p:nvGrpSpPr>
              <p:grpSpPr>
                <a:xfrm>
                  <a:off x="6542222" y="3364469"/>
                  <a:ext cx="1290798" cy="896510"/>
                  <a:chOff x="4339295" y="2037806"/>
                  <a:chExt cx="1290798" cy="896510"/>
                </a:xfrm>
              </p:grpSpPr>
              <p:cxnSp>
                <p:nvCxnSpPr>
                  <p:cNvPr id="71" name="Straight Arrow Connector 70">
                    <a:extLst>
                      <a:ext uri="{FF2B5EF4-FFF2-40B4-BE49-F238E27FC236}">
                        <a16:creationId xmlns:a16="http://schemas.microsoft.com/office/drawing/2014/main" id="{9A1468FB-3608-B0F4-DCA6-A0618D59EF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2331" y="2638697"/>
                    <a:ext cx="108857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Arrow Connector 71">
                    <a:extLst>
                      <a:ext uri="{FF2B5EF4-FFF2-40B4-BE49-F238E27FC236}">
                        <a16:creationId xmlns:a16="http://schemas.microsoft.com/office/drawing/2014/main" id="{13336158-B91F-5401-AF40-17D4C0F7EC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54731" y="2037806"/>
                    <a:ext cx="0" cy="75329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" name="Freeform: Shape 72">
                    <a:extLst>
                      <a:ext uri="{FF2B5EF4-FFF2-40B4-BE49-F238E27FC236}">
                        <a16:creationId xmlns:a16="http://schemas.microsoft.com/office/drawing/2014/main" id="{7B91EC9F-BDF2-3CA9-D9E4-361F7592BDB0}"/>
                      </a:ext>
                    </a:extLst>
                  </p:cNvPr>
                  <p:cNvSpPr/>
                  <p:nvPr/>
                </p:nvSpPr>
                <p:spPr>
                  <a:xfrm>
                    <a:off x="4685211" y="2281646"/>
                    <a:ext cx="748938" cy="304800"/>
                  </a:xfrm>
                  <a:custGeom>
                    <a:avLst/>
                    <a:gdLst>
                      <a:gd name="connsiteX0" fmla="*/ 0 w 748938"/>
                      <a:gd name="connsiteY0" fmla="*/ 304800 h 304800"/>
                      <a:gd name="connsiteX1" fmla="*/ 113212 w 748938"/>
                      <a:gd name="connsiteY1" fmla="*/ 148045 h 304800"/>
                      <a:gd name="connsiteX2" fmla="*/ 365760 w 748938"/>
                      <a:gd name="connsiteY2" fmla="*/ 34834 h 304800"/>
                      <a:gd name="connsiteX3" fmla="*/ 748938 w 748938"/>
                      <a:gd name="connsiteY3" fmla="*/ 0 h 304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938" h="304800">
                        <a:moveTo>
                          <a:pt x="0" y="304800"/>
                        </a:moveTo>
                        <a:cubicBezTo>
                          <a:pt x="26126" y="248919"/>
                          <a:pt x="52252" y="193039"/>
                          <a:pt x="113212" y="148045"/>
                        </a:cubicBezTo>
                        <a:cubicBezTo>
                          <a:pt x="174172" y="103051"/>
                          <a:pt x="259806" y="59508"/>
                          <a:pt x="365760" y="34834"/>
                        </a:cubicBezTo>
                        <a:cubicBezTo>
                          <a:pt x="471714" y="10160"/>
                          <a:pt x="610326" y="5080"/>
                          <a:pt x="748938" y="0"/>
                        </a:cubicBezTo>
                      </a:path>
                    </a:pathLst>
                  </a:custGeom>
                  <a:noFill/>
                  <a:ln w="9525" cap="flat" cmpd="sng" algn="ctr">
                    <a:solidFill>
                      <a:srgbClr val="0000FF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277D3432-0B52-0913-8466-E0BAC25631BD}"/>
                      </a:ext>
                    </a:extLst>
                  </p:cNvPr>
                  <p:cNvSpPr txBox="1"/>
                  <p:nvPr/>
                </p:nvSpPr>
                <p:spPr>
                  <a:xfrm>
                    <a:off x="4339295" y="2266811"/>
                    <a:ext cx="326072" cy="2695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marR="0" defTabSz="914400" eaLnBrk="1" fontAlgn="auto" latinLnBrk="0" hangingPunct="1">
                      <a:spcBef>
                        <a:spcPts val="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>
                        <a:tab pos="180975" algn="l"/>
                        <a:tab pos="361950" algn="l"/>
                      </a:tabLst>
                    </a:pPr>
                    <a:r>
                      <a:rPr lang="hu-HU" sz="1100" kern="0" dirty="0"/>
                      <a:t>Nm</a:t>
                    </a:r>
                    <a:endParaRPr lang="hu-HU" sz="1100" b="1" kern="0" dirty="0"/>
                  </a:p>
                </p:txBody>
              </p:sp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B8D0BB82-C4E4-2835-FDFC-A60BBD015D0D}"/>
                      </a:ext>
                    </a:extLst>
                  </p:cNvPr>
                  <p:cNvSpPr txBox="1"/>
                  <p:nvPr/>
                </p:nvSpPr>
                <p:spPr>
                  <a:xfrm>
                    <a:off x="4843107" y="2665962"/>
                    <a:ext cx="786986" cy="2683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marR="0" defTabSz="914400" eaLnBrk="1" fontAlgn="auto" latinLnBrk="0" hangingPunct="1">
                      <a:spcBef>
                        <a:spcPts val="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>
                        <a:tab pos="180975" algn="l"/>
                        <a:tab pos="361950" algn="l"/>
                      </a:tabLst>
                    </a:pPr>
                    <a:r>
                      <a:rPr lang="hu-HU" sz="1050" kern="0" dirty="0"/>
                      <a:t>Delta SWA</a:t>
                    </a:r>
                    <a:endParaRPr lang="hu-HU" sz="1050" b="1" kern="0" dirty="0"/>
                  </a:p>
                </p:txBody>
              </p:sp>
            </p:grp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EA1C076-8CA9-A477-F5EA-82D3A25701D7}"/>
                  </a:ext>
                </a:extLst>
              </p:cNvPr>
              <p:cNvSpPr txBox="1"/>
              <p:nvPr/>
            </p:nvSpPr>
            <p:spPr>
              <a:xfrm>
                <a:off x="8033961" y="2200456"/>
                <a:ext cx="223488" cy="3067051"/>
              </a:xfrm>
              <a:prstGeom prst="rect">
                <a:avLst/>
              </a:prstGeom>
              <a:solidFill>
                <a:srgbClr val="C7E6A4"/>
              </a:solidFill>
              <a:ln>
                <a:solidFill>
                  <a:schemeClr val="tx1"/>
                </a:solidFill>
                <a:prstDash val="dash"/>
              </a:ln>
            </p:spPr>
            <p:txBody>
              <a:bodyPr wrap="square" lIns="36000" tIns="36000" rIns="0" bIns="0" rtlCol="0" anchor="ctr">
                <a:noAutofit/>
              </a:bodyPr>
              <a:lstStyle/>
              <a:p>
                <a:pPr algn="ctr"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kumimoji="0" lang="hu-HU" sz="2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+</a:t>
                </a: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94AB0943-FA03-FDA3-8929-D5834DEB0AE6}"/>
                  </a:ext>
                </a:extLst>
              </p:cNvPr>
              <p:cNvSpPr txBox="1"/>
              <p:nvPr/>
            </p:nvSpPr>
            <p:spPr>
              <a:xfrm>
                <a:off x="8249227" y="2200941"/>
                <a:ext cx="1862667" cy="3067052"/>
              </a:xfrm>
              <a:prstGeom prst="rect">
                <a:avLst/>
              </a:prstGeom>
              <a:solidFill>
                <a:srgbClr val="C7E6A4"/>
              </a:solidFill>
              <a:ln>
                <a:solidFill>
                  <a:schemeClr val="tx1"/>
                </a:solidFill>
                <a:prstDash val="dash"/>
              </a:ln>
            </p:spPr>
            <p:txBody>
              <a:bodyPr wrap="square" lIns="36000" tIns="36000" rIns="0" bIns="0" rtlCol="0" anchor="t">
                <a:noAutofit/>
              </a:bodyPr>
              <a:lstStyle/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5835EDBB-14CD-AE0A-2199-EFBC7504CBFD}"/>
                  </a:ext>
                </a:extLst>
              </p:cNvPr>
              <p:cNvGrpSpPr/>
              <p:nvPr/>
            </p:nvGrpSpPr>
            <p:grpSpPr>
              <a:xfrm>
                <a:off x="8359669" y="2335405"/>
                <a:ext cx="1638017" cy="1202511"/>
                <a:chOff x="7293091" y="2377042"/>
                <a:chExt cx="1638017" cy="1202511"/>
              </a:xfrm>
            </p:grpSpPr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8C31392D-6630-D79D-34DC-B6C125FD1BB0}"/>
                    </a:ext>
                  </a:extLst>
                </p:cNvPr>
                <p:cNvSpPr txBox="1"/>
                <p:nvPr/>
              </p:nvSpPr>
              <p:spPr>
                <a:xfrm>
                  <a:off x="7293091" y="2377042"/>
                  <a:ext cx="1638017" cy="120251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lIns="36000" tIns="36000" rIns="0" bIns="0" rtlCol="0" anchor="t">
                  <a:noAutofit/>
                </a:bodyPr>
                <a:lstStyle/>
                <a:p>
                  <a:pPr fontAlgn="auto">
                    <a:spcBef>
                      <a:spcPts val="500"/>
                    </a:spcBef>
                    <a:spcAft>
                      <a:spcPts val="0"/>
                    </a:spcAft>
                  </a:pPr>
                  <a:r>
                    <a:rPr lang="hu-HU" sz="1200" kern="0" dirty="0"/>
                    <a:t>Driver SWA </a:t>
                  </a:r>
                  <a:r>
                    <a:rPr lang="hu-HU" sz="1200" kern="0" dirty="0" err="1"/>
                    <a:t>speed</a:t>
                  </a:r>
                  <a:endParaRPr kumimoji="0" lang="en-US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686A78BF-11DC-D3E6-D529-091BAFAC46A5}"/>
                    </a:ext>
                  </a:extLst>
                </p:cNvPr>
                <p:cNvGrpSpPr/>
                <p:nvPr/>
              </p:nvGrpSpPr>
              <p:grpSpPr>
                <a:xfrm>
                  <a:off x="7368449" y="2681835"/>
                  <a:ext cx="1562659" cy="896510"/>
                  <a:chOff x="4339295" y="2037806"/>
                  <a:chExt cx="1562659" cy="896510"/>
                </a:xfrm>
              </p:grpSpPr>
              <p:cxnSp>
                <p:nvCxnSpPr>
                  <p:cNvPr id="78" name="Straight Arrow Connector 77">
                    <a:extLst>
                      <a:ext uri="{FF2B5EF4-FFF2-40B4-BE49-F238E27FC236}">
                        <a16:creationId xmlns:a16="http://schemas.microsoft.com/office/drawing/2014/main" id="{B6731E20-2F36-F0BC-44DE-CA8C6EF968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02331" y="2638697"/>
                    <a:ext cx="108857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Arrow Connector 78">
                    <a:extLst>
                      <a:ext uri="{FF2B5EF4-FFF2-40B4-BE49-F238E27FC236}">
                        <a16:creationId xmlns:a16="http://schemas.microsoft.com/office/drawing/2014/main" id="{DB7FFE32-660F-CCDB-1037-8F2996519C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654731" y="2037806"/>
                    <a:ext cx="0" cy="75329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0" name="Freeform: Shape 79">
                    <a:extLst>
                      <a:ext uri="{FF2B5EF4-FFF2-40B4-BE49-F238E27FC236}">
                        <a16:creationId xmlns:a16="http://schemas.microsoft.com/office/drawing/2014/main" id="{41EE2EC3-3D24-FB9D-C1B8-CB7B59D12E27}"/>
                      </a:ext>
                    </a:extLst>
                  </p:cNvPr>
                  <p:cNvSpPr/>
                  <p:nvPr/>
                </p:nvSpPr>
                <p:spPr>
                  <a:xfrm>
                    <a:off x="4685211" y="2281646"/>
                    <a:ext cx="748938" cy="304800"/>
                  </a:xfrm>
                  <a:custGeom>
                    <a:avLst/>
                    <a:gdLst>
                      <a:gd name="connsiteX0" fmla="*/ 0 w 748938"/>
                      <a:gd name="connsiteY0" fmla="*/ 304800 h 304800"/>
                      <a:gd name="connsiteX1" fmla="*/ 113212 w 748938"/>
                      <a:gd name="connsiteY1" fmla="*/ 148045 h 304800"/>
                      <a:gd name="connsiteX2" fmla="*/ 365760 w 748938"/>
                      <a:gd name="connsiteY2" fmla="*/ 34834 h 304800"/>
                      <a:gd name="connsiteX3" fmla="*/ 748938 w 748938"/>
                      <a:gd name="connsiteY3" fmla="*/ 0 h 304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48938" h="304800">
                        <a:moveTo>
                          <a:pt x="0" y="304800"/>
                        </a:moveTo>
                        <a:cubicBezTo>
                          <a:pt x="26126" y="248919"/>
                          <a:pt x="52252" y="193039"/>
                          <a:pt x="113212" y="148045"/>
                        </a:cubicBezTo>
                        <a:cubicBezTo>
                          <a:pt x="174172" y="103051"/>
                          <a:pt x="259806" y="59508"/>
                          <a:pt x="365760" y="34834"/>
                        </a:cubicBezTo>
                        <a:cubicBezTo>
                          <a:pt x="471714" y="10160"/>
                          <a:pt x="610326" y="5080"/>
                          <a:pt x="748938" y="0"/>
                        </a:cubicBezTo>
                      </a:path>
                    </a:pathLst>
                  </a:custGeom>
                  <a:noFill/>
                  <a:ln w="9525" cap="flat" cmpd="sng" algn="ctr">
                    <a:solidFill>
                      <a:srgbClr val="0000FF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FC4EC78C-0CBC-5E8D-5F08-EFF71DF635BC}"/>
                      </a:ext>
                    </a:extLst>
                  </p:cNvPr>
                  <p:cNvSpPr txBox="1"/>
                  <p:nvPr/>
                </p:nvSpPr>
                <p:spPr>
                  <a:xfrm>
                    <a:off x="4339295" y="2266811"/>
                    <a:ext cx="326072" cy="2695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marR="0" defTabSz="914400" eaLnBrk="1" fontAlgn="auto" latinLnBrk="0" hangingPunct="1">
                      <a:spcBef>
                        <a:spcPts val="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>
                        <a:tab pos="180975" algn="l"/>
                        <a:tab pos="361950" algn="l"/>
                      </a:tabLst>
                    </a:pPr>
                    <a:r>
                      <a:rPr lang="hu-HU" sz="1100" kern="0" dirty="0"/>
                      <a:t>Nm</a:t>
                    </a:r>
                    <a:endParaRPr lang="hu-HU" sz="1100" b="1" kern="0" dirty="0"/>
                  </a:p>
                </p:txBody>
              </p: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478471F4-FD81-1DC3-14D1-1D10D64C933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3223" y="2665962"/>
                    <a:ext cx="1198731" cy="26835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marR="0" defTabSz="914400" eaLnBrk="1" fontAlgn="auto" latinLnBrk="0" hangingPunct="1">
                      <a:spcBef>
                        <a:spcPts val="5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>
                        <a:tab pos="180975" algn="l"/>
                        <a:tab pos="361950" algn="l"/>
                      </a:tabLst>
                    </a:pPr>
                    <a:r>
                      <a:rPr lang="hu-HU" sz="1050" kern="0" dirty="0"/>
                      <a:t>Driver SWA </a:t>
                    </a:r>
                    <a:r>
                      <a:rPr lang="hu-HU" sz="1050" kern="0" dirty="0" err="1"/>
                      <a:t>speed</a:t>
                    </a:r>
                    <a:endParaRPr lang="hu-HU" sz="1050" b="1" kern="0" dirty="0"/>
                  </a:p>
                </p:txBody>
              </p:sp>
            </p:grpSp>
          </p:grp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7CBB6BA0-3126-B1DB-3F52-2FCC68F0AA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41338" y="3105613"/>
                <a:ext cx="2818331" cy="28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29D11B4-A124-69B5-C5AC-250DE8AB1069}"/>
                  </a:ext>
                </a:extLst>
              </p:cNvPr>
              <p:cNvSpPr txBox="1"/>
              <p:nvPr/>
            </p:nvSpPr>
            <p:spPr>
              <a:xfrm>
                <a:off x="3782556" y="2200456"/>
                <a:ext cx="224335" cy="3067051"/>
              </a:xfrm>
              <a:prstGeom prst="rect">
                <a:avLst/>
              </a:prstGeom>
              <a:solidFill>
                <a:srgbClr val="C7E6A4"/>
              </a:solidFill>
              <a:ln>
                <a:solidFill>
                  <a:schemeClr val="tx1"/>
                </a:solidFill>
                <a:prstDash val="dash"/>
              </a:ln>
            </p:spPr>
            <p:txBody>
              <a:bodyPr wrap="square" lIns="36000" tIns="36000" rIns="0" bIns="0" rtlCol="0" anchor="ctr">
                <a:noAutofit/>
              </a:bodyPr>
              <a:lstStyle/>
              <a:p>
                <a:pPr algn="ctr"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kumimoji="0" lang="hu-HU" sz="2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+</a:t>
                </a: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F8447716-DB05-EA48-D86E-E3894253DD47}"/>
                  </a:ext>
                </a:extLst>
              </p:cNvPr>
              <p:cNvSpPr txBox="1"/>
              <p:nvPr/>
            </p:nvSpPr>
            <p:spPr>
              <a:xfrm>
                <a:off x="10111894" y="2200456"/>
                <a:ext cx="223488" cy="3067051"/>
              </a:xfrm>
              <a:prstGeom prst="rect">
                <a:avLst/>
              </a:prstGeom>
              <a:solidFill>
                <a:srgbClr val="C7E6A4"/>
              </a:solidFill>
              <a:ln>
                <a:solidFill>
                  <a:schemeClr val="tx1"/>
                </a:solidFill>
                <a:prstDash val="dash"/>
              </a:ln>
            </p:spPr>
            <p:txBody>
              <a:bodyPr wrap="square" lIns="36000" tIns="36000" rIns="0" bIns="0" rtlCol="0" anchor="ctr">
                <a:noAutofit/>
              </a:bodyPr>
              <a:lstStyle/>
              <a:p>
                <a:pPr algn="ctr" fontAlgn="auto">
                  <a:spcBef>
                    <a:spcPts val="500"/>
                  </a:spcBef>
                  <a:spcAft>
                    <a:spcPts val="0"/>
                  </a:spcAft>
                </a:pPr>
                <a:r>
                  <a:rPr kumimoji="0" lang="hu-HU" sz="2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=</a:t>
                </a: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5857C743-FF0C-F57C-3811-A2044BBE64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23443" y="3104405"/>
                <a:ext cx="9797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2976428F-1392-76F6-9043-9BCDCF3306EA}"/>
                  </a:ext>
                </a:extLst>
              </p:cNvPr>
              <p:cNvCxnSpPr>
                <a:cxnSpLocks/>
                <a:stCxn id="69" idx="3"/>
              </p:cNvCxnSpPr>
              <p:nvPr/>
            </p:nvCxnSpPr>
            <p:spPr>
              <a:xfrm flipV="1">
                <a:off x="7919392" y="4500770"/>
                <a:ext cx="2217944" cy="1674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E3AF9BFF-A073-9FAB-AECE-3B390BBA112D}"/>
                  </a:ext>
                </a:extLst>
              </p:cNvPr>
              <p:cNvSpPr txBox="1"/>
              <p:nvPr/>
            </p:nvSpPr>
            <p:spPr>
              <a:xfrm>
                <a:off x="3833515" y="1973105"/>
                <a:ext cx="2268353" cy="2874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R="0" defTabSz="914400" eaLnBrk="1" fontAlgn="auto" latinLnBrk="0" hangingPunct="1"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80975" algn="l"/>
                    <a:tab pos="361950" algn="l"/>
                  </a:tabLst>
                </a:pPr>
                <a:r>
                  <a:rPr lang="hu-HU" sz="1400" kern="0" dirty="0"/>
                  <a:t>Driver </a:t>
                </a:r>
                <a:r>
                  <a:rPr lang="hu-HU" sz="1400" kern="0" dirty="0" err="1"/>
                  <a:t>torque</a:t>
                </a:r>
                <a:r>
                  <a:rPr lang="hu-HU" sz="1400" kern="0" dirty="0"/>
                  <a:t> </a:t>
                </a:r>
                <a:r>
                  <a:rPr lang="hu-HU" sz="1400" kern="0" dirty="0" err="1"/>
                  <a:t>components</a:t>
                </a:r>
                <a:endParaRPr lang="hu-HU" sz="1400" b="1" kern="0" dirty="0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1AF87AB-E18D-9F57-56C3-A0099C87B839}"/>
                  </a:ext>
                </a:extLst>
              </p:cNvPr>
              <p:cNvSpPr txBox="1"/>
              <p:nvPr/>
            </p:nvSpPr>
            <p:spPr>
              <a:xfrm>
                <a:off x="3516670" y="3104405"/>
                <a:ext cx="410229" cy="2182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R="0" defTabSz="914400" eaLnBrk="1" fontAlgn="auto" latinLnBrk="0" hangingPunct="1"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80975" algn="l"/>
                    <a:tab pos="361950" algn="l"/>
                  </a:tabLst>
                </a:pPr>
                <a:r>
                  <a:rPr lang="hu-HU" sz="1200" kern="0" dirty="0"/>
                  <a:t>no</a:t>
                </a:r>
              </a:p>
            </p:txBody>
          </p:sp>
        </p:grp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F4069229-832D-9088-D2E3-5319748774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977" y="3104405"/>
              <a:ext cx="652610" cy="120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1AC006BC-5916-1A67-FFF1-D6E122962198}"/>
                </a:ext>
              </a:extLst>
            </p:cNvPr>
            <p:cNvCxnSpPr>
              <a:cxnSpLocks/>
              <a:endCxn id="69" idx="1"/>
            </p:cNvCxnSpPr>
            <p:nvPr/>
          </p:nvCxnSpPr>
          <p:spPr>
            <a:xfrm>
              <a:off x="2731103" y="4517514"/>
              <a:ext cx="3441132" cy="1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176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Motion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panel 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motion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tab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user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interface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23</a:t>
            </a:fld>
            <a:endParaRPr lang="en-US" noProof="1"/>
          </a:p>
        </p:txBody>
      </p:sp>
      <p:sp>
        <p:nvSpPr>
          <p:cNvPr id="7" name="ZoneTexte 6"/>
          <p:cNvSpPr txBox="1"/>
          <p:nvPr/>
        </p:nvSpPr>
        <p:spPr>
          <a:xfrm>
            <a:off x="296419" y="890009"/>
            <a:ext cx="3189731" cy="3291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en-US" kern="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4331F6-F820-8992-B876-59AEE2E41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31" y="814368"/>
            <a:ext cx="9741064" cy="5347101"/>
          </a:xfrm>
          <a:prstGeom prst="rect">
            <a:avLst/>
          </a:prstGeom>
          <a:ln w="12700">
            <a:solidFill>
              <a:schemeClr val="accent1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546807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E2C4-5DAE-C13B-F72C-4E653602D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Longidutinal</a:t>
            </a:r>
            <a:r>
              <a:rPr lang="hu-HU" dirty="0"/>
              <a:t> </a:t>
            </a:r>
            <a:r>
              <a:rPr lang="hu-HU" dirty="0" err="1"/>
              <a:t>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24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Longitudinal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Speed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25</a:t>
            </a:fld>
            <a:endParaRPr lang="en-US" noProof="1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382529" y="4123327"/>
            <a:ext cx="2541646" cy="8624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9947" y="4019810"/>
            <a:ext cx="1725285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hil_drv</a:t>
            </a:r>
            <a:r>
              <a:rPr lang="hu-HU" sz="1200" kern="0" dirty="0">
                <a:solidFill>
                  <a:srgbClr val="FF0000"/>
                </a:solidFill>
              </a:rPr>
              <a:t>::</a:t>
            </a:r>
            <a:r>
              <a:rPr lang="hu-HU" sz="1200" kern="0" dirty="0" err="1">
                <a:solidFill>
                  <a:srgbClr val="FF0000"/>
                </a:solidFill>
              </a:rPr>
              <a:t>target_velocity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79567" y="2364400"/>
            <a:ext cx="2329132" cy="0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63287" y="2260883"/>
            <a:ext cx="1098425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FF0000"/>
                </a:solidFill>
              </a:rPr>
              <a:t>h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il_adas</a:t>
            </a:r>
            <a:r>
              <a:rPr lang="hu-HU" sz="1200" kern="0" dirty="0">
                <a:solidFill>
                  <a:srgbClr val="FF0000"/>
                </a:solidFill>
              </a:rPr>
              <a:t>::</a:t>
            </a:r>
            <a:r>
              <a:rPr lang="hu-HU" sz="1200" kern="0" dirty="0" err="1">
                <a:solidFill>
                  <a:srgbClr val="FF0000"/>
                </a:solidFill>
              </a:rPr>
              <a:t>ax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13" name="Straight Arrow Connector 12"/>
          <p:cNvCxnSpPr>
            <a:cxnSpLocks/>
            <a:endCxn id="80" idx="1"/>
          </p:cNvCxnSpPr>
          <p:nvPr/>
        </p:nvCxnSpPr>
        <p:spPr>
          <a:xfrm>
            <a:off x="373791" y="5038530"/>
            <a:ext cx="3087115" cy="9666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57512" y="4935013"/>
            <a:ext cx="994918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hil_drv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::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ax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15" name="Straight Arrow Connector 14"/>
          <p:cNvCxnSpPr>
            <a:cxnSpLocks/>
            <a:endCxn id="76" idx="1"/>
          </p:cNvCxnSpPr>
          <p:nvPr/>
        </p:nvCxnSpPr>
        <p:spPr>
          <a:xfrm>
            <a:off x="382529" y="3478704"/>
            <a:ext cx="3013816" cy="0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0001" y="3377296"/>
            <a:ext cx="1889180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FF0000"/>
                </a:solidFill>
              </a:rPr>
              <a:t>h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il_drv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::</a:t>
            </a:r>
            <a:r>
              <a:rPr lang="hu-HU" sz="1200" kern="0" dirty="0">
                <a:solidFill>
                  <a:srgbClr val="FF0000"/>
                </a:solidFill>
              </a:rPr>
              <a:t>g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as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/</a:t>
            </a:r>
            <a:r>
              <a:rPr lang="hu-HU" sz="1200" kern="0" dirty="0" err="1">
                <a:solidFill>
                  <a:srgbClr val="FF0000"/>
                </a:solidFill>
              </a:rPr>
              <a:t>b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rake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pedals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17" name="Diamond 16"/>
          <p:cNvSpPr/>
          <p:nvPr/>
        </p:nvSpPr>
        <p:spPr>
          <a:xfrm>
            <a:off x="3226285" y="1908419"/>
            <a:ext cx="1889179" cy="1078645"/>
          </a:xfrm>
          <a:prstGeom prst="diamond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45159" y="2170743"/>
            <a:ext cx="1305464" cy="7616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hil_adas</a:t>
            </a:r>
            <a:r>
              <a:rPr kumimoji="0" lang="hu-HU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::</a:t>
            </a: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ax</a:t>
            </a:r>
            <a:r>
              <a:rPr kumimoji="0" lang="hu-HU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!=</a:t>
            </a:r>
            <a:r>
              <a:rPr kumimoji="0" lang="hu-HU" sz="9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</a:rPr>
              <a:t> 0</a:t>
            </a:r>
          </a:p>
          <a:p>
            <a:pPr marR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900" kern="0" dirty="0"/>
              <a:t>and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hu-HU" sz="900" kern="0" dirty="0" err="1">
                <a:solidFill>
                  <a:srgbClr val="FF0000"/>
                </a:solidFill>
              </a:rPr>
              <a:t>h</a:t>
            </a:r>
            <a:r>
              <a:rPr lang="hu-HU" sz="900" kern="0" baseline="0" dirty="0" err="1">
                <a:solidFill>
                  <a:srgbClr val="FF0000"/>
                </a:solidFill>
              </a:rPr>
              <a:t>il_adas</a:t>
            </a:r>
            <a:r>
              <a:rPr lang="hu-HU" sz="900" kern="0" baseline="0" dirty="0">
                <a:solidFill>
                  <a:srgbClr val="FF0000"/>
                </a:solidFill>
              </a:rPr>
              <a:t>::</a:t>
            </a:r>
            <a:r>
              <a:rPr lang="hu-HU" sz="900" kern="0" baseline="0" dirty="0" err="1">
                <a:solidFill>
                  <a:srgbClr val="FF0000"/>
                </a:solidFill>
              </a:rPr>
              <a:t>ax_type</a:t>
            </a:r>
            <a:r>
              <a:rPr lang="hu-HU" sz="900" kern="0" baseline="0" dirty="0"/>
              <a:t> != </a:t>
            </a:r>
            <a:r>
              <a:rPr lang="hu-HU" sz="900" kern="0" baseline="0" dirty="0" err="1"/>
              <a:t>override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hu-HU" sz="1100" b="0" i="0" u="none" strike="noStrike" kern="0" cap="none" spc="0" normalizeH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26" name="Straight Arrow Connector 25"/>
          <p:cNvCxnSpPr>
            <a:cxnSpLocks/>
          </p:cNvCxnSpPr>
          <p:nvPr/>
        </p:nvCxnSpPr>
        <p:spPr>
          <a:xfrm>
            <a:off x="8282846" y="2699349"/>
            <a:ext cx="2583964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79772" y="2568276"/>
            <a:ext cx="1305464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hil_hvm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::&lt;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pedals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&gt;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cxnSp>
        <p:nvCxnSpPr>
          <p:cNvPr id="28" name="Straight Arrow Connector 27"/>
          <p:cNvCxnSpPr>
            <a:cxnSpLocks/>
            <a:stCxn id="17" idx="3"/>
            <a:endCxn id="69" idx="2"/>
          </p:cNvCxnSpPr>
          <p:nvPr/>
        </p:nvCxnSpPr>
        <p:spPr>
          <a:xfrm flipV="1">
            <a:off x="5115464" y="2280350"/>
            <a:ext cx="787194" cy="1673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247710" y="2408457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yes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607451" y="3395436"/>
            <a:ext cx="1106231" cy="3283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lang="hu-HU" sz="900" kern="0" dirty="0"/>
              <a:t>Driver </a:t>
            </a:r>
            <a:r>
              <a:rPr lang="hu-HU" sz="900" kern="0" dirty="0" err="1"/>
              <a:t>pedal</a:t>
            </a:r>
            <a:r>
              <a:rPr lang="hu-HU" sz="900" kern="0" dirty="0"/>
              <a:t> </a:t>
            </a:r>
            <a:r>
              <a:rPr lang="hu-HU" sz="900" kern="0" dirty="0" err="1"/>
              <a:t>request</a:t>
            </a:r>
            <a:r>
              <a:rPr lang="hu-HU" sz="900" kern="0" dirty="0"/>
              <a:t> is </a:t>
            </a:r>
            <a:r>
              <a:rPr lang="hu-HU" sz="900" kern="0" dirty="0" err="1"/>
              <a:t>active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367624" y="1808550"/>
            <a:ext cx="1915221" cy="2924511"/>
          </a:xfrm>
          <a:prstGeom prst="roundRect">
            <a:avLst>
              <a:gd name="adj" fmla="val 0"/>
            </a:avLst>
          </a:prstGeom>
          <a:solidFill>
            <a:srgbClr val="C7E6A4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ax arbitration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43815" y="2648478"/>
            <a:ext cx="1389095" cy="734504"/>
          </a:xfrm>
          <a:prstGeom prst="rect">
            <a:avLst/>
          </a:prstGeom>
          <a:solidFill>
            <a:srgbClr val="B6DF89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PID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logic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on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pedals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(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based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on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current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ax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request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)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043766" y="3380327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yes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61" name="Straight Arrow Connector 60"/>
          <p:cNvCxnSpPr>
            <a:cxnSpLocks/>
          </p:cNvCxnSpPr>
          <p:nvPr/>
        </p:nvCxnSpPr>
        <p:spPr>
          <a:xfrm>
            <a:off x="8282846" y="2901525"/>
            <a:ext cx="2583965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cxnSpLocks/>
          </p:cNvCxnSpPr>
          <p:nvPr/>
        </p:nvCxnSpPr>
        <p:spPr>
          <a:xfrm>
            <a:off x="8282845" y="3107033"/>
            <a:ext cx="2583965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739267" y="2802233"/>
            <a:ext cx="933132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hil_hvm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::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ax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739267" y="3015730"/>
            <a:ext cx="933132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hil_hvm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::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vx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cxnSp>
        <p:nvCxnSpPr>
          <p:cNvPr id="73" name="Straight Connector 72"/>
          <p:cNvCxnSpPr>
            <a:cxnSpLocks/>
          </p:cNvCxnSpPr>
          <p:nvPr/>
        </p:nvCxnSpPr>
        <p:spPr>
          <a:xfrm>
            <a:off x="2704834" y="2281238"/>
            <a:ext cx="0" cy="418111"/>
          </a:xfrm>
          <a:prstGeom prst="line">
            <a:avLst/>
          </a:prstGeom>
          <a:ln>
            <a:solidFill>
              <a:srgbClr val="ED00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cxnSpLocks/>
          </p:cNvCxnSpPr>
          <p:nvPr/>
        </p:nvCxnSpPr>
        <p:spPr>
          <a:xfrm>
            <a:off x="2711661" y="2441809"/>
            <a:ext cx="500338" cy="5933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CD401F-BB06-DD02-EEEF-78EB19EAB114}"/>
              </a:ext>
            </a:extLst>
          </p:cNvPr>
          <p:cNvSpPr txBox="1"/>
          <p:nvPr/>
        </p:nvSpPr>
        <p:spPr>
          <a:xfrm>
            <a:off x="8903621" y="1422657"/>
            <a:ext cx="1342703" cy="246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OUTPUT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0671EA-C1E1-9AE3-A78A-2F9D8E3CE4AF}"/>
              </a:ext>
            </a:extLst>
          </p:cNvPr>
          <p:cNvSpPr txBox="1"/>
          <p:nvPr/>
        </p:nvSpPr>
        <p:spPr>
          <a:xfrm>
            <a:off x="872781" y="1422657"/>
            <a:ext cx="1342703" cy="246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b="1" kern="0" dirty="0">
                <a:solidFill>
                  <a:srgbClr val="ED0007"/>
                </a:solidFill>
              </a:rPr>
              <a:t>IN</a:t>
            </a:r>
            <a:r>
              <a:rPr kumimoji="0" lang="hu-HU" b="1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rPr>
              <a:t>PUT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89B9E3-57C3-2F0F-468B-205701C8A7A8}"/>
              </a:ext>
            </a:extLst>
          </p:cNvPr>
          <p:cNvSpPr txBox="1"/>
          <p:nvPr/>
        </p:nvSpPr>
        <p:spPr>
          <a:xfrm>
            <a:off x="5126556" y="1422657"/>
            <a:ext cx="1342703" cy="2463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b="1" kern="0" dirty="0"/>
              <a:t>CLASSE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B3B958-0A50-4D02-7918-8B4EE5B9C500}"/>
              </a:ext>
            </a:extLst>
          </p:cNvPr>
          <p:cNvSpPr txBox="1"/>
          <p:nvPr/>
        </p:nvSpPr>
        <p:spPr>
          <a:xfrm>
            <a:off x="6811785" y="2142948"/>
            <a:ext cx="1031588" cy="264780"/>
          </a:xfrm>
          <a:prstGeom prst="rect">
            <a:avLst/>
          </a:prstGeom>
          <a:solidFill>
            <a:srgbClr val="006600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600" kern="0" dirty="0">
                <a:solidFill>
                  <a:schemeClr val="bg1"/>
                </a:solidFill>
              </a:rPr>
              <a:t>a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x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request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D35AFA8-AF3E-0E7C-551F-619E82395DDF}"/>
              </a:ext>
            </a:extLst>
          </p:cNvPr>
          <p:cNvCxnSpPr/>
          <p:nvPr/>
        </p:nvCxnSpPr>
        <p:spPr>
          <a:xfrm>
            <a:off x="379567" y="2602936"/>
            <a:ext cx="2329132" cy="0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3C72F09-2EDC-0259-3793-69064746EE3E}"/>
              </a:ext>
            </a:extLst>
          </p:cNvPr>
          <p:cNvSpPr txBox="1"/>
          <p:nvPr/>
        </p:nvSpPr>
        <p:spPr>
          <a:xfrm>
            <a:off x="862353" y="2499419"/>
            <a:ext cx="1294547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FF0000"/>
                </a:solidFill>
              </a:rPr>
              <a:t>h</a:t>
            </a:r>
            <a:r>
              <a:rPr kumimoji="0" lang="hu-HU" sz="1200" b="0" i="0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il_adas</a:t>
            </a:r>
            <a:r>
              <a:rPr kumimoji="0" lang="hu-HU" sz="1200" b="0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::</a:t>
            </a:r>
            <a:r>
              <a:rPr lang="hu-HU" sz="1200" kern="0" dirty="0" err="1">
                <a:solidFill>
                  <a:srgbClr val="FF0000"/>
                </a:solidFill>
              </a:rPr>
              <a:t>ax_type</a:t>
            </a:r>
            <a:endParaRPr kumimoji="0" lang="en-US" sz="1200" b="0" i="0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E6C0A62-87F6-F39D-7089-AD5F8AF2BF19}"/>
              </a:ext>
            </a:extLst>
          </p:cNvPr>
          <p:cNvCxnSpPr>
            <a:cxnSpLocks/>
          </p:cNvCxnSpPr>
          <p:nvPr/>
        </p:nvCxnSpPr>
        <p:spPr>
          <a:xfrm>
            <a:off x="5962219" y="2272407"/>
            <a:ext cx="84956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8C43C0C-EC3E-5F25-7671-DDE28E683A61}"/>
              </a:ext>
            </a:extLst>
          </p:cNvPr>
          <p:cNvCxnSpPr>
            <a:cxnSpLocks/>
          </p:cNvCxnSpPr>
          <p:nvPr/>
        </p:nvCxnSpPr>
        <p:spPr>
          <a:xfrm>
            <a:off x="7330751" y="2418207"/>
            <a:ext cx="0" cy="2180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BE29900-EFC5-CB1E-96D7-EEE3AF08014A}"/>
              </a:ext>
            </a:extLst>
          </p:cNvPr>
          <p:cNvSpPr txBox="1"/>
          <p:nvPr/>
        </p:nvSpPr>
        <p:spPr>
          <a:xfrm>
            <a:off x="6438411" y="5049449"/>
            <a:ext cx="1114222" cy="77178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Gear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control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5BEFEA-FE2A-8433-1541-A6AD7E2668C0}"/>
              </a:ext>
            </a:extLst>
          </p:cNvPr>
          <p:cNvCxnSpPr>
            <a:cxnSpLocks/>
          </p:cNvCxnSpPr>
          <p:nvPr/>
        </p:nvCxnSpPr>
        <p:spPr>
          <a:xfrm flipV="1">
            <a:off x="7011746" y="4733061"/>
            <a:ext cx="0" cy="3003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78B3F8-0CBA-62CB-8F55-90426E4D3D66}"/>
              </a:ext>
            </a:extLst>
          </p:cNvPr>
          <p:cNvCxnSpPr>
            <a:cxnSpLocks/>
          </p:cNvCxnSpPr>
          <p:nvPr/>
        </p:nvCxnSpPr>
        <p:spPr>
          <a:xfrm>
            <a:off x="377587" y="5435343"/>
            <a:ext cx="6045496" cy="0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04F9A3-947C-6CA3-CEA0-B8C84EA7DA47}"/>
              </a:ext>
            </a:extLst>
          </p:cNvPr>
          <p:cNvSpPr txBox="1"/>
          <p:nvPr/>
        </p:nvSpPr>
        <p:spPr>
          <a:xfrm>
            <a:off x="860373" y="5331826"/>
            <a:ext cx="1294547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>
                <a:solidFill>
                  <a:srgbClr val="FF0000"/>
                </a:solidFill>
              </a:rPr>
              <a:t>h</a:t>
            </a:r>
            <a:r>
              <a:rPr kumimoji="0" lang="hu-HU" sz="1200" b="0" i="0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il_drv</a:t>
            </a:r>
            <a:r>
              <a:rPr kumimoji="0" lang="hu-HU" sz="1200" b="0" i="0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::</a:t>
            </a:r>
            <a:r>
              <a:rPr lang="hu-HU" sz="1200" kern="0" dirty="0" err="1">
                <a:solidFill>
                  <a:srgbClr val="FF0000"/>
                </a:solidFill>
              </a:rPr>
              <a:t>gear_req</a:t>
            </a:r>
            <a:endParaRPr kumimoji="0" lang="en-US" sz="1200" b="0" i="0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FA1387-95D5-340A-2504-E35275E5AA17}"/>
              </a:ext>
            </a:extLst>
          </p:cNvPr>
          <p:cNvSpPr txBox="1"/>
          <p:nvPr/>
        </p:nvSpPr>
        <p:spPr>
          <a:xfrm>
            <a:off x="6640522" y="3619131"/>
            <a:ext cx="1389095" cy="734504"/>
          </a:xfrm>
          <a:prstGeom prst="rect">
            <a:avLst/>
          </a:prstGeom>
          <a:solidFill>
            <a:srgbClr val="B6DF8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Arbitration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(driver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override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check</a:t>
            </a:r>
            <a:r>
              <a:rPr lang="hu-HU" sz="1200" kern="0" dirty="0"/>
              <a:t>)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E6547B2-6610-36CF-A7D7-F5F31010EEE3}"/>
              </a:ext>
            </a:extLst>
          </p:cNvPr>
          <p:cNvCxnSpPr>
            <a:cxnSpLocks/>
          </p:cNvCxnSpPr>
          <p:nvPr/>
        </p:nvCxnSpPr>
        <p:spPr>
          <a:xfrm>
            <a:off x="7330751" y="3392313"/>
            <a:ext cx="0" cy="2180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Diamond 75">
            <a:extLst>
              <a:ext uri="{FF2B5EF4-FFF2-40B4-BE49-F238E27FC236}">
                <a16:creationId xmlns:a16="http://schemas.microsoft.com/office/drawing/2014/main" id="{560C452C-14FE-1563-FCB4-01DCE33A03CC}"/>
              </a:ext>
            </a:extLst>
          </p:cNvPr>
          <p:cNvSpPr/>
          <p:nvPr/>
        </p:nvSpPr>
        <p:spPr>
          <a:xfrm>
            <a:off x="3396345" y="3206609"/>
            <a:ext cx="1521105" cy="544190"/>
          </a:xfrm>
          <a:prstGeom prst="diamond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8160C6-A780-0D79-13FE-F9122092575A}"/>
              </a:ext>
            </a:extLst>
          </p:cNvPr>
          <p:cNvSpPr txBox="1"/>
          <p:nvPr/>
        </p:nvSpPr>
        <p:spPr>
          <a:xfrm>
            <a:off x="3634889" y="4125111"/>
            <a:ext cx="1106231" cy="3305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lang="hu-HU" sz="900" kern="0" dirty="0"/>
              <a:t>Driver </a:t>
            </a:r>
            <a:r>
              <a:rPr lang="hu-HU" sz="900" kern="0" dirty="0" err="1"/>
              <a:t>target</a:t>
            </a:r>
            <a:r>
              <a:rPr lang="hu-HU" sz="900" kern="0" dirty="0"/>
              <a:t> </a:t>
            </a:r>
            <a:r>
              <a:rPr lang="hu-HU" sz="900" kern="0" dirty="0" err="1"/>
              <a:t>velocity</a:t>
            </a:r>
            <a:r>
              <a:rPr lang="hu-HU" sz="900" kern="0" dirty="0"/>
              <a:t> </a:t>
            </a:r>
            <a:r>
              <a:rPr lang="hu-HU" sz="900" kern="0" dirty="0" err="1"/>
              <a:t>request</a:t>
            </a:r>
            <a:r>
              <a:rPr lang="hu-HU" sz="900" kern="0" dirty="0"/>
              <a:t> is </a:t>
            </a:r>
            <a:r>
              <a:rPr lang="hu-HU" sz="900" kern="0" dirty="0" err="1"/>
              <a:t>active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8" name="Diamond 77">
            <a:extLst>
              <a:ext uri="{FF2B5EF4-FFF2-40B4-BE49-F238E27FC236}">
                <a16:creationId xmlns:a16="http://schemas.microsoft.com/office/drawing/2014/main" id="{EC3F7855-8E68-9A49-7771-1A516ACF388E}"/>
              </a:ext>
            </a:extLst>
          </p:cNvPr>
          <p:cNvSpPr/>
          <p:nvPr/>
        </p:nvSpPr>
        <p:spPr>
          <a:xfrm>
            <a:off x="3210362" y="3936505"/>
            <a:ext cx="1889179" cy="640855"/>
          </a:xfrm>
          <a:prstGeom prst="diamond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657FA1-6A6B-3C01-37E2-A434BDEA1791}"/>
              </a:ext>
            </a:extLst>
          </p:cNvPr>
          <p:cNvSpPr txBox="1"/>
          <p:nvPr/>
        </p:nvSpPr>
        <p:spPr>
          <a:xfrm>
            <a:off x="3624048" y="4983620"/>
            <a:ext cx="1106231" cy="165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fontAlgn="auto">
              <a:spcBef>
                <a:spcPts val="500"/>
              </a:spcBef>
              <a:spcAft>
                <a:spcPts val="0"/>
              </a:spcAft>
            </a:pPr>
            <a:r>
              <a:rPr lang="hu-HU" sz="900" kern="0" dirty="0"/>
              <a:t>Driver </a:t>
            </a:r>
            <a:r>
              <a:rPr lang="hu-HU" sz="900" kern="0" dirty="0" err="1"/>
              <a:t>ax</a:t>
            </a:r>
            <a:r>
              <a:rPr lang="hu-HU" sz="900" kern="0" dirty="0"/>
              <a:t> is </a:t>
            </a:r>
            <a:r>
              <a:rPr lang="hu-HU" sz="900" kern="0" dirty="0" err="1"/>
              <a:t>active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0" name="Diamond 79">
            <a:extLst>
              <a:ext uri="{FF2B5EF4-FFF2-40B4-BE49-F238E27FC236}">
                <a16:creationId xmlns:a16="http://schemas.microsoft.com/office/drawing/2014/main" id="{B597F727-54FD-EC66-BC6A-55BD33001F11}"/>
              </a:ext>
            </a:extLst>
          </p:cNvPr>
          <p:cNvSpPr/>
          <p:nvPr/>
        </p:nvSpPr>
        <p:spPr>
          <a:xfrm>
            <a:off x="3460906" y="4776101"/>
            <a:ext cx="1389717" cy="544190"/>
          </a:xfrm>
          <a:prstGeom prst="diamond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44A005D-C086-354F-62DA-C6A361592D85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4917450" y="3478704"/>
            <a:ext cx="1723072" cy="4578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095F8FC-B8AD-0401-72FC-44FC2E530A93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4154951" y="3752282"/>
            <a:ext cx="1" cy="184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88A93F5-8B11-82E5-5FB9-7CE45B4DA4B3}"/>
              </a:ext>
            </a:extLst>
          </p:cNvPr>
          <p:cNvSpPr txBox="1"/>
          <p:nvPr/>
        </p:nvSpPr>
        <p:spPr>
          <a:xfrm>
            <a:off x="4196387" y="3756455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no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E7EEFC2-F3D3-1260-E6B0-F667641A8213}"/>
              </a:ext>
            </a:extLst>
          </p:cNvPr>
          <p:cNvCxnSpPr>
            <a:cxnSpLocks/>
          </p:cNvCxnSpPr>
          <p:nvPr/>
        </p:nvCxnSpPr>
        <p:spPr>
          <a:xfrm>
            <a:off x="4163430" y="4594774"/>
            <a:ext cx="1" cy="1842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CAB3629F-CB46-1218-08F0-6D020A24B604}"/>
              </a:ext>
            </a:extLst>
          </p:cNvPr>
          <p:cNvSpPr txBox="1"/>
          <p:nvPr/>
        </p:nvSpPr>
        <p:spPr>
          <a:xfrm>
            <a:off x="4204866" y="4598947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no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3CB41F6-5167-DB1F-626F-87D18E514033}"/>
              </a:ext>
            </a:extLst>
          </p:cNvPr>
          <p:cNvSpPr txBox="1"/>
          <p:nvPr/>
        </p:nvSpPr>
        <p:spPr>
          <a:xfrm>
            <a:off x="5273148" y="4054102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yes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FA2C02F-EED4-0541-A43F-17D81FA3C4F2}"/>
              </a:ext>
            </a:extLst>
          </p:cNvPr>
          <p:cNvSpPr txBox="1"/>
          <p:nvPr/>
        </p:nvSpPr>
        <p:spPr>
          <a:xfrm>
            <a:off x="5192970" y="4833950"/>
            <a:ext cx="414056" cy="180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yes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51" name="Straight Arrow Connector 50"/>
          <p:cNvCxnSpPr>
            <a:cxnSpLocks/>
            <a:endCxn id="69" idx="4"/>
          </p:cNvCxnSpPr>
          <p:nvPr/>
        </p:nvCxnSpPr>
        <p:spPr>
          <a:xfrm flipV="1">
            <a:off x="5936598" y="2315677"/>
            <a:ext cx="0" cy="2741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88900">
              <a:schemeClr val="bg1"/>
            </a:glow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EDB690A8-9340-4E08-8EA3-F9E8CC7C046C}"/>
              </a:ext>
            </a:extLst>
          </p:cNvPr>
          <p:cNvSpPr/>
          <p:nvPr/>
        </p:nvSpPr>
        <p:spPr>
          <a:xfrm>
            <a:off x="5902658" y="2245023"/>
            <a:ext cx="67879" cy="7065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C73071B-DC16-6098-C37B-E2A83869AEF9}"/>
              </a:ext>
            </a:extLst>
          </p:cNvPr>
          <p:cNvCxnSpPr>
            <a:cxnSpLocks/>
          </p:cNvCxnSpPr>
          <p:nvPr/>
        </p:nvCxnSpPr>
        <p:spPr>
          <a:xfrm>
            <a:off x="5126556" y="4267766"/>
            <a:ext cx="800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83EEC67-BF94-6671-0DD4-4D18F8486F9D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4850623" y="5048196"/>
            <a:ext cx="1083536" cy="34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FC1E692-9FA8-CA73-ED45-E10EEA295DFB}"/>
              </a:ext>
            </a:extLst>
          </p:cNvPr>
          <p:cNvCxnSpPr>
            <a:cxnSpLocks/>
            <a:stCxn id="113" idx="4"/>
          </p:cNvCxnSpPr>
          <p:nvPr/>
        </p:nvCxnSpPr>
        <p:spPr>
          <a:xfrm flipH="1">
            <a:off x="3055956" y="1729559"/>
            <a:ext cx="4763" cy="147705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63500">
              <a:schemeClr val="bg1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>
            <a:extLst>
              <a:ext uri="{FF2B5EF4-FFF2-40B4-BE49-F238E27FC236}">
                <a16:creationId xmlns:a16="http://schemas.microsoft.com/office/drawing/2014/main" id="{A143FA81-EFAA-1E09-A6DF-813D4FA8BDB2}"/>
              </a:ext>
            </a:extLst>
          </p:cNvPr>
          <p:cNvSpPr/>
          <p:nvPr/>
        </p:nvSpPr>
        <p:spPr>
          <a:xfrm>
            <a:off x="3026779" y="1658905"/>
            <a:ext cx="67879" cy="70654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5EA2F20-59B5-80D4-6944-A75B6DD3EC66}"/>
              </a:ext>
            </a:extLst>
          </p:cNvPr>
          <p:cNvCxnSpPr>
            <a:cxnSpLocks/>
          </p:cNvCxnSpPr>
          <p:nvPr/>
        </p:nvCxnSpPr>
        <p:spPr>
          <a:xfrm>
            <a:off x="3060441" y="1908419"/>
            <a:ext cx="11029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A4ECDCC-80FE-E77E-5F91-BAC62C2BD3B0}"/>
              </a:ext>
            </a:extLst>
          </p:cNvPr>
          <p:cNvCxnSpPr>
            <a:cxnSpLocks/>
          </p:cNvCxnSpPr>
          <p:nvPr/>
        </p:nvCxnSpPr>
        <p:spPr>
          <a:xfrm>
            <a:off x="3055956" y="3206609"/>
            <a:ext cx="11029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A932F8A-6A2E-2729-2E35-3D99C11CB23B}"/>
              </a:ext>
            </a:extLst>
          </p:cNvPr>
          <p:cNvCxnSpPr>
            <a:cxnSpLocks/>
          </p:cNvCxnSpPr>
          <p:nvPr/>
        </p:nvCxnSpPr>
        <p:spPr>
          <a:xfrm>
            <a:off x="3064178" y="1303020"/>
            <a:ext cx="0" cy="30505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22BA39C-ED3A-C882-ACC6-323B35E9F978}"/>
              </a:ext>
            </a:extLst>
          </p:cNvPr>
          <p:cNvCxnSpPr>
            <a:cxnSpLocks/>
          </p:cNvCxnSpPr>
          <p:nvPr/>
        </p:nvCxnSpPr>
        <p:spPr>
          <a:xfrm>
            <a:off x="382529" y="4380472"/>
            <a:ext cx="2541646" cy="8624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75EFFE61-69BD-6CAF-D584-2C71C71B9A07}"/>
              </a:ext>
            </a:extLst>
          </p:cNvPr>
          <p:cNvSpPr txBox="1"/>
          <p:nvPr/>
        </p:nvSpPr>
        <p:spPr>
          <a:xfrm>
            <a:off x="516597" y="4276954"/>
            <a:ext cx="2237243" cy="21395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hil_drv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::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target_velocity_status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9E1650AD-54A4-0870-654F-66D138BB1072}"/>
              </a:ext>
            </a:extLst>
          </p:cNvPr>
          <p:cNvCxnSpPr>
            <a:cxnSpLocks/>
          </p:cNvCxnSpPr>
          <p:nvPr/>
        </p:nvCxnSpPr>
        <p:spPr>
          <a:xfrm>
            <a:off x="2926351" y="4060388"/>
            <a:ext cx="0" cy="418111"/>
          </a:xfrm>
          <a:prstGeom prst="line">
            <a:avLst/>
          </a:prstGeom>
          <a:ln>
            <a:solidFill>
              <a:srgbClr val="ED00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D88CB8D-7384-9E56-7FB9-CB210DED3F5F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2936273" y="4256933"/>
            <a:ext cx="274089" cy="0"/>
          </a:xfrm>
          <a:prstGeom prst="straightConnector1">
            <a:avLst/>
          </a:prstGeom>
          <a:ln>
            <a:solidFill>
              <a:srgbClr val="ED00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095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Longitudinal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ax</a:t>
            </a:r>
            <a:r>
              <a:rPr lang="hu-HU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sz="2000" dirty="0" err="1">
                <a:solidFill>
                  <a:schemeClr val="accent1">
                    <a:lumMod val="75000"/>
                  </a:schemeClr>
                </a:solidFill>
              </a:rPr>
              <a:t>arbitration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26</a:t>
            </a:fld>
            <a:endParaRPr lang="en-US" noProof="1"/>
          </a:p>
        </p:txBody>
      </p:sp>
      <p:sp>
        <p:nvSpPr>
          <p:cNvPr id="42" name="Rounded Rectangle 41"/>
          <p:cNvSpPr/>
          <p:nvPr/>
        </p:nvSpPr>
        <p:spPr>
          <a:xfrm>
            <a:off x="596458" y="1642188"/>
            <a:ext cx="9518328" cy="3800554"/>
          </a:xfrm>
          <a:prstGeom prst="roundRect">
            <a:avLst>
              <a:gd name="adj" fmla="val 0"/>
            </a:avLst>
          </a:prstGeom>
          <a:solidFill>
            <a:srgbClr val="C7E6A4"/>
          </a:solidFill>
          <a:ln w="952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rtlCol="0" anchor="t"/>
          <a:lstStyle/>
          <a:p>
            <a: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Ax</a:t>
            </a:r>
            <a:r>
              <a:rPr kumimoji="0" lang="hu-H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request</a:t>
            </a:r>
            <a:r>
              <a:rPr kumimoji="0" lang="hu-HU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</a:t>
            </a:r>
            <a:r>
              <a:rPr kumimoji="0" lang="hu-HU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arbitration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B3B958-0A50-4D02-7918-8B4EE5B9C500}"/>
              </a:ext>
            </a:extLst>
          </p:cNvPr>
          <p:cNvSpPr txBox="1"/>
          <p:nvPr/>
        </p:nvSpPr>
        <p:spPr>
          <a:xfrm>
            <a:off x="736705" y="2414862"/>
            <a:ext cx="1066928" cy="524933"/>
          </a:xfrm>
          <a:prstGeom prst="rect">
            <a:avLst/>
          </a:prstGeom>
          <a:solidFill>
            <a:srgbClr val="006600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600" kern="0" dirty="0">
                <a:solidFill>
                  <a:srgbClr val="FFFF00"/>
                </a:solidFill>
              </a:rPr>
              <a:t>driver</a:t>
            </a:r>
            <a:br>
              <a:rPr lang="hu-HU" sz="1600" kern="0" dirty="0">
                <a:solidFill>
                  <a:schemeClr val="bg1"/>
                </a:solidFill>
              </a:rPr>
            </a:br>
            <a:r>
              <a:rPr lang="hu-HU" sz="1600" kern="0" dirty="0">
                <a:solidFill>
                  <a:schemeClr val="bg1"/>
                </a:solidFill>
              </a:rPr>
              <a:t>a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x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request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8C43C0C-EC3E-5F25-7671-DDE28E683A61}"/>
              </a:ext>
            </a:extLst>
          </p:cNvPr>
          <p:cNvCxnSpPr>
            <a:cxnSpLocks/>
          </p:cNvCxnSpPr>
          <p:nvPr/>
        </p:nvCxnSpPr>
        <p:spPr>
          <a:xfrm>
            <a:off x="387120" y="2688411"/>
            <a:ext cx="3436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70E6514-96C4-ACBB-6E1E-72DA649625FA}"/>
              </a:ext>
            </a:extLst>
          </p:cNvPr>
          <p:cNvSpPr txBox="1"/>
          <p:nvPr/>
        </p:nvSpPr>
        <p:spPr>
          <a:xfrm>
            <a:off x="742205" y="3883469"/>
            <a:ext cx="1066928" cy="524929"/>
          </a:xfrm>
          <a:prstGeom prst="rect">
            <a:avLst/>
          </a:prstGeom>
          <a:solidFill>
            <a:srgbClr val="006600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600" kern="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ADAS</a:t>
            </a:r>
            <a:br>
              <a:rPr lang="hu-HU" sz="1600" kern="0" dirty="0">
                <a:solidFill>
                  <a:schemeClr val="bg1"/>
                </a:solidFill>
              </a:rPr>
            </a:br>
            <a:r>
              <a:rPr lang="hu-HU" sz="1600" kern="0" dirty="0">
                <a:solidFill>
                  <a:schemeClr val="bg1"/>
                </a:solidFill>
              </a:rPr>
              <a:t>a</a:t>
            </a:r>
            <a:r>
              <a:rPr kumimoji="0" lang="hu-HU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x </a:t>
            </a:r>
            <a:r>
              <a:rPr kumimoji="0" lang="hu-HU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request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6D027B-9F71-0395-E165-56B0B9801E97}"/>
              </a:ext>
            </a:extLst>
          </p:cNvPr>
          <p:cNvCxnSpPr>
            <a:cxnSpLocks/>
          </p:cNvCxnSpPr>
          <p:nvPr/>
        </p:nvCxnSpPr>
        <p:spPr>
          <a:xfrm>
            <a:off x="392620" y="4150084"/>
            <a:ext cx="3436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E7C25AA-1815-7ADC-3488-CB3817611A78}"/>
              </a:ext>
            </a:extLst>
          </p:cNvPr>
          <p:cNvSpPr txBox="1"/>
          <p:nvPr/>
        </p:nvSpPr>
        <p:spPr>
          <a:xfrm>
            <a:off x="6744400" y="2224341"/>
            <a:ext cx="2791032" cy="2193691"/>
          </a:xfrm>
          <a:prstGeom prst="rect">
            <a:avLst/>
          </a:prstGeom>
          <a:solidFill>
            <a:srgbClr val="B6DF89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/>
              <a:t>Driver </a:t>
            </a:r>
            <a:r>
              <a:rPr lang="hu-HU" sz="1200" kern="0" dirty="0" err="1"/>
              <a:t>override</a:t>
            </a:r>
            <a:r>
              <a:rPr lang="hu-HU" sz="1200" kern="0" dirty="0"/>
              <a:t> </a:t>
            </a:r>
            <a:r>
              <a:rPr lang="hu-HU" sz="1200" kern="0" dirty="0" err="1"/>
              <a:t>check</a:t>
            </a:r>
            <a:endParaRPr lang="hu-HU" sz="1200" kern="0" dirty="0"/>
          </a:p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br>
              <a:rPr lang="hu-HU" sz="1200" kern="0" dirty="0"/>
            </a:b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8A9156-87AD-1FB9-6B84-BEE38A717A68}"/>
              </a:ext>
            </a:extLst>
          </p:cNvPr>
          <p:cNvGrpSpPr/>
          <p:nvPr/>
        </p:nvGrpSpPr>
        <p:grpSpPr>
          <a:xfrm>
            <a:off x="3277622" y="1896171"/>
            <a:ext cx="2485616" cy="3389150"/>
            <a:chOff x="3277622" y="1644244"/>
            <a:chExt cx="2485616" cy="338915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27C42DE-80BC-1C0A-E4E0-ECCBBC91EABF}"/>
                </a:ext>
              </a:extLst>
            </p:cNvPr>
            <p:cNvSpPr txBox="1"/>
            <p:nvPr/>
          </p:nvSpPr>
          <p:spPr>
            <a:xfrm>
              <a:off x="3277622" y="1644244"/>
              <a:ext cx="2485616" cy="3389150"/>
            </a:xfrm>
            <a:prstGeom prst="rect">
              <a:avLst/>
            </a:prstGeom>
            <a:solidFill>
              <a:srgbClr val="B6DF89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 PID </a:t>
              </a:r>
              <a:r>
                <a:rPr kumimoji="0" lang="hu-HU" sz="12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</a:rPr>
                <a:t>logic</a:t>
              </a: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 </a:t>
              </a:r>
              <a:r>
                <a:rPr kumimoji="0" lang="hu-HU" sz="12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</a:rPr>
                <a:t>on</a:t>
              </a: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 </a:t>
              </a:r>
              <a:r>
                <a:rPr kumimoji="0" lang="hu-HU" sz="12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</a:rPr>
                <a:t>virtual</a:t>
              </a: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 </a:t>
              </a:r>
              <a:r>
                <a:rPr kumimoji="0" lang="hu-HU" sz="12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</a:rPr>
                <a:t>pedal</a:t>
              </a:r>
              <a:r>
                <a:rPr kumimoji="0" lang="hu-HU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 </a:t>
              </a:r>
              <a:r>
                <a:rPr kumimoji="0" lang="hu-HU" sz="12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</a:rPr>
                <a:t>positions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535642" y="2155086"/>
              <a:ext cx="1933981" cy="1086818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hu-HU" sz="1200" kern="0" dirty="0"/>
                <a:t>Driver </a:t>
              </a:r>
              <a:r>
                <a:rPr lang="hu-HU" sz="1200" kern="0" dirty="0" err="1"/>
                <a:t>brake</a:t>
              </a:r>
              <a:r>
                <a:rPr lang="hu-HU" sz="1200" kern="0" dirty="0"/>
                <a:t>/</a:t>
              </a:r>
              <a:r>
                <a:rPr lang="hu-HU" sz="1200" kern="0" dirty="0" err="1"/>
                <a:t>gas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pedal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position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change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request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based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on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ax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request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14EF43-19A6-2991-C042-050CA66940A3}"/>
                </a:ext>
              </a:extLst>
            </p:cNvPr>
            <p:cNvSpPr txBox="1"/>
            <p:nvPr/>
          </p:nvSpPr>
          <p:spPr>
            <a:xfrm>
              <a:off x="3535642" y="3598247"/>
              <a:ext cx="1933981" cy="108681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R="0" algn="ctr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hu-HU" sz="1200" kern="0" dirty="0"/>
                <a:t>ADAS </a:t>
              </a:r>
              <a:r>
                <a:rPr lang="hu-HU" sz="1200" kern="0" dirty="0" err="1"/>
                <a:t>brake</a:t>
              </a:r>
              <a:r>
                <a:rPr lang="hu-HU" sz="1200" kern="0" dirty="0"/>
                <a:t>/</a:t>
              </a:r>
              <a:r>
                <a:rPr lang="hu-HU" sz="1200" kern="0" dirty="0" err="1"/>
                <a:t>gas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pedal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position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change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request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based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on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ax</a:t>
              </a:r>
              <a:r>
                <a:rPr lang="hu-HU" sz="1200" kern="0" dirty="0"/>
                <a:t> </a:t>
              </a:r>
              <a:r>
                <a:rPr lang="hu-HU" sz="1200" kern="0" dirty="0" err="1"/>
                <a:t>request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4F9FCCB-70B9-F694-ED48-532953FFDA61}"/>
              </a:ext>
            </a:extLst>
          </p:cNvPr>
          <p:cNvCxnSpPr>
            <a:cxnSpLocks/>
          </p:cNvCxnSpPr>
          <p:nvPr/>
        </p:nvCxnSpPr>
        <p:spPr>
          <a:xfrm>
            <a:off x="1809133" y="4150084"/>
            <a:ext cx="2201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E8804AF-9479-DAFE-BBDE-218760484974}"/>
              </a:ext>
            </a:extLst>
          </p:cNvPr>
          <p:cNvCxnSpPr>
            <a:cxnSpLocks/>
          </p:cNvCxnSpPr>
          <p:nvPr/>
        </p:nvCxnSpPr>
        <p:spPr>
          <a:xfrm>
            <a:off x="8421148" y="4406932"/>
            <a:ext cx="0" cy="1538152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20ABB3C-3D86-1554-847E-85CB22D6B864}"/>
              </a:ext>
            </a:extLst>
          </p:cNvPr>
          <p:cNvSpPr txBox="1"/>
          <p:nvPr/>
        </p:nvSpPr>
        <p:spPr>
          <a:xfrm>
            <a:off x="6928406" y="2571993"/>
            <a:ext cx="2423020" cy="84822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050" kern="0" dirty="0"/>
              <a:t>driver </a:t>
            </a:r>
            <a:r>
              <a:rPr lang="hu-HU" sz="1050" kern="0" dirty="0" err="1"/>
              <a:t>gas</a:t>
            </a:r>
            <a:r>
              <a:rPr lang="hu-HU" sz="1050" kern="0" dirty="0"/>
              <a:t> </a:t>
            </a:r>
            <a:r>
              <a:rPr lang="hu-HU" sz="1050" kern="0" dirty="0" err="1"/>
              <a:t>pedal</a:t>
            </a:r>
            <a:r>
              <a:rPr lang="hu-HU" sz="1050" kern="0" dirty="0"/>
              <a:t> &gt; ADAS </a:t>
            </a:r>
            <a:r>
              <a:rPr lang="hu-HU" sz="1050" kern="0" dirty="0" err="1"/>
              <a:t>gas</a:t>
            </a:r>
            <a:r>
              <a:rPr lang="hu-HU" sz="1050" kern="0" dirty="0"/>
              <a:t> </a:t>
            </a:r>
            <a:r>
              <a:rPr lang="hu-HU" sz="1050" kern="0" dirty="0" err="1"/>
              <a:t>pedal</a:t>
            </a:r>
            <a:br>
              <a:rPr lang="hu-HU" sz="1050" kern="0" dirty="0"/>
            </a:br>
            <a:r>
              <a:rPr lang="hu-HU" sz="1050" kern="0" dirty="0"/>
              <a:t>OR</a:t>
            </a:r>
            <a:br>
              <a:rPr lang="hu-HU" sz="1050" kern="0" dirty="0"/>
            </a:br>
            <a:r>
              <a:rPr lang="hu-HU" sz="1050" kern="0" dirty="0"/>
              <a:t>driver </a:t>
            </a:r>
            <a:r>
              <a:rPr lang="hu-HU" sz="1050" kern="0" dirty="0" err="1"/>
              <a:t>brake</a:t>
            </a:r>
            <a:r>
              <a:rPr lang="hu-HU" sz="1050" kern="0" dirty="0"/>
              <a:t> </a:t>
            </a:r>
            <a:r>
              <a:rPr lang="hu-HU" sz="1050" kern="0" dirty="0" err="1"/>
              <a:t>pedal</a:t>
            </a:r>
            <a:r>
              <a:rPr lang="hu-HU" sz="1050" kern="0" dirty="0"/>
              <a:t> &lt; ADAS </a:t>
            </a:r>
            <a:r>
              <a:rPr lang="hu-HU" sz="1050" kern="0" dirty="0" err="1"/>
              <a:t>brake</a:t>
            </a:r>
            <a:r>
              <a:rPr lang="hu-HU" sz="1050" kern="0" dirty="0"/>
              <a:t> </a:t>
            </a:r>
            <a:r>
              <a:rPr lang="hu-HU" sz="1050" kern="0" dirty="0" err="1"/>
              <a:t>pedal</a:t>
            </a:r>
            <a:endParaRPr lang="hu-HU" sz="1050" kern="0" dirty="0"/>
          </a:p>
          <a:p>
            <a:pPr marR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050" kern="0" dirty="0"/>
              <a:t>OR</a:t>
            </a:r>
          </a:p>
          <a:p>
            <a:pPr marR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050" kern="0" dirty="0"/>
              <a:t>driver </a:t>
            </a:r>
            <a:r>
              <a:rPr lang="hu-HU" sz="1050" kern="0" dirty="0" err="1"/>
              <a:t>target</a:t>
            </a:r>
            <a:r>
              <a:rPr lang="hu-HU" sz="1050" kern="0" dirty="0"/>
              <a:t> </a:t>
            </a:r>
            <a:r>
              <a:rPr lang="hu-HU" sz="1050" kern="0" dirty="0" err="1"/>
              <a:t>speed</a:t>
            </a:r>
            <a:r>
              <a:rPr lang="hu-HU" sz="1050" kern="0" dirty="0"/>
              <a:t> has </a:t>
            </a:r>
            <a:r>
              <a:rPr lang="hu-HU" sz="1050" kern="0" dirty="0" err="1"/>
              <a:t>been</a:t>
            </a:r>
            <a:r>
              <a:rPr lang="hu-HU" sz="1050" kern="0" dirty="0"/>
              <a:t> </a:t>
            </a:r>
            <a:r>
              <a:rPr lang="hu-HU" sz="1050" kern="0" dirty="0" err="1"/>
              <a:t>activated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EB8B50-F967-0A2C-EF25-D6EB8567808F}"/>
              </a:ext>
            </a:extLst>
          </p:cNvPr>
          <p:cNvSpPr txBox="1"/>
          <p:nvPr/>
        </p:nvSpPr>
        <p:spPr>
          <a:xfrm>
            <a:off x="6928406" y="3853648"/>
            <a:ext cx="2313411" cy="3062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050" kern="0" dirty="0"/>
              <a:t>ACC (ADAS </a:t>
            </a:r>
            <a:r>
              <a:rPr lang="hu-HU" sz="1050" kern="0" dirty="0" err="1"/>
              <a:t>function</a:t>
            </a:r>
            <a:r>
              <a:rPr lang="hu-HU" sz="1050" kern="0" dirty="0"/>
              <a:t>) is </a:t>
            </a:r>
            <a:r>
              <a:rPr lang="hu-HU" sz="1050" kern="0" dirty="0" err="1"/>
              <a:t>active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8B86CB-910C-A727-459D-39D9F3075216}"/>
              </a:ext>
            </a:extLst>
          </p:cNvPr>
          <p:cNvSpPr txBox="1"/>
          <p:nvPr/>
        </p:nvSpPr>
        <p:spPr>
          <a:xfrm>
            <a:off x="7863682" y="3486753"/>
            <a:ext cx="434277" cy="3062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050" kern="0" dirty="0"/>
              <a:t>AND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88C5EC4-D947-378C-94AC-E1DDEDAF176C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5763238" y="2548257"/>
            <a:ext cx="2038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F9BF0B7-0847-8408-58EA-C22A5678B2FD}"/>
              </a:ext>
            </a:extLst>
          </p:cNvPr>
          <p:cNvCxnSpPr>
            <a:cxnSpLocks/>
          </p:cNvCxnSpPr>
          <p:nvPr/>
        </p:nvCxnSpPr>
        <p:spPr>
          <a:xfrm>
            <a:off x="5779210" y="4159876"/>
            <a:ext cx="9651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EAB7230-F266-FC2C-C859-F6CEF6F26BC0}"/>
              </a:ext>
            </a:extLst>
          </p:cNvPr>
          <p:cNvSpPr txBox="1"/>
          <p:nvPr/>
        </p:nvSpPr>
        <p:spPr>
          <a:xfrm>
            <a:off x="5967076" y="2214382"/>
            <a:ext cx="551859" cy="667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050" kern="0" dirty="0"/>
              <a:t>Driver </a:t>
            </a:r>
            <a:r>
              <a:rPr lang="hu-HU" sz="1050" kern="0" dirty="0" err="1"/>
              <a:t>virtual</a:t>
            </a:r>
            <a:r>
              <a:rPr lang="hu-HU" sz="1050" kern="0" dirty="0"/>
              <a:t> </a:t>
            </a:r>
            <a:r>
              <a:rPr lang="hu-HU" sz="1050" kern="0" dirty="0" err="1"/>
              <a:t>pedals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90F322-5557-D63F-C6BA-3BCC7ED4C51A}"/>
              </a:ext>
            </a:extLst>
          </p:cNvPr>
          <p:cNvSpPr txBox="1"/>
          <p:nvPr/>
        </p:nvSpPr>
        <p:spPr>
          <a:xfrm>
            <a:off x="5704558" y="3812683"/>
            <a:ext cx="1049387" cy="3062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050" kern="0" dirty="0"/>
              <a:t>ADAS </a:t>
            </a:r>
            <a:r>
              <a:rPr lang="hu-HU" sz="1050" kern="0" dirty="0" err="1"/>
              <a:t>virtual</a:t>
            </a:r>
            <a:r>
              <a:rPr lang="hu-HU" sz="1050" kern="0" dirty="0"/>
              <a:t> </a:t>
            </a:r>
            <a:r>
              <a:rPr lang="hu-HU" sz="1050" kern="0" dirty="0" err="1"/>
              <a:t>pedals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4C10D5E-5E94-842F-8FB8-99DE5519DCE1}"/>
              </a:ext>
            </a:extLst>
          </p:cNvPr>
          <p:cNvCxnSpPr>
            <a:cxnSpLocks/>
          </p:cNvCxnSpPr>
          <p:nvPr/>
        </p:nvCxnSpPr>
        <p:spPr>
          <a:xfrm>
            <a:off x="10125512" y="3068465"/>
            <a:ext cx="1707154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8041B12-F03C-C870-8507-127591693804}"/>
              </a:ext>
            </a:extLst>
          </p:cNvPr>
          <p:cNvSpPr txBox="1"/>
          <p:nvPr/>
        </p:nvSpPr>
        <p:spPr>
          <a:xfrm>
            <a:off x="10341247" y="2937392"/>
            <a:ext cx="1305464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hil_hvm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::&lt;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pedals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&gt;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0343798-7A71-79AA-006F-0ECD46962903}"/>
              </a:ext>
            </a:extLst>
          </p:cNvPr>
          <p:cNvCxnSpPr>
            <a:cxnSpLocks/>
          </p:cNvCxnSpPr>
          <p:nvPr/>
        </p:nvCxnSpPr>
        <p:spPr>
          <a:xfrm>
            <a:off x="10125512" y="3270641"/>
            <a:ext cx="1707155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CA55A6D-D82A-6183-6088-7DB6503D2F11}"/>
              </a:ext>
            </a:extLst>
          </p:cNvPr>
          <p:cNvCxnSpPr>
            <a:cxnSpLocks/>
          </p:cNvCxnSpPr>
          <p:nvPr/>
        </p:nvCxnSpPr>
        <p:spPr>
          <a:xfrm>
            <a:off x="10125512" y="3476149"/>
            <a:ext cx="1707154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8C1C697-EF9B-9434-5E61-3E216661E1B9}"/>
              </a:ext>
            </a:extLst>
          </p:cNvPr>
          <p:cNvSpPr txBox="1"/>
          <p:nvPr/>
        </p:nvSpPr>
        <p:spPr>
          <a:xfrm>
            <a:off x="10300742" y="3171349"/>
            <a:ext cx="933132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hil_hvm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::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ax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E1FBD4-0B75-B910-0E0E-98AA4C8B7744}"/>
              </a:ext>
            </a:extLst>
          </p:cNvPr>
          <p:cNvSpPr txBox="1"/>
          <p:nvPr/>
        </p:nvSpPr>
        <p:spPr>
          <a:xfrm>
            <a:off x="10300742" y="3384846"/>
            <a:ext cx="933132" cy="20703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hil_hvm</a:t>
            </a:r>
            <a:r>
              <a:rPr kumimoji="0" lang="hu-HU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::</a:t>
            </a:r>
            <a:r>
              <a:rPr kumimoji="0" lang="hu-H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</a:rPr>
              <a:t>vx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AC96E23-32CF-14DF-67A4-D9461D4E7D5E}"/>
              </a:ext>
            </a:extLst>
          </p:cNvPr>
          <p:cNvSpPr txBox="1"/>
          <p:nvPr/>
        </p:nvSpPr>
        <p:spPr>
          <a:xfrm>
            <a:off x="7306865" y="5620842"/>
            <a:ext cx="1053112" cy="641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Override-related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customer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data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on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bus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to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 ADAS ECU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CB3FFB-F256-9916-2BC2-A2D5103EC29F}"/>
              </a:ext>
            </a:extLst>
          </p:cNvPr>
          <p:cNvCxnSpPr>
            <a:cxnSpLocks/>
          </p:cNvCxnSpPr>
          <p:nvPr/>
        </p:nvCxnSpPr>
        <p:spPr>
          <a:xfrm>
            <a:off x="1803633" y="2677328"/>
            <a:ext cx="2348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03CCFC-0EB9-38EF-4BF3-44A33776A019}"/>
              </a:ext>
            </a:extLst>
          </p:cNvPr>
          <p:cNvSpPr txBox="1"/>
          <p:nvPr/>
        </p:nvSpPr>
        <p:spPr>
          <a:xfrm>
            <a:off x="2029314" y="2414862"/>
            <a:ext cx="841247" cy="1984348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HVM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gear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position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is in D </a:t>
            </a:r>
            <a:r>
              <a:rPr kumimoji="0" lang="hu-HU" sz="105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or</a:t>
            </a:r>
            <a:r>
              <a:rPr kumimoji="0" lang="hu-HU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R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995B2F-57AB-EA4F-D7CD-FF1E69A34712}"/>
              </a:ext>
            </a:extLst>
          </p:cNvPr>
          <p:cNvCxnSpPr>
            <a:cxnSpLocks/>
          </p:cNvCxnSpPr>
          <p:nvPr/>
        </p:nvCxnSpPr>
        <p:spPr>
          <a:xfrm>
            <a:off x="2870375" y="2688411"/>
            <a:ext cx="4072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0AE1C5-ECBE-6D13-CDC1-724D0ADD1325}"/>
              </a:ext>
            </a:extLst>
          </p:cNvPr>
          <p:cNvCxnSpPr>
            <a:cxnSpLocks/>
          </p:cNvCxnSpPr>
          <p:nvPr/>
        </p:nvCxnSpPr>
        <p:spPr>
          <a:xfrm>
            <a:off x="2870375" y="4155114"/>
            <a:ext cx="40724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6BF1A2A-B561-2610-62BA-574ACA99731E}"/>
              </a:ext>
            </a:extLst>
          </p:cNvPr>
          <p:cNvCxnSpPr>
            <a:cxnSpLocks/>
          </p:cNvCxnSpPr>
          <p:nvPr/>
        </p:nvCxnSpPr>
        <p:spPr>
          <a:xfrm>
            <a:off x="2029314" y="2688411"/>
            <a:ext cx="26621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BBC959-2269-9500-F2B6-E560069495A3}"/>
              </a:ext>
            </a:extLst>
          </p:cNvPr>
          <p:cNvCxnSpPr>
            <a:cxnSpLocks/>
          </p:cNvCxnSpPr>
          <p:nvPr/>
        </p:nvCxnSpPr>
        <p:spPr>
          <a:xfrm>
            <a:off x="2553545" y="2684550"/>
            <a:ext cx="326041" cy="3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1E8E30-A2A6-87A4-2A64-9266DE546C26}"/>
              </a:ext>
            </a:extLst>
          </p:cNvPr>
          <p:cNvCxnSpPr>
            <a:cxnSpLocks/>
          </p:cNvCxnSpPr>
          <p:nvPr/>
        </p:nvCxnSpPr>
        <p:spPr>
          <a:xfrm flipV="1">
            <a:off x="2287334" y="2571993"/>
            <a:ext cx="266211" cy="11491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9934F4F-8951-BA35-2781-301F1289BB4E}"/>
              </a:ext>
            </a:extLst>
          </p:cNvPr>
          <p:cNvSpPr/>
          <p:nvPr/>
        </p:nvSpPr>
        <p:spPr>
          <a:xfrm>
            <a:off x="2270797" y="2669059"/>
            <a:ext cx="45719" cy="4571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D73E67-9C92-CF19-5E12-6A6CFED4AC0E}"/>
              </a:ext>
            </a:extLst>
          </p:cNvPr>
          <p:cNvCxnSpPr>
            <a:cxnSpLocks/>
          </p:cNvCxnSpPr>
          <p:nvPr/>
        </p:nvCxnSpPr>
        <p:spPr>
          <a:xfrm>
            <a:off x="2033586" y="4153612"/>
            <a:ext cx="26621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5D6179D-3108-CC26-B66B-72509645C025}"/>
              </a:ext>
            </a:extLst>
          </p:cNvPr>
          <p:cNvCxnSpPr>
            <a:cxnSpLocks/>
          </p:cNvCxnSpPr>
          <p:nvPr/>
        </p:nvCxnSpPr>
        <p:spPr>
          <a:xfrm>
            <a:off x="2557817" y="4149751"/>
            <a:ext cx="326041" cy="3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7F2282-7362-8E8D-D0BE-0B8D37C473E7}"/>
              </a:ext>
            </a:extLst>
          </p:cNvPr>
          <p:cNvCxnSpPr>
            <a:cxnSpLocks/>
          </p:cNvCxnSpPr>
          <p:nvPr/>
        </p:nvCxnSpPr>
        <p:spPr>
          <a:xfrm flipV="1">
            <a:off x="2291606" y="4037194"/>
            <a:ext cx="266211" cy="11491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7ED7F5E-AE17-DA59-2ED3-B51B8EFF4DAF}"/>
              </a:ext>
            </a:extLst>
          </p:cNvPr>
          <p:cNvSpPr/>
          <p:nvPr/>
        </p:nvSpPr>
        <p:spPr>
          <a:xfrm>
            <a:off x="2270706" y="4130701"/>
            <a:ext cx="45719" cy="4571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F09B7F-0758-5044-0D4C-8C8CA13F11D1}"/>
              </a:ext>
            </a:extLst>
          </p:cNvPr>
          <p:cNvCxnSpPr>
            <a:cxnSpLocks/>
          </p:cNvCxnSpPr>
          <p:nvPr/>
        </p:nvCxnSpPr>
        <p:spPr>
          <a:xfrm>
            <a:off x="9535432" y="3068465"/>
            <a:ext cx="5793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9358FAB-1F8F-4AE7-6F22-6B135746158A}"/>
              </a:ext>
            </a:extLst>
          </p:cNvPr>
          <p:cNvCxnSpPr>
            <a:cxnSpLocks/>
          </p:cNvCxnSpPr>
          <p:nvPr/>
        </p:nvCxnSpPr>
        <p:spPr>
          <a:xfrm>
            <a:off x="9535432" y="3270641"/>
            <a:ext cx="5793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B8C164D-A920-856F-D25D-4C8DBCBA9365}"/>
              </a:ext>
            </a:extLst>
          </p:cNvPr>
          <p:cNvCxnSpPr>
            <a:cxnSpLocks/>
          </p:cNvCxnSpPr>
          <p:nvPr/>
        </p:nvCxnSpPr>
        <p:spPr>
          <a:xfrm>
            <a:off x="9535432" y="3476149"/>
            <a:ext cx="5793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F8B9C27-6663-4512-D6D6-8E3262D8C874}"/>
              </a:ext>
            </a:extLst>
          </p:cNvPr>
          <p:cNvSpPr txBox="1"/>
          <p:nvPr/>
        </p:nvSpPr>
        <p:spPr>
          <a:xfrm>
            <a:off x="6261805" y="839354"/>
            <a:ext cx="831526" cy="6409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R="0" algn="ct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200" kern="0" dirty="0"/>
              <a:t>Driver </a:t>
            </a:r>
            <a:r>
              <a:rPr lang="hu-HU" sz="1200" kern="0" dirty="0" err="1"/>
              <a:t>pedal</a:t>
            </a:r>
            <a:r>
              <a:rPr lang="hu-HU" sz="1200" kern="0" dirty="0"/>
              <a:t> </a:t>
            </a:r>
            <a:r>
              <a:rPr lang="hu-HU" sz="1200" kern="0" dirty="0" err="1"/>
              <a:t>position</a:t>
            </a:r>
            <a:r>
              <a:rPr lang="hu-HU" sz="1200" kern="0" dirty="0"/>
              <a:t> </a:t>
            </a:r>
            <a:r>
              <a:rPr lang="hu-HU" sz="1200" kern="0" dirty="0" err="1"/>
              <a:t>request</a:t>
            </a:r>
            <a:endParaRPr lang="hu-HU" sz="1200" kern="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51F0B6A-72F3-1253-C2CE-4844564BB7F5}"/>
              </a:ext>
            </a:extLst>
          </p:cNvPr>
          <p:cNvCxnSpPr>
            <a:cxnSpLocks/>
          </p:cNvCxnSpPr>
          <p:nvPr/>
        </p:nvCxnSpPr>
        <p:spPr>
          <a:xfrm>
            <a:off x="6550107" y="2548111"/>
            <a:ext cx="2038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CFF0B7-53B7-BE1E-8AB2-C3D7F822E317}"/>
              </a:ext>
            </a:extLst>
          </p:cNvPr>
          <p:cNvCxnSpPr>
            <a:cxnSpLocks/>
          </p:cNvCxnSpPr>
          <p:nvPr/>
        </p:nvCxnSpPr>
        <p:spPr>
          <a:xfrm>
            <a:off x="6252946" y="1139846"/>
            <a:ext cx="0" cy="10745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536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E2C4-5DAE-C13B-F72C-4E653602D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ABS/WIC </a:t>
            </a:r>
            <a:r>
              <a:rPr lang="hu-HU" dirty="0" err="1"/>
              <a:t>simulation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420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ABS/WIC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calculation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28</a:t>
            </a:fld>
            <a:endParaRPr lang="en-US" noProof="1"/>
          </a:p>
        </p:txBody>
      </p:sp>
      <p:sp>
        <p:nvSpPr>
          <p:cNvPr id="7" name="ZoneTexte 6"/>
          <p:cNvSpPr txBox="1"/>
          <p:nvPr/>
        </p:nvSpPr>
        <p:spPr>
          <a:xfrm>
            <a:off x="296419" y="890009"/>
            <a:ext cx="10028712" cy="4643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11137" lvl="1" fontAlgn="auto">
              <a:spcBef>
                <a:spcPts val="500"/>
              </a:spcBef>
              <a:spcAft>
                <a:spcPts val="0"/>
              </a:spcAft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hu-HU" kern="0" dirty="0">
              <a:solidFill>
                <a:srgbClr val="000000"/>
              </a:solidFill>
            </a:endParaRP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endParaRPr lang="en-US" kern="0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CC3B3-3D48-24F2-F93E-CF908C59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664" y="1146344"/>
            <a:ext cx="5080222" cy="4241462"/>
          </a:xfrm>
          <a:prstGeom prst="rect">
            <a:avLst/>
          </a:prstGeom>
          <a:ln w="9525">
            <a:solidFill>
              <a:schemeClr val="accent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F7BE69-DF4F-9232-5D3C-BC9642A6C746}"/>
                  </a:ext>
                </a:extLst>
              </p:cNvPr>
              <p:cNvSpPr txBox="1"/>
              <p:nvPr/>
            </p:nvSpPr>
            <p:spPr>
              <a:xfrm>
                <a:off x="288082" y="890009"/>
                <a:ext cx="6293693" cy="51964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pPr marL="171450" indent="-171450" rtl="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hu-HU" sz="1200" b="1" dirty="0"/>
                  <a:t>Purpose of ABS</a:t>
                </a:r>
                <a:r>
                  <a:rPr lang="hu-HU" sz="1200" dirty="0"/>
                  <a:t>:</a:t>
                </a:r>
                <a:br>
                  <a:rPr lang="hu-HU" sz="1200" dirty="0"/>
                </a:br>
                <a:r>
                  <a:rPr lang="hu-HU" sz="1200" dirty="0"/>
                  <a:t>ABS </a:t>
                </a:r>
                <a:r>
                  <a:rPr lang="hu-HU" sz="1200" dirty="0" err="1"/>
                  <a:t>helps</a:t>
                </a:r>
                <a:r>
                  <a:rPr lang="hu-HU" sz="1200" dirty="0"/>
                  <a:t> driver </a:t>
                </a:r>
                <a:r>
                  <a:rPr lang="hu-HU" sz="1200" dirty="0" err="1"/>
                  <a:t>to</a:t>
                </a:r>
                <a:r>
                  <a:rPr lang="hu-HU" sz="1200" dirty="0"/>
                  <a:t> </a:t>
                </a:r>
                <a:r>
                  <a:rPr lang="hu-HU" sz="1200" dirty="0" err="1"/>
                  <a:t>steer</a:t>
                </a:r>
                <a:r>
                  <a:rPr lang="hu-HU" sz="1200" dirty="0"/>
                  <a:t> </a:t>
                </a:r>
                <a:r>
                  <a:rPr lang="hu-HU" sz="1200" dirty="0" err="1"/>
                  <a:t>to</a:t>
                </a:r>
                <a:r>
                  <a:rPr lang="hu-HU" sz="1200" dirty="0"/>
                  <a:t> </a:t>
                </a:r>
                <a:r>
                  <a:rPr lang="hu-HU" sz="1200" dirty="0" err="1"/>
                  <a:t>safety</a:t>
                </a:r>
                <a:r>
                  <a:rPr lang="hu-HU" sz="1200" dirty="0"/>
                  <a:t> </a:t>
                </a:r>
                <a:r>
                  <a:rPr lang="hu-HU" sz="1200" dirty="0" err="1"/>
                  <a:t>by</a:t>
                </a:r>
                <a:r>
                  <a:rPr lang="hu-HU" sz="1200" dirty="0"/>
                  <a:t> </a:t>
                </a:r>
                <a:r>
                  <a:rPr lang="hu-HU" sz="1200" dirty="0" err="1"/>
                  <a:t>preventing</a:t>
                </a:r>
                <a:r>
                  <a:rPr lang="hu-HU" sz="1200" dirty="0"/>
                  <a:t> </a:t>
                </a:r>
                <a:r>
                  <a:rPr lang="hu-HU" sz="1200" dirty="0" err="1"/>
                  <a:t>wheels</a:t>
                </a:r>
                <a:r>
                  <a:rPr lang="hu-HU" sz="1200" dirty="0"/>
                  <a:t> </a:t>
                </a:r>
                <a:r>
                  <a:rPr lang="hu-HU" sz="1200" dirty="0" err="1"/>
                  <a:t>locking</a:t>
                </a:r>
                <a:r>
                  <a:rPr lang="hu-HU" sz="1200" dirty="0"/>
                  <a:t> </a:t>
                </a:r>
                <a:r>
                  <a:rPr lang="hu-HU" sz="1200" dirty="0" err="1"/>
                  <a:t>up</a:t>
                </a:r>
                <a:r>
                  <a:rPr lang="hu-HU" sz="1200" dirty="0"/>
                  <a:t> </a:t>
                </a:r>
                <a:r>
                  <a:rPr lang="hu-HU" sz="1200" dirty="0" err="1"/>
                  <a:t>at</a:t>
                </a:r>
                <a:r>
                  <a:rPr lang="hu-HU" sz="1200" dirty="0"/>
                  <a:t> </a:t>
                </a:r>
                <a:r>
                  <a:rPr lang="hu-HU" sz="1200" dirty="0" err="1"/>
                  <a:t>braking</a:t>
                </a:r>
                <a:r>
                  <a:rPr lang="hu-HU" sz="1200" dirty="0"/>
                  <a:t>. </a:t>
                </a:r>
              </a:p>
              <a:p>
                <a:pPr rtl="0">
                  <a:spcBef>
                    <a:spcPts val="100"/>
                  </a:spcBef>
                </a:pPr>
                <a:endParaRPr lang="hu-HU" sz="1200" dirty="0"/>
              </a:p>
              <a:p>
                <a:pPr marL="171450" indent="-171450" rtl="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hu-HU" sz="1200" b="1" dirty="0" err="1"/>
                  <a:t>Operating</a:t>
                </a:r>
                <a:r>
                  <a:rPr lang="hu-HU" sz="1200" b="1" dirty="0"/>
                  <a:t> </a:t>
                </a:r>
                <a:r>
                  <a:rPr lang="hu-HU" sz="1200" b="1" dirty="0" err="1"/>
                  <a:t>principle</a:t>
                </a:r>
                <a:r>
                  <a:rPr lang="hu-HU" sz="1200" dirty="0"/>
                  <a:t>:</a:t>
                </a:r>
                <a:br>
                  <a:rPr lang="hu-HU" sz="1200" dirty="0"/>
                </a:br>
                <a:r>
                  <a:rPr lang="hu-HU" sz="1200" dirty="0"/>
                  <a:t>ABS </a:t>
                </a:r>
                <a:r>
                  <a:rPr lang="hu-HU" sz="1200" dirty="0" err="1"/>
                  <a:t>sensors</a:t>
                </a:r>
                <a:r>
                  <a:rPr lang="hu-HU" sz="1200" dirty="0"/>
                  <a:t> </a:t>
                </a:r>
                <a:r>
                  <a:rPr lang="hu-HU" sz="1200" dirty="0" err="1"/>
                  <a:t>are</a:t>
                </a:r>
                <a:r>
                  <a:rPr lang="hu-HU" sz="1200" dirty="0"/>
                  <a:t> </a:t>
                </a:r>
                <a:r>
                  <a:rPr lang="hu-HU" sz="1200" dirty="0" err="1"/>
                  <a:t>continuously</a:t>
                </a:r>
                <a:r>
                  <a:rPr lang="hu-HU" sz="1200" dirty="0"/>
                  <a:t> </a:t>
                </a:r>
                <a:r>
                  <a:rPr lang="hu-HU" sz="1200" dirty="0" err="1"/>
                  <a:t>checking</a:t>
                </a:r>
                <a:r>
                  <a:rPr lang="hu-HU" sz="1200" dirty="0"/>
                  <a:t> </a:t>
                </a:r>
                <a:r>
                  <a:rPr lang="hu-HU" sz="1200" dirty="0" err="1"/>
                  <a:t>rotation</a:t>
                </a:r>
                <a:r>
                  <a:rPr lang="hu-HU" sz="1200" dirty="0"/>
                  <a:t> of </a:t>
                </a:r>
                <a:r>
                  <a:rPr lang="hu-HU" sz="1200" dirty="0" err="1"/>
                  <a:t>wheels</a:t>
                </a:r>
                <a:r>
                  <a:rPr lang="hu-HU" sz="1200" dirty="0"/>
                  <a:t>. </a:t>
                </a:r>
                <a:r>
                  <a:rPr lang="hu-HU" sz="1200" dirty="0" err="1"/>
                  <a:t>This</a:t>
                </a:r>
                <a:r>
                  <a:rPr lang="hu-HU" sz="1200" dirty="0"/>
                  <a:t> </a:t>
                </a:r>
                <a:r>
                  <a:rPr lang="hu-HU" sz="1200" dirty="0" err="1"/>
                  <a:t>measurement</a:t>
                </a:r>
                <a:r>
                  <a:rPr lang="hu-HU" sz="1200" dirty="0"/>
                  <a:t> is </a:t>
                </a:r>
                <a:r>
                  <a:rPr lang="hu-HU" sz="1200" dirty="0" err="1"/>
                  <a:t>based</a:t>
                </a:r>
                <a:r>
                  <a:rPr lang="hu-HU" sz="1200" dirty="0"/>
                  <a:t> </a:t>
                </a:r>
                <a:r>
                  <a:rPr lang="hu-HU" sz="1200" dirty="0" err="1"/>
                  <a:t>on</a:t>
                </a:r>
                <a:r>
                  <a:rPr lang="hu-HU" sz="1200" dirty="0"/>
                  <a:t> a </a:t>
                </a:r>
                <a:r>
                  <a:rPr lang="hu-HU" sz="1200" dirty="0" err="1"/>
                  <a:t>roation</a:t>
                </a:r>
                <a:r>
                  <a:rPr lang="hu-HU" sz="1200" dirty="0"/>
                  <a:t> </a:t>
                </a:r>
                <a:r>
                  <a:rPr lang="hu-HU" sz="1200" dirty="0" err="1"/>
                  <a:t>counter</a:t>
                </a:r>
                <a:r>
                  <a:rPr lang="hu-HU" sz="1200" dirty="0"/>
                  <a:t> </a:t>
                </a:r>
                <a:r>
                  <a:rPr lang="hu-HU" sz="1200" dirty="0" err="1"/>
                  <a:t>component</a:t>
                </a:r>
                <a:r>
                  <a:rPr lang="hu-HU" sz="1200" dirty="0"/>
                  <a:t>, </a:t>
                </a:r>
                <a:r>
                  <a:rPr lang="hu-HU" sz="1200" dirty="0" err="1"/>
                  <a:t>called</a:t>
                </a:r>
                <a:r>
                  <a:rPr lang="hu-HU" sz="1200" dirty="0"/>
                  <a:t> ABS </a:t>
                </a:r>
                <a:r>
                  <a:rPr lang="hu-HU" sz="1200" dirty="0" err="1"/>
                  <a:t>gear</a:t>
                </a:r>
                <a:r>
                  <a:rPr lang="hu-HU" sz="1200" dirty="0"/>
                  <a:t> </a:t>
                </a:r>
                <a:r>
                  <a:rPr lang="hu-HU" sz="1200" dirty="0" err="1"/>
                  <a:t>wheel</a:t>
                </a:r>
                <a:r>
                  <a:rPr lang="hu-HU" sz="1200" dirty="0"/>
                  <a:t>. </a:t>
                </a:r>
                <a:r>
                  <a:rPr lang="hu-HU" sz="1200" dirty="0" err="1"/>
                  <a:t>This</a:t>
                </a:r>
                <a:r>
                  <a:rPr lang="hu-HU" sz="1200" dirty="0"/>
                  <a:t> </a:t>
                </a:r>
                <a:r>
                  <a:rPr lang="hu-HU" sz="1200" dirty="0" err="1"/>
                  <a:t>gear</a:t>
                </a:r>
                <a:r>
                  <a:rPr lang="hu-HU" sz="1200" dirty="0"/>
                  <a:t> </a:t>
                </a:r>
                <a:r>
                  <a:rPr lang="hu-HU" sz="1200" dirty="0" err="1"/>
                  <a:t>wheel</a:t>
                </a:r>
                <a:r>
                  <a:rPr lang="hu-HU" sz="1200" dirty="0"/>
                  <a:t> has „</a:t>
                </a:r>
                <a:r>
                  <a:rPr lang="hu-HU" sz="1200" dirty="0" err="1"/>
                  <a:t>teeth</a:t>
                </a:r>
                <a:r>
                  <a:rPr lang="hu-HU" sz="1200" dirty="0"/>
                  <a:t>” (</a:t>
                </a:r>
                <a:r>
                  <a:rPr lang="hu-HU" sz="1200" dirty="0" err="1"/>
                  <a:t>impulse</a:t>
                </a:r>
                <a:r>
                  <a:rPr lang="hu-HU" sz="1200" dirty="0"/>
                  <a:t>), </a:t>
                </a:r>
                <a:r>
                  <a:rPr lang="hu-HU" sz="1200" dirty="0" err="1"/>
                  <a:t>counted</a:t>
                </a:r>
                <a:r>
                  <a:rPr lang="hu-HU" sz="1200" dirty="0"/>
                  <a:t> </a:t>
                </a:r>
                <a:r>
                  <a:rPr lang="hu-HU" sz="1200" dirty="0" err="1"/>
                  <a:t>by</a:t>
                </a:r>
                <a:r>
                  <a:rPr lang="hu-HU" sz="1200" dirty="0"/>
                  <a:t> </a:t>
                </a:r>
                <a:r>
                  <a:rPr lang="hu-HU" sz="1200" dirty="0" err="1"/>
                  <a:t>connected</a:t>
                </a:r>
                <a:r>
                  <a:rPr lang="hu-HU" sz="1200" dirty="0"/>
                  <a:t> </a:t>
                </a:r>
                <a:r>
                  <a:rPr lang="hu-HU" sz="1200" dirty="0" err="1"/>
                  <a:t>sensor</a:t>
                </a:r>
                <a:r>
                  <a:rPr lang="hu-HU" sz="1200" dirty="0"/>
                  <a:t>.</a:t>
                </a:r>
              </a:p>
              <a:p>
                <a:pPr marL="171450" indent="-171450" rtl="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endParaRPr lang="hu-HU" sz="1200" dirty="0"/>
              </a:p>
              <a:p>
                <a:pPr marL="171450" indent="-171450" rtl="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hu-HU" sz="1200" b="1" dirty="0"/>
                  <a:t>ADAS_HIL </a:t>
                </a:r>
                <a:r>
                  <a:rPr lang="hu-HU" sz="1200" b="1" dirty="0" err="1"/>
                  <a:t>parameters</a:t>
                </a:r>
                <a:r>
                  <a:rPr lang="hu-HU" sz="1200" dirty="0"/>
                  <a:t>:</a:t>
                </a:r>
              </a:p>
              <a:p>
                <a:pPr marL="628388" lvl="1" indent="-17145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hu-HU" sz="1200" dirty="0">
                    <a:solidFill>
                      <a:srgbClr val="008000"/>
                    </a:solidFill>
                  </a:rPr>
                  <a:t>WIC </a:t>
                </a:r>
                <a:r>
                  <a:rPr lang="hu-HU" sz="1200" dirty="0" err="1">
                    <a:solidFill>
                      <a:srgbClr val="008000"/>
                    </a:solidFill>
                  </a:rPr>
                  <a:t>teeth</a:t>
                </a:r>
                <a:r>
                  <a:rPr lang="hu-HU" sz="1200" dirty="0"/>
                  <a:t>: </a:t>
                </a:r>
                <a:r>
                  <a:rPr lang="hu-HU" sz="1200" dirty="0" err="1"/>
                  <a:t>number</a:t>
                </a:r>
                <a:r>
                  <a:rPr lang="hu-HU" sz="1200" dirty="0"/>
                  <a:t> of </a:t>
                </a:r>
                <a:r>
                  <a:rPr lang="hu-HU" sz="1200" dirty="0" err="1"/>
                  <a:t>teeth</a:t>
                </a:r>
                <a:r>
                  <a:rPr lang="hu-HU" sz="1200" dirty="0"/>
                  <a:t> (</a:t>
                </a:r>
                <a:r>
                  <a:rPr lang="hu-HU" sz="1200" dirty="0" err="1"/>
                  <a:t>impulses</a:t>
                </a:r>
                <a:r>
                  <a:rPr lang="hu-HU" sz="1200" dirty="0"/>
                  <a:t>) </a:t>
                </a:r>
                <a:r>
                  <a:rPr lang="hu-HU" sz="1200" dirty="0" err="1"/>
                  <a:t>on</a:t>
                </a:r>
                <a:r>
                  <a:rPr lang="hu-HU" sz="1200" dirty="0"/>
                  <a:t> ABS </a:t>
                </a:r>
                <a:r>
                  <a:rPr lang="hu-HU" sz="1200" dirty="0" err="1"/>
                  <a:t>gear</a:t>
                </a:r>
                <a:r>
                  <a:rPr lang="hu-HU" sz="1200" dirty="0"/>
                  <a:t> </a:t>
                </a:r>
                <a:r>
                  <a:rPr lang="hu-HU" sz="1200" dirty="0" err="1"/>
                  <a:t>wheel</a:t>
                </a:r>
                <a:endParaRPr lang="hu-HU" sz="1200" dirty="0"/>
              </a:p>
              <a:p>
                <a:pPr marL="628388" lvl="1" indent="-17145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hu-HU" sz="1200" dirty="0">
                    <a:solidFill>
                      <a:srgbClr val="008000"/>
                    </a:solidFill>
                  </a:rPr>
                  <a:t>WIC </a:t>
                </a:r>
                <a:r>
                  <a:rPr lang="hu-HU" sz="1200" dirty="0" err="1">
                    <a:solidFill>
                      <a:srgbClr val="008000"/>
                    </a:solidFill>
                  </a:rPr>
                  <a:t>length</a:t>
                </a:r>
                <a:r>
                  <a:rPr lang="hu-HU" sz="1200" dirty="0"/>
                  <a:t>: WIC </a:t>
                </a:r>
                <a:r>
                  <a:rPr lang="hu-HU" sz="1200" dirty="0" err="1"/>
                  <a:t>impulse</a:t>
                </a:r>
                <a:r>
                  <a:rPr lang="hu-HU" sz="1200" dirty="0"/>
                  <a:t> </a:t>
                </a:r>
                <a:r>
                  <a:rPr lang="hu-HU" sz="1200" dirty="0" err="1"/>
                  <a:t>length</a:t>
                </a:r>
                <a:r>
                  <a:rPr lang="hu-HU" sz="1200" dirty="0"/>
                  <a:t> (</a:t>
                </a:r>
                <a:r>
                  <a:rPr lang="hu-HU" sz="1200" dirty="0" err="1"/>
                  <a:t>length</a:t>
                </a:r>
                <a:r>
                  <a:rPr lang="hu-HU" sz="1200" dirty="0"/>
                  <a:t> of </a:t>
                </a:r>
                <a:r>
                  <a:rPr lang="hu-HU" sz="1200" dirty="0" err="1"/>
                  <a:t>one</a:t>
                </a:r>
                <a:r>
                  <a:rPr lang="hu-HU" sz="1200" dirty="0"/>
                  <a:t> </a:t>
                </a:r>
                <a:r>
                  <a:rPr lang="hu-HU" sz="1200" dirty="0" err="1"/>
                  <a:t>impulse</a:t>
                </a:r>
                <a:r>
                  <a:rPr lang="hu-HU" sz="1200" dirty="0"/>
                  <a:t> </a:t>
                </a:r>
                <a:r>
                  <a:rPr lang="hu-HU" sz="1200" dirty="0" err="1"/>
                  <a:t>translated</a:t>
                </a:r>
                <a:r>
                  <a:rPr lang="hu-HU" sz="1200" dirty="0"/>
                  <a:t> </a:t>
                </a:r>
                <a:r>
                  <a:rPr lang="hu-HU" sz="1200" dirty="0" err="1"/>
                  <a:t>to</a:t>
                </a:r>
                <a:r>
                  <a:rPr lang="hu-HU" sz="1200" dirty="0"/>
                  <a:t> </a:t>
                </a:r>
                <a:r>
                  <a:rPr lang="hu-HU" sz="1200" dirty="0" err="1"/>
                  <a:t>tire</a:t>
                </a:r>
                <a:r>
                  <a:rPr lang="hu-HU" sz="1200" dirty="0"/>
                  <a:t> </a:t>
                </a:r>
                <a:r>
                  <a:rPr lang="hu-HU" sz="1200" dirty="0" err="1"/>
                  <a:t>circumference</a:t>
                </a:r>
                <a:r>
                  <a:rPr lang="hu-HU" sz="1200" dirty="0"/>
                  <a:t>: </a:t>
                </a:r>
                <a:br>
                  <a:rPr lang="hu-HU" sz="1200" dirty="0"/>
                </a:br>
                <a:r>
                  <a:rPr lang="hu-HU" sz="1200" dirty="0"/>
                  <a:t>	</a:t>
                </a:r>
                <a14:m>
                  <m:oMath xmlns:m="http://schemas.openxmlformats.org/officeDocument/2006/math">
                    <m:r>
                      <a:rPr lang="hu-HU" sz="1100" b="0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𝑊𝐼𝐶</m:t>
                    </m:r>
                    <m:r>
                      <a:rPr lang="hu-HU" sz="1100" b="0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hu-HU" sz="1100" b="0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hu-HU" sz="11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hu-HU" sz="1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u-HU" sz="1100" b="0" i="1" smtClean="0">
                            <a:latin typeface="Cambria Math" panose="02040503050406030204" pitchFamily="18" charset="0"/>
                          </a:rPr>
                          <m:t>𝑡𝑖𝑟𝑒</m:t>
                        </m:r>
                        <m:r>
                          <a:rPr lang="hu-HU" sz="1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1100" b="0" i="1" smtClean="0">
                            <a:latin typeface="Cambria Math" panose="02040503050406030204" pitchFamily="18" charset="0"/>
                          </a:rPr>
                          <m:t>𝑐𝑖𝑟𝑐𝑢𝑚𝑓𝑒𝑟𝑒𝑛𝑐𝑒</m:t>
                        </m:r>
                      </m:num>
                      <m:den>
                        <m:r>
                          <a:rPr lang="hu-HU" sz="11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𝑊𝐼𝐶</m:t>
                        </m:r>
                        <m:r>
                          <a:rPr lang="hu-HU" sz="11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u-HU" sz="11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𝑡𝑒𝑒𝑡h</m:t>
                        </m:r>
                      </m:den>
                    </m:f>
                  </m:oMath>
                </a14:m>
                <a:r>
                  <a:rPr lang="hu-HU" sz="1200" dirty="0"/>
                  <a:t>)</a:t>
                </a:r>
              </a:p>
              <a:p>
                <a:pPr marL="628388" lvl="1" indent="-17145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hu-HU" sz="1200" dirty="0">
                    <a:solidFill>
                      <a:srgbClr val="008000"/>
                    </a:solidFill>
                  </a:rPr>
                  <a:t>WIC </a:t>
                </a:r>
                <a:r>
                  <a:rPr lang="hu-HU" sz="1200" dirty="0" err="1">
                    <a:solidFill>
                      <a:srgbClr val="008000"/>
                    </a:solidFill>
                  </a:rPr>
                  <a:t>max</a:t>
                </a:r>
                <a:r>
                  <a:rPr lang="hu-HU" sz="1200" dirty="0"/>
                  <a:t>: WIC </a:t>
                </a:r>
                <a:r>
                  <a:rPr lang="hu-HU" sz="1200" dirty="0" err="1"/>
                  <a:t>max</a:t>
                </a:r>
                <a:r>
                  <a:rPr lang="hu-HU" sz="1200" dirty="0"/>
                  <a:t> </a:t>
                </a:r>
                <a:r>
                  <a:rPr lang="hu-HU" sz="1200" dirty="0" err="1"/>
                  <a:t>value</a:t>
                </a:r>
                <a:r>
                  <a:rPr lang="hu-HU" sz="1200" dirty="0"/>
                  <a:t> of </a:t>
                </a:r>
                <a:r>
                  <a:rPr lang="hu-HU" sz="1200" dirty="0" err="1"/>
                  <a:t>impulse</a:t>
                </a:r>
                <a:r>
                  <a:rPr lang="hu-HU" sz="1200" dirty="0"/>
                  <a:t> </a:t>
                </a:r>
                <a:r>
                  <a:rPr lang="hu-HU" sz="1200" dirty="0" err="1"/>
                  <a:t>counter</a:t>
                </a:r>
                <a:r>
                  <a:rPr lang="hu-HU" sz="1200" dirty="0"/>
                  <a:t> (</a:t>
                </a:r>
                <a:r>
                  <a:rPr lang="hu-HU" sz="1200" dirty="0" err="1"/>
                  <a:t>range</a:t>
                </a:r>
                <a:r>
                  <a:rPr lang="hu-HU" sz="1200" dirty="0"/>
                  <a:t> [0 .. </a:t>
                </a:r>
                <a:r>
                  <a:rPr lang="hu-HU" sz="1200" dirty="0" err="1"/>
                  <a:t>WIC_max</a:t>
                </a:r>
                <a:r>
                  <a:rPr lang="hu-HU" sz="1200" dirty="0"/>
                  <a:t>])</a:t>
                </a:r>
              </a:p>
              <a:p>
                <a:pPr>
                  <a:spcBef>
                    <a:spcPts val="100"/>
                  </a:spcBef>
                </a:pPr>
                <a:endParaRPr lang="hu-HU" sz="1200" dirty="0"/>
              </a:p>
              <a:p>
                <a:pPr marL="171450" indent="-17145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hu-HU" sz="1200" b="1" dirty="0"/>
                  <a:t>WIC </a:t>
                </a:r>
                <a:r>
                  <a:rPr lang="hu-HU" sz="1200" b="1" dirty="0" err="1"/>
                  <a:t>calculation</a:t>
                </a:r>
                <a:r>
                  <a:rPr lang="hu-HU" sz="1200" b="1" dirty="0"/>
                  <a:t> </a:t>
                </a:r>
                <a:r>
                  <a:rPr lang="hu-HU" sz="1200" b="1" dirty="0" err="1"/>
                  <a:t>for</a:t>
                </a:r>
                <a:r>
                  <a:rPr lang="hu-HU" sz="1200" b="1" dirty="0"/>
                  <a:t> a </a:t>
                </a:r>
                <a:r>
                  <a:rPr lang="hu-HU" sz="1200" b="1" dirty="0" err="1"/>
                  <a:t>wheel</a:t>
                </a:r>
                <a:r>
                  <a:rPr lang="hu-HU" sz="1200" dirty="0"/>
                  <a:t>:</a:t>
                </a:r>
              </a:p>
              <a:p>
                <a:pPr>
                  <a:spcBef>
                    <a:spcPts val="100"/>
                  </a:spcBef>
                </a:pPr>
                <a:endParaRPr lang="hu-HU" sz="1200" dirty="0"/>
              </a:p>
              <a:p>
                <a:pPr>
                  <a:spcBef>
                    <a:spcPts val="1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200" b="0" i="1" smtClean="0">
                          <a:latin typeface="Cambria Math" panose="02040503050406030204" pitchFamily="18" charset="0"/>
                        </a:rPr>
                        <m:t>𝑊𝐼𝐶</m:t>
                      </m:r>
                      <m:r>
                        <a:rPr lang="hu-HU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hu-HU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sz="1200" b="0" i="1" smtClean="0">
                              <a:latin typeface="Cambria Math" panose="02040503050406030204" pitchFamily="18" charset="0"/>
                            </a:rPr>
                            <m:t>𝑑𝑒𝑙𝑡𝑎</m:t>
                          </m:r>
                          <m:r>
                            <a:rPr lang="hu-HU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200" b="0" i="1" smtClean="0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  <m:r>
                            <a:rPr lang="hu-HU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200" b="0" i="1" smtClean="0">
                              <a:latin typeface="Cambria Math" panose="02040503050406030204" pitchFamily="18" charset="0"/>
                            </a:rPr>
                            <m:t>𝑡𝑟𝑎𝑣𝑒𝑙𝑒𝑑</m:t>
                          </m:r>
                          <m:r>
                            <a:rPr lang="hu-HU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200" b="0" i="1" smtClean="0"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hu-HU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200" b="0" i="1" smtClean="0">
                              <a:latin typeface="Cambria Math" panose="02040503050406030204" pitchFamily="18" charset="0"/>
                            </a:rPr>
                            <m:t>𝑤h𝑒𝑒𝑙</m:t>
                          </m:r>
                        </m:num>
                        <m:den>
                          <m:r>
                            <a:rPr lang="hu-HU" sz="1200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𝑊𝐼𝐶</m:t>
                          </m:r>
                          <m:r>
                            <a:rPr lang="hu-HU" sz="1200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u-HU" sz="1200" b="0" i="1" smtClean="0">
                              <a:solidFill>
                                <a:srgbClr val="008000"/>
                              </a:solidFill>
                              <a:latin typeface="Cambria Math" panose="02040503050406030204" pitchFamily="18" charset="0"/>
                            </a:rPr>
                            <m:t>𝑙𝑒𝑛𝑔𝑡h</m:t>
                          </m:r>
                        </m:den>
                      </m:f>
                      <m:r>
                        <a:rPr lang="hu-HU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12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hu-HU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1200" b="0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𝑊𝐼𝐶</m:t>
                      </m:r>
                      <m:r>
                        <a:rPr lang="hu-HU" sz="1200" b="0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u-HU" sz="1200" b="0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hu-HU" sz="1200" b="0" dirty="0">
                  <a:solidFill>
                    <a:srgbClr val="008000"/>
                  </a:solidFill>
                </a:endParaRPr>
              </a:p>
              <a:p>
                <a:pPr>
                  <a:spcBef>
                    <a:spcPts val="100"/>
                  </a:spcBef>
                </a:pPr>
                <a:endParaRPr lang="hu-HU" sz="1200" dirty="0"/>
              </a:p>
              <a:p>
                <a:pPr marL="171450" indent="-17145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hu-HU" sz="1200" b="1" dirty="0" err="1"/>
                  <a:t>See</a:t>
                </a:r>
                <a:r>
                  <a:rPr lang="hu-HU" sz="1200" b="1" dirty="0"/>
                  <a:t> </a:t>
                </a:r>
                <a:r>
                  <a:rPr lang="hu-HU" sz="1200" b="1" dirty="0" err="1"/>
                  <a:t>further</a:t>
                </a:r>
                <a:r>
                  <a:rPr lang="hu-HU" sz="1200" b="1" dirty="0"/>
                  <a:t> </a:t>
                </a:r>
                <a:r>
                  <a:rPr lang="hu-HU" sz="1200" b="1" dirty="0" err="1"/>
                  <a:t>calcution</a:t>
                </a:r>
                <a:r>
                  <a:rPr lang="hu-HU" sz="1200" b="1" dirty="0"/>
                  <a:t> </a:t>
                </a:r>
                <a:r>
                  <a:rPr lang="hu-HU" sz="1200" b="1" dirty="0" err="1"/>
                  <a:t>for</a:t>
                </a:r>
                <a:r>
                  <a:rPr lang="hu-HU" sz="1200" b="1" dirty="0"/>
                  <a:t> WIC</a:t>
                </a:r>
                <a:r>
                  <a:rPr lang="hu-HU" sz="1200" dirty="0"/>
                  <a:t>:</a:t>
                </a:r>
              </a:p>
              <a:p>
                <a:endParaRPr lang="hu-HU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F7BE69-DF4F-9232-5D3C-BC9642A6C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82" y="890009"/>
                <a:ext cx="6293693" cy="5196466"/>
              </a:xfrm>
              <a:prstGeom prst="rect">
                <a:avLst/>
              </a:prstGeom>
              <a:blipFill>
                <a:blip r:embed="rId3"/>
                <a:stretch>
                  <a:fillRect l="-1355" t="-1056" r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CB696638-32E2-379A-6FB8-B58E4498B6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6853663"/>
              </p:ext>
            </p:extLst>
          </p:nvPr>
        </p:nvGraphicFramePr>
        <p:xfrm>
          <a:off x="680907" y="5196466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400" imgH="771525" progId="Excel.Sheet.12">
                  <p:embed/>
                </p:oleObj>
              </mc:Choice>
              <mc:Fallback>
                <p:oleObj name="Worksheet" showAsIcon="1" r:id="rId4" imgW="914400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0907" y="5196466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9830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E2C4-5DAE-C13B-F72C-4E653602D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Steering</a:t>
            </a:r>
            <a:r>
              <a:rPr lang="hu-HU" dirty="0"/>
              <a:t> </a:t>
            </a:r>
            <a:r>
              <a:rPr lang="hu-HU" dirty="0" err="1"/>
              <a:t>system</a:t>
            </a:r>
            <a:r>
              <a:rPr lang="hu-HU" dirty="0"/>
              <a:t> </a:t>
            </a:r>
            <a:r>
              <a:rPr lang="hu-HU" dirty="0" err="1"/>
              <a:t>simualtion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Steering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system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model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30</a:t>
            </a:fld>
            <a:endParaRPr lang="en-U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FA503-AB27-5BE0-E3DB-2A24E0A009DF}"/>
              </a:ext>
            </a:extLst>
          </p:cNvPr>
          <p:cNvSpPr txBox="1"/>
          <p:nvPr/>
        </p:nvSpPr>
        <p:spPr>
          <a:xfrm>
            <a:off x="288083" y="890008"/>
            <a:ext cx="11225737" cy="48402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hu-HU" dirty="0" err="1"/>
              <a:t>Steering</a:t>
            </a:r>
            <a:r>
              <a:rPr lang="hu-HU" dirty="0"/>
              <a:t> </a:t>
            </a:r>
            <a:r>
              <a:rPr lang="hu-HU" dirty="0" err="1"/>
              <a:t>system</a:t>
            </a:r>
            <a:r>
              <a:rPr lang="hu-HU" dirty="0"/>
              <a:t> </a:t>
            </a:r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provides</a:t>
            </a:r>
            <a:r>
              <a:rPr lang="hu-HU" dirty="0"/>
              <a:t> </a:t>
            </a:r>
            <a:r>
              <a:rPr lang="hu-HU" dirty="0" err="1"/>
              <a:t>functions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simulate</a:t>
            </a:r>
            <a:r>
              <a:rPr lang="hu-HU" dirty="0"/>
              <a:t> </a:t>
            </a:r>
            <a:r>
              <a:rPr lang="hu-HU" dirty="0" err="1"/>
              <a:t>steering</a:t>
            </a:r>
            <a:r>
              <a:rPr lang="hu-HU" dirty="0"/>
              <a:t> </a:t>
            </a:r>
            <a:r>
              <a:rPr lang="hu-HU" dirty="0" err="1"/>
              <a:t>mechanism</a:t>
            </a:r>
            <a:r>
              <a:rPr lang="hu-HU" dirty="0"/>
              <a:t>, like: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hu-HU" dirty="0" err="1"/>
              <a:t>steering</a:t>
            </a:r>
            <a:r>
              <a:rPr lang="hu-HU" dirty="0"/>
              <a:t> </a:t>
            </a:r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types</a:t>
            </a:r>
            <a:r>
              <a:rPr lang="hu-HU" dirty="0"/>
              <a:t>:</a:t>
            </a:r>
          </a:p>
          <a:p>
            <a:pPr marL="742688" lvl="1" indent="-285750">
              <a:buFont typeface="Arial" panose="020B0604020202020204" pitchFamily="34" charset="0"/>
              <a:buChar char="•"/>
            </a:pPr>
            <a:r>
              <a:rPr lang="hu-HU" dirty="0"/>
              <a:t>SWA-RWA ratio</a:t>
            </a:r>
          </a:p>
          <a:p>
            <a:pPr marL="742688" lvl="1" indent="-285750">
              <a:buFont typeface="Arial" panose="020B0604020202020204" pitchFamily="34" charset="0"/>
              <a:buChar char="•"/>
            </a:pPr>
            <a:r>
              <a:rPr lang="hu-HU" dirty="0" err="1"/>
              <a:t>rack</a:t>
            </a:r>
            <a:r>
              <a:rPr lang="hu-HU" dirty="0"/>
              <a:t> </a:t>
            </a:r>
            <a:r>
              <a:rPr lang="hu-HU" dirty="0" err="1"/>
              <a:t>travel</a:t>
            </a:r>
            <a:endParaRPr lang="hu-HU" dirty="0"/>
          </a:p>
          <a:p>
            <a:pPr marL="742688" lvl="1" indent="-285750">
              <a:buFont typeface="Arial" panose="020B0604020202020204" pitchFamily="34" charset="0"/>
              <a:buChar char="•"/>
            </a:pPr>
            <a:r>
              <a:rPr lang="hu-HU" i="1" dirty="0">
                <a:solidFill>
                  <a:schemeClr val="bg1">
                    <a:lumMod val="65000"/>
                  </a:schemeClr>
                </a:solidFill>
              </a:rPr>
              <a:t>SWA-RWA ratio </a:t>
            </a:r>
            <a:r>
              <a:rPr lang="hu-HU" i="1" dirty="0" err="1">
                <a:solidFill>
                  <a:schemeClr val="bg1">
                    <a:lumMod val="65000"/>
                  </a:schemeClr>
                </a:solidFill>
              </a:rPr>
              <a:t>table</a:t>
            </a:r>
            <a:r>
              <a:rPr lang="hu-HU" i="1" dirty="0">
                <a:solidFill>
                  <a:schemeClr val="bg1">
                    <a:lumMod val="65000"/>
                  </a:schemeClr>
                </a:solidFill>
              </a:rPr>
              <a:t> (</a:t>
            </a:r>
            <a:r>
              <a:rPr lang="hu-HU" i="1" dirty="0">
                <a:solidFill>
                  <a:srgbClr val="FF0000"/>
                </a:solidFill>
              </a:rPr>
              <a:t>TBD</a:t>
            </a:r>
            <a:r>
              <a:rPr lang="hu-HU" i="1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hu-HU" dirty="0" err="1"/>
              <a:t>bi-directional</a:t>
            </a:r>
            <a:r>
              <a:rPr lang="hu-HU" dirty="0"/>
              <a:t> conversion </a:t>
            </a:r>
            <a:r>
              <a:rPr lang="hu-HU" dirty="0" err="1"/>
              <a:t>between</a:t>
            </a:r>
            <a:r>
              <a:rPr lang="hu-HU" dirty="0"/>
              <a:t> SWA and RWA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hu-HU" dirty="0" err="1"/>
              <a:t>confinement</a:t>
            </a:r>
            <a:r>
              <a:rPr lang="hu-HU" dirty="0"/>
              <a:t> of SWA and RWA (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min. </a:t>
            </a:r>
            <a:r>
              <a:rPr lang="hu-HU" dirty="0" err="1"/>
              <a:t>turning</a:t>
            </a:r>
            <a:r>
              <a:rPr lang="hu-HU" dirty="0"/>
              <a:t> </a:t>
            </a:r>
            <a:r>
              <a:rPr lang="hu-HU" dirty="0" err="1"/>
              <a:t>radius</a:t>
            </a:r>
            <a:r>
              <a:rPr lang="hu-HU" dirty="0"/>
              <a:t> of Ego </a:t>
            </a:r>
            <a:r>
              <a:rPr lang="hu-HU" dirty="0" err="1"/>
              <a:t>vehicle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9351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Steering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system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types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31</a:t>
            </a:fld>
            <a:endParaRPr lang="en-U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FA503-AB27-5BE0-E3DB-2A24E0A009DF}"/>
              </a:ext>
            </a:extLst>
          </p:cNvPr>
          <p:cNvSpPr txBox="1"/>
          <p:nvPr/>
        </p:nvSpPr>
        <p:spPr>
          <a:xfrm>
            <a:off x="288083" y="890009"/>
            <a:ext cx="5898439" cy="15604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hu-HU" dirty="0" err="1"/>
              <a:t>Steering</a:t>
            </a:r>
            <a:r>
              <a:rPr lang="hu-HU" dirty="0"/>
              <a:t> </a:t>
            </a:r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type</a:t>
            </a:r>
            <a:r>
              <a:rPr lang="hu-HU" dirty="0"/>
              <a:t> #1: </a:t>
            </a:r>
            <a:r>
              <a:rPr lang="hu-HU" dirty="0">
                <a:highlight>
                  <a:srgbClr val="E1FFE1"/>
                </a:highlight>
              </a:rPr>
              <a:t>SWA-RWA ratio</a:t>
            </a:r>
          </a:p>
          <a:p>
            <a:pPr rtl="0"/>
            <a:endParaRPr lang="hu-HU" sz="1200" dirty="0"/>
          </a:p>
          <a:p>
            <a:pPr rtl="0"/>
            <a:r>
              <a:rPr lang="hu-HU" sz="1200" i="1" dirty="0"/>
              <a:t>RWA = SWA * </a:t>
            </a:r>
            <a:r>
              <a:rPr lang="hu-HU" sz="1200" i="1" dirty="0" err="1"/>
              <a:t>SWA_RWA_ratio</a:t>
            </a:r>
            <a:endParaRPr lang="hu-HU" sz="1200" i="1" dirty="0"/>
          </a:p>
          <a:p>
            <a:pPr rtl="0"/>
            <a:endParaRPr lang="hu-HU" sz="1200" i="1" dirty="0"/>
          </a:p>
          <a:p>
            <a:pPr rtl="0"/>
            <a:r>
              <a:rPr lang="hu-HU" sz="1200" dirty="0" err="1"/>
              <a:t>Where</a:t>
            </a:r>
            <a:endParaRPr lang="hu-HU" sz="1200" dirty="0"/>
          </a:p>
          <a:p>
            <a:pPr lvl="1"/>
            <a:r>
              <a:rPr lang="hu-HU" sz="1200" i="1" dirty="0" err="1"/>
              <a:t>SWA_RWA_ratio</a:t>
            </a:r>
            <a:r>
              <a:rPr lang="hu-HU" sz="1200" dirty="0"/>
              <a:t> is </a:t>
            </a:r>
            <a:r>
              <a:rPr lang="hu-HU" sz="1200" dirty="0" err="1"/>
              <a:t>paramater</a:t>
            </a:r>
            <a:endParaRPr lang="hu-HU" sz="12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EB9F14-4C2C-A211-F525-332A035B39B4}"/>
              </a:ext>
            </a:extLst>
          </p:cNvPr>
          <p:cNvGrpSpPr/>
          <p:nvPr/>
        </p:nvGrpSpPr>
        <p:grpSpPr>
          <a:xfrm>
            <a:off x="5302058" y="867188"/>
            <a:ext cx="4671721" cy="4400250"/>
            <a:chOff x="5302058" y="867188"/>
            <a:chExt cx="4671721" cy="4400250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C4B9E68D-CECA-E7AF-82B6-FB1B07D6EA34}"/>
                </a:ext>
              </a:extLst>
            </p:cNvPr>
            <p:cNvGrpSpPr/>
            <p:nvPr/>
          </p:nvGrpSpPr>
          <p:grpSpPr>
            <a:xfrm rot="15279949">
              <a:off x="6695487" y="1089072"/>
              <a:ext cx="1837995" cy="1574427"/>
              <a:chOff x="6883613" y="1414674"/>
              <a:chExt cx="1837995" cy="1574427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7BA6E3C-7A5E-A5B3-F20B-C3CEC119EF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268538">
                <a:off x="6858700" y="1449460"/>
                <a:ext cx="1564554" cy="1514727"/>
              </a:xfrm>
              <a:prstGeom prst="rect">
                <a:avLst/>
              </a:prstGeom>
            </p:spPr>
          </p:pic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2BA1530-D4DB-C46F-EFEC-476D5FA1F2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68758" y="1414674"/>
                <a:ext cx="1052850" cy="780485"/>
              </a:xfrm>
              <a:prstGeom prst="line">
                <a:avLst/>
              </a:prstGeom>
              <a:ln w="12700">
                <a:solidFill>
                  <a:srgbClr val="00B0F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0B2FD05-D1C1-DA6C-085C-68A2646123DA}"/>
                </a:ext>
              </a:extLst>
            </p:cNvPr>
            <p:cNvGrpSpPr/>
            <p:nvPr/>
          </p:nvGrpSpPr>
          <p:grpSpPr>
            <a:xfrm>
              <a:off x="5302058" y="3336380"/>
              <a:ext cx="754589" cy="1308511"/>
              <a:chOff x="6521259" y="2898916"/>
              <a:chExt cx="603671" cy="1046809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B450CC21-AEDE-69E5-3942-A7B19578F05F}"/>
                  </a:ext>
                </a:extLst>
              </p:cNvPr>
              <p:cNvSpPr/>
              <p:nvPr/>
            </p:nvSpPr>
            <p:spPr>
              <a:xfrm rot="1367801">
                <a:off x="6521259" y="2898916"/>
                <a:ext cx="603671" cy="104680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C8E3A0A-1EE0-E853-05F2-C839357D04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20852" y="3421365"/>
                <a:ext cx="281940" cy="121920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7C5CFBB-DF29-748E-D831-E219484A8A81}"/>
                </a:ext>
              </a:extLst>
            </p:cNvPr>
            <p:cNvGrpSpPr/>
            <p:nvPr/>
          </p:nvGrpSpPr>
          <p:grpSpPr>
            <a:xfrm rot="21286659">
              <a:off x="9219190" y="3564977"/>
              <a:ext cx="754589" cy="1308511"/>
              <a:chOff x="9642265" y="3100843"/>
              <a:chExt cx="603671" cy="1046809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B517B32B-E4AD-C914-4BE1-37CAC1DED8FE}"/>
                  </a:ext>
                </a:extLst>
              </p:cNvPr>
              <p:cNvSpPr/>
              <p:nvPr/>
            </p:nvSpPr>
            <p:spPr>
              <a:xfrm rot="962443">
                <a:off x="9642265" y="3100843"/>
                <a:ext cx="603671" cy="104680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300A682-83E6-BB89-E531-68D5D07F22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57522" y="3541851"/>
                <a:ext cx="286578" cy="82397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4780394-462E-151A-FF5A-101E04D343CC}"/>
                </a:ext>
              </a:extLst>
            </p:cNvPr>
            <p:cNvSpPr/>
            <p:nvPr/>
          </p:nvSpPr>
          <p:spPr>
            <a:xfrm rot="960490">
              <a:off x="7265744" y="3484832"/>
              <a:ext cx="754589" cy="1308511"/>
            </a:xfrm>
            <a:prstGeom prst="roundRect">
              <a:avLst/>
            </a:prstGeom>
            <a:solidFill>
              <a:srgbClr val="FFCCCC"/>
            </a:solidFill>
            <a:ln w="9525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2D71F94-1644-FE6A-0010-0D0603245590}"/>
                </a:ext>
              </a:extLst>
            </p:cNvPr>
            <p:cNvCxnSpPr>
              <a:cxnSpLocks/>
            </p:cNvCxnSpPr>
            <p:nvPr/>
          </p:nvCxnSpPr>
          <p:spPr>
            <a:xfrm>
              <a:off x="6028974" y="4141842"/>
              <a:ext cx="3181350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2093DFC-B1C4-1B4D-EEA9-442E2F7599E3}"/>
                </a:ext>
              </a:extLst>
            </p:cNvPr>
            <p:cNvSpPr/>
            <p:nvPr/>
          </p:nvSpPr>
          <p:spPr>
            <a:xfrm>
              <a:off x="7601784" y="4090748"/>
              <a:ext cx="98382" cy="9286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50EE735-D61A-80E0-43D2-1A1652E29A61}"/>
                </a:ext>
              </a:extLst>
            </p:cNvPr>
            <p:cNvSpPr/>
            <p:nvPr/>
          </p:nvSpPr>
          <p:spPr>
            <a:xfrm>
              <a:off x="5987898" y="4093619"/>
              <a:ext cx="98382" cy="9286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863F742-33F8-1BCB-79F5-0F1B1604A204}"/>
                </a:ext>
              </a:extLst>
            </p:cNvPr>
            <p:cNvSpPr/>
            <p:nvPr/>
          </p:nvSpPr>
          <p:spPr>
            <a:xfrm>
              <a:off x="9153018" y="4093619"/>
              <a:ext cx="98382" cy="9286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75F9D74-FC53-6C0A-F6CE-14367E97152D}"/>
                </a:ext>
              </a:extLst>
            </p:cNvPr>
            <p:cNvCxnSpPr/>
            <p:nvPr/>
          </p:nvCxnSpPr>
          <p:spPr>
            <a:xfrm flipV="1">
              <a:off x="7660479" y="950985"/>
              <a:ext cx="0" cy="427831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98D6C6F-3813-C0B3-596D-C15A0D7FCD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5200" y="4136096"/>
              <a:ext cx="338809" cy="1093202"/>
            </a:xfrm>
            <a:prstGeom prst="line">
              <a:avLst/>
            </a:prstGeom>
            <a:ln w="12700">
              <a:solidFill>
                <a:srgbClr val="ED0007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888501C-C877-0F8C-13BB-B28C8D4A20DF}"/>
                </a:ext>
              </a:extLst>
            </p:cNvPr>
            <p:cNvSpPr/>
            <p:nvPr/>
          </p:nvSpPr>
          <p:spPr>
            <a:xfrm rot="10973925">
              <a:off x="7380650" y="5126992"/>
              <a:ext cx="247054" cy="42418"/>
            </a:xfrm>
            <a:custGeom>
              <a:avLst/>
              <a:gdLst>
                <a:gd name="connsiteX0" fmla="*/ 0 w 197643"/>
                <a:gd name="connsiteY0" fmla="*/ 2978 h 33934"/>
                <a:gd name="connsiteX1" fmla="*/ 95250 w 197643"/>
                <a:gd name="connsiteY1" fmla="*/ 2978 h 33934"/>
                <a:gd name="connsiteX2" fmla="*/ 197643 w 197643"/>
                <a:gd name="connsiteY2" fmla="*/ 33934 h 33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7643" h="33934">
                  <a:moveTo>
                    <a:pt x="0" y="2978"/>
                  </a:moveTo>
                  <a:cubicBezTo>
                    <a:pt x="31155" y="398"/>
                    <a:pt x="62310" y="-2181"/>
                    <a:pt x="95250" y="2978"/>
                  </a:cubicBezTo>
                  <a:cubicBezTo>
                    <a:pt x="128190" y="8137"/>
                    <a:pt x="183356" y="26394"/>
                    <a:pt x="197643" y="33934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31EBF36-CFBD-CDB6-B7DE-4FDEF4D268D3}"/>
                </a:ext>
              </a:extLst>
            </p:cNvPr>
            <p:cNvSpPr/>
            <p:nvPr/>
          </p:nvSpPr>
          <p:spPr>
            <a:xfrm rot="18595820">
              <a:off x="6973905" y="1091039"/>
              <a:ext cx="650357" cy="308240"/>
            </a:xfrm>
            <a:custGeom>
              <a:avLst/>
              <a:gdLst>
                <a:gd name="connsiteX0" fmla="*/ 0 w 596900"/>
                <a:gd name="connsiteY0" fmla="*/ 0 h 317500"/>
                <a:gd name="connsiteX1" fmla="*/ 346075 w 596900"/>
                <a:gd name="connsiteY1" fmla="*/ 104775 h 317500"/>
                <a:gd name="connsiteX2" fmla="*/ 596900 w 5969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6900" h="317500">
                  <a:moveTo>
                    <a:pt x="0" y="0"/>
                  </a:moveTo>
                  <a:cubicBezTo>
                    <a:pt x="123296" y="25929"/>
                    <a:pt x="246592" y="51858"/>
                    <a:pt x="346075" y="104775"/>
                  </a:cubicBezTo>
                  <a:cubicBezTo>
                    <a:pt x="445558" y="157692"/>
                    <a:pt x="521229" y="237596"/>
                    <a:pt x="596900" y="317500"/>
                  </a:cubicBezTo>
                </a:path>
              </a:pathLst>
            </a:custGeom>
            <a:noFill/>
            <a:ln w="9525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B09B8D0-3774-745F-48F1-E5EA72F7C1B4}"/>
                </a:ext>
              </a:extLst>
            </p:cNvPr>
            <p:cNvSpPr txBox="1"/>
            <p:nvPr/>
          </p:nvSpPr>
          <p:spPr>
            <a:xfrm>
              <a:off x="6717723" y="867188"/>
              <a:ext cx="745626" cy="32919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l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hu-HU" kern="0" dirty="0">
                  <a:solidFill>
                    <a:srgbClr val="00B0F0"/>
                  </a:solidFill>
                  <a:latin typeface="Bosch Office Sans" pitchFamily="2" charset="0"/>
                </a:rPr>
                <a:t>SWA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B5A5144-00B6-CFBA-BE6A-C2D5BDC5419F}"/>
                </a:ext>
              </a:extLst>
            </p:cNvPr>
            <p:cNvSpPr txBox="1"/>
            <p:nvPr/>
          </p:nvSpPr>
          <p:spPr>
            <a:xfrm>
              <a:off x="6749293" y="4901246"/>
              <a:ext cx="534674" cy="3661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l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hu-HU" kern="0" dirty="0">
                  <a:solidFill>
                    <a:srgbClr val="ED0007"/>
                  </a:solidFill>
                  <a:latin typeface="Bosch Office Sans" pitchFamily="2" charset="0"/>
                </a:rPr>
                <a:t>RWA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02A6F71-B7BD-3514-3114-6507C1B96B8F}"/>
              </a:ext>
            </a:extLst>
          </p:cNvPr>
          <p:cNvSpPr txBox="1"/>
          <p:nvPr/>
        </p:nvSpPr>
        <p:spPr>
          <a:xfrm>
            <a:off x="5486238" y="5430136"/>
            <a:ext cx="4348481" cy="294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400" kern="0" dirty="0" err="1">
                <a:latin typeface="Bosch Office Sans" pitchFamily="2" charset="0"/>
              </a:rPr>
              <a:t>Simplified</a:t>
            </a:r>
            <a:r>
              <a:rPr lang="hu-HU" sz="1400" kern="0" dirty="0">
                <a:latin typeface="Bosch Office Sans" pitchFamily="2" charset="0"/>
              </a:rPr>
              <a:t> </a:t>
            </a:r>
            <a:r>
              <a:rPr lang="hu-HU" sz="1400" kern="0" dirty="0" err="1">
                <a:latin typeface="Bosch Office Sans" pitchFamily="2" charset="0"/>
              </a:rPr>
              <a:t>model</a:t>
            </a:r>
            <a:r>
              <a:rPr lang="hu-HU" sz="1400" kern="0" dirty="0">
                <a:latin typeface="Bosch Office Sans" pitchFamily="2" charset="0"/>
              </a:rPr>
              <a:t> </a:t>
            </a:r>
            <a:r>
              <a:rPr lang="hu-HU" sz="1400" kern="0" dirty="0" err="1">
                <a:latin typeface="Bosch Office Sans" pitchFamily="2" charset="0"/>
              </a:rPr>
              <a:t>to</a:t>
            </a:r>
            <a:r>
              <a:rPr lang="hu-HU" sz="1400" kern="0" dirty="0">
                <a:latin typeface="Bosch Office Sans" pitchFamily="2" charset="0"/>
              </a:rPr>
              <a:t> </a:t>
            </a:r>
            <a:r>
              <a:rPr lang="hu-HU" sz="1400" kern="0" dirty="0" err="1">
                <a:latin typeface="Bosch Office Sans" pitchFamily="2" charset="0"/>
              </a:rPr>
              <a:t>calculate</a:t>
            </a:r>
            <a:r>
              <a:rPr lang="hu-HU" sz="1400" kern="0" dirty="0">
                <a:latin typeface="Bosch Office Sans" pitchFamily="2" charset="0"/>
              </a:rPr>
              <a:t> front center </a:t>
            </a:r>
            <a:r>
              <a:rPr lang="hu-HU" sz="1400" kern="0" dirty="0" err="1">
                <a:latin typeface="Bosch Office Sans" pitchFamily="2" charset="0"/>
              </a:rPr>
              <a:t>virtual</a:t>
            </a:r>
            <a:r>
              <a:rPr lang="hu-HU" sz="1400" kern="0" dirty="0">
                <a:latin typeface="Bosch Office Sans" pitchFamily="2" charset="0"/>
              </a:rPr>
              <a:t> RWA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82679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Steering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system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types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32</a:t>
            </a:fld>
            <a:endParaRPr lang="en-US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8FA503-AB27-5BE0-E3DB-2A24E0A009DF}"/>
                  </a:ext>
                </a:extLst>
              </p:cNvPr>
              <p:cNvSpPr txBox="1"/>
              <p:nvPr/>
            </p:nvSpPr>
            <p:spPr>
              <a:xfrm>
                <a:off x="288084" y="890009"/>
                <a:ext cx="5045916" cy="13965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rtl="0"/>
                <a:r>
                  <a:rPr lang="hu-HU" dirty="0"/>
                  <a:t>Steering </a:t>
                </a:r>
                <a:r>
                  <a:rPr lang="hu-HU" dirty="0" err="1"/>
                  <a:t>model</a:t>
                </a:r>
                <a:r>
                  <a:rPr lang="hu-HU" dirty="0"/>
                  <a:t> </a:t>
                </a:r>
                <a:r>
                  <a:rPr lang="hu-HU" dirty="0" err="1"/>
                  <a:t>type</a:t>
                </a:r>
                <a:r>
                  <a:rPr lang="hu-HU" dirty="0"/>
                  <a:t> #2: </a:t>
                </a:r>
                <a:r>
                  <a:rPr lang="hu-HU" dirty="0" err="1">
                    <a:highlight>
                      <a:srgbClr val="E1FFE1"/>
                    </a:highlight>
                  </a:rPr>
                  <a:t>rack</a:t>
                </a:r>
                <a:r>
                  <a:rPr lang="hu-HU" dirty="0">
                    <a:highlight>
                      <a:srgbClr val="E1FFE1"/>
                    </a:highlight>
                  </a:rPr>
                  <a:t> </a:t>
                </a:r>
                <a:r>
                  <a:rPr lang="hu-HU" dirty="0" err="1">
                    <a:highlight>
                      <a:srgbClr val="E1FFE1"/>
                    </a:highlight>
                  </a:rPr>
                  <a:t>travel</a:t>
                </a:r>
                <a:endParaRPr lang="hu-HU" sz="1200" dirty="0">
                  <a:highlight>
                    <a:srgbClr val="E1FFE1"/>
                  </a:highlight>
                </a:endParaRPr>
              </a:p>
              <a:p>
                <a:pPr rtl="0"/>
                <a:endParaRPr lang="hu-HU" sz="1200" i="1" dirty="0">
                  <a:solidFill>
                    <a:srgbClr val="000000"/>
                  </a:solidFill>
                </a:endParaRPr>
              </a:p>
              <a:p>
                <a:pPr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hu-HU" sz="1200" b="0" i="0" smtClean="0">
                          <a:latin typeface="Cambria Math" panose="02040503050406030204" pitchFamily="18" charset="0"/>
                        </a:rPr>
                        <m:t>RWA</m:t>
                      </m:r>
                      <m:r>
                        <a:rPr lang="hu-HU" sz="1200" b="0" i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hu-HU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hu-HU" sz="1200" b="0" i="0" smtClean="0">
                              <a:latin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d>
                            <m:dPr>
                              <m:ctrlPr>
                                <a:rPr lang="hu-HU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hu-HU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𝑆𝑊𝐴</m:t>
                                  </m:r>
                                </m:num>
                                <m:den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2 ∗</m:t>
                                  </m:r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𝑟𝑎𝑐𝑘</m:t>
                                  </m:r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𝑡𝑟𝑎𝑣𝑒𝑙</m:t>
                                  </m:r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𝑠𝑡𝑒𝑒𝑟𝑖𝑛𝑔</m:t>
                                  </m:r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𝑎𝑟𝑚</m:t>
                                  </m:r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hu-HU" sz="1200" b="0" i="1" smtClean="0">
                                      <a:latin typeface="Cambria Math" panose="02040503050406030204" pitchFamily="18" charset="0"/>
                                    </a:rPr>
                                    <m:t>𝑙𝑒𝑛𝑔𝑡h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hu-HU" sz="1200" dirty="0"/>
              </a:p>
              <a:p>
                <a:pPr rtl="0"/>
                <a:r>
                  <a:rPr lang="hu-HU" sz="1200" dirty="0" err="1"/>
                  <a:t>Where</a:t>
                </a:r>
                <a:r>
                  <a:rPr lang="hu-HU" sz="1200" dirty="0"/>
                  <a:t> </a:t>
                </a:r>
              </a:p>
              <a:p>
                <a:pPr lvl="1"/>
                <a:r>
                  <a:rPr lang="hu-HU" sz="1200" i="1" dirty="0" err="1"/>
                  <a:t>rack</a:t>
                </a:r>
                <a:r>
                  <a:rPr lang="hu-HU" sz="1200" i="1" dirty="0"/>
                  <a:t> </a:t>
                </a:r>
                <a:r>
                  <a:rPr lang="hu-HU" sz="1200" i="1" dirty="0" err="1"/>
                  <a:t>travel</a:t>
                </a:r>
                <a:r>
                  <a:rPr lang="hu-HU" sz="1200" dirty="0"/>
                  <a:t> and </a:t>
                </a:r>
                <a:r>
                  <a:rPr lang="hu-HU" sz="1200" i="1" dirty="0" err="1"/>
                  <a:t>steering</a:t>
                </a:r>
                <a:r>
                  <a:rPr lang="hu-HU" sz="1200" i="1" dirty="0"/>
                  <a:t> </a:t>
                </a:r>
                <a:r>
                  <a:rPr lang="hu-HU" sz="1200" i="1" dirty="0" err="1"/>
                  <a:t>arm</a:t>
                </a:r>
                <a:r>
                  <a:rPr lang="hu-HU" sz="1200" i="1" dirty="0"/>
                  <a:t> </a:t>
                </a:r>
                <a:r>
                  <a:rPr lang="hu-HU" sz="1200" i="1" dirty="0" err="1"/>
                  <a:t>length</a:t>
                </a:r>
                <a:r>
                  <a:rPr lang="hu-HU" sz="1200" dirty="0"/>
                  <a:t> </a:t>
                </a:r>
                <a:r>
                  <a:rPr lang="hu-HU" sz="1200" dirty="0" err="1"/>
                  <a:t>are</a:t>
                </a:r>
                <a:r>
                  <a:rPr lang="hu-HU" sz="1200" dirty="0"/>
                  <a:t> </a:t>
                </a:r>
                <a:r>
                  <a:rPr lang="hu-HU" sz="1200" dirty="0" err="1"/>
                  <a:t>paremeters</a:t>
                </a:r>
                <a:endParaRPr lang="hu-HU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28FA503-AB27-5BE0-E3DB-2A24E0A00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84" y="890009"/>
                <a:ext cx="5045916" cy="1396566"/>
              </a:xfrm>
              <a:prstGeom prst="rect">
                <a:avLst/>
              </a:prstGeom>
              <a:blipFill>
                <a:blip r:embed="rId2"/>
                <a:stretch>
                  <a:fillRect l="-2778" t="-5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D69D1D5-E0CB-5807-0A16-198BFE43F40F}"/>
              </a:ext>
            </a:extLst>
          </p:cNvPr>
          <p:cNvGrpSpPr>
            <a:grpSpLocks noChangeAspect="1"/>
          </p:cNvGrpSpPr>
          <p:nvPr/>
        </p:nvGrpSpPr>
        <p:grpSpPr>
          <a:xfrm>
            <a:off x="1534896" y="2448549"/>
            <a:ext cx="3240000" cy="3064341"/>
            <a:chOff x="958252" y="2417217"/>
            <a:chExt cx="3539063" cy="3347190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228F32CC-633E-2622-2EAB-6E09EC381538}"/>
                </a:ext>
              </a:extLst>
            </p:cNvPr>
            <p:cNvSpPr/>
            <p:nvPr/>
          </p:nvSpPr>
          <p:spPr>
            <a:xfrm rot="960490">
              <a:off x="2430311" y="4475074"/>
              <a:ext cx="571639" cy="991263"/>
            </a:xfrm>
            <a:prstGeom prst="roundRect">
              <a:avLst/>
            </a:prstGeom>
            <a:solidFill>
              <a:srgbClr val="FFCCCC"/>
            </a:solidFill>
            <a:ln w="9525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15349F6-5750-7292-8C4A-F406BA444E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10869" y="4968439"/>
              <a:ext cx="213572" cy="752763"/>
            </a:xfrm>
            <a:prstGeom prst="line">
              <a:avLst/>
            </a:prstGeom>
            <a:ln w="12700">
              <a:solidFill>
                <a:srgbClr val="ED0007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055CFBF5-D489-FFA9-EE52-EF8D78C18C6F}"/>
                </a:ext>
              </a:extLst>
            </p:cNvPr>
            <p:cNvGrpSpPr/>
            <p:nvPr/>
          </p:nvGrpSpPr>
          <p:grpSpPr>
            <a:xfrm rot="16425997">
              <a:off x="2795586" y="2554723"/>
              <a:ext cx="1392373" cy="1192707"/>
              <a:chOff x="3363468" y="2479744"/>
              <a:chExt cx="1837995" cy="1574427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F974CF4F-6C24-79C3-6751-6B998AA8AD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268538">
                <a:off x="3338555" y="2514530"/>
                <a:ext cx="1564554" cy="1514727"/>
              </a:xfrm>
              <a:prstGeom prst="rect">
                <a:avLst/>
              </a:prstGeom>
            </p:spPr>
          </p:pic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BA61DA6-83CC-E0EE-C80A-C018B0FAE5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48613" y="2479744"/>
                <a:ext cx="1052850" cy="780485"/>
              </a:xfrm>
              <a:prstGeom prst="line">
                <a:avLst/>
              </a:prstGeom>
              <a:ln w="12700">
                <a:solidFill>
                  <a:srgbClr val="00B0F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EE396DD-B90F-6423-A6B0-21FCFD9B1512}"/>
                  </a:ext>
                </a:extLst>
              </p:cNvPr>
              <p:cNvSpPr/>
              <p:nvPr/>
            </p:nvSpPr>
            <p:spPr>
              <a:xfrm>
                <a:off x="4077156" y="3215591"/>
                <a:ext cx="98382" cy="92861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D82D8C3-1599-AA69-B0D4-8FBF32113953}"/>
                </a:ext>
              </a:extLst>
            </p:cNvPr>
            <p:cNvGrpSpPr/>
            <p:nvPr/>
          </p:nvGrpSpPr>
          <p:grpSpPr>
            <a:xfrm>
              <a:off x="958252" y="4360529"/>
              <a:ext cx="571639" cy="991263"/>
              <a:chOff x="6521259" y="2898916"/>
              <a:chExt cx="603671" cy="1046809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EE229297-9FEF-08B9-3230-57A7E6B0CAA9}"/>
                  </a:ext>
                </a:extLst>
              </p:cNvPr>
              <p:cNvSpPr/>
              <p:nvPr/>
            </p:nvSpPr>
            <p:spPr>
              <a:xfrm rot="1367801">
                <a:off x="6521259" y="2898916"/>
                <a:ext cx="603671" cy="104680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29BEA51-897D-3A63-0671-381BB5D83D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20852" y="3421365"/>
                <a:ext cx="281940" cy="121920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F778DDF-15AF-6A5E-1A76-F0295D89B07F}"/>
                </a:ext>
              </a:extLst>
            </p:cNvPr>
            <p:cNvGrpSpPr/>
            <p:nvPr/>
          </p:nvGrpSpPr>
          <p:grpSpPr>
            <a:xfrm rot="21286659">
              <a:off x="3925676" y="4533702"/>
              <a:ext cx="571639" cy="991263"/>
              <a:chOff x="9642265" y="3100843"/>
              <a:chExt cx="603671" cy="1046809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F0F7D8BF-B654-BA79-AF5D-EE3B6C30BEC1}"/>
                  </a:ext>
                </a:extLst>
              </p:cNvPr>
              <p:cNvSpPr/>
              <p:nvPr/>
            </p:nvSpPr>
            <p:spPr>
              <a:xfrm rot="962443">
                <a:off x="9642265" y="3100843"/>
                <a:ext cx="603671" cy="104680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2BBFA42-17FB-DAA9-836C-1F10E78EEF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57522" y="3541851"/>
                <a:ext cx="286578" cy="82397"/>
              </a:xfrm>
              <a:prstGeom prst="line">
                <a:avLst/>
              </a:prstGeom>
              <a:ln w="762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810B87-FA86-6C1A-9E64-FAA64385DB8F}"/>
                </a:ext>
              </a:extLst>
            </p:cNvPr>
            <p:cNvCxnSpPr>
              <a:cxnSpLocks/>
            </p:cNvCxnSpPr>
            <p:nvPr/>
          </p:nvCxnSpPr>
          <p:spPr>
            <a:xfrm>
              <a:off x="1508927" y="4970707"/>
              <a:ext cx="2410032" cy="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BD8B75-DB65-E355-7B78-3F0BAAE75C49}"/>
                </a:ext>
              </a:extLst>
            </p:cNvPr>
            <p:cNvCxnSpPr>
              <a:cxnSpLocks/>
              <a:stCxn id="50" idx="0"/>
            </p:cNvCxnSpPr>
            <p:nvPr/>
          </p:nvCxnSpPr>
          <p:spPr>
            <a:xfrm flipH="1" flipV="1">
              <a:off x="3480530" y="3302794"/>
              <a:ext cx="403" cy="1019796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60489BC-1012-BE7C-AAB4-66E21B583756}"/>
                </a:ext>
              </a:extLst>
            </p:cNvPr>
            <p:cNvSpPr/>
            <p:nvPr/>
          </p:nvSpPr>
          <p:spPr>
            <a:xfrm rot="19059680">
              <a:off x="3138506" y="2501831"/>
              <a:ext cx="298074" cy="146036"/>
            </a:xfrm>
            <a:custGeom>
              <a:avLst/>
              <a:gdLst>
                <a:gd name="connsiteX0" fmla="*/ 0 w 596900"/>
                <a:gd name="connsiteY0" fmla="*/ 0 h 317500"/>
                <a:gd name="connsiteX1" fmla="*/ 346075 w 596900"/>
                <a:gd name="connsiteY1" fmla="*/ 104775 h 317500"/>
                <a:gd name="connsiteX2" fmla="*/ 596900 w 5969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6900" h="317500">
                  <a:moveTo>
                    <a:pt x="0" y="0"/>
                  </a:moveTo>
                  <a:cubicBezTo>
                    <a:pt x="123296" y="25929"/>
                    <a:pt x="246592" y="51858"/>
                    <a:pt x="346075" y="104775"/>
                  </a:cubicBezTo>
                  <a:cubicBezTo>
                    <a:pt x="445558" y="157692"/>
                    <a:pt x="521229" y="237596"/>
                    <a:pt x="596900" y="317500"/>
                  </a:cubicBezTo>
                </a:path>
              </a:pathLst>
            </a:custGeom>
            <a:noFill/>
            <a:ln w="9525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73B4FEC-A9B6-270D-854B-311FB6008C81}"/>
                </a:ext>
              </a:extLst>
            </p:cNvPr>
            <p:cNvSpPr txBox="1"/>
            <p:nvPr/>
          </p:nvSpPr>
          <p:spPr>
            <a:xfrm>
              <a:off x="2357963" y="2488759"/>
              <a:ext cx="642375" cy="3087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l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hu-HU" kern="0" dirty="0">
                  <a:solidFill>
                    <a:srgbClr val="00B0F0"/>
                  </a:solidFill>
                  <a:latin typeface="Bosch Office Sans" pitchFamily="2" charset="0"/>
                </a:rPr>
                <a:t>SWA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73D2874-7B46-356C-FFB6-892C8BD2AADF}"/>
                </a:ext>
              </a:extLst>
            </p:cNvPr>
            <p:cNvGrpSpPr/>
            <p:nvPr/>
          </p:nvGrpSpPr>
          <p:grpSpPr>
            <a:xfrm>
              <a:off x="3350935" y="4222363"/>
              <a:ext cx="261490" cy="264271"/>
              <a:chOff x="3959285" y="4805805"/>
              <a:chExt cx="345178" cy="348850"/>
            </a:xfrm>
          </p:grpSpPr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D5D23622-F5FF-1E35-A410-1A07FE8F5F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59285" y="4805805"/>
                <a:ext cx="345178" cy="348850"/>
              </a:xfrm>
              <a:prstGeom prst="rect">
                <a:avLst/>
              </a:prstGeom>
            </p:spPr>
          </p:pic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085D758-1BA6-1A5B-9A01-30FB6B893E03}"/>
                  </a:ext>
                </a:extLst>
              </p:cNvPr>
              <p:cNvSpPr/>
              <p:nvPr/>
            </p:nvSpPr>
            <p:spPr>
              <a:xfrm>
                <a:off x="4085064" y="4938109"/>
                <a:ext cx="91648" cy="91092"/>
              </a:xfrm>
              <a:prstGeom prst="ellipse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</p:grp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A0C0FD0-D074-96D9-130B-C8835B45C169}"/>
                </a:ext>
              </a:extLst>
            </p:cNvPr>
            <p:cNvCxnSpPr>
              <a:cxnSpLocks/>
            </p:cNvCxnSpPr>
            <p:nvPr/>
          </p:nvCxnSpPr>
          <p:spPr>
            <a:xfrm>
              <a:off x="3029231" y="4486634"/>
              <a:ext cx="808597" cy="0"/>
            </a:xfrm>
            <a:prstGeom prst="line">
              <a:avLst/>
            </a:prstGeom>
            <a:ln w="571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35F9741-E88B-73BF-7B2E-2E0A95EA7D38}"/>
                </a:ext>
              </a:extLst>
            </p:cNvPr>
            <p:cNvCxnSpPr>
              <a:cxnSpLocks/>
            </p:cNvCxnSpPr>
            <p:nvPr/>
          </p:nvCxnSpPr>
          <p:spPr>
            <a:xfrm>
              <a:off x="3031756" y="4512920"/>
              <a:ext cx="808597" cy="0"/>
            </a:xfrm>
            <a:prstGeom prst="line">
              <a:avLst/>
            </a:prstGeom>
            <a:ln w="571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18735EF-9F3F-DEF8-3FA3-8B97645150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99887" y="4560335"/>
              <a:ext cx="2472934" cy="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1C9719D-5EDF-3F07-E86A-8DFFC71D3E81}"/>
                </a:ext>
              </a:extLst>
            </p:cNvPr>
            <p:cNvCxnSpPr>
              <a:cxnSpLocks/>
              <a:endCxn id="64" idx="3"/>
            </p:cNvCxnSpPr>
            <p:nvPr/>
          </p:nvCxnSpPr>
          <p:spPr>
            <a:xfrm flipV="1">
              <a:off x="1326177" y="4588641"/>
              <a:ext cx="260965" cy="30022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DB9AF01-EF44-7E87-CACB-D4EE599FE339}"/>
                </a:ext>
              </a:extLst>
            </p:cNvPr>
            <p:cNvCxnSpPr>
              <a:cxnSpLocks/>
              <a:endCxn id="65" idx="4"/>
            </p:cNvCxnSpPr>
            <p:nvPr/>
          </p:nvCxnSpPr>
          <p:spPr>
            <a:xfrm flipH="1" flipV="1">
              <a:off x="4063168" y="4600727"/>
              <a:ext cx="37265" cy="402108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EEAE4DA-5C02-3094-8D6F-1526C81E52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0530" y="2417217"/>
              <a:ext cx="0" cy="227601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CFB4319-AAD5-D07E-1296-42FCA804F1BC}"/>
                </a:ext>
              </a:extLst>
            </p:cNvPr>
            <p:cNvSpPr/>
            <p:nvPr/>
          </p:nvSpPr>
          <p:spPr>
            <a:xfrm>
              <a:off x="2684878" y="4934086"/>
              <a:ext cx="74529" cy="70347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77F9526-D35C-F55D-A1C8-3D3D4CA62B90}"/>
                </a:ext>
              </a:extLst>
            </p:cNvPr>
            <p:cNvSpPr/>
            <p:nvPr/>
          </p:nvSpPr>
          <p:spPr>
            <a:xfrm rot="10517121">
              <a:off x="2551823" y="5664352"/>
              <a:ext cx="146609" cy="34634"/>
            </a:xfrm>
            <a:custGeom>
              <a:avLst/>
              <a:gdLst>
                <a:gd name="connsiteX0" fmla="*/ 0 w 197643"/>
                <a:gd name="connsiteY0" fmla="*/ 2978 h 33934"/>
                <a:gd name="connsiteX1" fmla="*/ 95250 w 197643"/>
                <a:gd name="connsiteY1" fmla="*/ 2978 h 33934"/>
                <a:gd name="connsiteX2" fmla="*/ 197643 w 197643"/>
                <a:gd name="connsiteY2" fmla="*/ 33934 h 33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7643" h="33934">
                  <a:moveTo>
                    <a:pt x="0" y="2978"/>
                  </a:moveTo>
                  <a:cubicBezTo>
                    <a:pt x="31155" y="398"/>
                    <a:pt x="62310" y="-2181"/>
                    <a:pt x="95250" y="2978"/>
                  </a:cubicBezTo>
                  <a:cubicBezTo>
                    <a:pt x="128190" y="8137"/>
                    <a:pt x="183356" y="26394"/>
                    <a:pt x="197643" y="33934"/>
                  </a:cubicBezTo>
                </a:path>
              </a:pathLst>
            </a:custGeom>
            <a:noFill/>
            <a:ln w="9525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61EE115-A429-5A1B-DA8B-8A29148733EF}"/>
                </a:ext>
              </a:extLst>
            </p:cNvPr>
            <p:cNvSpPr txBox="1"/>
            <p:nvPr/>
          </p:nvSpPr>
          <p:spPr>
            <a:xfrm>
              <a:off x="1905848" y="5456660"/>
              <a:ext cx="592568" cy="2482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l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hu-HU" kern="0" dirty="0">
                  <a:solidFill>
                    <a:srgbClr val="ED0007"/>
                  </a:solidFill>
                  <a:latin typeface="Bosch Office Sans" pitchFamily="2" charset="0"/>
                </a:rPr>
                <a:t>RWA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D0007"/>
                </a:solidFill>
                <a:effectLst/>
                <a:uLnTx/>
                <a:uFillTx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0E812CF-12E3-ED7E-38BA-ECFFC1614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4441" y="4802408"/>
              <a:ext cx="0" cy="96199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8C3CBB3-3646-6CB4-5B5D-913173FC89BB}"/>
                </a:ext>
              </a:extLst>
            </p:cNvPr>
            <p:cNvSpPr/>
            <p:nvPr/>
          </p:nvSpPr>
          <p:spPr>
            <a:xfrm>
              <a:off x="1477810" y="4934175"/>
              <a:ext cx="74529" cy="7034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18EF1CB-0569-3105-E8C4-A161FE4C2738}"/>
                </a:ext>
              </a:extLst>
            </p:cNvPr>
            <p:cNvSpPr/>
            <p:nvPr/>
          </p:nvSpPr>
          <p:spPr>
            <a:xfrm>
              <a:off x="3875547" y="4934175"/>
              <a:ext cx="74529" cy="7034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0E5EAD3-D0DF-711F-A335-B2741E7C4645}"/>
                </a:ext>
              </a:extLst>
            </p:cNvPr>
            <p:cNvSpPr/>
            <p:nvPr/>
          </p:nvSpPr>
          <p:spPr>
            <a:xfrm>
              <a:off x="1576227" y="4528596"/>
              <a:ext cx="74529" cy="7034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AC711DE-5644-0E6A-D519-D36A450919EE}"/>
                </a:ext>
              </a:extLst>
            </p:cNvPr>
            <p:cNvSpPr/>
            <p:nvPr/>
          </p:nvSpPr>
          <p:spPr>
            <a:xfrm>
              <a:off x="4025904" y="4530380"/>
              <a:ext cx="74529" cy="7034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685B18E0-D6D6-5E44-7FF2-DCCDA18EDCE0}"/>
                </a:ext>
              </a:extLst>
            </p:cNvPr>
            <p:cNvCxnSpPr/>
            <p:nvPr/>
          </p:nvCxnSpPr>
          <p:spPr>
            <a:xfrm>
              <a:off x="3204883" y="4676681"/>
              <a:ext cx="576262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Arrow: Circular 170">
              <a:extLst>
                <a:ext uri="{FF2B5EF4-FFF2-40B4-BE49-F238E27FC236}">
                  <a16:creationId xmlns:a16="http://schemas.microsoft.com/office/drawing/2014/main" id="{77293FCD-D523-BD83-09CE-40536E9B286D}"/>
                </a:ext>
              </a:extLst>
            </p:cNvPr>
            <p:cNvSpPr/>
            <p:nvPr/>
          </p:nvSpPr>
          <p:spPr>
            <a:xfrm rot="21267073" flipH="1">
              <a:off x="3225645" y="4095797"/>
              <a:ext cx="488235" cy="453091"/>
            </a:xfrm>
            <a:prstGeom prst="circularArrow">
              <a:avLst>
                <a:gd name="adj1" fmla="val 0"/>
                <a:gd name="adj2" fmla="val 1696656"/>
                <a:gd name="adj3" fmla="val 18429732"/>
                <a:gd name="adj4" fmla="val 11546227"/>
                <a:gd name="adj5" fmla="val 9578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FEE43B9-A10D-1B57-24C6-A8E8B93E95D1}"/>
              </a:ext>
            </a:extLst>
          </p:cNvPr>
          <p:cNvGrpSpPr/>
          <p:nvPr/>
        </p:nvGrpSpPr>
        <p:grpSpPr>
          <a:xfrm rot="16425997">
            <a:off x="9033994" y="1628243"/>
            <a:ext cx="1649936" cy="1413335"/>
            <a:chOff x="3363468" y="2479744"/>
            <a:chExt cx="1837995" cy="1574427"/>
          </a:xfrm>
        </p:grpSpPr>
        <p:pic>
          <p:nvPicPr>
            <p:cNvPr id="154" name="Picture 153">
              <a:extLst>
                <a:ext uri="{FF2B5EF4-FFF2-40B4-BE49-F238E27FC236}">
                  <a16:creationId xmlns:a16="http://schemas.microsoft.com/office/drawing/2014/main" id="{8C3C8E82-3D99-40D4-2B17-FAE267964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3268538">
              <a:off x="3338555" y="2514530"/>
              <a:ext cx="1564554" cy="1514727"/>
            </a:xfrm>
            <a:prstGeom prst="rect">
              <a:avLst/>
            </a:prstGeom>
          </p:spPr>
        </p:pic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9CB36277-C059-7F4E-1AE5-4E25BAEBAF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8613" y="2479744"/>
              <a:ext cx="1052850" cy="780485"/>
            </a:xfrm>
            <a:prstGeom prst="line">
              <a:avLst/>
            </a:prstGeom>
            <a:ln w="12700">
              <a:solidFill>
                <a:srgbClr val="00B0F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8ACE292D-D410-960D-C92E-DDDA6F4E14A6}"/>
                </a:ext>
              </a:extLst>
            </p:cNvPr>
            <p:cNvSpPr/>
            <p:nvPr/>
          </p:nvSpPr>
          <p:spPr>
            <a:xfrm>
              <a:off x="4077156" y="3215591"/>
              <a:ext cx="98382" cy="92861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9A73DE9-F811-5D47-6616-88B2430FC0A3}"/>
              </a:ext>
            </a:extLst>
          </p:cNvPr>
          <p:cNvCxnSpPr>
            <a:cxnSpLocks/>
            <a:stCxn id="111" idx="0"/>
          </p:cNvCxnSpPr>
          <p:nvPr/>
        </p:nvCxnSpPr>
        <p:spPr>
          <a:xfrm flipH="1" flipV="1">
            <a:off x="9844446" y="2521264"/>
            <a:ext cx="5111" cy="224471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A2AB7C6-9B52-7670-361C-A2DE428F8E13}"/>
              </a:ext>
            </a:extLst>
          </p:cNvPr>
          <p:cNvCxnSpPr>
            <a:cxnSpLocks/>
            <a:stCxn id="110" idx="0"/>
          </p:cNvCxnSpPr>
          <p:nvPr/>
        </p:nvCxnSpPr>
        <p:spPr>
          <a:xfrm flipH="1" flipV="1">
            <a:off x="9849557" y="1198850"/>
            <a:ext cx="885" cy="34483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31075971-5415-FF0E-80D7-03FB578CE7BC}"/>
              </a:ext>
            </a:extLst>
          </p:cNvPr>
          <p:cNvSpPr/>
          <p:nvPr/>
        </p:nvSpPr>
        <p:spPr>
          <a:xfrm rot="960490">
            <a:off x="8595189" y="3985055"/>
            <a:ext cx="677381" cy="1174628"/>
          </a:xfrm>
          <a:prstGeom prst="roundRect">
            <a:avLst/>
          </a:pr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19D6CCA-81FB-67C4-6279-1D74F90FB578}"/>
              </a:ext>
            </a:extLst>
          </p:cNvPr>
          <p:cNvGrpSpPr/>
          <p:nvPr/>
        </p:nvGrpSpPr>
        <p:grpSpPr>
          <a:xfrm>
            <a:off x="6850827" y="3849321"/>
            <a:ext cx="677381" cy="1174628"/>
            <a:chOff x="6521259" y="2898916"/>
            <a:chExt cx="603671" cy="1046809"/>
          </a:xfrm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5654ABE8-BBA7-9FE2-93A2-50270398E88C}"/>
                </a:ext>
              </a:extLst>
            </p:cNvPr>
            <p:cNvSpPr/>
            <p:nvPr/>
          </p:nvSpPr>
          <p:spPr>
            <a:xfrm rot="1367801">
              <a:off x="6521259" y="2898916"/>
              <a:ext cx="603671" cy="10468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E917AB2-67EC-5BD7-7B09-BAF2B3DE2F25}"/>
                </a:ext>
              </a:extLst>
            </p:cNvPr>
            <p:cNvCxnSpPr>
              <a:cxnSpLocks/>
            </p:cNvCxnSpPr>
            <p:nvPr/>
          </p:nvCxnSpPr>
          <p:spPr>
            <a:xfrm>
              <a:off x="6820852" y="3421365"/>
              <a:ext cx="281940" cy="121920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AFCA71C0-002C-53A4-8786-A408C9A999FB}"/>
              </a:ext>
            </a:extLst>
          </p:cNvPr>
          <p:cNvGrpSpPr/>
          <p:nvPr/>
        </p:nvGrpSpPr>
        <p:grpSpPr>
          <a:xfrm rot="21286659">
            <a:off x="10367169" y="4054528"/>
            <a:ext cx="677381" cy="1174628"/>
            <a:chOff x="9642265" y="3100843"/>
            <a:chExt cx="603671" cy="1046809"/>
          </a:xfrm>
        </p:grpSpPr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02C992A7-0BC9-F943-7B73-E5C2F5EAAFC9}"/>
                </a:ext>
              </a:extLst>
            </p:cNvPr>
            <p:cNvSpPr/>
            <p:nvPr/>
          </p:nvSpPr>
          <p:spPr>
            <a:xfrm rot="962443">
              <a:off x="9642265" y="3100843"/>
              <a:ext cx="603671" cy="104680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9535E408-A11C-CADC-2A83-80E8EB6DE1D5}"/>
                </a:ext>
              </a:extLst>
            </p:cNvPr>
            <p:cNvCxnSpPr>
              <a:cxnSpLocks/>
            </p:cNvCxnSpPr>
            <p:nvPr/>
          </p:nvCxnSpPr>
          <p:spPr>
            <a:xfrm>
              <a:off x="9657522" y="3541851"/>
              <a:ext cx="286578" cy="82397"/>
            </a:xfrm>
            <a:prstGeom prst="line">
              <a:avLst/>
            </a:prstGeom>
            <a:ln w="762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FABBEC5-CFFE-F2A8-CF1D-DF3F5022B4F9}"/>
              </a:ext>
            </a:extLst>
          </p:cNvPr>
          <p:cNvCxnSpPr>
            <a:cxnSpLocks/>
          </p:cNvCxnSpPr>
          <p:nvPr/>
        </p:nvCxnSpPr>
        <p:spPr>
          <a:xfrm>
            <a:off x="7503367" y="4572370"/>
            <a:ext cx="2855842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C1F7AC37-49CE-0D4E-902B-6CC6FBDE14F9}"/>
              </a:ext>
            </a:extLst>
          </p:cNvPr>
          <p:cNvSpPr/>
          <p:nvPr/>
        </p:nvSpPr>
        <p:spPr>
          <a:xfrm rot="18370975">
            <a:off x="9329778" y="1308155"/>
            <a:ext cx="457074" cy="288813"/>
          </a:xfrm>
          <a:custGeom>
            <a:avLst/>
            <a:gdLst>
              <a:gd name="connsiteX0" fmla="*/ 0 w 596900"/>
              <a:gd name="connsiteY0" fmla="*/ 0 h 317500"/>
              <a:gd name="connsiteX1" fmla="*/ 346075 w 596900"/>
              <a:gd name="connsiteY1" fmla="*/ 104775 h 317500"/>
              <a:gd name="connsiteX2" fmla="*/ 596900 w 596900"/>
              <a:gd name="connsiteY2" fmla="*/ 317500 h 31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6900" h="317500">
                <a:moveTo>
                  <a:pt x="0" y="0"/>
                </a:moveTo>
                <a:cubicBezTo>
                  <a:pt x="123296" y="25929"/>
                  <a:pt x="246592" y="51858"/>
                  <a:pt x="346075" y="104775"/>
                </a:cubicBezTo>
                <a:cubicBezTo>
                  <a:pt x="445558" y="157692"/>
                  <a:pt x="521229" y="237596"/>
                  <a:pt x="596900" y="317500"/>
                </a:cubicBezTo>
              </a:path>
            </a:pathLst>
          </a:custGeom>
          <a:noFill/>
          <a:ln w="9525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07632B7-BD5A-4316-7AC4-0E81502F494F}"/>
              </a:ext>
            </a:extLst>
          </p:cNvPr>
          <p:cNvSpPr txBox="1"/>
          <p:nvPr/>
        </p:nvSpPr>
        <p:spPr>
          <a:xfrm>
            <a:off x="8597437" y="1553272"/>
            <a:ext cx="775394" cy="3260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kern="0" dirty="0">
                <a:solidFill>
                  <a:srgbClr val="00B0F0"/>
                </a:solidFill>
                <a:latin typeface="Bosch Office Sans" pitchFamily="2" charset="0"/>
              </a:rPr>
              <a:t>SWA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075B8D1-4FE8-D623-1AB8-90343EBDA982}"/>
              </a:ext>
            </a:extLst>
          </p:cNvPr>
          <p:cNvGrpSpPr/>
          <p:nvPr/>
        </p:nvGrpSpPr>
        <p:grpSpPr>
          <a:xfrm>
            <a:off x="9695512" y="4647210"/>
            <a:ext cx="309861" cy="313156"/>
            <a:chOff x="3959285" y="4805805"/>
            <a:chExt cx="345178" cy="348850"/>
          </a:xfrm>
        </p:grpSpPr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F0E9673C-09C6-931F-43AE-6F0D9A7D7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9285" y="4805805"/>
              <a:ext cx="345178" cy="348850"/>
            </a:xfrm>
            <a:prstGeom prst="rect">
              <a:avLst/>
            </a:prstGeom>
          </p:spPr>
        </p:pic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4F8EFDF5-3A52-5EBB-0AB3-C0F5273267CD}"/>
                </a:ext>
              </a:extLst>
            </p:cNvPr>
            <p:cNvSpPr/>
            <p:nvPr/>
          </p:nvSpPr>
          <p:spPr>
            <a:xfrm>
              <a:off x="4085064" y="4938109"/>
              <a:ext cx="91648" cy="91092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AA90CA7-59AB-6EE6-70C5-9A1EE5AF72F5}"/>
              </a:ext>
            </a:extLst>
          </p:cNvPr>
          <p:cNvCxnSpPr>
            <a:cxnSpLocks/>
          </p:cNvCxnSpPr>
          <p:nvPr/>
        </p:nvCxnSpPr>
        <p:spPr>
          <a:xfrm>
            <a:off x="9314299" y="4649977"/>
            <a:ext cx="958172" cy="0"/>
          </a:xfrm>
          <a:prstGeom prst="line">
            <a:avLst/>
          </a:prstGeom>
          <a:ln w="57150">
            <a:solidFill>
              <a:srgbClr val="00CC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D144470-A1D6-E646-A15E-3D9F988BD292}"/>
              </a:ext>
            </a:extLst>
          </p:cNvPr>
          <p:cNvCxnSpPr>
            <a:cxnSpLocks/>
          </p:cNvCxnSpPr>
          <p:nvPr/>
        </p:nvCxnSpPr>
        <p:spPr>
          <a:xfrm>
            <a:off x="9317291" y="4607769"/>
            <a:ext cx="958172" cy="0"/>
          </a:xfrm>
          <a:prstGeom prst="line">
            <a:avLst/>
          </a:prstGeom>
          <a:ln w="57150">
            <a:solidFill>
              <a:srgbClr val="00CC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CE5AA15E-7F60-68C6-16D1-3B32C8EA286B}"/>
              </a:ext>
            </a:extLst>
          </p:cNvPr>
          <p:cNvSpPr/>
          <p:nvPr/>
        </p:nvSpPr>
        <p:spPr>
          <a:xfrm>
            <a:off x="8896847" y="4528975"/>
            <a:ext cx="88315" cy="8336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C4B4206A-2D96-CA82-C4ED-839D5D346D81}"/>
              </a:ext>
            </a:extLst>
          </p:cNvPr>
          <p:cNvSpPr/>
          <p:nvPr/>
        </p:nvSpPr>
        <p:spPr>
          <a:xfrm rot="10517121">
            <a:off x="8739179" y="5394327"/>
            <a:ext cx="173729" cy="41041"/>
          </a:xfrm>
          <a:custGeom>
            <a:avLst/>
            <a:gdLst>
              <a:gd name="connsiteX0" fmla="*/ 0 w 197643"/>
              <a:gd name="connsiteY0" fmla="*/ 2978 h 33934"/>
              <a:gd name="connsiteX1" fmla="*/ 95250 w 197643"/>
              <a:gd name="connsiteY1" fmla="*/ 2978 h 33934"/>
              <a:gd name="connsiteX2" fmla="*/ 197643 w 197643"/>
              <a:gd name="connsiteY2" fmla="*/ 33934 h 33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643" h="33934">
                <a:moveTo>
                  <a:pt x="0" y="2978"/>
                </a:moveTo>
                <a:cubicBezTo>
                  <a:pt x="31155" y="398"/>
                  <a:pt x="62310" y="-2181"/>
                  <a:pt x="95250" y="2978"/>
                </a:cubicBezTo>
                <a:cubicBezTo>
                  <a:pt x="128190" y="8137"/>
                  <a:pt x="183356" y="26394"/>
                  <a:pt x="197643" y="33934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D34D335-3235-DF5C-D129-AF91AA86FCB6}"/>
              </a:ext>
            </a:extLst>
          </p:cNvPr>
          <p:cNvSpPr txBox="1"/>
          <p:nvPr/>
        </p:nvSpPr>
        <p:spPr>
          <a:xfrm>
            <a:off x="7990299" y="5194582"/>
            <a:ext cx="780433" cy="274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kern="0" dirty="0">
                <a:solidFill>
                  <a:srgbClr val="ED0007"/>
                </a:solidFill>
                <a:latin typeface="Bosch Office Sans" pitchFamily="2" charset="0"/>
              </a:rPr>
              <a:t>RWA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ED0007"/>
              </a:solidFill>
              <a:effectLst/>
              <a:uLnTx/>
              <a:uFillTx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612E747-22AB-2D8B-0035-00AE1167A2BF}"/>
              </a:ext>
            </a:extLst>
          </p:cNvPr>
          <p:cNvCxnSpPr>
            <a:cxnSpLocks/>
          </p:cNvCxnSpPr>
          <p:nvPr/>
        </p:nvCxnSpPr>
        <p:spPr>
          <a:xfrm flipH="1" flipV="1">
            <a:off x="8941004" y="3597326"/>
            <a:ext cx="2724" cy="191556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3C2CEBA-8844-B742-C57A-9B2FE5FA28A6}"/>
              </a:ext>
            </a:extLst>
          </p:cNvPr>
          <p:cNvCxnSpPr>
            <a:cxnSpLocks/>
          </p:cNvCxnSpPr>
          <p:nvPr/>
        </p:nvCxnSpPr>
        <p:spPr>
          <a:xfrm>
            <a:off x="8177548" y="4572462"/>
            <a:ext cx="2094923" cy="0"/>
          </a:xfrm>
          <a:prstGeom prst="line">
            <a:avLst/>
          </a:prstGeom>
          <a:ln w="31750">
            <a:solidFill>
              <a:srgbClr val="00CC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C873C227-4C7F-2352-FE25-69910885169E}"/>
              </a:ext>
            </a:extLst>
          </p:cNvPr>
          <p:cNvSpPr/>
          <p:nvPr/>
        </p:nvSpPr>
        <p:spPr>
          <a:xfrm>
            <a:off x="10310588" y="4529081"/>
            <a:ext cx="88315" cy="8336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D3F41F63-F8D0-BAC1-E8A4-6126D712902C}"/>
              </a:ext>
            </a:extLst>
          </p:cNvPr>
          <p:cNvSpPr/>
          <p:nvPr/>
        </p:nvSpPr>
        <p:spPr>
          <a:xfrm>
            <a:off x="7466494" y="4529081"/>
            <a:ext cx="88315" cy="8336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F9D6631-AC1E-D23F-4762-01A13D55271B}"/>
              </a:ext>
            </a:extLst>
          </p:cNvPr>
          <p:cNvCxnSpPr>
            <a:cxnSpLocks/>
          </p:cNvCxnSpPr>
          <p:nvPr/>
        </p:nvCxnSpPr>
        <p:spPr>
          <a:xfrm>
            <a:off x="8577331" y="3763653"/>
            <a:ext cx="36367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5F313BC-E95C-6697-0BF5-EDE5D2223381}"/>
              </a:ext>
            </a:extLst>
          </p:cNvPr>
          <p:cNvCxnSpPr>
            <a:cxnSpLocks/>
          </p:cNvCxnSpPr>
          <p:nvPr/>
        </p:nvCxnSpPr>
        <p:spPr>
          <a:xfrm>
            <a:off x="8583648" y="4578105"/>
            <a:ext cx="166367" cy="642839"/>
          </a:xfrm>
          <a:prstGeom prst="line">
            <a:avLst/>
          </a:prstGeom>
          <a:ln w="25400">
            <a:solidFill>
              <a:srgbClr val="00CC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44A8673-94CB-6395-D595-B4B3E6057209}"/>
              </a:ext>
            </a:extLst>
          </p:cNvPr>
          <p:cNvCxnSpPr>
            <a:cxnSpLocks/>
          </p:cNvCxnSpPr>
          <p:nvPr/>
        </p:nvCxnSpPr>
        <p:spPr>
          <a:xfrm flipH="1">
            <a:off x="8772934" y="4565302"/>
            <a:ext cx="168069" cy="603731"/>
          </a:xfrm>
          <a:prstGeom prst="line">
            <a:avLst/>
          </a:prstGeom>
          <a:ln w="254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EBDBA39-CB4A-2F4F-13B6-94C3344246C4}"/>
              </a:ext>
            </a:extLst>
          </p:cNvPr>
          <p:cNvCxnSpPr>
            <a:cxnSpLocks/>
          </p:cNvCxnSpPr>
          <p:nvPr/>
        </p:nvCxnSpPr>
        <p:spPr>
          <a:xfrm flipH="1">
            <a:off x="8690649" y="3754963"/>
            <a:ext cx="484853" cy="1706730"/>
          </a:xfrm>
          <a:prstGeom prst="line">
            <a:avLst/>
          </a:prstGeom>
          <a:ln w="12700">
            <a:solidFill>
              <a:srgbClr val="ED000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1876C27-D1FC-8352-A568-9B68D1064CD4}"/>
              </a:ext>
            </a:extLst>
          </p:cNvPr>
          <p:cNvCxnSpPr>
            <a:cxnSpLocks/>
          </p:cNvCxnSpPr>
          <p:nvPr/>
        </p:nvCxnSpPr>
        <p:spPr>
          <a:xfrm flipV="1">
            <a:off x="8577331" y="3597326"/>
            <a:ext cx="0" cy="9147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Arrow: Circular 169">
            <a:extLst>
              <a:ext uri="{FF2B5EF4-FFF2-40B4-BE49-F238E27FC236}">
                <a16:creationId xmlns:a16="http://schemas.microsoft.com/office/drawing/2014/main" id="{4716ADE4-512E-12A8-440A-D2D8035956C8}"/>
              </a:ext>
            </a:extLst>
          </p:cNvPr>
          <p:cNvSpPr/>
          <p:nvPr/>
        </p:nvSpPr>
        <p:spPr>
          <a:xfrm rot="10089239" flipH="1">
            <a:off x="9571356" y="4583004"/>
            <a:ext cx="578549" cy="536904"/>
          </a:xfrm>
          <a:prstGeom prst="circularArrow">
            <a:avLst>
              <a:gd name="adj1" fmla="val 0"/>
              <a:gd name="adj2" fmla="val 1696656"/>
              <a:gd name="adj3" fmla="val 18429732"/>
              <a:gd name="adj4" fmla="val 11546227"/>
              <a:gd name="adj5" fmla="val 9578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4D9AEBC-E2A0-E9C9-8C20-5E2E4D62CCFF}"/>
              </a:ext>
            </a:extLst>
          </p:cNvPr>
          <p:cNvSpPr txBox="1"/>
          <p:nvPr/>
        </p:nvSpPr>
        <p:spPr>
          <a:xfrm>
            <a:off x="7865317" y="3274316"/>
            <a:ext cx="1922444" cy="18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400" kern="0" dirty="0">
                <a:latin typeface="Bosch Office Sans" pitchFamily="2" charset="0"/>
              </a:rPr>
              <a:t>delta </a:t>
            </a:r>
            <a:r>
              <a:rPr lang="hu-HU" sz="1400" kern="0" dirty="0" err="1">
                <a:latin typeface="Bosch Office Sans" pitchFamily="2" charset="0"/>
              </a:rPr>
              <a:t>rack</a:t>
            </a:r>
            <a:r>
              <a:rPr lang="hu-HU" sz="1400" kern="0" dirty="0">
                <a:latin typeface="Bosch Office Sans" pitchFamily="2" charset="0"/>
              </a:rPr>
              <a:t> </a:t>
            </a:r>
            <a:r>
              <a:rPr lang="hu-HU" sz="1400" kern="0" dirty="0" err="1">
                <a:latin typeface="Bosch Office Sans" pitchFamily="2" charset="0"/>
              </a:rPr>
              <a:t>position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470FDAA-EBE1-2AEA-587D-E413DE2C4899}"/>
              </a:ext>
            </a:extLst>
          </p:cNvPr>
          <p:cNvCxnSpPr>
            <a:cxnSpLocks/>
          </p:cNvCxnSpPr>
          <p:nvPr/>
        </p:nvCxnSpPr>
        <p:spPr>
          <a:xfrm flipH="1" flipV="1">
            <a:off x="6774790" y="3705554"/>
            <a:ext cx="1802540" cy="1060424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CCA5667-48D1-83CB-0CBB-27C283DCA8D9}"/>
              </a:ext>
            </a:extLst>
          </p:cNvPr>
          <p:cNvSpPr txBox="1"/>
          <p:nvPr/>
        </p:nvSpPr>
        <p:spPr>
          <a:xfrm>
            <a:off x="6286080" y="3469785"/>
            <a:ext cx="1511263" cy="3303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400" kern="0" dirty="0" err="1">
                <a:solidFill>
                  <a:srgbClr val="00B050"/>
                </a:solidFill>
                <a:latin typeface="Bosch Office Sans" pitchFamily="2" charset="0"/>
              </a:rPr>
              <a:t>steering</a:t>
            </a:r>
            <a:r>
              <a:rPr lang="hu-HU" sz="1400" kern="0" dirty="0">
                <a:solidFill>
                  <a:srgbClr val="00B050"/>
                </a:solidFill>
                <a:latin typeface="Bosch Office Sans" pitchFamily="2" charset="0"/>
              </a:rPr>
              <a:t> </a:t>
            </a:r>
            <a:r>
              <a:rPr lang="hu-HU" sz="1400" kern="0" dirty="0" err="1">
                <a:solidFill>
                  <a:srgbClr val="00B050"/>
                </a:solidFill>
                <a:latin typeface="Bosch Office Sans" pitchFamily="2" charset="0"/>
              </a:rPr>
              <a:t>arm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5625BED-F720-18E0-BAB7-1A550BB3DA8A}"/>
              </a:ext>
            </a:extLst>
          </p:cNvPr>
          <p:cNvSpPr txBox="1"/>
          <p:nvPr/>
        </p:nvSpPr>
        <p:spPr>
          <a:xfrm>
            <a:off x="6696069" y="5755464"/>
            <a:ext cx="4348481" cy="294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400" kern="0" dirty="0" err="1">
                <a:latin typeface="Bosch Office Sans" pitchFamily="2" charset="0"/>
              </a:rPr>
              <a:t>Simplified</a:t>
            </a:r>
            <a:r>
              <a:rPr lang="hu-HU" sz="1400" kern="0" dirty="0">
                <a:latin typeface="Bosch Office Sans" pitchFamily="2" charset="0"/>
              </a:rPr>
              <a:t> </a:t>
            </a:r>
            <a:r>
              <a:rPr lang="hu-HU" sz="1400" kern="0" dirty="0" err="1">
                <a:latin typeface="Bosch Office Sans" pitchFamily="2" charset="0"/>
              </a:rPr>
              <a:t>model</a:t>
            </a:r>
            <a:r>
              <a:rPr lang="hu-HU" sz="1400" kern="0" dirty="0">
                <a:latin typeface="Bosch Office Sans" pitchFamily="2" charset="0"/>
              </a:rPr>
              <a:t> </a:t>
            </a:r>
            <a:r>
              <a:rPr lang="hu-HU" sz="1400" kern="0" dirty="0" err="1">
                <a:latin typeface="Bosch Office Sans" pitchFamily="2" charset="0"/>
              </a:rPr>
              <a:t>to</a:t>
            </a:r>
            <a:r>
              <a:rPr lang="hu-HU" sz="1400" kern="0" dirty="0">
                <a:latin typeface="Bosch Office Sans" pitchFamily="2" charset="0"/>
              </a:rPr>
              <a:t> </a:t>
            </a:r>
            <a:r>
              <a:rPr lang="hu-HU" sz="1400" kern="0" dirty="0" err="1">
                <a:latin typeface="Bosch Office Sans" pitchFamily="2" charset="0"/>
              </a:rPr>
              <a:t>calculate</a:t>
            </a:r>
            <a:r>
              <a:rPr lang="hu-HU" sz="1400" kern="0" dirty="0">
                <a:latin typeface="Bosch Office Sans" pitchFamily="2" charset="0"/>
              </a:rPr>
              <a:t> front center </a:t>
            </a:r>
            <a:r>
              <a:rPr lang="hu-HU" sz="1400" kern="0" dirty="0" err="1">
                <a:latin typeface="Bosch Office Sans" pitchFamily="2" charset="0"/>
              </a:rPr>
              <a:t>virtual</a:t>
            </a:r>
            <a:r>
              <a:rPr lang="hu-HU" sz="1400" kern="0" dirty="0">
                <a:latin typeface="Bosch Office Sans" pitchFamily="2" charset="0"/>
              </a:rPr>
              <a:t> RWA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139F427-6C34-7709-864E-7896497E94D4}"/>
              </a:ext>
            </a:extLst>
          </p:cNvPr>
          <p:cNvSpPr txBox="1"/>
          <p:nvPr/>
        </p:nvSpPr>
        <p:spPr>
          <a:xfrm>
            <a:off x="2583584" y="5718207"/>
            <a:ext cx="1322366" cy="2942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hu-HU" sz="1400" kern="0" dirty="0" err="1">
                <a:latin typeface="Bosch Office Sans" pitchFamily="2" charset="0"/>
              </a:rPr>
              <a:t>Basis</a:t>
            </a:r>
            <a:r>
              <a:rPr lang="hu-HU" sz="1400" kern="0" dirty="0">
                <a:latin typeface="Bosch Office Sans" pitchFamily="2" charset="0"/>
              </a:rPr>
              <a:t> </a:t>
            </a:r>
            <a:r>
              <a:rPr lang="hu-HU" sz="1400" kern="0" dirty="0" err="1">
                <a:latin typeface="Bosch Office Sans" pitchFamily="2" charset="0"/>
              </a:rPr>
              <a:t>concept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C609AEAB-D14B-86A2-7954-27030D478155}"/>
              </a:ext>
            </a:extLst>
          </p:cNvPr>
          <p:cNvCxnSpPr>
            <a:cxnSpLocks/>
          </p:cNvCxnSpPr>
          <p:nvPr/>
        </p:nvCxnSpPr>
        <p:spPr>
          <a:xfrm flipH="1">
            <a:off x="5334000" y="4078945"/>
            <a:ext cx="885825" cy="0"/>
          </a:xfrm>
          <a:prstGeom prst="straightConnector1">
            <a:avLst/>
          </a:prstGeom>
          <a:ln w="41275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2A1CE0-462B-5B2F-406C-CE6126E4FEB3}"/>
              </a:ext>
            </a:extLst>
          </p:cNvPr>
          <p:cNvCxnSpPr>
            <a:cxnSpLocks/>
          </p:cNvCxnSpPr>
          <p:nvPr/>
        </p:nvCxnSpPr>
        <p:spPr>
          <a:xfrm flipH="1" flipV="1">
            <a:off x="8346286" y="4568477"/>
            <a:ext cx="234641" cy="3836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93AE87F3-ECD5-CBF3-004A-F41F6DD41724}"/>
              </a:ext>
            </a:extLst>
          </p:cNvPr>
          <p:cNvSpPr/>
          <p:nvPr/>
        </p:nvSpPr>
        <p:spPr>
          <a:xfrm>
            <a:off x="8537851" y="4530633"/>
            <a:ext cx="88315" cy="83360"/>
          </a:xfrm>
          <a:prstGeom prst="ellipse">
            <a:avLst/>
          </a:prstGeom>
          <a:solidFill>
            <a:srgbClr val="00CC00"/>
          </a:solidFill>
          <a:ln w="9525" cap="flat" cmpd="sng" algn="ctr">
            <a:solidFill>
              <a:srgbClr val="00660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E50DA332-BA6F-066A-33A2-F04AFFDF0DA3}"/>
              </a:ext>
            </a:extLst>
          </p:cNvPr>
          <p:cNvSpPr/>
          <p:nvPr/>
        </p:nvSpPr>
        <p:spPr>
          <a:xfrm rot="5400000">
            <a:off x="8774732" y="4405275"/>
            <a:ext cx="300790" cy="329445"/>
          </a:xfrm>
          <a:prstGeom prst="circularArrow">
            <a:avLst>
              <a:gd name="adj1" fmla="val 0"/>
              <a:gd name="adj2" fmla="val 1696658"/>
              <a:gd name="adj3" fmla="val 18429732"/>
              <a:gd name="adj4" fmla="val 11546227"/>
              <a:gd name="adj5" fmla="val 9578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725347CF-2A54-B0D6-D2A2-23DCD6022973}"/>
              </a:ext>
            </a:extLst>
          </p:cNvPr>
          <p:cNvSpPr/>
          <p:nvPr/>
        </p:nvSpPr>
        <p:spPr>
          <a:xfrm>
            <a:off x="8717571" y="5164871"/>
            <a:ext cx="88315" cy="83360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4" name="Arrow: Circular 13">
            <a:extLst>
              <a:ext uri="{FF2B5EF4-FFF2-40B4-BE49-F238E27FC236}">
                <a16:creationId xmlns:a16="http://schemas.microsoft.com/office/drawing/2014/main" id="{74B55877-2CFD-9AA3-2BDF-4F713F30DB32}"/>
              </a:ext>
            </a:extLst>
          </p:cNvPr>
          <p:cNvSpPr/>
          <p:nvPr/>
        </p:nvSpPr>
        <p:spPr>
          <a:xfrm rot="10089239" flipH="1">
            <a:off x="8606219" y="5037167"/>
            <a:ext cx="305900" cy="329445"/>
          </a:xfrm>
          <a:prstGeom prst="circularArrow">
            <a:avLst>
              <a:gd name="adj1" fmla="val 0"/>
              <a:gd name="adj2" fmla="val 1696658"/>
              <a:gd name="adj3" fmla="val 18429732"/>
              <a:gd name="adj4" fmla="val 11546227"/>
              <a:gd name="adj5" fmla="val 9578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069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E2C4-5DAE-C13B-F72C-4E653602D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Door</a:t>
            </a:r>
            <a:r>
              <a:rPr lang="hu-HU" dirty="0"/>
              <a:t> </a:t>
            </a:r>
            <a:r>
              <a:rPr lang="hu-HU" dirty="0" err="1"/>
              <a:t>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1275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Model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Door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34</a:t>
            </a:fld>
            <a:endParaRPr lang="en-U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FA503-AB27-5BE0-E3DB-2A24E0A009DF}"/>
              </a:ext>
            </a:extLst>
          </p:cNvPr>
          <p:cNvSpPr txBox="1"/>
          <p:nvPr/>
        </p:nvSpPr>
        <p:spPr>
          <a:xfrm>
            <a:off x="288083" y="890009"/>
            <a:ext cx="5179267" cy="14531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hu-HU" dirty="0" err="1"/>
              <a:t>Doors</a:t>
            </a:r>
            <a:r>
              <a:rPr lang="hu-HU" dirty="0"/>
              <a:t> </a:t>
            </a:r>
            <a:r>
              <a:rPr lang="hu-HU" dirty="0" err="1"/>
              <a:t>control</a:t>
            </a:r>
            <a:r>
              <a:rPr lang="hu-HU" dirty="0"/>
              <a:t> is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a </a:t>
            </a:r>
            <a:r>
              <a:rPr lang="hu-HU" dirty="0" err="1"/>
              <a:t>simple</a:t>
            </a:r>
            <a:r>
              <a:rPr lang="hu-HU" dirty="0"/>
              <a:t> </a:t>
            </a:r>
            <a:r>
              <a:rPr lang="hu-HU" dirty="0" err="1"/>
              <a:t>door</a:t>
            </a:r>
            <a:r>
              <a:rPr lang="hu-HU" dirty="0"/>
              <a:t> </a:t>
            </a:r>
            <a:r>
              <a:rPr lang="hu-HU" dirty="0" err="1"/>
              <a:t>opening</a:t>
            </a:r>
            <a:r>
              <a:rPr lang="hu-HU" dirty="0"/>
              <a:t>/</a:t>
            </a:r>
            <a:r>
              <a:rPr lang="hu-HU" dirty="0" err="1"/>
              <a:t>closing</a:t>
            </a:r>
            <a:r>
              <a:rPr lang="hu-HU" dirty="0"/>
              <a:t>/</a:t>
            </a:r>
            <a:r>
              <a:rPr lang="hu-HU" dirty="0" err="1"/>
              <a:t>locking</a:t>
            </a:r>
            <a:r>
              <a:rPr lang="hu-HU" dirty="0"/>
              <a:t> input </a:t>
            </a:r>
            <a:r>
              <a:rPr lang="hu-HU" dirty="0" err="1"/>
              <a:t>set</a:t>
            </a:r>
            <a:r>
              <a:rPr lang="hu-HU" dirty="0"/>
              <a:t> (</a:t>
            </a:r>
            <a:r>
              <a:rPr lang="hu-HU" dirty="0" err="1"/>
              <a:t>also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CANoe</a:t>
            </a:r>
            <a:r>
              <a:rPr lang="hu-HU" dirty="0"/>
              <a:t> </a:t>
            </a:r>
            <a:r>
              <a:rPr lang="hu-HU" dirty="0" err="1"/>
              <a:t>sysvars</a:t>
            </a:r>
            <a:r>
              <a:rPr lang="hu-HU" dirty="0"/>
              <a:t> CLASSE </a:t>
            </a:r>
            <a:r>
              <a:rPr lang="hu-HU" dirty="0" err="1"/>
              <a:t>database</a:t>
            </a:r>
            <a:r>
              <a:rPr lang="hu-HU" dirty="0"/>
              <a:t>)</a:t>
            </a:r>
            <a:endParaRPr lang="hu-HU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92EF4-CC6A-FE87-0D57-D87172022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338" y="3429000"/>
            <a:ext cx="5432883" cy="2115965"/>
          </a:xfrm>
          <a:prstGeom prst="rect">
            <a:avLst/>
          </a:prstGeom>
          <a:ln>
            <a:solidFill>
              <a:srgbClr val="007BC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33A7BC-6892-12C8-A0AC-CC2305D5D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225" y="822283"/>
            <a:ext cx="4632248" cy="2125496"/>
          </a:xfrm>
          <a:prstGeom prst="rect">
            <a:avLst/>
          </a:prstGeom>
          <a:ln>
            <a:solidFill>
              <a:srgbClr val="007BC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E787B6-1114-32BA-1BC0-E5BBDAC8A25E}"/>
              </a:ext>
            </a:extLst>
          </p:cNvPr>
          <p:cNvSpPr txBox="1"/>
          <p:nvPr/>
        </p:nvSpPr>
        <p:spPr>
          <a:xfrm>
            <a:off x="288082" y="2343150"/>
            <a:ext cx="5179268" cy="14531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hu-HU" dirty="0"/>
              <a:t>Input(s):</a:t>
            </a:r>
          </a:p>
          <a:p>
            <a:pPr rtl="0"/>
            <a:r>
              <a:rPr lang="hu-HU" dirty="0"/>
              <a:t> - </a:t>
            </a:r>
            <a:r>
              <a:rPr lang="hu-HU" dirty="0" err="1"/>
              <a:t>door</a:t>
            </a:r>
            <a:r>
              <a:rPr lang="hu-HU" dirty="0"/>
              <a:t> status FL, FR, RL, RR</a:t>
            </a:r>
          </a:p>
          <a:p>
            <a:pPr rtl="0"/>
            <a:r>
              <a:rPr lang="hu-HU" dirty="0"/>
              <a:t>Output(s):</a:t>
            </a:r>
          </a:p>
          <a:p>
            <a:pPr rtl="0"/>
            <a:r>
              <a:rPr lang="hu-HU" dirty="0"/>
              <a:t> - overall </a:t>
            </a:r>
            <a:r>
              <a:rPr lang="hu-HU" dirty="0" err="1"/>
              <a:t>door</a:t>
            </a:r>
            <a:r>
              <a:rPr lang="hu-HU" dirty="0"/>
              <a:t> status (</a:t>
            </a:r>
            <a:r>
              <a:rPr lang="hu-HU" i="1" dirty="0" err="1"/>
              <a:t>closed</a:t>
            </a:r>
            <a:r>
              <a:rPr lang="hu-HU" dirty="0"/>
              <a:t>, </a:t>
            </a:r>
            <a:r>
              <a:rPr lang="hu-HU" dirty="0" err="1"/>
              <a:t>only</a:t>
            </a:r>
            <a:r>
              <a:rPr lang="hu-HU" dirty="0"/>
              <a:t> </a:t>
            </a:r>
            <a:r>
              <a:rPr lang="hu-HU" dirty="0" err="1"/>
              <a:t>if</a:t>
            </a:r>
            <a:r>
              <a:rPr lang="hu-HU" dirty="0"/>
              <a:t> </a:t>
            </a:r>
            <a:r>
              <a:rPr lang="hu-HU" dirty="0" err="1"/>
              <a:t>none</a:t>
            </a:r>
            <a:r>
              <a:rPr lang="hu-HU" dirty="0"/>
              <a:t> </a:t>
            </a:r>
            <a:r>
              <a:rPr lang="hu-HU" dirty="0" err="1"/>
              <a:t>doors</a:t>
            </a:r>
            <a:r>
              <a:rPr lang="hu-HU" dirty="0"/>
              <a:t> is </a:t>
            </a:r>
            <a:r>
              <a:rPr lang="hu-HU" i="1" dirty="0" err="1"/>
              <a:t>open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85158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E2C4-5DAE-C13B-F72C-4E653602D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External</a:t>
            </a:r>
            <a:r>
              <a:rPr lang="hu-HU" dirty="0"/>
              <a:t> </a:t>
            </a:r>
            <a:r>
              <a:rPr lang="hu-HU" dirty="0" err="1"/>
              <a:t>control</a:t>
            </a:r>
            <a:br>
              <a:rPr lang="hu-HU" dirty="0"/>
            </a:br>
            <a:r>
              <a:rPr lang="hu-HU" dirty="0"/>
              <a:t>(</a:t>
            </a:r>
            <a:r>
              <a:rPr lang="hu-HU" dirty="0" err="1"/>
              <a:t>keyboard</a:t>
            </a:r>
            <a:r>
              <a:rPr lang="hu-H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467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Model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External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keyboard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36</a:t>
            </a:fld>
            <a:endParaRPr lang="en-U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FA503-AB27-5BE0-E3DB-2A24E0A009DF}"/>
              </a:ext>
            </a:extLst>
          </p:cNvPr>
          <p:cNvSpPr txBox="1"/>
          <p:nvPr/>
        </p:nvSpPr>
        <p:spPr>
          <a:xfrm>
            <a:off x="288083" y="890009"/>
            <a:ext cx="11095778" cy="53656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hu-HU" dirty="0">
                <a:solidFill>
                  <a:srgbClr val="FF0000"/>
                </a:solidFill>
              </a:rPr>
              <a:t>TBD</a:t>
            </a:r>
            <a:endParaRPr lang="hu-HU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3978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7E2C4-5DAE-C13B-F72C-4E653602D0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Customer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flow </a:t>
            </a:r>
            <a:r>
              <a:rPr lang="hu-HU" dirty="0" err="1"/>
              <a:t>control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029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Vehicle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Model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Customer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hu-HU" dirty="0">
                <a:solidFill>
                  <a:schemeClr val="accent1">
                    <a:lumMod val="75000"/>
                  </a:schemeClr>
                </a:solidFill>
              </a:rPr>
              <a:t> flow </a:t>
            </a:r>
            <a:r>
              <a:rPr lang="hu-HU" dirty="0" err="1">
                <a:solidFill>
                  <a:schemeClr val="accent1">
                    <a:lumMod val="75000"/>
                  </a:schemeClr>
                </a:solidFill>
              </a:rPr>
              <a:t>control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38</a:t>
            </a:fld>
            <a:endParaRPr lang="en-U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FA503-AB27-5BE0-E3DB-2A24E0A009DF}"/>
              </a:ext>
            </a:extLst>
          </p:cNvPr>
          <p:cNvSpPr txBox="1"/>
          <p:nvPr/>
        </p:nvSpPr>
        <p:spPr>
          <a:xfrm>
            <a:off x="288083" y="890009"/>
            <a:ext cx="11095778" cy="53656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hu-HU" dirty="0" err="1"/>
              <a:t>Customer-related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 </a:t>
            </a:r>
            <a:r>
              <a:rPr lang="hu-HU" dirty="0" err="1"/>
              <a:t>control</a:t>
            </a:r>
            <a:r>
              <a:rPr lang="hu-HU" dirty="0"/>
              <a:t> (</a:t>
            </a:r>
            <a:r>
              <a:rPr lang="hu-HU" dirty="0" err="1"/>
              <a:t>value</a:t>
            </a:r>
            <a:r>
              <a:rPr lang="hu-HU" dirty="0"/>
              <a:t> of </a:t>
            </a:r>
            <a:r>
              <a:rPr lang="hu-HU" dirty="0" err="1"/>
              <a:t>bus</a:t>
            </a:r>
            <a:r>
              <a:rPr lang="hu-HU" dirty="0"/>
              <a:t> </a:t>
            </a:r>
            <a:r>
              <a:rPr lang="hu-HU" dirty="0" err="1"/>
              <a:t>signals</a:t>
            </a:r>
            <a:r>
              <a:rPr lang="hu-HU" dirty="0"/>
              <a:t>) is </a:t>
            </a:r>
            <a:r>
              <a:rPr lang="hu-HU" dirty="0" err="1"/>
              <a:t>implemented</a:t>
            </a:r>
            <a:r>
              <a:rPr lang="hu-HU" dirty="0"/>
              <a:t> in </a:t>
            </a:r>
            <a:r>
              <a:rPr lang="hu-HU" dirty="0" err="1"/>
              <a:t>separate</a:t>
            </a:r>
            <a:r>
              <a:rPr lang="hu-HU" dirty="0"/>
              <a:t> </a:t>
            </a:r>
            <a:r>
              <a:rPr lang="hu-HU" dirty="0" err="1"/>
              <a:t>module</a:t>
            </a:r>
            <a:r>
              <a:rPr lang="hu-HU" dirty="0"/>
              <a:t> (CAPL </a:t>
            </a:r>
            <a:r>
              <a:rPr lang="hu-HU" dirty="0" err="1"/>
              <a:t>include</a:t>
            </a:r>
            <a:r>
              <a:rPr lang="hu-HU" dirty="0"/>
              <a:t> file) of </a:t>
            </a:r>
            <a:r>
              <a:rPr lang="hu-HU" dirty="0" err="1"/>
              <a:t>Vehicle</a:t>
            </a:r>
            <a:r>
              <a:rPr lang="hu-HU" dirty="0"/>
              <a:t> </a:t>
            </a:r>
            <a:r>
              <a:rPr lang="hu-HU" dirty="0" err="1"/>
              <a:t>Model</a:t>
            </a:r>
            <a:r>
              <a:rPr lang="hu-HU" dirty="0"/>
              <a:t>.</a:t>
            </a:r>
          </a:p>
          <a:p>
            <a:pPr rtl="0"/>
            <a:endParaRPr lang="hu-HU" dirty="0"/>
          </a:p>
          <a:p>
            <a:pPr rtl="0"/>
            <a:r>
              <a:rPr lang="hu-HU" dirty="0"/>
              <a:t>Data flow </a:t>
            </a:r>
            <a:r>
              <a:rPr lang="hu-HU" dirty="0" err="1"/>
              <a:t>control</a:t>
            </a:r>
            <a:r>
              <a:rPr lang="hu-HU" dirty="0"/>
              <a:t> has </a:t>
            </a:r>
            <a:r>
              <a:rPr lang="hu-HU" dirty="0" err="1"/>
              <a:t>two</a:t>
            </a:r>
            <a:r>
              <a:rPr lang="hu-HU" dirty="0"/>
              <a:t> </a:t>
            </a:r>
            <a:r>
              <a:rPr lang="hu-HU" dirty="0" err="1"/>
              <a:t>steps</a:t>
            </a:r>
            <a:r>
              <a:rPr lang="hu-HU" dirty="0"/>
              <a:t> </a:t>
            </a:r>
            <a:r>
              <a:rPr lang="hu-HU" dirty="0" err="1"/>
              <a:t>within</a:t>
            </a:r>
            <a:r>
              <a:rPr lang="hu-HU" dirty="0"/>
              <a:t> a </a:t>
            </a:r>
            <a:r>
              <a:rPr lang="hu-HU" dirty="0" err="1"/>
              <a:t>simulation</a:t>
            </a:r>
            <a:r>
              <a:rPr lang="hu-HU" dirty="0"/>
              <a:t> </a:t>
            </a:r>
            <a:r>
              <a:rPr lang="hu-HU" dirty="0" err="1"/>
              <a:t>cycle</a:t>
            </a:r>
            <a:r>
              <a:rPr lang="hu-HU" dirty="0"/>
              <a:t>:</a:t>
            </a:r>
          </a:p>
          <a:p>
            <a:pPr marL="228600" indent="-228600" rtl="0">
              <a:buFont typeface="+mj-lt"/>
              <a:buAutoNum type="arabicPeriod"/>
            </a:pPr>
            <a:r>
              <a:rPr lang="hu-HU" b="1" dirty="0" err="1"/>
              <a:t>Collecting</a:t>
            </a:r>
            <a:r>
              <a:rPr lang="hu-HU" b="1" dirty="0"/>
              <a:t> </a:t>
            </a:r>
            <a:r>
              <a:rPr lang="hu-HU" b="1" dirty="0" err="1"/>
              <a:t>necessary</a:t>
            </a:r>
            <a:r>
              <a:rPr lang="hu-HU" b="1" dirty="0"/>
              <a:t> input </a:t>
            </a:r>
            <a:r>
              <a:rPr lang="hu-HU" b="1" dirty="0" err="1"/>
              <a:t>signal</a:t>
            </a:r>
            <a:r>
              <a:rPr lang="hu-HU" b="1" dirty="0"/>
              <a:t> </a:t>
            </a:r>
            <a:r>
              <a:rPr lang="hu-HU" b="1" dirty="0" err="1"/>
              <a:t>values</a:t>
            </a:r>
            <a:r>
              <a:rPr lang="hu-HU" b="1" dirty="0"/>
              <a:t> </a:t>
            </a:r>
            <a:r>
              <a:rPr lang="hu-HU" b="1" dirty="0" err="1"/>
              <a:t>from</a:t>
            </a:r>
            <a:r>
              <a:rPr lang="hu-HU" b="1" dirty="0"/>
              <a:t> ADAS ECU(s)</a:t>
            </a:r>
          </a:p>
          <a:p>
            <a:pPr marL="685538" lvl="1" indent="-228600">
              <a:buFont typeface="Arial" panose="020B0604020202020204" pitchFamily="34" charset="0"/>
              <a:buChar char="•"/>
            </a:pPr>
            <a:r>
              <a:rPr lang="hu-HU" dirty="0"/>
              <a:t>RWA </a:t>
            </a:r>
            <a:r>
              <a:rPr lang="hu-HU" dirty="0" err="1"/>
              <a:t>request</a:t>
            </a:r>
            <a:endParaRPr lang="hu-HU" dirty="0"/>
          </a:p>
          <a:p>
            <a:pPr marL="685538" lvl="1" indent="-228600">
              <a:buFont typeface="Arial" panose="020B0604020202020204" pitchFamily="34" charset="0"/>
              <a:buChar char="•"/>
            </a:pPr>
            <a:r>
              <a:rPr lang="hu-HU" dirty="0" err="1"/>
              <a:t>Acceleration</a:t>
            </a:r>
            <a:r>
              <a:rPr lang="hu-HU" dirty="0"/>
              <a:t>/</a:t>
            </a:r>
            <a:r>
              <a:rPr lang="hu-HU" dirty="0" err="1"/>
              <a:t>Deceleration</a:t>
            </a:r>
            <a:r>
              <a:rPr lang="hu-HU" dirty="0"/>
              <a:t> </a:t>
            </a:r>
            <a:r>
              <a:rPr lang="hu-HU" dirty="0" err="1"/>
              <a:t>requests</a:t>
            </a:r>
            <a:endParaRPr lang="hu-HU" dirty="0"/>
          </a:p>
          <a:p>
            <a:pPr marL="228600" indent="-228600" rtl="0">
              <a:buFont typeface="+mj-lt"/>
              <a:buAutoNum type="arabicPeriod"/>
            </a:pPr>
            <a:r>
              <a:rPr lang="hu-HU" b="1" dirty="0" err="1"/>
              <a:t>Assign</a:t>
            </a:r>
            <a:r>
              <a:rPr lang="hu-HU" b="1" dirty="0"/>
              <a:t> </a:t>
            </a:r>
            <a:r>
              <a:rPr lang="hu-HU" b="1" dirty="0" err="1"/>
              <a:t>calculated</a:t>
            </a:r>
            <a:r>
              <a:rPr lang="hu-HU" b="1" dirty="0"/>
              <a:t> </a:t>
            </a:r>
            <a:r>
              <a:rPr lang="hu-HU" b="1" dirty="0" err="1"/>
              <a:t>values</a:t>
            </a:r>
            <a:r>
              <a:rPr lang="hu-HU" b="1" dirty="0"/>
              <a:t> </a:t>
            </a:r>
            <a:r>
              <a:rPr lang="hu-HU" b="1" dirty="0" err="1"/>
              <a:t>to</a:t>
            </a:r>
            <a:r>
              <a:rPr lang="hu-HU" b="1" dirty="0"/>
              <a:t> </a:t>
            </a:r>
            <a:r>
              <a:rPr lang="hu-HU" b="1" dirty="0" err="1"/>
              <a:t>necessary</a:t>
            </a:r>
            <a:r>
              <a:rPr lang="hu-HU" b="1" dirty="0"/>
              <a:t> output </a:t>
            </a:r>
            <a:r>
              <a:rPr lang="hu-HU" b="1" dirty="0" err="1"/>
              <a:t>signals</a:t>
            </a:r>
            <a:r>
              <a:rPr lang="hu-HU" b="1" dirty="0"/>
              <a:t> </a:t>
            </a:r>
            <a:r>
              <a:rPr lang="hu-HU" b="1" dirty="0" err="1"/>
              <a:t>sent</a:t>
            </a:r>
            <a:r>
              <a:rPr lang="hu-HU" b="1" dirty="0"/>
              <a:t> </a:t>
            </a:r>
            <a:r>
              <a:rPr lang="hu-HU" b="1" dirty="0" err="1"/>
              <a:t>to</a:t>
            </a:r>
            <a:r>
              <a:rPr lang="hu-HU" b="1" dirty="0"/>
              <a:t> ADAS ECU(s) </a:t>
            </a:r>
            <a:r>
              <a:rPr lang="hu-HU" b="1" dirty="0" err="1"/>
              <a:t>related</a:t>
            </a:r>
            <a:r>
              <a:rPr lang="hu-HU" b="1" dirty="0"/>
              <a:t> </a:t>
            </a:r>
            <a:r>
              <a:rPr lang="hu-HU" b="1" dirty="0" err="1"/>
              <a:t>to</a:t>
            </a:r>
            <a:r>
              <a:rPr lang="hu-HU" b="1" dirty="0"/>
              <a:t>:</a:t>
            </a:r>
          </a:p>
          <a:p>
            <a:pPr marL="685538" lvl="1" indent="-228600">
              <a:buFont typeface="Arial" panose="020B0604020202020204" pitchFamily="34" charset="0"/>
              <a:buChar char="•"/>
            </a:pPr>
            <a:r>
              <a:rPr lang="hu-HU" dirty="0" err="1"/>
              <a:t>Pedal</a:t>
            </a:r>
            <a:endParaRPr lang="hu-HU" dirty="0"/>
          </a:p>
          <a:p>
            <a:pPr marL="685538" lvl="1" indent="-228600">
              <a:buFont typeface="Arial" panose="020B0604020202020204" pitchFamily="34" charset="0"/>
              <a:buChar char="•"/>
            </a:pPr>
            <a:r>
              <a:rPr lang="hu-HU" dirty="0" err="1"/>
              <a:t>Power</a:t>
            </a:r>
            <a:r>
              <a:rPr lang="hu-HU" dirty="0"/>
              <a:t> </a:t>
            </a:r>
            <a:r>
              <a:rPr lang="hu-HU" dirty="0" err="1"/>
              <a:t>mode</a:t>
            </a:r>
            <a:endParaRPr lang="hu-HU" dirty="0"/>
          </a:p>
          <a:p>
            <a:pPr marL="685538" lvl="1" indent="-228600">
              <a:buFont typeface="Arial" panose="020B0604020202020204" pitchFamily="34" charset="0"/>
              <a:buChar char="•"/>
            </a:pPr>
            <a:r>
              <a:rPr lang="hu-HU" dirty="0" err="1"/>
              <a:t>Gear</a:t>
            </a:r>
            <a:endParaRPr lang="hu-HU" dirty="0"/>
          </a:p>
          <a:p>
            <a:pPr marL="685538" lvl="1" indent="-228600">
              <a:buFont typeface="Arial" panose="020B0604020202020204" pitchFamily="34" charset="0"/>
              <a:buChar char="•"/>
            </a:pPr>
            <a:r>
              <a:rPr lang="hu-HU" dirty="0" err="1"/>
              <a:t>Driving</a:t>
            </a:r>
            <a:r>
              <a:rPr lang="hu-HU" dirty="0"/>
              <a:t> </a:t>
            </a:r>
            <a:r>
              <a:rPr lang="hu-HU" dirty="0" err="1"/>
              <a:t>direction</a:t>
            </a:r>
            <a:endParaRPr lang="hu-HU" dirty="0"/>
          </a:p>
          <a:p>
            <a:pPr marL="685538" lvl="1" indent="-228600">
              <a:buFont typeface="Arial" panose="020B0604020202020204" pitchFamily="34" charset="0"/>
              <a:buChar char="•"/>
            </a:pPr>
            <a:r>
              <a:rPr lang="hu-HU" dirty="0" err="1"/>
              <a:t>Longitudinal</a:t>
            </a:r>
            <a:r>
              <a:rPr lang="hu-HU" dirty="0"/>
              <a:t> </a:t>
            </a:r>
            <a:r>
              <a:rPr lang="hu-HU" dirty="0" err="1"/>
              <a:t>motion</a:t>
            </a:r>
            <a:endParaRPr lang="hu-HU" dirty="0"/>
          </a:p>
          <a:p>
            <a:pPr marL="685538" lvl="1" indent="-228600">
              <a:buFont typeface="Arial" panose="020B0604020202020204" pitchFamily="34" charset="0"/>
              <a:buChar char="•"/>
            </a:pPr>
            <a:r>
              <a:rPr lang="hu-HU" dirty="0" err="1"/>
              <a:t>Lateral</a:t>
            </a:r>
            <a:r>
              <a:rPr lang="hu-HU" dirty="0"/>
              <a:t> </a:t>
            </a:r>
            <a:r>
              <a:rPr lang="hu-HU" dirty="0" err="1"/>
              <a:t>motion</a:t>
            </a:r>
            <a:endParaRPr lang="hu-HU" dirty="0"/>
          </a:p>
          <a:p>
            <a:pPr marL="685538" lvl="1" indent="-228600">
              <a:buFont typeface="Arial" panose="020B0604020202020204" pitchFamily="34" charset="0"/>
              <a:buChar char="•"/>
            </a:pPr>
            <a:r>
              <a:rPr lang="hu-HU" dirty="0"/>
              <a:t>ESP</a:t>
            </a:r>
          </a:p>
        </p:txBody>
      </p:sp>
    </p:spTree>
    <p:extLst>
      <p:ext uri="{BB962C8B-B14F-4D97-AF65-F5344CB8AC3E}">
        <p14:creationId xmlns:p14="http://schemas.microsoft.com/office/powerpoint/2010/main" val="2204474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  <p:tag name="SAXCONVERSION" val="1"/>
  <p:tag name="SAXMLCOMPANYNAME_PREVIOUS" val="bosch"/>
  <p:tag name="MLTEMPLATEVERSION_PREVIOUS" val="1.0"/>
</p:tagLst>
</file>

<file path=ppt/theme/theme1.xml><?xml version="1.0" encoding="utf-8"?>
<a:theme xmlns:a="http://schemas.openxmlformats.org/drawingml/2006/main" name="Bosch NG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52779E17-DA50-4443-9CCA-C57129DBFB53}" vid="{CBD1DA7C-47F9-4AE4-B1E4-E762B597D2F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XC-DX/EDI2</OrgInhalt>
      <Wert>XC-DX/EDI2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Intern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2022. Alle Rechte vorbehalten, auch bzgl. jeder Verfügung, Verwertung, Reproduktion, Bearbeitung, Weitergabe sowie für den Fall von Schutzrechtsanmeldungen.</OrgInhalt>
      <Wert>© Robert Bosch GmbH 2022.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18.02.2022</OrgInhalt>
      <Wert>18.02.2022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Cross-Domain Computing Solutions</OrgInhalt>
      <Wert>Cross-Domain Computing 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versation-Topic xmlns="bca0bc44-19d1-4824-98a4-321de56310bf" xsi:nil="true"/>
    <Received xmlns="bca0bc44-19d1-4824-98a4-321de56310bf" xsi:nil="true"/>
    <Importance xmlns="bca0bc44-19d1-4824-98a4-321de56310bf" xsi:nil="true"/>
    <ISC xmlns="4c1bb3ec-31fb-4a5a-ac42-aa8cd4516000">3</ISC>
    <Conversation-Index xmlns="bca0bc44-19d1-4824-98a4-321de56310bf" xsi:nil="true"/>
    <Bcc xmlns="bca0bc44-19d1-4824-98a4-321de56310bf" xsi:nil="true"/>
    <Sensitivity xmlns="bca0bc44-19d1-4824-98a4-321de56310bf" xsi:nil="true"/>
    <IconOverlay xmlns="http://schemas.microsoft.com/sharepoint/v4" xsi:nil="true"/>
    <Safeguarding xmlns="4c1bb3ec-31fb-4a5a-ac42-aa8cd4516000">No</Safeguarding>
    <To xmlns="bca0bc44-19d1-4824-98a4-321de56310bf" xsi:nil="true"/>
    <Reply-To xmlns="bca0bc44-19d1-4824-98a4-321de56310bf" xsi:nil="true"/>
    <In-Reply-To xmlns="bca0bc44-19d1-4824-98a4-321de56310bf" xsi:nil="true"/>
    <MailPreviewData xmlns="bca0bc44-19d1-4824-98a4-321de56310bf" xsi:nil="true"/>
    <MessageClass xmlns="4c1bb3ec-31fb-4a5a-ac42-aa8cd4516000" xsi:nil="true"/>
    <Date1 xmlns="bca0bc44-19d1-4824-98a4-321de56310bf" xsi:nil="true"/>
    <Attachment xmlns="bca0bc44-19d1-4824-98a4-321de56310bf">true</Attachment>
    <References xmlns="bca0bc44-19d1-4824-98a4-321de56310bf" xsi:nil="true"/>
    <ArchivingPeriod xmlns="4c1bb3ec-31fb-4a5a-ac42-aa8cd4516000">35</ArchivingPeriod>
    <ASC xmlns="4c1bb3ec-31fb-4a5a-ac42-aa8cd4516000">2</ASC>
    <Cc xmlns="bca0bc44-19d1-4824-98a4-321de56310bf" xsi:nil="true"/>
    <Message-ID xmlns="bca0bc44-19d1-4824-98a4-321de56310bf" xsi:nil="true"/>
    <Historicalrelevance xmlns="4c1bb3ec-31fb-4a5a-ac42-aa8cd4516000">No</Historicalrelevance>
    <OriginalSubject xmlns="bca0bc44-19d1-4824-98a4-321de56310bf" xsi:nil="true"/>
    <CSC xmlns="4c1bb3ec-31fb-4a5a-ac42-aa8cd4516000">2</CSC>
    <From1 xmlns="bca0bc44-19d1-4824-98a4-321de56310bf" xsi:nil="true"/>
    <Revisions xmlns="4c1bb3ec-31fb-4a5a-ac42-aa8cd4516000">
      <Url xsi:nil="true"/>
      <Description xsi:nil="true"/>
    </Revisions>
    <LockedStatus xmlns="4c1bb3ec-31fb-4a5a-ac42-aa8cd4516000">Unlocked</LockedStatus>
    <_vti_ItemHoldRecordStatus xmlns="http://schemas.microsoft.com/sharepoint/v3" xsi:nil="true"/>
    <_vti_ItemDeclaredRecord xmlns="http://schemas.microsoft.com/sharepoint/v3" xsi:nil="true"/>
    <_dlc_DocId xmlns="4c1bb3ec-31fb-4a5a-ac42-aa8cd4516000">P12S144287-699374571-4181</_dlc_DocId>
    <_dlc_DocIdUrl xmlns="4c1bb3ec-31fb-4a5a-ac42-aa8cd4516000">
      <Url>https://sites.inside-share2.bosch.com/sites/144287/_layouts/15/DocIdRedir.aspx?ID=P12S144287-699374571-4181</Url>
      <Description>P12S144287-699374571-4181</Description>
    </_dlc_DocIdUrl>
    <ILMItemType xmlns="4c1bb3ec-31fb-4a5a-ac42-aa8cd4516000">ConceptualItem</ILMItemType>
    <LockedBy xmlns="4c1bb3ec-31fb-4a5a-ac42-aa8cd4516000">
      <UserInfo>
        <DisplayName/>
        <AccountId xsi:nil="true"/>
        <AccountType/>
      </UserInfo>
    </LockedBy>
    <ILMCreationRevision xmlns="4c1bb3ec-31fb-4a5a-ac42-aa8cd4516000">false</ILMCreationRevision>
    <IlmBasedOn xmlns="4c1bb3ec-31fb-4a5a-ac42-aa8cd4516000" xsi:nil="true"/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ILMBoschDocument" ma:contentTypeID="0x01010079C2150534271841997CA4BF28B151E90100307EA83ED42A584099D189C52F07585A" ma:contentTypeVersion="30" ma:contentTypeDescription="Bosch Document Content Type for ILM" ma:contentTypeScope="" ma:versionID="46680fb55f2b448e4d697b4aac1c2ef6">
  <xsd:schema xmlns:xsd="http://www.w3.org/2001/XMLSchema" xmlns:xs="http://www.w3.org/2001/XMLSchema" xmlns:p="http://schemas.microsoft.com/office/2006/metadata/properties" xmlns:ns1="http://schemas.microsoft.com/sharepoint/v3" xmlns:ns2="4c1bb3ec-31fb-4a5a-ac42-aa8cd4516000" xmlns:ns3="bca0bc44-19d1-4824-98a4-321de56310bf" xmlns:ns4="http://schemas.microsoft.com/sharepoint/v4" targetNamespace="http://schemas.microsoft.com/office/2006/metadata/properties" ma:root="true" ma:fieldsID="8e307836bdc0b590fde6f31324e6d042" ns1:_="" ns2:_="" ns3:_="" ns4:_="">
    <xsd:import namespace="http://schemas.microsoft.com/sharepoint/v3"/>
    <xsd:import namespace="4c1bb3ec-31fb-4a5a-ac42-aa8cd4516000"/>
    <xsd:import namespace="bca0bc44-19d1-4824-98a4-321de56310b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CSC"/>
                <xsd:element ref="ns2:ASC"/>
                <xsd:element ref="ns2:ISC"/>
                <xsd:element ref="ns2:ArchivingPeriod"/>
                <xsd:element ref="ns2:Safeguarding"/>
                <xsd:element ref="ns2:Historicalrelevance"/>
                <xsd:element ref="ns3:OriginalSubject" minOccurs="0"/>
                <xsd:element ref="ns3:From1" minOccurs="0"/>
                <xsd:element ref="ns3:Cc" minOccurs="0"/>
                <xsd:element ref="ns3:Bcc" minOccurs="0"/>
                <xsd:element ref="ns3:Conversation-Topic" minOccurs="0"/>
                <xsd:element ref="ns3:Date1" minOccurs="0"/>
                <xsd:element ref="ns3:Reply-To" minOccurs="0"/>
                <xsd:element ref="ns3:To" minOccurs="0"/>
                <xsd:element ref="ns3:Received" minOccurs="0"/>
                <xsd:element ref="ns3:Attachment" minOccurs="0"/>
                <xsd:element ref="ns3:Sensitivity" minOccurs="0"/>
                <xsd:element ref="ns3:Importance" minOccurs="0"/>
                <xsd:element ref="ns3:In-Reply-To" minOccurs="0"/>
                <xsd:element ref="ns3:References" minOccurs="0"/>
                <xsd:element ref="ns3:Conversation-Index" minOccurs="0"/>
                <xsd:element ref="ns3:MailPreviewData" minOccurs="0"/>
                <xsd:element ref="ns2:MessageClass" minOccurs="0"/>
                <xsd:element ref="ns3:Message-ID" minOccurs="0"/>
                <xsd:element ref="ns2:IlmBasedOn" minOccurs="0"/>
                <xsd:element ref="ns2:LockedStatus" minOccurs="0"/>
                <xsd:element ref="ns2:LockedBy" minOccurs="0"/>
                <xsd:element ref="ns2:ILMItemType" minOccurs="0"/>
                <xsd:element ref="ns2:ILMCreationRevision" minOccurs="0"/>
                <xsd:element ref="ns2:Revisions" minOccurs="0"/>
                <xsd:element ref="ns4:IconOverlay" minOccurs="0"/>
                <xsd:element ref="ns1:_vti_ItemDeclaredRecord" minOccurs="0"/>
                <xsd:element ref="ns1:_vti_ItemHoldRecord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42" nillable="true" ma:displayName="Declared Record" ma:hidden="true" ma:internalName="_vti_ItemDeclaredRecord" ma:readOnly="true">
      <xsd:simpleType>
        <xsd:restriction base="dms:DateTime"/>
      </xsd:simpleType>
    </xsd:element>
    <xsd:element name="_vti_ItemHoldRecordStatus" ma:index="43" nillable="true" ma:displayName="Hold and Record Status" ma:decimals="0" ma:description="" ma:hidden="true" ma:indexed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bb3ec-31fb-4a5a-ac42-aa8cd45160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CSC" ma:index="11" ma:displayName="C-SC" ma:default="1" ma:description="Security Class for Confidentiality." ma:format="Dropdown" ma:indexed="true" ma:internalName="C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SC" ma:index="12" ma:displayName="A-SC" ma:default="1" ma:description="Security Class for Availability" ma:format="Dropdown" ma:indexed="true" ma:internalName="A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ISC" ma:index="13" ma:displayName="I-SC" ma:default="1" ma:description="Security Class for Integrity" ma:format="Dropdown" ma:internalName="I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rchivingPeriod" ma:index="14" ma:displayName="Archiving Period (in years)" ma:default="35" ma:description="File will be deleted from the archive after end of the archiving" ma:format="Dropdown" ma:indexed="true" ma:internalName="ArchivingPeriod" ma:readOnly="false">
      <xsd:simpleType>
        <xsd:union memberTypes="dms:Text">
          <xsd:simpleType>
            <xsd:restriction base="dms:Choice">
              <xsd:enumeration value="1"/>
              <xsd:enumeration value="3"/>
              <xsd:enumeration value="6"/>
              <xsd:enumeration value="10"/>
              <xsd:enumeration value="15"/>
              <xsd:enumeration value="35"/>
              <xsd:enumeration value="Delete when archiving"/>
              <xsd:enumeration value="infinite"/>
            </xsd:restriction>
          </xsd:simpleType>
        </xsd:union>
      </xsd:simpleType>
    </xsd:element>
    <xsd:element name="Safeguarding" ma:index="15" ma:displayName="Safeguarding" ma:default="No" ma:description="Special safeguarding requirements" ma:format="Dropdown" ma:internalName="Safeguarding" ma:readOnly="false">
      <xsd:simpleType>
        <xsd:restriction base="dms:Choice">
          <xsd:enumeration value="Yes"/>
          <xsd:enumeration value="No"/>
        </xsd:restriction>
      </xsd:simpleType>
    </xsd:element>
    <xsd:element name="Historicalrelevance" ma:index="16" ma:displayName="Historical relevance" ma:default="No" ma:description="Handover to C/CCH" ma:format="Dropdown" ma:internalName="Historicalrelevance" ma:readOnly="false">
      <xsd:simpleType>
        <xsd:restriction base="dms:Choice">
          <xsd:enumeration value="Yes"/>
          <xsd:enumeration value="No"/>
        </xsd:restriction>
      </xsd:simpleType>
    </xsd:element>
    <xsd:element name="MessageClass" ma:index="33" nillable="true" ma:displayName="MessageClass" ma:hidden="true" ma:internalName="MessageClass">
      <xsd:simpleType>
        <xsd:restriction base="dms:Text">
          <xsd:maxLength value="255"/>
        </xsd:restriction>
      </xsd:simpleType>
    </xsd:element>
    <xsd:element name="IlmBasedOn" ma:index="35" nillable="true" ma:displayName="Based on" ma:internalName="IlmBasedOn" ma:readOnly="true">
      <xsd:simpleType>
        <xsd:restriction base="dms:Text"/>
      </xsd:simpleType>
    </xsd:element>
    <xsd:element name="LockedStatus" ma:index="36" nillable="true" ma:displayName="Locked Status" ma:default="Unlocked" ma:internalName="LockedStatus" ma:readOnly="true">
      <xsd:simpleType>
        <xsd:restriction base="dms:Text"/>
      </xsd:simpleType>
    </xsd:element>
    <xsd:element name="LockedBy" ma:index="37" nillable="true" ma:displayName="Locked By" ma:internalName="Locked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LMItemType" ma:index="38" nillable="true" ma:displayName="ILMItemType" ma:default="ConceptualItem" ma:indexed="true" ma:internalName="ILMItemType" ma:readOnly="true">
      <xsd:simpleType>
        <xsd:restriction base="dms:Text"/>
      </xsd:simpleType>
    </xsd:element>
    <xsd:element name="ILMCreationRevision" ma:index="39" nillable="true" ma:displayName="Creating Revision" ma:internalName="ILMCreationRevision" ma:readOnly="true">
      <xsd:simpleType>
        <xsd:restriction base="dms:Boolean"/>
      </xsd:simpleType>
    </xsd:element>
    <xsd:element name="Revisions" ma:index="40" nillable="true" ma:displayName="Revision set" ma:internalName="Revision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0bc44-19d1-4824-98a4-321de56310bf" elementFormDefault="qualified">
    <xsd:import namespace="http://schemas.microsoft.com/office/2006/documentManagement/types"/>
    <xsd:import namespace="http://schemas.microsoft.com/office/infopath/2007/PartnerControls"/>
    <xsd:element name="OriginalSubject" ma:index="17" nillable="true" ma:displayName="OriginalSubject" ma:internalName="OriginalSubject">
      <xsd:simpleType>
        <xsd:restriction base="dms:Text">
          <xsd:maxLength value="255"/>
        </xsd:restriction>
      </xsd:simpleType>
    </xsd:element>
    <xsd:element name="From1" ma:index="18" nillable="true" ma:displayName="From" ma:internalName="From1">
      <xsd:simpleType>
        <xsd:restriction base="dms:Text">
          <xsd:maxLength value="255"/>
        </xsd:restriction>
      </xsd:simpleType>
    </xsd:element>
    <xsd:element name="Cc" ma:index="19" nillable="true" ma:displayName="Cc" ma:internalName="Cc">
      <xsd:simpleType>
        <xsd:restriction base="dms:Note">
          <xsd:maxLength value="255"/>
        </xsd:restriction>
      </xsd:simpleType>
    </xsd:element>
    <xsd:element name="Bcc" ma:index="20" nillable="true" ma:displayName="Bcc" ma:internalName="Bcc">
      <xsd:simpleType>
        <xsd:restriction base="dms:Note">
          <xsd:maxLength value="255"/>
        </xsd:restriction>
      </xsd:simpleType>
    </xsd:element>
    <xsd:element name="Conversation-Topic" ma:index="21" nillable="true" ma:displayName="Conversation-Topic" ma:internalName="Conversation_x002d_Topic">
      <xsd:simpleType>
        <xsd:restriction base="dms:Text">
          <xsd:maxLength value="255"/>
        </xsd:restriction>
      </xsd:simpleType>
    </xsd:element>
    <xsd:element name="Date1" ma:index="22" nillable="true" ma:displayName="Date" ma:format="DateOnly" ma:internalName="Date1">
      <xsd:simpleType>
        <xsd:restriction base="dms:DateTime"/>
      </xsd:simpleType>
    </xsd:element>
    <xsd:element name="Reply-To" ma:index="23" nillable="true" ma:displayName="Reply-To" ma:internalName="Reply_x002d_To">
      <xsd:simpleType>
        <xsd:restriction base="dms:Text">
          <xsd:maxLength value="255"/>
        </xsd:restriction>
      </xsd:simpleType>
    </xsd:element>
    <xsd:element name="To" ma:index="24" nillable="true" ma:displayName="To" ma:internalName="To">
      <xsd:simpleType>
        <xsd:restriction base="dms:Note">
          <xsd:maxLength value="255"/>
        </xsd:restriction>
      </xsd:simpleType>
    </xsd:element>
    <xsd:element name="Received" ma:index="25" nillable="true" ma:displayName="Received" ma:internalName="Received">
      <xsd:simpleType>
        <xsd:restriction base="dms:Text">
          <xsd:maxLength value="255"/>
        </xsd:restriction>
      </xsd:simpleType>
    </xsd:element>
    <xsd:element name="Attachment" ma:index="26" nillable="true" ma:displayName="Attachment" ma:default="1" ma:internalName="Attachment">
      <xsd:simpleType>
        <xsd:restriction base="dms:Boolean"/>
      </xsd:simpleType>
    </xsd:element>
    <xsd:element name="Sensitivity" ma:index="27" nillable="true" ma:displayName="Sensitivity" ma:internalName="Sensitivity">
      <xsd:simpleType>
        <xsd:restriction base="dms:Text">
          <xsd:maxLength value="255"/>
        </xsd:restriction>
      </xsd:simpleType>
    </xsd:element>
    <xsd:element name="Importance" ma:index="28" nillable="true" ma:displayName="Importance" ma:internalName="Importance">
      <xsd:simpleType>
        <xsd:restriction base="dms:Text">
          <xsd:maxLength value="255"/>
        </xsd:restriction>
      </xsd:simpleType>
    </xsd:element>
    <xsd:element name="In-Reply-To" ma:index="29" nillable="true" ma:displayName="In-Reply-To" ma:internalName="In_x002d_Reply_x002d_To">
      <xsd:simpleType>
        <xsd:restriction base="dms:Text">
          <xsd:maxLength value="255"/>
        </xsd:restriction>
      </xsd:simpleType>
    </xsd:element>
    <xsd:element name="References" ma:index="30" nillable="true" ma:displayName="References" ma:internalName="References">
      <xsd:simpleType>
        <xsd:restriction base="dms:Text">
          <xsd:maxLength value="255"/>
        </xsd:restriction>
      </xsd:simpleType>
    </xsd:element>
    <xsd:element name="Conversation-Index" ma:index="31" nillable="true" ma:displayName="Conversation-Index" ma:hidden="true" ma:internalName="Conversation_x002d_Index">
      <xsd:simpleType>
        <xsd:restriction base="dms:Text">
          <xsd:maxLength value="255"/>
        </xsd:restriction>
      </xsd:simpleType>
    </xsd:element>
    <xsd:element name="MailPreviewData" ma:index="32" nillable="true" ma:displayName="MailPreviewData" ma:hidden="true" ma:internalName="MailPreviewData">
      <xsd:simpleType>
        <xsd:restriction base="dms:Note"/>
      </xsd:simpleType>
    </xsd:element>
    <xsd:element name="Message-ID" ma:index="34" nillable="true" ma:displayName="Message-ID" ma:hidden="true" ma:internalName="Message_x002d_I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4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BDD75C32-321C-42A1-A33F-C90BE62E2E82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bca0bc44-19d1-4824-98a4-321de56310bf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sharepoint/v4"/>
    <ds:schemaRef ds:uri="http://purl.org/dc/terms/"/>
    <ds:schemaRef ds:uri="http://schemas.openxmlformats.org/package/2006/metadata/core-properties"/>
    <ds:schemaRef ds:uri="4c1bb3ec-31fb-4a5a-ac42-aa8cd451600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A07C1F3-6EEE-449B-9B9C-8FCCF2F1076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488ADB33-F615-4DA3-A5E5-621971C60A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c1bb3ec-31fb-4a5a-ac42-aa8cd4516000"/>
    <ds:schemaRef ds:uri="bca0bc44-19d1-4824-98a4-321de56310b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D0252559-44F8-474C-B66D-E357B88E32C2}">
  <ds:schemaRefs/>
</ds:datastoreItem>
</file>

<file path=customXml/itemProps6.xml><?xml version="1.0" encoding="utf-8"?>
<ds:datastoreItem xmlns:ds="http://schemas.openxmlformats.org/officeDocument/2006/customXml" ds:itemID="{B0217FDE-38C6-42B6-A9F4-53BF86FE035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2337</Words>
  <Application>Microsoft Office PowerPoint</Application>
  <PresentationFormat>Widescreen</PresentationFormat>
  <Paragraphs>479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Bosch Office Sans</vt:lpstr>
      <vt:lpstr>Calibri</vt:lpstr>
      <vt:lpstr>Cambria Math</vt:lpstr>
      <vt:lpstr>Lucida Console</vt:lpstr>
      <vt:lpstr>Wingdings 3</vt:lpstr>
      <vt:lpstr>Bosch NG</vt:lpstr>
      <vt:lpstr>Microsoft Excel Worksheet</vt:lpstr>
      <vt:lpstr>Worksheet</vt:lpstr>
      <vt:lpstr>System Design Vehicle Model</vt:lpstr>
      <vt:lpstr>PowerPoint Presentation</vt:lpstr>
      <vt:lpstr>PowerPoint Presentation</vt:lpstr>
      <vt:lpstr>PowerPoint Presentation</vt:lpstr>
      <vt:lpstr>LATERAL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Longidutinal control</vt:lpstr>
      <vt:lpstr>PowerPoint Presentation</vt:lpstr>
      <vt:lpstr>PowerPoint Presentation</vt:lpstr>
      <vt:lpstr>ABS/WIC simulation</vt:lpstr>
      <vt:lpstr>PowerPoint Presentation</vt:lpstr>
      <vt:lpstr>Steering system simualtion</vt:lpstr>
      <vt:lpstr>PowerPoint Presentation</vt:lpstr>
      <vt:lpstr>PowerPoint Presentation</vt:lpstr>
      <vt:lpstr>PowerPoint Presentation</vt:lpstr>
      <vt:lpstr>Door control</vt:lpstr>
      <vt:lpstr>PowerPoint Presentation</vt:lpstr>
      <vt:lpstr>External control (keyboard)</vt:lpstr>
      <vt:lpstr>PowerPoint Presentation</vt:lpstr>
      <vt:lpstr>Customer data flow control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 PSA CDPO R11</dc:title>
  <dc:creator>Herrera Rafael (XC-DX/EDF2)</dc:creator>
  <cp:lastModifiedBy>Horvath Bela (XC-AS/EDT1-Bp)</cp:lastModifiedBy>
  <cp:revision>647</cp:revision>
  <dcterms:created xsi:type="dcterms:W3CDTF">2022-02-18T11:02:55Z</dcterms:created>
  <dcterms:modified xsi:type="dcterms:W3CDTF">2025-02-28T13:10:53Z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0x01010079C2150534271841997CA4BF28B151E90100307EA83ED42A584099D189C52F07585A</vt:lpwstr>
  </property>
  <property fmtid="{D5CDD505-2E9C-101B-9397-08002B2CF9AE}" pid="9" name="ecm_ItemDeleteBlockHolders">
    <vt:lpwstr/>
  </property>
  <property fmtid="{D5CDD505-2E9C-101B-9397-08002B2CF9AE}" pid="10" name="ecm_RecordRestrictions">
    <vt:lpwstr/>
  </property>
  <property fmtid="{D5CDD505-2E9C-101B-9397-08002B2CF9AE}" pid="11" name="ecm_ItemLockHolders">
    <vt:lpwstr/>
  </property>
  <property fmtid="{D5CDD505-2E9C-101B-9397-08002B2CF9AE}" pid="12" name="_dlc_DocIdItemGuid">
    <vt:lpwstr>905797a4-9edb-4cac-ba0e-b0a0bdc26ba2</vt:lpwstr>
  </property>
  <property fmtid="{D5CDD505-2E9C-101B-9397-08002B2CF9AE}" pid="13" name="ILMRevision">
    <vt:lpwstr/>
  </property>
  <property fmtid="{D5CDD505-2E9C-101B-9397-08002B2CF9AE}" pid="14" name="ConceptualVersion">
    <vt:lpwstr/>
  </property>
  <property fmtid="{D5CDD505-2E9C-101B-9397-08002B2CF9AE}" pid="15" name="ConceptualVersionTreeview">
    <vt:lpwstr/>
  </property>
  <property fmtid="{D5CDD505-2E9C-101B-9397-08002B2CF9AE}" pid="16" name="ILMComments">
    <vt:lpwstr/>
  </property>
  <property fmtid="{D5CDD505-2E9C-101B-9397-08002B2CF9AE}" pid="17" name="ILMExternalReference">
    <vt:lpwstr/>
  </property>
  <property fmtid="{D5CDD505-2E9C-101B-9397-08002B2CF9AE}" pid="18" name="DocIdOfLinkItem">
    <vt:lpwstr/>
  </property>
</Properties>
</file>