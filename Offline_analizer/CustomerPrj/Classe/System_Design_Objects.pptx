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7"/>
  </p:sldMasterIdLst>
  <p:notesMasterIdLst>
    <p:notesMasterId r:id="rId58"/>
  </p:notesMasterIdLst>
  <p:sldIdLst>
    <p:sldId id="270" r:id="rId8"/>
    <p:sldId id="257" r:id="rId9"/>
    <p:sldId id="276" r:id="rId10"/>
    <p:sldId id="308" r:id="rId11"/>
    <p:sldId id="307" r:id="rId12"/>
    <p:sldId id="306" r:id="rId13"/>
    <p:sldId id="292" r:id="rId14"/>
    <p:sldId id="302" r:id="rId15"/>
    <p:sldId id="303" r:id="rId16"/>
    <p:sldId id="301" r:id="rId17"/>
    <p:sldId id="320" r:id="rId18"/>
    <p:sldId id="319" r:id="rId19"/>
    <p:sldId id="322" r:id="rId20"/>
    <p:sldId id="321" r:id="rId21"/>
    <p:sldId id="316" r:id="rId22"/>
    <p:sldId id="323" r:id="rId23"/>
    <p:sldId id="312" r:id="rId24"/>
    <p:sldId id="318" r:id="rId25"/>
    <p:sldId id="272" r:id="rId26"/>
    <p:sldId id="282" r:id="rId27"/>
    <p:sldId id="283" r:id="rId28"/>
    <p:sldId id="304" r:id="rId29"/>
    <p:sldId id="259" r:id="rId30"/>
    <p:sldId id="278" r:id="rId31"/>
    <p:sldId id="300" r:id="rId32"/>
    <p:sldId id="280" r:id="rId33"/>
    <p:sldId id="279" r:id="rId34"/>
    <p:sldId id="284" r:id="rId35"/>
    <p:sldId id="285" r:id="rId36"/>
    <p:sldId id="286" r:id="rId37"/>
    <p:sldId id="287" r:id="rId38"/>
    <p:sldId id="288" r:id="rId39"/>
    <p:sldId id="290" r:id="rId40"/>
    <p:sldId id="291" r:id="rId41"/>
    <p:sldId id="310" r:id="rId42"/>
    <p:sldId id="309" r:id="rId43"/>
    <p:sldId id="277" r:id="rId44"/>
    <p:sldId id="313" r:id="rId45"/>
    <p:sldId id="314" r:id="rId46"/>
    <p:sldId id="293" r:id="rId47"/>
    <p:sldId id="269" r:id="rId48"/>
    <p:sldId id="315" r:id="rId49"/>
    <p:sldId id="294" r:id="rId50"/>
    <p:sldId id="295" r:id="rId51"/>
    <p:sldId id="297" r:id="rId52"/>
    <p:sldId id="299" r:id="rId53"/>
    <p:sldId id="296" r:id="rId54"/>
    <p:sldId id="298" r:id="rId55"/>
    <p:sldId id="324" r:id="rId56"/>
    <p:sldId id="325" r:id="rId57"/>
  </p:sldIdLst>
  <p:sldSz cx="12192000" cy="6858000"/>
  <p:notesSz cx="6858000" cy="9144000"/>
  <p:custDataLst>
    <p:tags r:id="rId5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569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91387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3708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8277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284689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741627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3198565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655502" algn="l" defTabSz="913876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E8FF"/>
    <a:srgbClr val="E7E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652" autoAdjust="0"/>
  </p:normalViewPr>
  <p:slideViewPr>
    <p:cSldViewPr snapToGrid="0">
      <p:cViewPr varScale="1">
        <p:scale>
          <a:sx n="154" d="100"/>
          <a:sy n="154" d="100"/>
        </p:scale>
        <p:origin x="51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61" Type="http://schemas.openxmlformats.org/officeDocument/2006/relationships/viewProps" Target="viewProps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tags" Target="tags/tag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03.03.2025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1pPr>
    <a:lvl2pPr marL="50813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2pPr>
    <a:lvl3pPr marL="1016264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3pPr>
    <a:lvl4pPr marL="1524396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4pPr>
    <a:lvl5pPr marL="2032528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5pPr>
    <a:lvl6pPr marL="2540660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6pPr>
    <a:lvl7pPr marL="3048792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7pPr>
    <a:lvl8pPr marL="3556925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8pPr>
    <a:lvl9pPr marL="4065057" algn="l" defTabSz="1016264" rtl="0" eaLnBrk="1" latinLnBrk="0" hangingPunct="1">
      <a:defRPr sz="13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7100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7F636C-6C54-4D33-B358-94A84F8FBD71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1348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enutzerdefinierte 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Präs. Titel hinzufügen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Kapitelfoli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Kapitel­überschrift hinzufügen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„Zitat hinzufügen”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zi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288073"/>
            <a:ext cx="10975176" cy="5785488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Fazit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288083" y="1440370"/>
            <a:ext cx="11615361" cy="4633191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10250966" y="287939"/>
            <a:ext cx="1880544" cy="864357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2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88083" y="288074"/>
            <a:ext cx="11615361" cy="8642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87597" y="1440370"/>
            <a:ext cx="11615361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Inhalt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05882" y="1440369"/>
            <a:ext cx="5401563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3584" userDrawn="1">
          <p15:clr>
            <a:srgbClr val="FBAE40"/>
          </p15:clr>
        </p15:guide>
        <p15:guide id="9" pos="409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402431" y="1440369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257" y="1440370"/>
            <a:ext cx="3477006" cy="463319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3" userDrawn="1">
          <p15:clr>
            <a:srgbClr val="FBAE40"/>
          </p15:clr>
        </p15:guide>
        <p15:guide id="9" pos="2736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795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168340" y="1439702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28145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9108536" y="1439703"/>
            <a:ext cx="2796220" cy="463245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1944" userDrawn="1">
          <p15:clr>
            <a:srgbClr val="FBAE40"/>
          </p15:clr>
        </p15:guide>
        <p15:guide id="9" pos="2033" userDrawn="1">
          <p15:clr>
            <a:srgbClr val="FBAE40"/>
          </p15:clr>
        </p15:guide>
        <p15:guide id="10" pos="3797" userDrawn="1">
          <p15:clr>
            <a:srgbClr val="FBAE40"/>
          </p15:clr>
        </p15:guide>
        <p15:guide id="11" pos="3884" userDrawn="1">
          <p15:clr>
            <a:srgbClr val="FBAE40"/>
          </p15:clr>
        </p15:guide>
        <p15:guide id="12" pos="5648" userDrawn="1">
          <p15:clr>
            <a:srgbClr val="FBAE40"/>
          </p15:clr>
        </p15:guide>
        <p15:guide id="13" pos="57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Inhalt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11615361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6505882" y="1440369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6505882" y="3828986"/>
            <a:ext cx="5401563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3584" userDrawn="1">
          <p15:clr>
            <a:srgbClr val="FBAE40"/>
          </p15:clr>
        </p15:guide>
        <p15:guide id="11" pos="409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4345257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402431" y="1440369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4345257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402431" y="3828986"/>
            <a:ext cx="3477006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pos="2378" userDrawn="1">
          <p15:clr>
            <a:srgbClr val="FBAE40"/>
          </p15:clr>
        </p15:guide>
        <p15:guide id="9" pos="2731" userDrawn="1">
          <p15:clr>
            <a:srgbClr val="FBAE40"/>
          </p15:clr>
        </p15:guide>
        <p15:guide id="10" pos="4928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orient="horz" pos="2323" userDrawn="1">
          <p15:clr>
            <a:srgbClr val="FBAE40"/>
          </p15:clr>
        </p15:guide>
        <p15:guide id="13" orient="horz" pos="241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Inhal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8083" y="288074"/>
            <a:ext cx="11615361" cy="432111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8083" y="720185"/>
            <a:ext cx="11615361" cy="432111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88083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3228934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9110636" y="1440369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8083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3228934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9110636" y="3828986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6169785" y="1440370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6169785" y="3828985"/>
            <a:ext cx="2796809" cy="224457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  <p15:guide id="8" orient="horz" pos="2323" userDrawn="1">
          <p15:clr>
            <a:srgbClr val="FBAE40"/>
          </p15:clr>
        </p15:guide>
        <p15:guide id="9" orient="horz" pos="2411" userDrawn="1">
          <p15:clr>
            <a:srgbClr val="FBAE40"/>
          </p15:clr>
        </p15:guide>
        <p15:guide id="10" pos="1944" userDrawn="1">
          <p15:clr>
            <a:srgbClr val="FBAE40"/>
          </p15:clr>
        </p15:guide>
        <p15:guide id="11" pos="2034" userDrawn="1">
          <p15:clr>
            <a:srgbClr val="FBAE40"/>
          </p15:clr>
        </p15:guide>
        <p15:guide id="12" pos="3797" userDrawn="1">
          <p15:clr>
            <a:srgbClr val="FBAE40"/>
          </p15:clr>
        </p15:guide>
        <p15:guide id="13" pos="3887" userDrawn="1">
          <p15:clr>
            <a:srgbClr val="FBAE40"/>
          </p15:clr>
        </p15:guide>
        <p15:guide id="14" pos="5648" userDrawn="1">
          <p15:clr>
            <a:srgbClr val="FBAE40"/>
          </p15:clr>
        </p15:guide>
        <p15:guide id="15" pos="573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14381"/>
            <a:ext cx="12192706" cy="14397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37815"/>
            <a:ext cx="151084" cy="720185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10251866" y="287941"/>
            <a:ext cx="1880144" cy="863822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499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453" userDrawn="1">
          <p15:clr>
            <a:srgbClr val="FBAE40"/>
          </p15:clr>
        </p15:guide>
        <p15:guide id="5" orient="horz" pos="727" userDrawn="1">
          <p15:clr>
            <a:srgbClr val="FBAE40"/>
          </p15:clr>
        </p15:guide>
        <p15:guide id="6" orient="horz" pos="907" userDrawn="1">
          <p15:clr>
            <a:srgbClr val="FBAE40"/>
          </p15:clr>
        </p15:guide>
        <p15:guide id="7" orient="horz" pos="382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ollbild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" y="3"/>
            <a:ext cx="12191871" cy="6858351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8083" y="288074"/>
            <a:ext cx="10975176" cy="5785488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Abschluss­worte hinzufügen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7139" y="6073574"/>
            <a:ext cx="1216352" cy="639397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975" y="3"/>
            <a:ext cx="144042" cy="6858351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0" userDrawn="1">
          <p15:clr>
            <a:srgbClr val="FBAE40"/>
          </p15:clr>
        </p15:guide>
        <p15:guide id="2" pos="7095" userDrawn="1">
          <p15:clr>
            <a:srgbClr val="FBAE40"/>
          </p15:clr>
        </p15:guide>
        <p15:guide id="3" orient="horz" pos="180" userDrawn="1">
          <p15:clr>
            <a:srgbClr val="FBAE40"/>
          </p15:clr>
        </p15:guide>
        <p15:guide id="4" orient="horz" pos="38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083" y="720185"/>
            <a:ext cx="11615361" cy="4321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083" y="1440370"/>
            <a:ext cx="11615361" cy="46331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96419" y="6255653"/>
            <a:ext cx="320415" cy="45590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C4A0DCBC-1EFB-43C4-AF00-AB85781F48E7}"/>
              </a:ext>
            </a:extLst>
          </p:cNvPr>
          <p:cNvSpPr txBox="1"/>
          <p:nvPr userDrawn="1"/>
        </p:nvSpPr>
        <p:spPr>
          <a:xfrm>
            <a:off x="659180" y="6272591"/>
            <a:ext cx="10172821" cy="1199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Cross-Domain Computing Solutions | XC-DX/EDI2 | 18.02.2022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Robert Bosch GmbH 2022. Alle Rechte vorbehalten, auch bzgl. jeder Verfügung, Verwertung, Reproduktion, Bearbeitung, Weitergabe sowie für den Fall von Schutzrechtsanmeldungen.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659180" y="6389038"/>
            <a:ext cx="10172821" cy="239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0" name="Bosch_footer_1" hidden="1">
            <a:extLst>
              <a:ext uri="{FF2B5EF4-FFF2-40B4-BE49-F238E27FC236}">
                <a16:creationId xmlns:a16="http://schemas.microsoft.com/office/drawing/2014/main" id="{BB7EB8EC-2C22-471E-A5D4-B578263D307B}"/>
              </a:ext>
            </a:extLst>
          </p:cNvPr>
          <p:cNvSpPr txBox="1"/>
          <p:nvPr userDrawn="1"/>
        </p:nvSpPr>
        <p:spPr>
          <a:xfrm>
            <a:off x="660191" y="6273613"/>
            <a:ext cx="10174944" cy="1200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NULL"/><Relationship Id="rId18" Type="http://schemas.openxmlformats.org/officeDocument/2006/relationships/image" Target="NULL"/><Relationship Id="rId26" Type="http://schemas.openxmlformats.org/officeDocument/2006/relationships/image" Target="NULL"/><Relationship Id="rId3" Type="http://schemas.openxmlformats.org/officeDocument/2006/relationships/image" Target="NULL"/><Relationship Id="rId21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image" Target="NULL"/><Relationship Id="rId20" Type="http://schemas.openxmlformats.org/officeDocument/2006/relationships/image" Target="NULL"/><Relationship Id="rId1" Type="http://schemas.openxmlformats.org/officeDocument/2006/relationships/slideLayout" Target="../slideLayouts/slideLayout17.xml"/><Relationship Id="rId24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19" Type="http://schemas.openxmlformats.org/officeDocument/2006/relationships/image" Target="NULL"/><Relationship Id="rId4" Type="http://schemas.openxmlformats.org/officeDocument/2006/relationships/image" Target="NULL"/><Relationship Id="rId14" Type="http://schemas.openxmlformats.org/officeDocument/2006/relationships/image" Target="NULL"/><Relationship Id="rId22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18" Type="http://schemas.openxmlformats.org/officeDocument/2006/relationships/image" Target="../media/image36.png"/><Relationship Id="rId3" Type="http://schemas.openxmlformats.org/officeDocument/2006/relationships/image" Target="../media/image40.png"/><Relationship Id="rId21" Type="http://schemas.openxmlformats.org/officeDocument/2006/relationships/image" Target="../media/image37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5.png"/><Relationship Id="rId2" Type="http://schemas.openxmlformats.org/officeDocument/2006/relationships/image" Target="../media/image310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11" Type="http://schemas.openxmlformats.org/officeDocument/2006/relationships/image" Target="../media/image24.png"/><Relationship Id="rId5" Type="http://schemas.openxmlformats.org/officeDocument/2006/relationships/image" Target="../media/image25.png"/><Relationship Id="rId15" Type="http://schemas.openxmlformats.org/officeDocument/2006/relationships/image" Target="../media/image33.png"/><Relationship Id="rId23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7.png"/><Relationship Id="rId9" Type="http://schemas.openxmlformats.org/officeDocument/2006/relationships/image" Target="../media/image29.png"/><Relationship Id="rId14" Type="http://schemas.openxmlformats.org/officeDocument/2006/relationships/image" Target="../media/image31.png"/><Relationship Id="rId22" Type="http://schemas.openxmlformats.org/officeDocument/2006/relationships/image" Target="../media/image3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2.png"/><Relationship Id="rId3" Type="http://schemas.openxmlformats.org/officeDocument/2006/relationships/image" Target="../media/image180.png"/><Relationship Id="rId7" Type="http://schemas.openxmlformats.org/officeDocument/2006/relationships/image" Target="../media/image22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1.png"/><Relationship Id="rId5" Type="http://schemas.openxmlformats.org/officeDocument/2006/relationships/image" Target="../media/image201.png"/><Relationship Id="rId4" Type="http://schemas.openxmlformats.org/officeDocument/2006/relationships/image" Target="../media/image190.png"/><Relationship Id="rId9" Type="http://schemas.openxmlformats.org/officeDocument/2006/relationships/image" Target="../media/image24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0.png"/><Relationship Id="rId4" Type="http://schemas.openxmlformats.org/officeDocument/2006/relationships/image" Target="../media/image2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1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2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inside-docupedia.bosch.com/confluence/display/1DrSW/%5BApproved%5D+DDD+-+L3+interface+CAN+message+transfer+strategy+for+sensor+data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Design objects</a:t>
            </a:r>
          </a:p>
        </p:txBody>
      </p:sp>
    </p:spTree>
    <p:extLst>
      <p:ext uri="{BB962C8B-B14F-4D97-AF65-F5344CB8AC3E}">
        <p14:creationId xmlns:p14="http://schemas.microsoft.com/office/powerpoint/2010/main" val="1404767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1D87A3-08CF-45D6-BAFE-03A83CE87BA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7" name="ZoneTexte 6"/>
          <p:cNvSpPr txBox="1"/>
          <p:nvPr/>
        </p:nvSpPr>
        <p:spPr>
          <a:xfrm>
            <a:off x="991198" y="1655917"/>
            <a:ext cx="10028712" cy="41623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Naming conventions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Definition of Coordinate Systems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RoadObj FMU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 err="1">
                <a:solidFill>
                  <a:srgbClr val="000000"/>
                </a:solidFill>
              </a:rPr>
              <a:t>Fradar</a:t>
            </a:r>
            <a:r>
              <a:rPr lang="en-US" kern="0" dirty="0">
                <a:solidFill>
                  <a:srgbClr val="000000"/>
                </a:solidFill>
              </a:rPr>
              <a:t> signal calculations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 err="1">
                <a:solidFill>
                  <a:srgbClr val="000000"/>
                </a:solidFill>
              </a:rPr>
              <a:t>Fvideo</a:t>
            </a:r>
            <a:r>
              <a:rPr lang="en-US" kern="0" dirty="0">
                <a:solidFill>
                  <a:srgbClr val="000000"/>
                </a:solidFill>
              </a:rPr>
              <a:t> signal calculations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Field of View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RoadObj architecture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Object shifting and validity sending</a:t>
            </a:r>
          </a:p>
          <a:p>
            <a:pPr marL="754037" lvl="1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kern="0" dirty="0">
                <a:solidFill>
                  <a:srgbClr val="000000"/>
                </a:solidFill>
              </a:rPr>
              <a:t>Reading object data when sending </a:t>
            </a:r>
            <a:r>
              <a:rPr lang="en-US" kern="0" dirty="0" err="1">
                <a:solidFill>
                  <a:srgbClr val="000000"/>
                </a:solidFill>
              </a:rPr>
              <a:t>ByteArray</a:t>
            </a:r>
            <a:r>
              <a:rPr lang="en-US" kern="0" dirty="0">
                <a:solidFill>
                  <a:srgbClr val="000000"/>
                </a:solidFill>
              </a:rPr>
              <a:t> directly from the RoadObj DLL via </a:t>
            </a:r>
            <a:r>
              <a:rPr lang="en-US" kern="0" dirty="0" err="1">
                <a:solidFill>
                  <a:srgbClr val="000000"/>
                </a:solidFill>
              </a:rPr>
              <a:t>CanTP</a:t>
            </a:r>
            <a:endParaRPr lang="en-US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21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1. Naming </a:t>
            </a:r>
            <a:r>
              <a:rPr lang="de-DE" dirty="0" err="1"/>
              <a:t>conventions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74326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4B01CF92-FBAB-EB6C-929E-6E66C865AC39}"/>
              </a:ext>
            </a:extLst>
          </p:cNvPr>
          <p:cNvCxnSpPr>
            <a:cxnSpLocks/>
          </p:cNvCxnSpPr>
          <p:nvPr/>
        </p:nvCxnSpPr>
        <p:spPr>
          <a:xfrm>
            <a:off x="6094853" y="1033700"/>
            <a:ext cx="0" cy="47852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B77FEFF0-EB4E-6AE9-6E3D-B3D149F1E9BA}"/>
              </a:ext>
            </a:extLst>
          </p:cNvPr>
          <p:cNvSpPr/>
          <p:nvPr/>
        </p:nvSpPr>
        <p:spPr>
          <a:xfrm rot="5400000">
            <a:off x="3706035" y="1780563"/>
            <a:ext cx="4779918" cy="32968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B035CB12-9058-C9CF-8A15-B3B21D3DB4AF}"/>
              </a:ext>
            </a:extLst>
          </p:cNvPr>
          <p:cNvSpPr/>
          <p:nvPr/>
        </p:nvSpPr>
        <p:spPr>
          <a:xfrm>
            <a:off x="4273306" y="3219274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06DA2AC6-A3D5-2AB4-DF71-AC3A49C7491C}"/>
              </a:ext>
            </a:extLst>
          </p:cNvPr>
          <p:cNvSpPr/>
          <p:nvPr/>
        </p:nvSpPr>
        <p:spPr>
          <a:xfrm>
            <a:off x="7572458" y="3219274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Multiplikationszeichen 4">
            <a:extLst>
              <a:ext uri="{FF2B5EF4-FFF2-40B4-BE49-F238E27FC236}">
                <a16:creationId xmlns:a16="http://schemas.microsoft.com/office/drawing/2014/main" id="{50BECF60-486E-9C81-5212-1EE580523B0B}"/>
              </a:ext>
            </a:extLst>
          </p:cNvPr>
          <p:cNvSpPr/>
          <p:nvPr/>
        </p:nvSpPr>
        <p:spPr>
          <a:xfrm>
            <a:off x="5922880" y="823975"/>
            <a:ext cx="343949" cy="419450"/>
          </a:xfrm>
          <a:prstGeom prst="mathMultiply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Multiplikationszeichen 5">
            <a:extLst>
              <a:ext uri="{FF2B5EF4-FFF2-40B4-BE49-F238E27FC236}">
                <a16:creationId xmlns:a16="http://schemas.microsoft.com/office/drawing/2014/main" id="{F473C8E2-4810-3350-8FC1-FFCECDF87298}"/>
              </a:ext>
            </a:extLst>
          </p:cNvPr>
          <p:cNvSpPr/>
          <p:nvPr/>
        </p:nvSpPr>
        <p:spPr>
          <a:xfrm>
            <a:off x="5922881" y="5614574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93C49E-1173-7773-47AE-2A8901C43E47}"/>
              </a:ext>
            </a:extLst>
          </p:cNvPr>
          <p:cNvSpPr txBox="1"/>
          <p:nvPr/>
        </p:nvSpPr>
        <p:spPr>
          <a:xfrm>
            <a:off x="5601481" y="285176"/>
            <a:ext cx="986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dx_front</a:t>
            </a:r>
            <a:br>
              <a:rPr lang="de-DE" dirty="0"/>
            </a:br>
            <a:r>
              <a:rPr lang="de-DE" dirty="0" err="1"/>
              <a:t>dy_front</a:t>
            </a:r>
            <a:endParaRPr lang="de-DE" dirty="0"/>
          </a:p>
        </p:txBody>
      </p: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D736D35F-87A7-AB83-BDA9-8DC3513C257D}"/>
              </a:ext>
            </a:extLst>
          </p:cNvPr>
          <p:cNvSpPr/>
          <p:nvPr/>
        </p:nvSpPr>
        <p:spPr>
          <a:xfrm>
            <a:off x="4273305" y="823975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Multiplikationszeichen 11">
            <a:extLst>
              <a:ext uri="{FF2B5EF4-FFF2-40B4-BE49-F238E27FC236}">
                <a16:creationId xmlns:a16="http://schemas.microsoft.com/office/drawing/2014/main" id="{F0D527DB-DBAC-FA3F-BCD8-09A703D418F6}"/>
              </a:ext>
            </a:extLst>
          </p:cNvPr>
          <p:cNvSpPr/>
          <p:nvPr/>
        </p:nvSpPr>
        <p:spPr>
          <a:xfrm>
            <a:off x="7572456" y="823975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Multiplikationszeichen 12">
            <a:extLst>
              <a:ext uri="{FF2B5EF4-FFF2-40B4-BE49-F238E27FC236}">
                <a16:creationId xmlns:a16="http://schemas.microsoft.com/office/drawing/2014/main" id="{FB21A65B-5669-C194-0EDE-597E4417E9AC}"/>
              </a:ext>
            </a:extLst>
          </p:cNvPr>
          <p:cNvSpPr/>
          <p:nvPr/>
        </p:nvSpPr>
        <p:spPr>
          <a:xfrm>
            <a:off x="4273306" y="5609233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Multiplikationszeichen 13">
            <a:extLst>
              <a:ext uri="{FF2B5EF4-FFF2-40B4-BE49-F238E27FC236}">
                <a16:creationId xmlns:a16="http://schemas.microsoft.com/office/drawing/2014/main" id="{4E974099-F1B7-8839-D30C-C7E7E12F4D99}"/>
              </a:ext>
            </a:extLst>
          </p:cNvPr>
          <p:cNvSpPr/>
          <p:nvPr/>
        </p:nvSpPr>
        <p:spPr>
          <a:xfrm>
            <a:off x="7572456" y="5609233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15C372D-E4A5-041C-8B10-C5ED5E30CCC1}"/>
              </a:ext>
            </a:extLst>
          </p:cNvPr>
          <p:cNvSpPr txBox="1"/>
          <p:nvPr/>
        </p:nvSpPr>
        <p:spPr>
          <a:xfrm>
            <a:off x="7251057" y="280453"/>
            <a:ext cx="1540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dx_front_right</a:t>
            </a:r>
            <a:br>
              <a:rPr lang="de-DE" dirty="0"/>
            </a:br>
            <a:r>
              <a:rPr lang="de-DE" dirty="0" err="1"/>
              <a:t>dy_front_right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9AF2A50A-71C4-9B89-A3FC-9EFFD9EE9D11}"/>
              </a:ext>
            </a:extLst>
          </p:cNvPr>
          <p:cNvSpPr txBox="1"/>
          <p:nvPr/>
        </p:nvSpPr>
        <p:spPr>
          <a:xfrm>
            <a:off x="3522750" y="280453"/>
            <a:ext cx="14159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dx_front_left</a:t>
            </a:r>
            <a:br>
              <a:rPr lang="de-DE" dirty="0"/>
            </a:br>
            <a:r>
              <a:rPr lang="de-DE" dirty="0" err="1"/>
              <a:t>dy_front_left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D3299C8-5F14-B7B4-4FD7-54949F073964}"/>
              </a:ext>
            </a:extLst>
          </p:cNvPr>
          <p:cNvSpPr txBox="1"/>
          <p:nvPr/>
        </p:nvSpPr>
        <p:spPr>
          <a:xfrm>
            <a:off x="5601481" y="6028683"/>
            <a:ext cx="904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dx_rear</a:t>
            </a:r>
            <a:br>
              <a:rPr lang="de-DE" dirty="0"/>
            </a:br>
            <a:r>
              <a:rPr lang="de-DE" dirty="0" err="1"/>
              <a:t>dy_rear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4F6929B-3464-8C04-875C-1C961F0B707B}"/>
              </a:ext>
            </a:extLst>
          </p:cNvPr>
          <p:cNvSpPr txBox="1"/>
          <p:nvPr/>
        </p:nvSpPr>
        <p:spPr>
          <a:xfrm>
            <a:off x="7916405" y="3103163"/>
            <a:ext cx="9915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dx_right</a:t>
            </a:r>
            <a:br>
              <a:rPr lang="de-DE" dirty="0"/>
            </a:br>
            <a:r>
              <a:rPr lang="de-DE" dirty="0" err="1"/>
              <a:t>dy_right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8947FC0-17F1-ADCA-946B-666C5DD9E959}"/>
              </a:ext>
            </a:extLst>
          </p:cNvPr>
          <p:cNvSpPr txBox="1"/>
          <p:nvPr/>
        </p:nvSpPr>
        <p:spPr>
          <a:xfrm>
            <a:off x="3438268" y="3103162"/>
            <a:ext cx="835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dx_left</a:t>
            </a:r>
            <a:br>
              <a:rPr lang="de-DE" dirty="0"/>
            </a:br>
            <a:r>
              <a:rPr lang="de-DE" dirty="0" err="1"/>
              <a:t>dy_left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14B1B33-FEC6-1597-4706-CA58D2D72576}"/>
              </a:ext>
            </a:extLst>
          </p:cNvPr>
          <p:cNvSpPr txBox="1"/>
          <p:nvPr/>
        </p:nvSpPr>
        <p:spPr>
          <a:xfrm>
            <a:off x="3604887" y="6028683"/>
            <a:ext cx="13337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dx_rear_left</a:t>
            </a:r>
            <a:br>
              <a:rPr lang="de-DE" dirty="0"/>
            </a:br>
            <a:r>
              <a:rPr lang="de-DE" dirty="0" err="1"/>
              <a:t>dy_rear_left</a:t>
            </a:r>
            <a:endParaRPr lang="de-DE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FD10518-2F87-D979-7A60-AC5E0E563829}"/>
              </a:ext>
            </a:extLst>
          </p:cNvPr>
          <p:cNvSpPr txBox="1"/>
          <p:nvPr/>
        </p:nvSpPr>
        <p:spPr>
          <a:xfrm>
            <a:off x="7251057" y="6048624"/>
            <a:ext cx="145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dx_rear_right</a:t>
            </a:r>
            <a:br>
              <a:rPr lang="de-DE" dirty="0"/>
            </a:br>
            <a:r>
              <a:rPr lang="de-DE" dirty="0" err="1"/>
              <a:t>dy_rear_right</a:t>
            </a:r>
            <a:endParaRPr lang="de-DE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AF852C7-D217-F8C3-8C1E-153B0C069D9C}"/>
              </a:ext>
            </a:extLst>
          </p:cNvPr>
          <p:cNvCxnSpPr/>
          <p:nvPr/>
        </p:nvCxnSpPr>
        <p:spPr>
          <a:xfrm>
            <a:off x="4445279" y="4716049"/>
            <a:ext cx="32991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Multiplikationszeichen 27">
            <a:extLst>
              <a:ext uri="{FF2B5EF4-FFF2-40B4-BE49-F238E27FC236}">
                <a16:creationId xmlns:a16="http://schemas.microsoft.com/office/drawing/2014/main" id="{86A8B6BE-0365-64CB-6AEE-D90F67402629}"/>
              </a:ext>
            </a:extLst>
          </p:cNvPr>
          <p:cNvSpPr/>
          <p:nvPr/>
        </p:nvSpPr>
        <p:spPr>
          <a:xfrm>
            <a:off x="5922934" y="4506324"/>
            <a:ext cx="343949" cy="419450"/>
          </a:xfrm>
          <a:prstGeom prst="mathMultiply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A102B35F-93E4-6C5A-5048-063AEFD89B25}"/>
              </a:ext>
            </a:extLst>
          </p:cNvPr>
          <p:cNvSpPr txBox="1"/>
          <p:nvPr/>
        </p:nvSpPr>
        <p:spPr>
          <a:xfrm>
            <a:off x="6094853" y="4276885"/>
            <a:ext cx="564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RCA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60A0B61F-EE46-BB3B-6190-BCC15B82F539}"/>
              </a:ext>
            </a:extLst>
          </p:cNvPr>
          <p:cNvSpPr txBox="1"/>
          <p:nvPr/>
        </p:nvSpPr>
        <p:spPr>
          <a:xfrm>
            <a:off x="6214539" y="2374987"/>
            <a:ext cx="668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ACCS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CCF8838-88E1-A445-50A0-E0208CF856E0}"/>
              </a:ext>
            </a:extLst>
          </p:cNvPr>
          <p:cNvSpPr/>
          <p:nvPr/>
        </p:nvSpPr>
        <p:spPr>
          <a:xfrm>
            <a:off x="4334560" y="4396119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8406123A-CE7B-47C6-71C5-0418EC1A4A72}"/>
              </a:ext>
            </a:extLst>
          </p:cNvPr>
          <p:cNvSpPr/>
          <p:nvPr/>
        </p:nvSpPr>
        <p:spPr>
          <a:xfrm>
            <a:off x="7637054" y="4396119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C23EED8-5E2B-AC3E-6998-79591FDB2479}"/>
              </a:ext>
            </a:extLst>
          </p:cNvPr>
          <p:cNvSpPr/>
          <p:nvPr/>
        </p:nvSpPr>
        <p:spPr>
          <a:xfrm>
            <a:off x="4333493" y="1668533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24B14C2-E2EF-C776-5B43-BFE4EA15FC14}"/>
              </a:ext>
            </a:extLst>
          </p:cNvPr>
          <p:cNvSpPr/>
          <p:nvPr/>
        </p:nvSpPr>
        <p:spPr>
          <a:xfrm>
            <a:off x="7637054" y="1668533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868A2BFF-5BBF-3D71-C656-B4E1C461AE5E}"/>
              </a:ext>
            </a:extLst>
          </p:cNvPr>
          <p:cNvCxnSpPr/>
          <p:nvPr/>
        </p:nvCxnSpPr>
        <p:spPr>
          <a:xfrm>
            <a:off x="4445279" y="2000660"/>
            <a:ext cx="329915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4B4B9569-E0F4-4C31-816A-4ADD3330AA08}"/>
              </a:ext>
            </a:extLst>
          </p:cNvPr>
          <p:cNvGrpSpPr/>
          <p:nvPr/>
        </p:nvGrpSpPr>
        <p:grpSpPr>
          <a:xfrm>
            <a:off x="5922880" y="2418979"/>
            <a:ext cx="331435" cy="466076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ABB9D620-8284-AB1A-4CFA-4D435F881797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lussdiagramm: Manuelle Verarbeitung 40">
              <a:extLst>
                <a:ext uri="{FF2B5EF4-FFF2-40B4-BE49-F238E27FC236}">
                  <a16:creationId xmlns:a16="http://schemas.microsoft.com/office/drawing/2014/main" id="{4AFEBF9B-A2DC-3F79-9BFA-C0084BAAA94D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Multiplikationszeichen 29">
            <a:extLst>
              <a:ext uri="{FF2B5EF4-FFF2-40B4-BE49-F238E27FC236}">
                <a16:creationId xmlns:a16="http://schemas.microsoft.com/office/drawing/2014/main" id="{AA06F7E2-85C5-3924-F373-CEF414A66EB9}"/>
              </a:ext>
            </a:extLst>
          </p:cNvPr>
          <p:cNvSpPr/>
          <p:nvPr/>
        </p:nvSpPr>
        <p:spPr>
          <a:xfrm>
            <a:off x="5922880" y="2378148"/>
            <a:ext cx="343949" cy="419450"/>
          </a:xfrm>
          <a:prstGeom prst="mathMultiply">
            <a:avLst/>
          </a:prstGeom>
          <a:solidFill>
            <a:srgbClr val="FFC000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2646729-477A-DBF1-489F-01129657E065}"/>
              </a:ext>
            </a:extLst>
          </p:cNvPr>
          <p:cNvSpPr txBox="1"/>
          <p:nvPr/>
        </p:nvSpPr>
        <p:spPr>
          <a:xfrm>
            <a:off x="6156683" y="106860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RCS</a:t>
            </a:r>
          </a:p>
        </p:txBody>
      </p:sp>
    </p:spTree>
    <p:extLst>
      <p:ext uri="{BB962C8B-B14F-4D97-AF65-F5344CB8AC3E}">
        <p14:creationId xmlns:p14="http://schemas.microsoft.com/office/powerpoint/2010/main" val="78514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77FEFF0-EB4E-6AE9-6E3D-B3D149F1E9BA}"/>
              </a:ext>
            </a:extLst>
          </p:cNvPr>
          <p:cNvSpPr/>
          <p:nvPr/>
        </p:nvSpPr>
        <p:spPr>
          <a:xfrm>
            <a:off x="3310855" y="1780563"/>
            <a:ext cx="5570290" cy="32968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B035CB12-9058-C9CF-8A15-B3B21D3DB4AF}"/>
              </a:ext>
            </a:extLst>
          </p:cNvPr>
          <p:cNvSpPr/>
          <p:nvPr/>
        </p:nvSpPr>
        <p:spPr>
          <a:xfrm>
            <a:off x="3138880" y="3219274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Multiplikationszeichen 3">
            <a:extLst>
              <a:ext uri="{FF2B5EF4-FFF2-40B4-BE49-F238E27FC236}">
                <a16:creationId xmlns:a16="http://schemas.microsoft.com/office/drawing/2014/main" id="{06DA2AC6-A3D5-2AB4-DF71-AC3A49C7491C}"/>
              </a:ext>
            </a:extLst>
          </p:cNvPr>
          <p:cNvSpPr/>
          <p:nvPr/>
        </p:nvSpPr>
        <p:spPr>
          <a:xfrm>
            <a:off x="8727349" y="3219274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Multiplikationszeichen 4">
            <a:extLst>
              <a:ext uri="{FF2B5EF4-FFF2-40B4-BE49-F238E27FC236}">
                <a16:creationId xmlns:a16="http://schemas.microsoft.com/office/drawing/2014/main" id="{50BECF60-486E-9C81-5212-1EE580523B0B}"/>
              </a:ext>
            </a:extLst>
          </p:cNvPr>
          <p:cNvSpPr/>
          <p:nvPr/>
        </p:nvSpPr>
        <p:spPr>
          <a:xfrm>
            <a:off x="5924025" y="1570838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Multiplikationszeichen 5">
            <a:extLst>
              <a:ext uri="{FF2B5EF4-FFF2-40B4-BE49-F238E27FC236}">
                <a16:creationId xmlns:a16="http://schemas.microsoft.com/office/drawing/2014/main" id="{F473C8E2-4810-3350-8FC1-FFCECDF87298}"/>
              </a:ext>
            </a:extLst>
          </p:cNvPr>
          <p:cNvSpPr/>
          <p:nvPr/>
        </p:nvSpPr>
        <p:spPr>
          <a:xfrm>
            <a:off x="5924025" y="4867713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BB8E0C1-5DFF-B68D-31DF-608EC262F6C8}"/>
              </a:ext>
            </a:extLst>
          </p:cNvPr>
          <p:cNvSpPr txBox="1"/>
          <p:nvPr/>
        </p:nvSpPr>
        <p:spPr>
          <a:xfrm>
            <a:off x="5560211" y="1306369"/>
            <a:ext cx="1071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Edge_top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00AB096-FF90-4C2A-17D2-C00C2C4828F2}"/>
              </a:ext>
            </a:extLst>
          </p:cNvPr>
          <p:cNvSpPr txBox="1"/>
          <p:nvPr/>
        </p:nvSpPr>
        <p:spPr>
          <a:xfrm>
            <a:off x="9053120" y="3219274"/>
            <a:ext cx="1191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Edge_right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75F65BD-CBEA-5612-0C0E-969CB57229B9}"/>
              </a:ext>
            </a:extLst>
          </p:cNvPr>
          <p:cNvSpPr txBox="1"/>
          <p:nvPr/>
        </p:nvSpPr>
        <p:spPr>
          <a:xfrm>
            <a:off x="5370286" y="5287162"/>
            <a:ext cx="145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Edge_bottom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C93C49E-1173-7773-47AE-2A8901C43E47}"/>
              </a:ext>
            </a:extLst>
          </p:cNvPr>
          <p:cNvSpPr txBox="1"/>
          <p:nvPr/>
        </p:nvSpPr>
        <p:spPr>
          <a:xfrm>
            <a:off x="2071921" y="3217392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Edge_left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AFDBF9E-E6D2-20B7-12A6-D6471325DD9B}"/>
              </a:ext>
            </a:extLst>
          </p:cNvPr>
          <p:cNvCxnSpPr/>
          <p:nvPr/>
        </p:nvCxnSpPr>
        <p:spPr>
          <a:xfrm flipV="1">
            <a:off x="3310855" y="461394"/>
            <a:ext cx="2249356" cy="1319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18F4F759-F76A-05DC-E6E2-28D84C5825EF}"/>
              </a:ext>
            </a:extLst>
          </p:cNvPr>
          <p:cNvCxnSpPr/>
          <p:nvPr/>
        </p:nvCxnSpPr>
        <p:spPr>
          <a:xfrm flipV="1">
            <a:off x="8881142" y="461394"/>
            <a:ext cx="2249356" cy="1319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95EEB2-D223-FDBF-C567-1E99A46A70E9}"/>
              </a:ext>
            </a:extLst>
          </p:cNvPr>
          <p:cNvCxnSpPr/>
          <p:nvPr/>
        </p:nvCxnSpPr>
        <p:spPr>
          <a:xfrm flipV="1">
            <a:off x="8899323" y="3758266"/>
            <a:ext cx="2249356" cy="1319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F813947-0CFB-EF33-5E8B-7DBDBF27AA1A}"/>
              </a:ext>
            </a:extLst>
          </p:cNvPr>
          <p:cNvCxnSpPr/>
          <p:nvPr/>
        </p:nvCxnSpPr>
        <p:spPr>
          <a:xfrm>
            <a:off x="5560211" y="461394"/>
            <a:ext cx="557028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5BB1559-280A-FF87-AA1C-77911DE00891}"/>
              </a:ext>
            </a:extLst>
          </p:cNvPr>
          <p:cNvCxnSpPr>
            <a:cxnSpLocks/>
          </p:cNvCxnSpPr>
          <p:nvPr/>
        </p:nvCxnSpPr>
        <p:spPr>
          <a:xfrm flipV="1">
            <a:off x="11130498" y="463276"/>
            <a:ext cx="0" cy="32949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ultiplikationszeichen 20">
            <a:extLst>
              <a:ext uri="{FF2B5EF4-FFF2-40B4-BE49-F238E27FC236}">
                <a16:creationId xmlns:a16="http://schemas.microsoft.com/office/drawing/2014/main" id="{8F4856E8-308E-63F9-6FE7-E71704832D00}"/>
              </a:ext>
            </a:extLst>
          </p:cNvPr>
          <p:cNvSpPr/>
          <p:nvPr/>
        </p:nvSpPr>
        <p:spPr>
          <a:xfrm>
            <a:off x="10976704" y="1901046"/>
            <a:ext cx="343949" cy="41945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6FBFC94-ED5D-3D04-70B8-41B573383B93}"/>
              </a:ext>
            </a:extLst>
          </p:cNvPr>
          <p:cNvSpPr txBox="1"/>
          <p:nvPr/>
        </p:nvSpPr>
        <p:spPr>
          <a:xfrm>
            <a:off x="9830189" y="19261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Edge_mid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71801793-C05E-D9EA-6086-9286EAE61C54}"/>
              </a:ext>
            </a:extLst>
          </p:cNvPr>
          <p:cNvSpPr txBox="1"/>
          <p:nvPr/>
        </p:nvSpPr>
        <p:spPr>
          <a:xfrm>
            <a:off x="5297765" y="3217392"/>
            <a:ext cx="1596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u="sng" dirty="0"/>
              <a:t>Reference Side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2A22213-7D46-8E3D-E574-27EB5394628E}"/>
              </a:ext>
            </a:extLst>
          </p:cNvPr>
          <p:cNvCxnSpPr>
            <a:cxnSpLocks/>
          </p:cNvCxnSpPr>
          <p:nvPr/>
        </p:nvCxnSpPr>
        <p:spPr>
          <a:xfrm flipV="1">
            <a:off x="2064932" y="1802691"/>
            <a:ext cx="0" cy="3302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61B39EB8-B543-5B35-AFB8-928F6B1A9B06}"/>
              </a:ext>
            </a:extLst>
          </p:cNvPr>
          <p:cNvSpPr txBox="1"/>
          <p:nvPr/>
        </p:nvSpPr>
        <p:spPr>
          <a:xfrm>
            <a:off x="1663721" y="1421596"/>
            <a:ext cx="780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height</a:t>
            </a:r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BD1F2C3C-D3C4-0912-23B7-8D4D0F8B72D2}"/>
              </a:ext>
            </a:extLst>
          </p:cNvPr>
          <p:cNvCxnSpPr>
            <a:cxnSpLocks/>
          </p:cNvCxnSpPr>
          <p:nvPr/>
        </p:nvCxnSpPr>
        <p:spPr>
          <a:xfrm>
            <a:off x="3329032" y="5870437"/>
            <a:ext cx="55702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669A12C-EFD1-C430-D804-2FA683CCC3BB}"/>
              </a:ext>
            </a:extLst>
          </p:cNvPr>
          <p:cNvSpPr txBox="1"/>
          <p:nvPr/>
        </p:nvSpPr>
        <p:spPr>
          <a:xfrm>
            <a:off x="5734359" y="584481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/>
                </a:solidFill>
              </a:rPr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220154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734762-5248-A6C5-7D46-80EDF2B93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Coordinate</a:t>
            </a:r>
            <a:r>
              <a:rPr lang="de-DE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81465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ultiplikationszeichen 35">
            <a:extLst>
              <a:ext uri="{FF2B5EF4-FFF2-40B4-BE49-F238E27FC236}">
                <a16:creationId xmlns:a16="http://schemas.microsoft.com/office/drawing/2014/main" id="{E554284D-BB7B-79E5-A2C3-2A8AB2173F1F}"/>
              </a:ext>
            </a:extLst>
          </p:cNvPr>
          <p:cNvSpPr/>
          <p:nvPr/>
        </p:nvSpPr>
        <p:spPr>
          <a:xfrm>
            <a:off x="6855477" y="5590655"/>
            <a:ext cx="343949" cy="419450"/>
          </a:xfrm>
          <a:prstGeom prst="mathMultiply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6D4DD00-E86B-D66A-B2FC-82D9EB1AE332}"/>
              </a:ext>
            </a:extLst>
          </p:cNvPr>
          <p:cNvSpPr txBox="1"/>
          <p:nvPr/>
        </p:nvSpPr>
        <p:spPr>
          <a:xfrm>
            <a:off x="813732" y="32192"/>
            <a:ext cx="1056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Rear</a:t>
            </a:r>
            <a:r>
              <a:rPr lang="de-DE" sz="3200" dirty="0"/>
              <a:t> Center </a:t>
            </a:r>
            <a:r>
              <a:rPr lang="de-DE" sz="3200" dirty="0" err="1"/>
              <a:t>Axle</a:t>
            </a:r>
            <a:r>
              <a:rPr lang="de-DE" sz="3200" dirty="0"/>
              <a:t> </a:t>
            </a:r>
            <a:r>
              <a:rPr lang="de-DE" sz="3200" dirty="0" err="1"/>
              <a:t>Coordinate</a:t>
            </a:r>
            <a:r>
              <a:rPr lang="de-DE" sz="3200" dirty="0"/>
              <a:t> System (RCA)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B5E88B1-C8C6-F6FF-A1B2-21249969F011}"/>
              </a:ext>
            </a:extLst>
          </p:cNvPr>
          <p:cNvGrpSpPr/>
          <p:nvPr/>
        </p:nvGrpSpPr>
        <p:grpSpPr>
          <a:xfrm>
            <a:off x="813731" y="616967"/>
            <a:ext cx="4899171" cy="5337303"/>
            <a:chOff x="453465" y="612365"/>
            <a:chExt cx="5593025" cy="6124364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8FCE0C3-44AD-E727-353F-556DC9BD338F}"/>
                </a:ext>
              </a:extLst>
            </p:cNvPr>
            <p:cNvCxnSpPr/>
            <p:nvPr/>
          </p:nvCxnSpPr>
          <p:spPr>
            <a:xfrm>
              <a:off x="2196746" y="4719332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D11D42CD-B956-AB30-9512-327387C739EF}"/>
                </a:ext>
              </a:extLst>
            </p:cNvPr>
            <p:cNvCxnSpPr>
              <a:cxnSpLocks/>
            </p:cNvCxnSpPr>
            <p:nvPr/>
          </p:nvCxnSpPr>
          <p:spPr>
            <a:xfrm>
              <a:off x="2995053" y="4208439"/>
              <a:ext cx="0" cy="252829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286BE09-A9A3-96EF-FE82-454E840DF6E8}"/>
                </a:ext>
              </a:extLst>
            </p:cNvPr>
            <p:cNvSpPr/>
            <p:nvPr/>
          </p:nvSpPr>
          <p:spPr>
            <a:xfrm rot="5400000">
              <a:off x="1732870" y="4676238"/>
              <a:ext cx="2525469" cy="1595513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FEA67469-2E78-736D-3375-F9C645952677}"/>
                </a:ext>
              </a:extLst>
            </p:cNvPr>
            <p:cNvCxnSpPr/>
            <p:nvPr/>
          </p:nvCxnSpPr>
          <p:spPr>
            <a:xfrm>
              <a:off x="2196746" y="6154008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C7DCEBB8-91E5-5941-6FE9-AAD7AC90C76D}"/>
                </a:ext>
              </a:extLst>
            </p:cNvPr>
            <p:cNvSpPr/>
            <p:nvPr/>
          </p:nvSpPr>
          <p:spPr>
            <a:xfrm>
              <a:off x="2143163" y="5984973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407B192-4962-2805-0485-F7B845A9FF53}"/>
                </a:ext>
              </a:extLst>
            </p:cNvPr>
            <p:cNvSpPr/>
            <p:nvPr/>
          </p:nvSpPr>
          <p:spPr>
            <a:xfrm>
              <a:off x="3741397" y="5984973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C3D3E14-DD4A-AA41-CBF9-5DF9E840960B}"/>
                </a:ext>
              </a:extLst>
            </p:cNvPr>
            <p:cNvSpPr/>
            <p:nvPr/>
          </p:nvSpPr>
          <p:spPr>
            <a:xfrm>
              <a:off x="2142647" y="4543853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0DA450B-5DE2-603F-C048-B0C27BE065C5}"/>
                </a:ext>
              </a:extLst>
            </p:cNvPr>
            <p:cNvSpPr/>
            <p:nvPr/>
          </p:nvSpPr>
          <p:spPr>
            <a:xfrm>
              <a:off x="3741397" y="4543853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E2185BF-F4FC-6F2E-0191-AA491690F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187" y="6161686"/>
              <a:ext cx="49728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23C3D9DD-25F0-DC86-3797-201BA5A740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8996" y="749058"/>
              <a:ext cx="3028" cy="5412628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AD8F33A3-7112-F55A-7DFC-053D8A0C0500}"/>
                </a:ext>
              </a:extLst>
            </p:cNvPr>
            <p:cNvSpPr txBox="1"/>
            <p:nvPr/>
          </p:nvSpPr>
          <p:spPr>
            <a:xfrm>
              <a:off x="2988996" y="612365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9B1CA48D-FCDD-7385-D613-4DFE28E92A25}"/>
                </a:ext>
              </a:extLst>
            </p:cNvPr>
            <p:cNvSpPr txBox="1"/>
            <p:nvPr/>
          </p:nvSpPr>
          <p:spPr>
            <a:xfrm>
              <a:off x="476634" y="6138860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DE30383-C3C1-ACB5-10DB-0A780D0B5E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3465" y="797031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17007A8-D353-9755-61A3-CCB611683052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842248" y="1182532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4B487E83-AAA5-9C61-79C0-A0BF216B58F7}"/>
                </a:ext>
              </a:extLst>
            </p:cNvPr>
            <p:cNvSpPr>
              <a:spLocks noChangeAspect="1"/>
            </p:cNvSpPr>
            <p:nvPr/>
          </p:nvSpPr>
          <p:spPr>
            <a:xfrm rot="1928295">
              <a:off x="2522754" y="1131551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" name="Multiplikationszeichen 2">
              <a:extLst>
                <a:ext uri="{FF2B5EF4-FFF2-40B4-BE49-F238E27FC236}">
                  <a16:creationId xmlns:a16="http://schemas.microsoft.com/office/drawing/2014/main" id="{8355844B-A3B6-9569-9B3B-7DE7B51A6E61}"/>
                </a:ext>
              </a:extLst>
            </p:cNvPr>
            <p:cNvSpPr/>
            <p:nvPr/>
          </p:nvSpPr>
          <p:spPr>
            <a:xfrm>
              <a:off x="2817021" y="5955557"/>
              <a:ext cx="343949" cy="419450"/>
            </a:xfrm>
            <a:prstGeom prst="mathMultiply">
              <a:avLst/>
            </a:prstGeom>
            <a:solidFill>
              <a:schemeClr val="bg1">
                <a:lumMod val="7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D14E1E5-FB4C-B6C7-B2CA-48BC7BE6D911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2988996" y="2386774"/>
              <a:ext cx="2319494" cy="377491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47A1CBD5-3DDC-A02B-386E-4809699D579E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919707" y="2273031"/>
              <a:ext cx="2069289" cy="388865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61A6E307-820E-575A-7D42-9B25B2D68126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596407" y="2494465"/>
              <a:ext cx="392589" cy="366722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feld 24">
            <a:extLst>
              <a:ext uri="{FF2B5EF4-FFF2-40B4-BE49-F238E27FC236}">
                <a16:creationId xmlns:a16="http://schemas.microsoft.com/office/drawing/2014/main" id="{A1D34D79-2A50-5B73-F0AE-2FC54C885405}"/>
              </a:ext>
            </a:extLst>
          </p:cNvPr>
          <p:cNvSpPr txBox="1"/>
          <p:nvPr/>
        </p:nvSpPr>
        <p:spPr>
          <a:xfrm>
            <a:off x="7142258" y="5646493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Rear</a:t>
            </a:r>
            <a:r>
              <a:rPr lang="de-DE" sz="1400" dirty="0"/>
              <a:t> Center </a:t>
            </a:r>
            <a:r>
              <a:rPr lang="de-DE" sz="1400" dirty="0" err="1"/>
              <a:t>Axle</a:t>
            </a:r>
            <a:endParaRPr lang="de-DE" sz="1400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C4E2153-6A35-3928-440E-BB8C4D4CF9F7}"/>
              </a:ext>
            </a:extLst>
          </p:cNvPr>
          <p:cNvCxnSpPr>
            <a:cxnSpLocks/>
          </p:cNvCxnSpPr>
          <p:nvPr/>
        </p:nvCxnSpPr>
        <p:spPr>
          <a:xfrm>
            <a:off x="6771029" y="6184401"/>
            <a:ext cx="40409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756E74BB-08F3-A658-AD27-2FF17EADACA4}"/>
              </a:ext>
            </a:extLst>
          </p:cNvPr>
          <p:cNvSpPr txBox="1"/>
          <p:nvPr/>
        </p:nvSpPr>
        <p:spPr>
          <a:xfrm>
            <a:off x="7157916" y="6027196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Reference Point</a:t>
            </a:r>
          </a:p>
        </p:txBody>
      </p:sp>
      <p:graphicFrame>
        <p:nvGraphicFramePr>
          <p:cNvPr id="39" name="Tabelle 54">
            <a:extLst>
              <a:ext uri="{FF2B5EF4-FFF2-40B4-BE49-F238E27FC236}">
                <a16:creationId xmlns:a16="http://schemas.microsoft.com/office/drawing/2014/main" id="{DD8DA948-0013-3B37-1DBE-8C5A57D11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606936"/>
              </p:ext>
            </p:extLst>
          </p:nvPr>
        </p:nvGraphicFramePr>
        <p:xfrm>
          <a:off x="6879933" y="1458892"/>
          <a:ext cx="4796688" cy="237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344">
                  <a:extLst>
                    <a:ext uri="{9D8B030D-6E8A-4147-A177-3AD203B41FA5}">
                      <a16:colId xmlns:a16="http://schemas.microsoft.com/office/drawing/2014/main" val="3434518292"/>
                    </a:ext>
                  </a:extLst>
                </a:gridCol>
                <a:gridCol w="2398344">
                  <a:extLst>
                    <a:ext uri="{9D8B030D-6E8A-4147-A177-3AD203B41FA5}">
                      <a16:colId xmlns:a16="http://schemas.microsoft.com/office/drawing/2014/main" val="181324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Sensors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sending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in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this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Coordinate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Signals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3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Front Video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2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Radar Front </a:t>
                      </a: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Left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08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Radar Front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271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Radar </a:t>
                      </a: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Rear</a:t>
                      </a: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Left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91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Radar </a:t>
                      </a: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Rear</a:t>
                      </a: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085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4408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DF99DACA-CE00-99AD-15F4-6DF2D10B6C4F}"/>
              </a:ext>
            </a:extLst>
          </p:cNvPr>
          <p:cNvGrpSpPr/>
          <p:nvPr/>
        </p:nvGrpSpPr>
        <p:grpSpPr>
          <a:xfrm>
            <a:off x="813731" y="616967"/>
            <a:ext cx="4899168" cy="5345332"/>
            <a:chOff x="457044" y="616967"/>
            <a:chExt cx="5593025" cy="6124364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8FCE0C3-44AD-E727-353F-556DC9BD338F}"/>
                </a:ext>
              </a:extLst>
            </p:cNvPr>
            <p:cNvCxnSpPr/>
            <p:nvPr/>
          </p:nvCxnSpPr>
          <p:spPr>
            <a:xfrm>
              <a:off x="2200325" y="4723934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D11D42CD-B956-AB30-9512-327387C739EF}"/>
                </a:ext>
              </a:extLst>
            </p:cNvPr>
            <p:cNvCxnSpPr>
              <a:cxnSpLocks/>
            </p:cNvCxnSpPr>
            <p:nvPr/>
          </p:nvCxnSpPr>
          <p:spPr>
            <a:xfrm>
              <a:off x="2998632" y="4213041"/>
              <a:ext cx="0" cy="252829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286BE09-A9A3-96EF-FE82-454E840DF6E8}"/>
                </a:ext>
              </a:extLst>
            </p:cNvPr>
            <p:cNvSpPr/>
            <p:nvPr/>
          </p:nvSpPr>
          <p:spPr>
            <a:xfrm rot="5400000">
              <a:off x="1736449" y="4680840"/>
              <a:ext cx="2525469" cy="1595513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FEA67469-2E78-736D-3375-F9C645952677}"/>
                </a:ext>
              </a:extLst>
            </p:cNvPr>
            <p:cNvCxnSpPr/>
            <p:nvPr/>
          </p:nvCxnSpPr>
          <p:spPr>
            <a:xfrm>
              <a:off x="2200325" y="6158610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C7DCEBB8-91E5-5941-6FE9-AAD7AC90C76D}"/>
                </a:ext>
              </a:extLst>
            </p:cNvPr>
            <p:cNvSpPr/>
            <p:nvPr/>
          </p:nvSpPr>
          <p:spPr>
            <a:xfrm>
              <a:off x="2146742" y="598957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407B192-4962-2805-0485-F7B845A9FF53}"/>
                </a:ext>
              </a:extLst>
            </p:cNvPr>
            <p:cNvSpPr/>
            <p:nvPr/>
          </p:nvSpPr>
          <p:spPr>
            <a:xfrm>
              <a:off x="3744976" y="598957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C3D3E14-DD4A-AA41-CBF9-5DF9E840960B}"/>
                </a:ext>
              </a:extLst>
            </p:cNvPr>
            <p:cNvSpPr/>
            <p:nvPr/>
          </p:nvSpPr>
          <p:spPr>
            <a:xfrm>
              <a:off x="2146226" y="454845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0DA450B-5DE2-603F-C048-B0C27BE065C5}"/>
                </a:ext>
              </a:extLst>
            </p:cNvPr>
            <p:cNvSpPr/>
            <p:nvPr/>
          </p:nvSpPr>
          <p:spPr>
            <a:xfrm>
              <a:off x="3744976" y="454845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DF5B49CE-160C-0B31-374A-39C7D48F1326}"/>
                </a:ext>
              </a:extLst>
            </p:cNvPr>
            <p:cNvGrpSpPr/>
            <p:nvPr/>
          </p:nvGrpSpPr>
          <p:grpSpPr>
            <a:xfrm>
              <a:off x="2915406" y="4944953"/>
              <a:ext cx="160397" cy="24625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92B1F012-8BB8-D821-8B34-9F4D6E73FF56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lussdiagramm: Manuelle Verarbeitung 22">
                <a:extLst>
                  <a:ext uri="{FF2B5EF4-FFF2-40B4-BE49-F238E27FC236}">
                    <a16:creationId xmlns:a16="http://schemas.microsoft.com/office/drawing/2014/main" id="{D6318049-6A2D-6E3A-2ED8-2CBFD91264F4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E2185BF-F4FC-6F2E-0191-AA491690F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187" y="5041225"/>
              <a:ext cx="49728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23C3D9DD-25F0-DC86-3797-201BA5A740A0}"/>
                </a:ext>
              </a:extLst>
            </p:cNvPr>
            <p:cNvCxnSpPr>
              <a:cxnSpLocks/>
            </p:cNvCxnSpPr>
            <p:nvPr/>
          </p:nvCxnSpPr>
          <p:spPr>
            <a:xfrm>
              <a:off x="2995603" y="753660"/>
              <a:ext cx="0" cy="4287565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AD8F33A3-7112-F55A-7DFC-053D8A0C0500}"/>
                </a:ext>
              </a:extLst>
            </p:cNvPr>
            <p:cNvSpPr txBox="1"/>
            <p:nvPr/>
          </p:nvSpPr>
          <p:spPr>
            <a:xfrm>
              <a:off x="2992575" y="616967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9B1CA48D-FCDD-7385-D613-4DFE28E92A25}"/>
                </a:ext>
              </a:extLst>
            </p:cNvPr>
            <p:cNvSpPr txBox="1"/>
            <p:nvPr/>
          </p:nvSpPr>
          <p:spPr>
            <a:xfrm>
              <a:off x="509187" y="5006538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DE30383-C3C1-ACB5-10DB-0A780D0B5E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044" y="801633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47A1CBD5-3DDC-A02B-386E-4809699D579E}"/>
                </a:ext>
              </a:extLst>
            </p:cNvPr>
            <p:cNvCxnSpPr>
              <a:cxnSpLocks/>
              <a:stCxn id="33" idx="2"/>
            </p:cNvCxnSpPr>
            <p:nvPr/>
          </p:nvCxnSpPr>
          <p:spPr>
            <a:xfrm>
              <a:off x="923286" y="2277633"/>
              <a:ext cx="2069289" cy="275878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17007A8-D353-9755-61A3-CCB611683052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845827" y="1187134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D14E1E5-FB4C-B6C7-B2CA-48BC7BE6D911}"/>
                </a:ext>
              </a:extLst>
            </p:cNvPr>
            <p:cNvCxnSpPr>
              <a:cxnSpLocks/>
              <a:stCxn id="37" idx="3"/>
            </p:cNvCxnSpPr>
            <p:nvPr/>
          </p:nvCxnSpPr>
          <p:spPr>
            <a:xfrm flipH="1">
              <a:off x="2998359" y="2391376"/>
              <a:ext cx="2313710" cy="265040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4B487E83-AAA5-9C61-79C0-A0BF216B58F7}"/>
                </a:ext>
              </a:extLst>
            </p:cNvPr>
            <p:cNvSpPr>
              <a:spLocks noChangeAspect="1"/>
            </p:cNvSpPr>
            <p:nvPr/>
          </p:nvSpPr>
          <p:spPr>
            <a:xfrm rot="1928295">
              <a:off x="2526333" y="1136153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61A6E307-820E-575A-7D42-9B25B2D68126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>
              <a:off x="2599986" y="2499067"/>
              <a:ext cx="396720" cy="2544979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6D4DD00-E86B-D66A-B2FC-82D9EB1AE332}"/>
              </a:ext>
            </a:extLst>
          </p:cNvPr>
          <p:cNvSpPr txBox="1"/>
          <p:nvPr/>
        </p:nvSpPr>
        <p:spPr>
          <a:xfrm>
            <a:off x="813732" y="32192"/>
            <a:ext cx="1056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Aligned</a:t>
            </a:r>
            <a:r>
              <a:rPr lang="de-DE" sz="3200" dirty="0"/>
              <a:t> Camera </a:t>
            </a:r>
            <a:r>
              <a:rPr lang="de-DE" sz="3200" dirty="0" err="1"/>
              <a:t>Coordinate</a:t>
            </a:r>
            <a:r>
              <a:rPr lang="de-DE" sz="3200" dirty="0"/>
              <a:t> System (ACCS)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91B3E12-8C6F-A2DA-15D3-B56CEA3B1C28}"/>
              </a:ext>
            </a:extLst>
          </p:cNvPr>
          <p:cNvGrpSpPr/>
          <p:nvPr/>
        </p:nvGrpSpPr>
        <p:grpSpPr>
          <a:xfrm rot="16200000">
            <a:off x="6922860" y="5685284"/>
            <a:ext cx="160397" cy="246251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1A764B60-BF30-4703-A07B-FB797D23D6BA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lussdiagramm: Manuelle Verarbeitung 28">
              <a:extLst>
                <a:ext uri="{FF2B5EF4-FFF2-40B4-BE49-F238E27FC236}">
                  <a16:creationId xmlns:a16="http://schemas.microsoft.com/office/drawing/2014/main" id="{1726E2B4-72ED-F3E2-F805-428BCA685FCB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feld 29">
            <a:extLst>
              <a:ext uri="{FF2B5EF4-FFF2-40B4-BE49-F238E27FC236}">
                <a16:creationId xmlns:a16="http://schemas.microsoft.com/office/drawing/2014/main" id="{AE88FA53-6F42-2A31-B443-90D845F7D50C}"/>
              </a:ext>
            </a:extLst>
          </p:cNvPr>
          <p:cNvSpPr txBox="1"/>
          <p:nvPr/>
        </p:nvSpPr>
        <p:spPr>
          <a:xfrm>
            <a:off x="7110526" y="5654522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Mounting</a:t>
            </a:r>
            <a:r>
              <a:rPr lang="de-DE" sz="1400" dirty="0"/>
              <a:t> </a:t>
            </a:r>
            <a:r>
              <a:rPr lang="de-DE" sz="1400" dirty="0" err="1"/>
              <a:t>position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camera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8BCA596-6420-1F01-BC8A-CE86977D4A1E}"/>
              </a:ext>
            </a:extLst>
          </p:cNvPr>
          <p:cNvCxnSpPr>
            <a:cxnSpLocks/>
          </p:cNvCxnSpPr>
          <p:nvPr/>
        </p:nvCxnSpPr>
        <p:spPr>
          <a:xfrm>
            <a:off x="6739297" y="6192430"/>
            <a:ext cx="40409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EA3C0810-FD8A-290D-788C-6513049F8046}"/>
              </a:ext>
            </a:extLst>
          </p:cNvPr>
          <p:cNvSpPr txBox="1"/>
          <p:nvPr/>
        </p:nvSpPr>
        <p:spPr>
          <a:xfrm>
            <a:off x="7126184" y="6035225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Reference Point</a:t>
            </a:r>
          </a:p>
        </p:txBody>
      </p:sp>
      <p:graphicFrame>
        <p:nvGraphicFramePr>
          <p:cNvPr id="54" name="Tabelle 54">
            <a:extLst>
              <a:ext uri="{FF2B5EF4-FFF2-40B4-BE49-F238E27FC236}">
                <a16:creationId xmlns:a16="http://schemas.microsoft.com/office/drawing/2014/main" id="{28C40E6E-0BC6-99EA-A866-CE9B3AB35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57006"/>
              </p:ext>
            </p:extLst>
          </p:nvPr>
        </p:nvGraphicFramePr>
        <p:xfrm>
          <a:off x="6879933" y="1483469"/>
          <a:ext cx="479668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344">
                  <a:extLst>
                    <a:ext uri="{9D8B030D-6E8A-4147-A177-3AD203B41FA5}">
                      <a16:colId xmlns:a16="http://schemas.microsoft.com/office/drawing/2014/main" val="3434518292"/>
                    </a:ext>
                  </a:extLst>
                </a:gridCol>
                <a:gridCol w="2398344">
                  <a:extLst>
                    <a:ext uri="{9D8B030D-6E8A-4147-A177-3AD203B41FA5}">
                      <a16:colId xmlns:a16="http://schemas.microsoft.com/office/drawing/2014/main" val="181324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Sensors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sending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in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this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Coordinate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Signals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3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Front Video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Edges</a:t>
                      </a:r>
                      <a:b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Normalized</a:t>
                      </a:r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velocities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2831"/>
                  </a:ext>
                </a:extLst>
              </a:tr>
            </a:tbl>
          </a:graphicData>
        </a:graphic>
      </p:graphicFrame>
      <p:pic>
        <p:nvPicPr>
          <p:cNvPr id="3" name="Grafik 2">
            <a:extLst>
              <a:ext uri="{FF2B5EF4-FFF2-40B4-BE49-F238E27FC236}">
                <a16:creationId xmlns:a16="http://schemas.microsoft.com/office/drawing/2014/main" id="{B4F30784-94AE-3E8A-E62F-92A48F70D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933" y="3312051"/>
            <a:ext cx="1336174" cy="2062477"/>
          </a:xfrm>
          <a:prstGeom prst="rect">
            <a:avLst/>
          </a:prstGeom>
        </p:spPr>
      </p:pic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A343E06-0955-8627-8F7A-20BC337D95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460281"/>
              </p:ext>
            </p:extLst>
          </p:nvPr>
        </p:nvGraphicFramePr>
        <p:xfrm>
          <a:off x="8216107" y="3312051"/>
          <a:ext cx="3460513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710">
                  <a:extLst>
                    <a:ext uri="{9D8B030D-6E8A-4147-A177-3AD203B41FA5}">
                      <a16:colId xmlns:a16="http://schemas.microsoft.com/office/drawing/2014/main" val="2855770913"/>
                    </a:ext>
                  </a:extLst>
                </a:gridCol>
                <a:gridCol w="1003803">
                  <a:extLst>
                    <a:ext uri="{9D8B030D-6E8A-4147-A177-3AD203B41FA5}">
                      <a16:colId xmlns:a16="http://schemas.microsoft.com/office/drawing/2014/main" val="1460073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600" b="0" dirty="0" err="1">
                          <a:solidFill>
                            <a:sysClr val="windowText" lastClr="000000"/>
                          </a:solidFill>
                        </a:rPr>
                        <a:t>Aligned</a:t>
                      </a:r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600" b="0" dirty="0" err="1">
                          <a:solidFill>
                            <a:sysClr val="windowText" lastClr="000000"/>
                          </a:solidFill>
                        </a:rPr>
                        <a:t>Coordinate</a:t>
                      </a:r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 err="1">
                          <a:solidFill>
                            <a:sysClr val="windowText" lastClr="000000"/>
                          </a:solidFill>
                        </a:rPr>
                        <a:t>dx_cam</a:t>
                      </a:r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694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dirty="0" err="1">
                          <a:solidFill>
                            <a:sysClr val="windowText" lastClr="000000"/>
                          </a:solidFill>
                        </a:rPr>
                        <a:t>dy_cam</a:t>
                      </a:r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480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275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RCA </a:t>
                      </a:r>
                      <a:r>
                        <a:rPr lang="de-DE" sz="1600" b="0" dirty="0" err="1">
                          <a:solidFill>
                            <a:sysClr val="windowText" lastClr="000000"/>
                          </a:solidFill>
                        </a:rPr>
                        <a:t>Coordinate</a:t>
                      </a:r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dx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53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>
                          <a:solidFill>
                            <a:sysClr val="windowText" lastClr="000000"/>
                          </a:solidFill>
                        </a:rPr>
                        <a:t>dy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464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6042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E6D4DD00-E86B-D66A-B2FC-82D9EB1AE332}"/>
              </a:ext>
            </a:extLst>
          </p:cNvPr>
          <p:cNvSpPr txBox="1"/>
          <p:nvPr/>
        </p:nvSpPr>
        <p:spPr>
          <a:xfrm>
            <a:off x="813732" y="32192"/>
            <a:ext cx="1056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Radar </a:t>
            </a:r>
            <a:r>
              <a:rPr lang="de-DE" sz="3200" dirty="0" err="1"/>
              <a:t>Coordinate</a:t>
            </a:r>
            <a:r>
              <a:rPr lang="de-DE" sz="3200" dirty="0"/>
              <a:t> System (RCS)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491B3E12-8C6F-A2DA-15D3-B56CEA3B1C28}"/>
              </a:ext>
            </a:extLst>
          </p:cNvPr>
          <p:cNvGrpSpPr/>
          <p:nvPr/>
        </p:nvGrpSpPr>
        <p:grpSpPr>
          <a:xfrm rot="16200000">
            <a:off x="6922860" y="5685284"/>
            <a:ext cx="160397" cy="246251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1A764B60-BF30-4703-A07B-FB797D23D6BA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lussdiagramm: Manuelle Verarbeitung 28">
              <a:extLst>
                <a:ext uri="{FF2B5EF4-FFF2-40B4-BE49-F238E27FC236}">
                  <a16:creationId xmlns:a16="http://schemas.microsoft.com/office/drawing/2014/main" id="{1726E2B4-72ED-F3E2-F805-428BCA685FCB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feld 29">
            <a:extLst>
              <a:ext uri="{FF2B5EF4-FFF2-40B4-BE49-F238E27FC236}">
                <a16:creationId xmlns:a16="http://schemas.microsoft.com/office/drawing/2014/main" id="{AE88FA53-6F42-2A31-B443-90D845F7D50C}"/>
              </a:ext>
            </a:extLst>
          </p:cNvPr>
          <p:cNvSpPr txBox="1"/>
          <p:nvPr/>
        </p:nvSpPr>
        <p:spPr>
          <a:xfrm>
            <a:off x="7110526" y="5654522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Mounting</a:t>
            </a:r>
            <a:r>
              <a:rPr lang="de-DE" sz="1400" dirty="0"/>
              <a:t> </a:t>
            </a:r>
            <a:r>
              <a:rPr lang="de-DE" sz="1400" dirty="0" err="1"/>
              <a:t>position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the</a:t>
            </a:r>
            <a:r>
              <a:rPr lang="de-DE" sz="1400" dirty="0"/>
              <a:t> </a:t>
            </a:r>
            <a:r>
              <a:rPr lang="de-DE" sz="1400" dirty="0" err="1"/>
              <a:t>radar</a:t>
            </a:r>
            <a:endParaRPr lang="de-DE" sz="1400" dirty="0"/>
          </a:p>
        </p:txBody>
      </p:sp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8618EAA3-B04E-C8D8-600F-BBAFDE523667}"/>
              </a:ext>
            </a:extLst>
          </p:cNvPr>
          <p:cNvGrpSpPr/>
          <p:nvPr/>
        </p:nvGrpSpPr>
        <p:grpSpPr>
          <a:xfrm>
            <a:off x="813731" y="616967"/>
            <a:ext cx="4899171" cy="5345332"/>
            <a:chOff x="457044" y="616967"/>
            <a:chExt cx="5593025" cy="6124364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88FCE0C3-44AD-E727-353F-556DC9BD338F}"/>
                </a:ext>
              </a:extLst>
            </p:cNvPr>
            <p:cNvCxnSpPr/>
            <p:nvPr/>
          </p:nvCxnSpPr>
          <p:spPr>
            <a:xfrm>
              <a:off x="2200325" y="4723934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D11D42CD-B956-AB30-9512-327387C739EF}"/>
                </a:ext>
              </a:extLst>
            </p:cNvPr>
            <p:cNvCxnSpPr>
              <a:cxnSpLocks/>
            </p:cNvCxnSpPr>
            <p:nvPr/>
          </p:nvCxnSpPr>
          <p:spPr>
            <a:xfrm>
              <a:off x="2998632" y="4213041"/>
              <a:ext cx="0" cy="252829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286BE09-A9A3-96EF-FE82-454E840DF6E8}"/>
                </a:ext>
              </a:extLst>
            </p:cNvPr>
            <p:cNvSpPr/>
            <p:nvPr/>
          </p:nvSpPr>
          <p:spPr>
            <a:xfrm rot="5400000">
              <a:off x="1736449" y="4680840"/>
              <a:ext cx="2525469" cy="1595513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FEA67469-2E78-736D-3375-F9C645952677}"/>
                </a:ext>
              </a:extLst>
            </p:cNvPr>
            <p:cNvCxnSpPr/>
            <p:nvPr/>
          </p:nvCxnSpPr>
          <p:spPr>
            <a:xfrm>
              <a:off x="2200325" y="6158610"/>
              <a:ext cx="1596616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C7DCEBB8-91E5-5941-6FE9-AAD7AC90C76D}"/>
                </a:ext>
              </a:extLst>
            </p:cNvPr>
            <p:cNvSpPr/>
            <p:nvPr/>
          </p:nvSpPr>
          <p:spPr>
            <a:xfrm>
              <a:off x="2146742" y="598957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8407B192-4962-2805-0485-F7B845A9FF53}"/>
                </a:ext>
              </a:extLst>
            </p:cNvPr>
            <p:cNvSpPr/>
            <p:nvPr/>
          </p:nvSpPr>
          <p:spPr>
            <a:xfrm>
              <a:off x="3744976" y="598957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3C3D3E14-DD4A-AA41-CBF9-5DF9E840960B}"/>
                </a:ext>
              </a:extLst>
            </p:cNvPr>
            <p:cNvSpPr/>
            <p:nvPr/>
          </p:nvSpPr>
          <p:spPr>
            <a:xfrm>
              <a:off x="2146226" y="454845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70DA450B-5DE2-603F-C048-B0C27BE065C5}"/>
                </a:ext>
              </a:extLst>
            </p:cNvPr>
            <p:cNvSpPr/>
            <p:nvPr/>
          </p:nvSpPr>
          <p:spPr>
            <a:xfrm>
              <a:off x="3744976" y="4548455"/>
              <a:ext cx="106062" cy="35342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DF5B49CE-160C-0B31-374A-39C7D48F1326}"/>
                </a:ext>
              </a:extLst>
            </p:cNvPr>
            <p:cNvGrpSpPr/>
            <p:nvPr/>
          </p:nvGrpSpPr>
          <p:grpSpPr>
            <a:xfrm>
              <a:off x="2912377" y="4121817"/>
              <a:ext cx="160397" cy="24625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92B1F012-8BB8-D821-8B34-9F4D6E73FF56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lussdiagramm: Manuelle Verarbeitung 22">
                <a:extLst>
                  <a:ext uri="{FF2B5EF4-FFF2-40B4-BE49-F238E27FC236}">
                    <a16:creationId xmlns:a16="http://schemas.microsoft.com/office/drawing/2014/main" id="{D6318049-6A2D-6E3A-2ED8-2CBFD91264F4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E2185BF-F4FC-6F2E-0191-AA491690F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187" y="4213041"/>
              <a:ext cx="4972833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23C3D9DD-25F0-DC86-3797-201BA5A740A0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 flipH="1">
              <a:off x="2992576" y="753660"/>
              <a:ext cx="3027" cy="3459621"/>
            </a:xfrm>
            <a:prstGeom prst="line">
              <a:avLst/>
            </a:prstGeom>
            <a:ln w="28575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AD8F33A3-7112-F55A-7DFC-053D8A0C0500}"/>
                </a:ext>
              </a:extLst>
            </p:cNvPr>
            <p:cNvSpPr txBox="1"/>
            <p:nvPr/>
          </p:nvSpPr>
          <p:spPr>
            <a:xfrm>
              <a:off x="2992575" y="616967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X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9B1CA48D-FCDD-7385-D613-4DFE28E92A25}"/>
                </a:ext>
              </a:extLst>
            </p:cNvPr>
            <p:cNvSpPr txBox="1"/>
            <p:nvPr/>
          </p:nvSpPr>
          <p:spPr>
            <a:xfrm>
              <a:off x="511748" y="4183402"/>
              <a:ext cx="260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Y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4DE30383-C3C1-ACB5-10DB-0A780D0B5E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044" y="801633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47A1CBD5-3DDC-A02B-386E-4809699D579E}"/>
                </a:ext>
              </a:extLst>
            </p:cNvPr>
            <p:cNvCxnSpPr>
              <a:cxnSpLocks/>
              <a:stCxn id="33" idx="2"/>
              <a:endCxn id="22" idx="0"/>
            </p:cNvCxnSpPr>
            <p:nvPr/>
          </p:nvCxnSpPr>
          <p:spPr>
            <a:xfrm>
              <a:off x="923286" y="2277633"/>
              <a:ext cx="2069290" cy="193564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417007A8-D353-9755-61A3-CCB611683052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4845827" y="1187134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9D14E1E5-FB4C-B6C7-B2CA-48BC7BE6D911}"/>
                </a:ext>
              </a:extLst>
            </p:cNvPr>
            <p:cNvCxnSpPr>
              <a:cxnSpLocks/>
              <a:stCxn id="37" idx="3"/>
              <a:endCxn id="22" idx="0"/>
            </p:cNvCxnSpPr>
            <p:nvPr/>
          </p:nvCxnSpPr>
          <p:spPr>
            <a:xfrm flipH="1">
              <a:off x="2992576" y="2391376"/>
              <a:ext cx="2319493" cy="1821905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4B487E83-AAA5-9C61-79C0-A0BF216B58F7}"/>
                </a:ext>
              </a:extLst>
            </p:cNvPr>
            <p:cNvSpPr>
              <a:spLocks noChangeAspect="1"/>
            </p:cNvSpPr>
            <p:nvPr/>
          </p:nvSpPr>
          <p:spPr>
            <a:xfrm rot="1928295">
              <a:off x="2526333" y="1136153"/>
              <a:ext cx="932484" cy="147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61A6E307-820E-575A-7D42-9B25B2D68126}"/>
                </a:ext>
              </a:extLst>
            </p:cNvPr>
            <p:cNvCxnSpPr>
              <a:cxnSpLocks/>
              <a:stCxn id="44" idx="2"/>
              <a:endCxn id="22" idx="0"/>
            </p:cNvCxnSpPr>
            <p:nvPr/>
          </p:nvCxnSpPr>
          <p:spPr>
            <a:xfrm>
              <a:off x="2599986" y="2499067"/>
              <a:ext cx="392590" cy="171421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8BCA596-6420-1F01-BC8A-CE86977D4A1E}"/>
              </a:ext>
            </a:extLst>
          </p:cNvPr>
          <p:cNvCxnSpPr>
            <a:cxnSpLocks/>
          </p:cNvCxnSpPr>
          <p:nvPr/>
        </p:nvCxnSpPr>
        <p:spPr>
          <a:xfrm>
            <a:off x="6739297" y="6192430"/>
            <a:ext cx="40409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EA3C0810-FD8A-290D-788C-6513049F8046}"/>
              </a:ext>
            </a:extLst>
          </p:cNvPr>
          <p:cNvSpPr txBox="1"/>
          <p:nvPr/>
        </p:nvSpPr>
        <p:spPr>
          <a:xfrm>
            <a:off x="7126184" y="6035225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Reference Point</a:t>
            </a:r>
          </a:p>
        </p:txBody>
      </p:sp>
      <p:graphicFrame>
        <p:nvGraphicFramePr>
          <p:cNvPr id="54" name="Tabelle 54">
            <a:extLst>
              <a:ext uri="{FF2B5EF4-FFF2-40B4-BE49-F238E27FC236}">
                <a16:creationId xmlns:a16="http://schemas.microsoft.com/office/drawing/2014/main" id="{28C40E6E-0BC6-99EA-A866-CE9B3AB35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082635"/>
              </p:ext>
            </p:extLst>
          </p:nvPr>
        </p:nvGraphicFramePr>
        <p:xfrm>
          <a:off x="6879933" y="1458892"/>
          <a:ext cx="4796688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8344">
                  <a:extLst>
                    <a:ext uri="{9D8B030D-6E8A-4147-A177-3AD203B41FA5}">
                      <a16:colId xmlns:a16="http://schemas.microsoft.com/office/drawing/2014/main" val="3434518292"/>
                    </a:ext>
                  </a:extLst>
                </a:gridCol>
                <a:gridCol w="2398344">
                  <a:extLst>
                    <a:ext uri="{9D8B030D-6E8A-4147-A177-3AD203B41FA5}">
                      <a16:colId xmlns:a16="http://schemas.microsoft.com/office/drawing/2014/main" val="181324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Sensors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sending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in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this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Coordinate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System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1" dirty="0" err="1"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  <a:r>
                        <a:rPr lang="de-DE" sz="1400" b="1" dirty="0">
                          <a:solidFill>
                            <a:sysClr val="windowText" lastClr="000000"/>
                          </a:solidFill>
                        </a:rPr>
                        <a:t> Signals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236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dirty="0">
                          <a:solidFill>
                            <a:sysClr val="windowText" lastClr="000000"/>
                          </a:solidFill>
                        </a:rPr>
                        <a:t>Front Center Radar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Distances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de-DE" sz="1400" b="0" dirty="0" err="1">
                          <a:solidFill>
                            <a:sysClr val="windowText" lastClr="000000"/>
                          </a:solidFill>
                        </a:rPr>
                        <a:t>Angles</a:t>
                      </a:r>
                      <a:endParaRPr lang="de-DE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42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716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3. CAPL </a:t>
            </a:r>
            <a:r>
              <a:rPr lang="de-DE" dirty="0" err="1"/>
              <a:t>dll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537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B18CA93-4ABB-3F1A-3D39-85D773189DB8}"/>
              </a:ext>
            </a:extLst>
          </p:cNvPr>
          <p:cNvCxnSpPr/>
          <p:nvPr/>
        </p:nvCxnSpPr>
        <p:spPr>
          <a:xfrm>
            <a:off x="2514751" y="1586205"/>
            <a:ext cx="20335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3649B85-AD31-7126-4A58-956DB3941F37}"/>
              </a:ext>
            </a:extLst>
          </p:cNvPr>
          <p:cNvSpPr txBox="1"/>
          <p:nvPr/>
        </p:nvSpPr>
        <p:spPr>
          <a:xfrm>
            <a:off x="2493109" y="1278428"/>
            <a:ext cx="203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Raw </a:t>
            </a:r>
            <a:r>
              <a:rPr lang="de-DE" sz="1400" dirty="0" err="1"/>
              <a:t>target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AD42C76-FA8B-874C-A22A-54EEB97D16DC}"/>
              </a:ext>
            </a:extLst>
          </p:cNvPr>
          <p:cNvSpPr/>
          <p:nvPr/>
        </p:nvSpPr>
        <p:spPr>
          <a:xfrm>
            <a:off x="307910" y="812657"/>
            <a:ext cx="2208245" cy="7735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Simulator</a:t>
            </a:r>
            <a:endParaRPr lang="de-DE" sz="2800" b="1" dirty="0">
              <a:solidFill>
                <a:schemeClr val="tx1"/>
              </a:solidFill>
            </a:endParaRP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Classe/CM/…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344D546-C621-0233-A5EF-03DB85467D59}"/>
              </a:ext>
            </a:extLst>
          </p:cNvPr>
          <p:cNvSpPr/>
          <p:nvPr/>
        </p:nvSpPr>
        <p:spPr>
          <a:xfrm>
            <a:off x="307910" y="1586204"/>
            <a:ext cx="2208245" cy="1256523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Classe: RCA; CM: Sensor</a:t>
            </a: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Rear</a:t>
            </a:r>
            <a:r>
              <a:rPr lang="de-DE" sz="1200" dirty="0">
                <a:solidFill>
                  <a:schemeClr val="tx1"/>
                </a:solidFill>
              </a:rPr>
              <a:t> Bumper/…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53C7CF0-057F-80B3-A73D-2ABC0E848F04}"/>
              </a:ext>
            </a:extLst>
          </p:cNvPr>
          <p:cNvSpPr/>
          <p:nvPr/>
        </p:nvSpPr>
        <p:spPr>
          <a:xfrm>
            <a:off x="9620927" y="812657"/>
            <a:ext cx="2208245" cy="7735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 err="1">
                <a:solidFill>
                  <a:schemeClr val="tx1"/>
                </a:solidFill>
              </a:rPr>
              <a:t>Rotate</a:t>
            </a:r>
            <a:r>
              <a:rPr lang="de-DE" sz="2800" b="1" dirty="0">
                <a:solidFill>
                  <a:schemeClr val="tx1"/>
                </a:solidFill>
              </a:rPr>
              <a:t>/Shift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Rotation C++ </a:t>
            </a:r>
            <a:r>
              <a:rPr lang="de-DE" sz="1600" dirty="0" err="1">
                <a:solidFill>
                  <a:schemeClr val="tx1"/>
                </a:solidFill>
              </a:rPr>
              <a:t>dll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1BF7C85-237D-E936-C062-03AD78574B2B}"/>
              </a:ext>
            </a:extLst>
          </p:cNvPr>
          <p:cNvSpPr/>
          <p:nvPr/>
        </p:nvSpPr>
        <p:spPr>
          <a:xfrm>
            <a:off x="9620927" y="1586204"/>
            <a:ext cx="2208245" cy="1405812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u="sng" dirty="0">
                <a:solidFill>
                  <a:schemeClr val="tx1"/>
                </a:solidFill>
              </a:rPr>
              <a:t>Inputs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RCA </a:t>
            </a:r>
            <a:r>
              <a:rPr lang="de-DE" sz="1200" b="1" dirty="0" err="1">
                <a:solidFill>
                  <a:schemeClr val="tx1"/>
                </a:solidFill>
              </a:rPr>
              <a:t>or</a:t>
            </a:r>
            <a:r>
              <a:rPr lang="de-DE" sz="1200" dirty="0">
                <a:solidFill>
                  <a:schemeClr val="tx1"/>
                </a:solidFill>
              </a:rPr>
              <a:t> Sensor </a:t>
            </a:r>
            <a:r>
              <a:rPr lang="de-DE" sz="1200" dirty="0" err="1">
                <a:solidFill>
                  <a:schemeClr val="tx1"/>
                </a:solidFill>
              </a:rPr>
              <a:t>position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Rear</a:t>
            </a:r>
            <a:r>
              <a:rPr lang="de-DE" sz="1200" dirty="0">
                <a:solidFill>
                  <a:schemeClr val="tx1"/>
                </a:solidFill>
              </a:rPr>
              <a:t> Bumper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55F8308-7901-FB2E-FFF9-0358A47E3B8E}"/>
              </a:ext>
            </a:extLst>
          </p:cNvPr>
          <p:cNvSpPr/>
          <p:nvPr/>
        </p:nvSpPr>
        <p:spPr>
          <a:xfrm>
            <a:off x="4546862" y="812657"/>
            <a:ext cx="2208245" cy="7735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RoadObj</a:t>
            </a:r>
            <a:r>
              <a:rPr lang="de-DE" sz="2800" b="1" dirty="0">
                <a:solidFill>
                  <a:schemeClr val="tx1"/>
                </a:solidFill>
              </a:rPr>
              <a:t>.can</a:t>
            </a: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CAPL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6F4E6C3-587F-2A0A-F190-F06C534C1E44}"/>
              </a:ext>
            </a:extLst>
          </p:cNvPr>
          <p:cNvSpPr/>
          <p:nvPr/>
        </p:nvSpPr>
        <p:spPr>
          <a:xfrm>
            <a:off x="4546862" y="1586205"/>
            <a:ext cx="2208245" cy="1256522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RCA </a:t>
            </a:r>
            <a:r>
              <a:rPr lang="de-DE" sz="1200" dirty="0" err="1">
                <a:solidFill>
                  <a:schemeClr val="tx1"/>
                </a:solidFill>
              </a:rPr>
              <a:t>or</a:t>
            </a:r>
            <a:r>
              <a:rPr lang="de-DE" sz="1200" dirty="0">
                <a:solidFill>
                  <a:schemeClr val="tx1"/>
                </a:solidFill>
              </a:rPr>
              <a:t> Sensor </a:t>
            </a:r>
            <a:r>
              <a:rPr lang="de-DE" sz="1200" dirty="0" err="1">
                <a:solidFill>
                  <a:schemeClr val="tx1"/>
                </a:solidFill>
              </a:rPr>
              <a:t>position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Rear</a:t>
            </a:r>
            <a:r>
              <a:rPr lang="de-DE" sz="1200" dirty="0">
                <a:solidFill>
                  <a:schemeClr val="tx1"/>
                </a:solidFill>
              </a:rPr>
              <a:t> Bumper/…</a:t>
            </a:r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DEC823F9-9011-9FEE-D630-0ECE0DB73BF9}"/>
              </a:ext>
            </a:extLst>
          </p:cNvPr>
          <p:cNvCxnSpPr>
            <a:cxnSpLocks/>
          </p:cNvCxnSpPr>
          <p:nvPr/>
        </p:nvCxnSpPr>
        <p:spPr>
          <a:xfrm flipV="1">
            <a:off x="6773941" y="1586204"/>
            <a:ext cx="2844383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DE362F44-159E-43D1-24E6-1BA5BED6F509}"/>
              </a:ext>
            </a:extLst>
          </p:cNvPr>
          <p:cNvSpPr txBox="1"/>
          <p:nvPr/>
        </p:nvSpPr>
        <p:spPr>
          <a:xfrm>
            <a:off x="6752299" y="1278428"/>
            <a:ext cx="2844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Call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rotation</a:t>
            </a:r>
            <a:r>
              <a:rPr lang="de-DE" sz="1400" dirty="0"/>
              <a:t> </a:t>
            </a:r>
            <a:r>
              <a:rPr lang="de-DE" sz="1400" dirty="0" err="1"/>
              <a:t>functions</a:t>
            </a:r>
            <a:endParaRPr lang="de-DE" sz="1400" dirty="0"/>
          </a:p>
        </p:txBody>
      </p: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9AE29927-3913-F807-AA22-5F4EAFDBFC4F}"/>
              </a:ext>
            </a:extLst>
          </p:cNvPr>
          <p:cNvCxnSpPr>
            <a:cxnSpLocks/>
          </p:cNvCxnSpPr>
          <p:nvPr/>
        </p:nvCxnSpPr>
        <p:spPr>
          <a:xfrm>
            <a:off x="6768530" y="2205864"/>
            <a:ext cx="284979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EB1E646E-5F32-B970-688F-CAF2DAE0DF73}"/>
              </a:ext>
            </a:extLst>
          </p:cNvPr>
          <p:cNvSpPr txBox="1"/>
          <p:nvPr/>
        </p:nvSpPr>
        <p:spPr>
          <a:xfrm>
            <a:off x="6752299" y="1898087"/>
            <a:ext cx="28443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 err="1"/>
              <a:t>Rotated</a:t>
            </a:r>
            <a:r>
              <a:rPr lang="de-DE" sz="1400" dirty="0"/>
              <a:t> </a:t>
            </a:r>
            <a:r>
              <a:rPr lang="de-DE" sz="1400" b="1" dirty="0"/>
              <a:t>object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DB77B4C9-742C-7040-25B1-856957D3442E}"/>
              </a:ext>
            </a:extLst>
          </p:cNvPr>
          <p:cNvSpPr/>
          <p:nvPr/>
        </p:nvSpPr>
        <p:spPr>
          <a:xfrm>
            <a:off x="2338617" y="4015277"/>
            <a:ext cx="2208245" cy="7735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Object </a:t>
            </a:r>
            <a:r>
              <a:rPr lang="de-DE" sz="2400" b="1" dirty="0" err="1">
                <a:solidFill>
                  <a:schemeClr val="tx1"/>
                </a:solidFill>
              </a:rPr>
              <a:t>calcs</a:t>
            </a:r>
            <a:endParaRPr lang="de-DE" sz="2800" b="1" dirty="0">
              <a:solidFill>
                <a:schemeClr val="tx1"/>
              </a:solidFill>
            </a:endParaRPr>
          </a:p>
          <a:p>
            <a:pPr algn="ctr"/>
            <a:r>
              <a:rPr lang="de-DE" sz="1600" dirty="0">
                <a:solidFill>
                  <a:schemeClr val="tx1"/>
                </a:solidFill>
              </a:rPr>
              <a:t>object_calc.dll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D068398-13DB-223F-096B-FE63E0493ACB}"/>
              </a:ext>
            </a:extLst>
          </p:cNvPr>
          <p:cNvSpPr/>
          <p:nvPr/>
        </p:nvSpPr>
        <p:spPr>
          <a:xfrm>
            <a:off x="2338617" y="4788824"/>
            <a:ext cx="2208245" cy="125651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RCA and Sensor </a:t>
            </a:r>
            <a:r>
              <a:rPr lang="de-DE" sz="1200" dirty="0" err="1">
                <a:solidFill>
                  <a:schemeClr val="tx1"/>
                </a:solidFill>
              </a:rPr>
              <a:t>position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Mid </a:t>
            </a:r>
            <a:r>
              <a:rPr lang="de-DE" sz="1200" dirty="0" err="1">
                <a:solidFill>
                  <a:schemeClr val="tx1"/>
                </a:solidFill>
              </a:rPr>
              <a:t>of</a:t>
            </a:r>
            <a:r>
              <a:rPr lang="de-DE" sz="1200" dirty="0">
                <a:solidFill>
                  <a:schemeClr val="tx1"/>
                </a:solidFill>
              </a:rPr>
              <a:t> object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6858C903-EA63-ED3E-F98D-49F4F51B0950}"/>
              </a:ext>
            </a:extLst>
          </p:cNvPr>
          <p:cNvSpPr/>
          <p:nvPr/>
        </p:nvSpPr>
        <p:spPr>
          <a:xfrm>
            <a:off x="6768530" y="4015277"/>
            <a:ext cx="2208245" cy="77354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Loc </a:t>
            </a:r>
            <a:r>
              <a:rPr lang="de-DE" sz="2400" b="1" dirty="0" err="1">
                <a:solidFill>
                  <a:schemeClr val="tx1"/>
                </a:solidFill>
              </a:rPr>
              <a:t>calcs</a:t>
            </a:r>
            <a:endParaRPr lang="de-DE" sz="2800" b="1" dirty="0">
              <a:solidFill>
                <a:schemeClr val="tx1"/>
              </a:solidFill>
            </a:endParaRPr>
          </a:p>
          <a:p>
            <a:pPr algn="ctr"/>
            <a:r>
              <a:rPr lang="de-DE" sz="1600" dirty="0" err="1">
                <a:solidFill>
                  <a:schemeClr val="tx1"/>
                </a:solidFill>
              </a:rPr>
              <a:t>StarModel</a:t>
            </a:r>
            <a:r>
              <a:rPr lang="de-DE" sz="1600" dirty="0">
                <a:solidFill>
                  <a:schemeClr val="tx1"/>
                </a:solidFill>
              </a:rPr>
              <a:t> C++ </a:t>
            </a:r>
            <a:r>
              <a:rPr lang="de-DE" sz="1600" dirty="0" err="1">
                <a:solidFill>
                  <a:schemeClr val="tx1"/>
                </a:solidFill>
              </a:rPr>
              <a:t>dll</a:t>
            </a:r>
            <a:endParaRPr lang="de-DE" sz="1600" dirty="0">
              <a:solidFill>
                <a:schemeClr val="tx1"/>
              </a:solidFill>
            </a:endParaRP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699759B-0879-AF9F-14CC-0A12EEF79B36}"/>
              </a:ext>
            </a:extLst>
          </p:cNvPr>
          <p:cNvSpPr/>
          <p:nvPr/>
        </p:nvSpPr>
        <p:spPr>
          <a:xfrm>
            <a:off x="6768530" y="4788824"/>
            <a:ext cx="2208245" cy="1256519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Sensor </a:t>
            </a:r>
            <a:r>
              <a:rPr lang="de-DE" sz="1200" dirty="0" err="1">
                <a:solidFill>
                  <a:schemeClr val="tx1"/>
                </a:solidFill>
              </a:rPr>
              <a:t>position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Mid </a:t>
            </a:r>
            <a:r>
              <a:rPr lang="de-DE" sz="1200" dirty="0" err="1">
                <a:solidFill>
                  <a:schemeClr val="tx1"/>
                </a:solidFill>
              </a:rPr>
              <a:t>of</a:t>
            </a:r>
            <a:r>
              <a:rPr lang="de-DE" sz="1200" dirty="0">
                <a:solidFill>
                  <a:schemeClr val="tx1"/>
                </a:solidFill>
              </a:rPr>
              <a:t> object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4828CFFF-FBD0-F102-7850-65FD7DFFF780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3442740" y="2842723"/>
            <a:ext cx="1104122" cy="11725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57AD001-6931-D77A-987C-B5A6BE7EFCAD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6752299" y="2842722"/>
            <a:ext cx="1120354" cy="11725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F4F31629-2346-EBCF-7D48-3A18D59AEBB5}"/>
              </a:ext>
            </a:extLst>
          </p:cNvPr>
          <p:cNvSpPr txBox="1"/>
          <p:nvPr/>
        </p:nvSpPr>
        <p:spPr>
          <a:xfrm>
            <a:off x="1603717" y="3233130"/>
            <a:ext cx="2625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 err="1"/>
              <a:t>Rotated</a:t>
            </a:r>
            <a:r>
              <a:rPr lang="de-DE" sz="1400" dirty="0"/>
              <a:t>/</a:t>
            </a:r>
            <a:r>
              <a:rPr lang="de-DE" sz="1400" dirty="0" err="1"/>
              <a:t>Shifted</a:t>
            </a:r>
            <a:r>
              <a:rPr lang="de-DE" sz="1400" dirty="0"/>
              <a:t> </a:t>
            </a:r>
            <a:r>
              <a:rPr lang="de-DE" sz="1400" b="1" dirty="0"/>
              <a:t>object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AB6E65A0-ACD8-73E0-60B2-BAD43ACF6CA6}"/>
              </a:ext>
            </a:extLst>
          </p:cNvPr>
          <p:cNvSpPr txBox="1"/>
          <p:nvPr/>
        </p:nvSpPr>
        <p:spPr>
          <a:xfrm>
            <a:off x="7123428" y="3233124"/>
            <a:ext cx="2559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 err="1"/>
              <a:t>Rotated</a:t>
            </a:r>
            <a:r>
              <a:rPr lang="de-DE" sz="1400" dirty="0"/>
              <a:t>/</a:t>
            </a:r>
            <a:r>
              <a:rPr lang="de-DE" sz="1400" dirty="0" err="1"/>
              <a:t>Shifted</a:t>
            </a:r>
            <a:r>
              <a:rPr lang="de-DE" sz="1400" dirty="0"/>
              <a:t> </a:t>
            </a:r>
            <a:r>
              <a:rPr lang="de-DE" sz="1400" b="1" dirty="0"/>
              <a:t>object</a:t>
            </a:r>
            <a:r>
              <a:rPr lang="de-DE" sz="1400" dirty="0"/>
              <a:t> </a:t>
            </a:r>
            <a:r>
              <a:rPr lang="de-DE" sz="1400" dirty="0" err="1"/>
              <a:t>data</a:t>
            </a:r>
            <a:endParaRPr lang="de-DE" sz="1400" dirty="0"/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05516802-8C44-D42B-AC64-A03558F44F4E}"/>
              </a:ext>
            </a:extLst>
          </p:cNvPr>
          <p:cNvCxnSpPr>
            <a:cxnSpLocks/>
          </p:cNvCxnSpPr>
          <p:nvPr/>
        </p:nvCxnSpPr>
        <p:spPr>
          <a:xfrm flipH="1">
            <a:off x="4071346" y="2842720"/>
            <a:ext cx="1104122" cy="1172554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755B231-D91D-89E9-5B2B-26F31B0AE25D}"/>
              </a:ext>
            </a:extLst>
          </p:cNvPr>
          <p:cNvCxnSpPr>
            <a:cxnSpLocks/>
          </p:cNvCxnSpPr>
          <p:nvPr/>
        </p:nvCxnSpPr>
        <p:spPr>
          <a:xfrm>
            <a:off x="6278905" y="2842720"/>
            <a:ext cx="1120354" cy="1172555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39F85566-3E7C-D534-0E6C-D075CFF26AB2}"/>
              </a:ext>
            </a:extLst>
          </p:cNvPr>
          <p:cNvSpPr txBox="1"/>
          <p:nvPr/>
        </p:nvSpPr>
        <p:spPr>
          <a:xfrm>
            <a:off x="5418043" y="3233130"/>
            <a:ext cx="203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Loc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A9008E17-6728-10B8-38E0-0767C9D69C75}"/>
              </a:ext>
            </a:extLst>
          </p:cNvPr>
          <p:cNvSpPr txBox="1"/>
          <p:nvPr/>
        </p:nvSpPr>
        <p:spPr>
          <a:xfrm>
            <a:off x="4041239" y="3233125"/>
            <a:ext cx="2033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Obj </a:t>
            </a:r>
            <a:r>
              <a:rPr lang="de-DE" sz="1400" dirty="0" err="1"/>
              <a:t>data</a:t>
            </a:r>
            <a:endParaRPr lang="de-DE" sz="14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A9B932C-218E-3D37-58E4-5D90587122C6}"/>
              </a:ext>
            </a:extLst>
          </p:cNvPr>
          <p:cNvSpPr/>
          <p:nvPr/>
        </p:nvSpPr>
        <p:spPr>
          <a:xfrm>
            <a:off x="9620926" y="2992016"/>
            <a:ext cx="2208245" cy="1405812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u="sng" dirty="0">
                <a:solidFill>
                  <a:schemeClr val="tx1"/>
                </a:solidFill>
              </a:rPr>
              <a:t>Outputs</a:t>
            </a: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Center </a:t>
            </a:r>
            <a:r>
              <a:rPr lang="de-DE" sz="1400" b="1" dirty="0" err="1">
                <a:solidFill>
                  <a:schemeClr val="tx1"/>
                </a:solidFill>
              </a:rPr>
              <a:t>of</a:t>
            </a:r>
            <a:r>
              <a:rPr lang="de-DE" sz="1400" b="1" dirty="0">
                <a:solidFill>
                  <a:schemeClr val="tx1"/>
                </a:solidFill>
              </a:rPr>
              <a:t> </a:t>
            </a:r>
            <a:r>
              <a:rPr lang="de-DE" sz="1400" b="1" dirty="0" err="1">
                <a:solidFill>
                  <a:schemeClr val="tx1"/>
                </a:solidFill>
              </a:rPr>
              <a:t>Coordinates</a:t>
            </a:r>
            <a:endParaRPr lang="de-DE" sz="1400" b="1" dirty="0">
              <a:solidFill>
                <a:schemeClr val="tx1"/>
              </a:solidFill>
            </a:endParaRP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RCA </a:t>
            </a:r>
            <a:r>
              <a:rPr lang="de-DE" sz="1200" b="1" dirty="0">
                <a:solidFill>
                  <a:schemeClr val="tx1"/>
                </a:solidFill>
              </a:rPr>
              <a:t>and</a:t>
            </a:r>
            <a:r>
              <a:rPr lang="de-DE" sz="1200" dirty="0">
                <a:solidFill>
                  <a:schemeClr val="tx1"/>
                </a:solidFill>
              </a:rPr>
              <a:t> Sensor </a:t>
            </a:r>
            <a:r>
              <a:rPr lang="de-DE" sz="1200" dirty="0" err="1">
                <a:solidFill>
                  <a:schemeClr val="tx1"/>
                </a:solidFill>
              </a:rPr>
              <a:t>position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400" b="1" dirty="0">
                <a:solidFill>
                  <a:schemeClr val="tx1"/>
                </a:solidFill>
              </a:rPr>
              <a:t>Target Reference Point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Mid </a:t>
            </a:r>
            <a:r>
              <a:rPr lang="de-DE" sz="1200" dirty="0" err="1">
                <a:solidFill>
                  <a:schemeClr val="tx1"/>
                </a:solidFill>
              </a:rPr>
              <a:t>of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geometry</a:t>
            </a:r>
            <a:endParaRPr lang="de-DE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75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8D47F-AE67-3D3A-1A1F-669917A8D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3.1 </a:t>
            </a:r>
            <a:r>
              <a:rPr lang="de-DE" dirty="0" err="1"/>
              <a:t>rotation</a:t>
            </a:r>
            <a:r>
              <a:rPr lang="de-DE" dirty="0"/>
              <a:t> </a:t>
            </a:r>
            <a:r>
              <a:rPr lang="de-DE" dirty="0" err="1"/>
              <a:t>dll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1885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2C1BA7D-9D25-C1E4-224E-055DFCCB00B5}"/>
              </a:ext>
            </a:extLst>
          </p:cNvPr>
          <p:cNvSpPr txBox="1"/>
          <p:nvPr/>
        </p:nvSpPr>
        <p:spPr>
          <a:xfrm>
            <a:off x="1946647" y="755780"/>
            <a:ext cx="1530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Example</a:t>
            </a:r>
            <a:r>
              <a:rPr lang="de-DE" dirty="0"/>
              <a:t> Input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159803-F66B-04B3-006C-9662B0813230}"/>
              </a:ext>
            </a:extLst>
          </p:cNvPr>
          <p:cNvSpPr/>
          <p:nvPr/>
        </p:nvSpPr>
        <p:spPr>
          <a:xfrm>
            <a:off x="1276361" y="484936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B1810D-16B1-908B-DCC0-1494CDA60672}"/>
              </a:ext>
            </a:extLst>
          </p:cNvPr>
          <p:cNvSpPr/>
          <p:nvPr/>
        </p:nvSpPr>
        <p:spPr>
          <a:xfrm>
            <a:off x="1889136" y="484936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95B3EAA-5599-264B-7838-26C890A27174}"/>
              </a:ext>
            </a:extLst>
          </p:cNvPr>
          <p:cNvSpPr/>
          <p:nvPr/>
        </p:nvSpPr>
        <p:spPr>
          <a:xfrm>
            <a:off x="1889136" y="556691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C5B798-DAAD-F316-4175-94AB91152DE0}"/>
              </a:ext>
            </a:extLst>
          </p:cNvPr>
          <p:cNvSpPr/>
          <p:nvPr/>
        </p:nvSpPr>
        <p:spPr>
          <a:xfrm>
            <a:off x="1276361" y="556691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B659FEB-F6B7-1814-A1AD-E25D88829360}"/>
              </a:ext>
            </a:extLst>
          </p:cNvPr>
          <p:cNvCxnSpPr>
            <a:cxnSpLocks/>
          </p:cNvCxnSpPr>
          <p:nvPr/>
        </p:nvCxnSpPr>
        <p:spPr>
          <a:xfrm rot="16200000">
            <a:off x="1611323" y="4647757"/>
            <a:ext cx="0" cy="5572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14CE194-2D1D-1F84-F549-7EE0E927AD11}"/>
              </a:ext>
            </a:extLst>
          </p:cNvPr>
          <p:cNvCxnSpPr>
            <a:cxnSpLocks/>
          </p:cNvCxnSpPr>
          <p:nvPr/>
        </p:nvCxnSpPr>
        <p:spPr>
          <a:xfrm rot="16200000">
            <a:off x="1611323" y="5366894"/>
            <a:ext cx="0" cy="555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ultiplikationszeichen 9">
            <a:extLst>
              <a:ext uri="{FF2B5EF4-FFF2-40B4-BE49-F238E27FC236}">
                <a16:creationId xmlns:a16="http://schemas.microsoft.com/office/drawing/2014/main" id="{9E33B174-AAFD-A8DF-0C55-20F5038FD772}"/>
              </a:ext>
            </a:extLst>
          </p:cNvPr>
          <p:cNvSpPr/>
          <p:nvPr/>
        </p:nvSpPr>
        <p:spPr>
          <a:xfrm>
            <a:off x="1536711" y="5554219"/>
            <a:ext cx="149225" cy="180975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D439108-4B3F-8695-6DAD-0F79A270F40E}"/>
              </a:ext>
            </a:extLst>
          </p:cNvPr>
          <p:cNvGrpSpPr/>
          <p:nvPr/>
        </p:nvGrpSpPr>
        <p:grpSpPr>
          <a:xfrm>
            <a:off x="3379366" y="2083426"/>
            <a:ext cx="1031875" cy="1052513"/>
            <a:chOff x="3253626" y="1922033"/>
            <a:chExt cx="1031875" cy="1052513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74546476-ED97-6541-8E59-2B46EA780F62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21AADFC-54DC-0AC7-95B2-9444AE749CBA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FF4ABC1-D7F6-FE71-B0AE-719EA2DE8762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04F0316-839D-D5EF-6834-632D9903364D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4F95D03D-1BC3-82AD-91F5-69C2CC29AA21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011AB5A-5871-B306-D5AE-BFA5D81EDAD8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Multiplikationszeichen 26">
              <a:extLst>
                <a:ext uri="{FF2B5EF4-FFF2-40B4-BE49-F238E27FC236}">
                  <a16:creationId xmlns:a16="http://schemas.microsoft.com/office/drawing/2014/main" id="{C5D575F3-8EEB-3543-D3B7-7B916F556032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FA0434B7-F401-8A84-D954-B2ABAC7D8E3C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29" name="Rechteck 28">
            <a:extLst>
              <a:ext uri="{FF2B5EF4-FFF2-40B4-BE49-F238E27FC236}">
                <a16:creationId xmlns:a16="http://schemas.microsoft.com/office/drawing/2014/main" id="{4EC83EF0-7B12-DBB6-A16E-DD89215B310C}"/>
              </a:ext>
            </a:extLst>
          </p:cNvPr>
          <p:cNvSpPr/>
          <p:nvPr/>
        </p:nvSpPr>
        <p:spPr>
          <a:xfrm>
            <a:off x="1304936" y="4773169"/>
            <a:ext cx="612775" cy="10255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41D089B-0431-C6CB-9225-0521BB99FE8A}"/>
              </a:ext>
            </a:extLst>
          </p:cNvPr>
          <p:cNvCxnSpPr>
            <a:cxnSpLocks/>
            <a:endCxn id="28" idx="2"/>
          </p:cNvCxnSpPr>
          <p:nvPr/>
        </p:nvCxnSpPr>
        <p:spPr>
          <a:xfrm flipV="1">
            <a:off x="1917711" y="2949480"/>
            <a:ext cx="2317392" cy="182368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B4C9E5A8-84BB-BF2C-C024-6CABE6853EE3}"/>
              </a:ext>
            </a:extLst>
          </p:cNvPr>
          <p:cNvSpPr/>
          <p:nvPr/>
        </p:nvSpPr>
        <p:spPr>
          <a:xfrm>
            <a:off x="7723610" y="485031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90A1DB76-3006-9CEB-A46E-C91D55BC0254}"/>
              </a:ext>
            </a:extLst>
          </p:cNvPr>
          <p:cNvSpPr/>
          <p:nvPr/>
        </p:nvSpPr>
        <p:spPr>
          <a:xfrm>
            <a:off x="8336385" y="485031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323AB0F-25EF-BEA0-C709-3A9DB74F1C16}"/>
              </a:ext>
            </a:extLst>
          </p:cNvPr>
          <p:cNvSpPr/>
          <p:nvPr/>
        </p:nvSpPr>
        <p:spPr>
          <a:xfrm>
            <a:off x="8336385" y="556786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4575FB61-5A70-D18B-2F05-A09667828B39}"/>
              </a:ext>
            </a:extLst>
          </p:cNvPr>
          <p:cNvSpPr/>
          <p:nvPr/>
        </p:nvSpPr>
        <p:spPr>
          <a:xfrm>
            <a:off x="7723610" y="556786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01897955-9F9D-894E-35EB-F8FDA7C5E2B0}"/>
              </a:ext>
            </a:extLst>
          </p:cNvPr>
          <p:cNvCxnSpPr>
            <a:cxnSpLocks/>
          </p:cNvCxnSpPr>
          <p:nvPr/>
        </p:nvCxnSpPr>
        <p:spPr>
          <a:xfrm rot="16200000">
            <a:off x="8058572" y="4648707"/>
            <a:ext cx="0" cy="5572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614BE1B-1E7F-D470-040B-8B4BF288420F}"/>
              </a:ext>
            </a:extLst>
          </p:cNvPr>
          <p:cNvCxnSpPr>
            <a:cxnSpLocks/>
          </p:cNvCxnSpPr>
          <p:nvPr/>
        </p:nvCxnSpPr>
        <p:spPr>
          <a:xfrm rot="16200000">
            <a:off x="8058572" y="5367844"/>
            <a:ext cx="0" cy="555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ultiplikationszeichen 30">
            <a:extLst>
              <a:ext uri="{FF2B5EF4-FFF2-40B4-BE49-F238E27FC236}">
                <a16:creationId xmlns:a16="http://schemas.microsoft.com/office/drawing/2014/main" id="{08CB2992-4153-FE6F-3ACA-2FD8698DC381}"/>
              </a:ext>
            </a:extLst>
          </p:cNvPr>
          <p:cNvSpPr/>
          <p:nvPr/>
        </p:nvSpPr>
        <p:spPr>
          <a:xfrm>
            <a:off x="7983960" y="5555169"/>
            <a:ext cx="149225" cy="180975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ADD8E52F-6AD9-5244-37F4-CF3122A0023E}"/>
              </a:ext>
            </a:extLst>
          </p:cNvPr>
          <p:cNvGrpSpPr/>
          <p:nvPr/>
        </p:nvGrpSpPr>
        <p:grpSpPr>
          <a:xfrm>
            <a:off x="9826615" y="2084376"/>
            <a:ext cx="1031875" cy="1052513"/>
            <a:chOff x="3253626" y="1922033"/>
            <a:chExt cx="1031875" cy="1052513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BEAE27B5-3A8A-BE54-31BF-7F9176B9BB36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DBB24F55-F421-6A04-EF80-3460E0181FD4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C3969557-B05C-A6AB-9CA9-30482032F51D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088AD29F-E081-7AC2-5145-C499227D4836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38" name="Gerader Verbinder 37">
              <a:extLst>
                <a:ext uri="{FF2B5EF4-FFF2-40B4-BE49-F238E27FC236}">
                  <a16:creationId xmlns:a16="http://schemas.microsoft.com/office/drawing/2014/main" id="{1F2ED25D-6408-F608-B6A7-8DF43874CD97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>
              <a:extLst>
                <a:ext uri="{FF2B5EF4-FFF2-40B4-BE49-F238E27FC236}">
                  <a16:creationId xmlns:a16="http://schemas.microsoft.com/office/drawing/2014/main" id="{D04165D1-F5E0-FA77-846B-F128C127DB29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Multiplikationszeichen 39">
              <a:extLst>
                <a:ext uri="{FF2B5EF4-FFF2-40B4-BE49-F238E27FC236}">
                  <a16:creationId xmlns:a16="http://schemas.microsoft.com/office/drawing/2014/main" id="{309AD68D-E1A4-8B6F-523C-615CB75FA367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4548F9F0-0023-DB60-E4BC-70212BB6617E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42" name="Rechteck 41">
            <a:extLst>
              <a:ext uri="{FF2B5EF4-FFF2-40B4-BE49-F238E27FC236}">
                <a16:creationId xmlns:a16="http://schemas.microsoft.com/office/drawing/2014/main" id="{83B5479D-70A6-5150-E42C-0508F0BF07AD}"/>
              </a:ext>
            </a:extLst>
          </p:cNvPr>
          <p:cNvSpPr/>
          <p:nvPr/>
        </p:nvSpPr>
        <p:spPr>
          <a:xfrm>
            <a:off x="7752185" y="4774119"/>
            <a:ext cx="612775" cy="10255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D3B76B80-F79B-CAE6-13F4-55E1955638E5}"/>
              </a:ext>
            </a:extLst>
          </p:cNvPr>
          <p:cNvCxnSpPr>
            <a:cxnSpLocks/>
          </p:cNvCxnSpPr>
          <p:nvPr/>
        </p:nvCxnSpPr>
        <p:spPr>
          <a:xfrm flipV="1">
            <a:off x="8364960" y="2610476"/>
            <a:ext cx="1978386" cy="21636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0743E81B-D79F-8AAF-E0F0-0C20DF1E4B92}"/>
              </a:ext>
            </a:extLst>
          </p:cNvPr>
          <p:cNvSpPr txBox="1"/>
          <p:nvPr/>
        </p:nvSpPr>
        <p:spPr>
          <a:xfrm>
            <a:off x="8667331" y="86631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Output</a:t>
            </a:r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58A57229-F34B-61A0-B970-456681A0E645}"/>
              </a:ext>
            </a:extLst>
          </p:cNvPr>
          <p:cNvCxnSpPr>
            <a:cxnSpLocks/>
            <a:stCxn id="31" idx="1"/>
          </p:cNvCxnSpPr>
          <p:nvPr/>
        </p:nvCxnSpPr>
        <p:spPr>
          <a:xfrm flipV="1">
            <a:off x="8097345" y="2610476"/>
            <a:ext cx="2246001" cy="298815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06F1EDB6-4D81-EB6C-07C6-45FBD660163A}"/>
              </a:ext>
            </a:extLst>
          </p:cNvPr>
          <p:cNvSpPr txBox="1"/>
          <p:nvPr/>
        </p:nvSpPr>
        <p:spPr>
          <a:xfrm>
            <a:off x="453872" y="1193781"/>
            <a:ext cx="4922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FF0000"/>
                </a:solidFill>
              </a:rPr>
              <a:t>CM </a:t>
            </a:r>
            <a:r>
              <a:rPr lang="de-DE" sz="1200" dirty="0" err="1">
                <a:solidFill>
                  <a:srgbClr val="FF0000"/>
                </a:solidFill>
              </a:rPr>
              <a:t>gives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the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distance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from</a:t>
            </a:r>
            <a:r>
              <a:rPr lang="de-DE" sz="1200" dirty="0">
                <a:solidFill>
                  <a:srgbClr val="FF0000"/>
                </a:solidFill>
              </a:rPr>
              <a:t> Sensor </a:t>
            </a:r>
            <a:r>
              <a:rPr lang="de-DE" sz="1200" dirty="0" err="1">
                <a:solidFill>
                  <a:srgbClr val="FF0000"/>
                </a:solidFill>
              </a:rPr>
              <a:t>position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towards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the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rear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center</a:t>
            </a:r>
            <a:r>
              <a:rPr lang="de-DE" sz="1200" dirty="0">
                <a:solidFill>
                  <a:srgbClr val="FF0000"/>
                </a:solidFill>
              </a:rPr>
              <a:t> </a:t>
            </a:r>
            <a:r>
              <a:rPr lang="de-DE" sz="1200" dirty="0" err="1">
                <a:solidFill>
                  <a:srgbClr val="FF0000"/>
                </a:solidFill>
              </a:rPr>
              <a:t>bumper</a:t>
            </a:r>
            <a:endParaRPr lang="de-DE" sz="1200" dirty="0">
              <a:solidFill>
                <a:srgbClr val="FF0000"/>
              </a:solidFill>
            </a:endParaRPr>
          </a:p>
          <a:p>
            <a:r>
              <a:rPr lang="de-DE" sz="1200" dirty="0"/>
              <a:t>The Input </a:t>
            </a:r>
            <a:r>
              <a:rPr lang="de-DE" sz="1200" dirty="0" err="1"/>
              <a:t>could</a:t>
            </a:r>
            <a:r>
              <a:rPr lang="de-DE" sz="1200" dirty="0"/>
              <a:t> also </a:t>
            </a:r>
            <a:r>
              <a:rPr lang="de-DE" sz="1200" dirty="0" err="1"/>
              <a:t>be</a:t>
            </a:r>
            <a:r>
              <a:rPr lang="de-DE" sz="1200" dirty="0"/>
              <a:t> </a:t>
            </a:r>
            <a:r>
              <a:rPr lang="de-DE" sz="1200" dirty="0" err="1"/>
              <a:t>from</a:t>
            </a:r>
            <a:r>
              <a:rPr lang="de-DE" sz="1200" dirty="0"/>
              <a:t> RCA on </a:t>
            </a:r>
            <a:r>
              <a:rPr lang="de-DE" sz="1200" dirty="0" err="1"/>
              <a:t>the</a:t>
            </a:r>
            <a:r>
              <a:rPr lang="de-DE" sz="1200" dirty="0"/>
              <a:t> </a:t>
            </a:r>
            <a:r>
              <a:rPr lang="de-DE" sz="1200" dirty="0" err="1"/>
              <a:t>ego</a:t>
            </a:r>
            <a:endParaRPr lang="de-DE" sz="1200" dirty="0"/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94484EF3-5C0D-0C20-6C6C-AFB8886C31AF}"/>
              </a:ext>
            </a:extLst>
          </p:cNvPr>
          <p:cNvSpPr txBox="1"/>
          <p:nvPr/>
        </p:nvSpPr>
        <p:spPr>
          <a:xfrm>
            <a:off x="7443036" y="1216747"/>
            <a:ext cx="299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0B050"/>
                </a:solidFill>
              </a:rPr>
              <a:t>RCA </a:t>
            </a:r>
            <a:r>
              <a:rPr lang="de-DE" sz="1200" dirty="0" err="1">
                <a:solidFill>
                  <a:srgbClr val="00B050"/>
                </a:solidFill>
              </a:rPr>
              <a:t>to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middle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of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target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geometry</a:t>
            </a:r>
            <a:endParaRPr lang="de-DE" sz="1200" dirty="0">
              <a:solidFill>
                <a:srgbClr val="00B050"/>
              </a:solidFill>
            </a:endParaRPr>
          </a:p>
          <a:p>
            <a:r>
              <a:rPr lang="de-DE" sz="1200" dirty="0">
                <a:solidFill>
                  <a:srgbClr val="0070C0"/>
                </a:solidFill>
              </a:rPr>
              <a:t>Sensor </a:t>
            </a:r>
            <a:r>
              <a:rPr lang="de-DE" sz="1200" dirty="0" err="1">
                <a:solidFill>
                  <a:srgbClr val="0070C0"/>
                </a:solidFill>
              </a:rPr>
              <a:t>position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to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middle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of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target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geometry</a:t>
            </a:r>
            <a:endParaRPr lang="de-DE" sz="1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38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2B73E8-0865-4C26-F176-60C7291387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3.2 Object </a:t>
            </a:r>
            <a:r>
              <a:rPr lang="de-DE" dirty="0" err="1"/>
              <a:t>calc</a:t>
            </a:r>
            <a:r>
              <a:rPr lang="de-DE" dirty="0"/>
              <a:t> </a:t>
            </a:r>
            <a:r>
              <a:rPr lang="de-DE" dirty="0" err="1"/>
              <a:t>dll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937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Multiplikationszeichen 35">
            <a:extLst>
              <a:ext uri="{FF2B5EF4-FFF2-40B4-BE49-F238E27FC236}">
                <a16:creationId xmlns:a16="http://schemas.microsoft.com/office/drawing/2014/main" id="{E554284D-BB7B-79E5-A2C3-2A8AB2173F1F}"/>
              </a:ext>
            </a:extLst>
          </p:cNvPr>
          <p:cNvSpPr/>
          <p:nvPr/>
        </p:nvSpPr>
        <p:spPr>
          <a:xfrm>
            <a:off x="6855477" y="5590655"/>
            <a:ext cx="343949" cy="419450"/>
          </a:xfrm>
          <a:prstGeom prst="mathMultiply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6D4DD00-E86B-D66A-B2FC-82D9EB1AE332}"/>
              </a:ext>
            </a:extLst>
          </p:cNvPr>
          <p:cNvSpPr txBox="1"/>
          <p:nvPr/>
        </p:nvSpPr>
        <p:spPr>
          <a:xfrm>
            <a:off x="813732" y="32192"/>
            <a:ext cx="1056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/>
              <a:t>DLL Input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88FCE0C3-44AD-E727-353F-556DC9BD338F}"/>
              </a:ext>
            </a:extLst>
          </p:cNvPr>
          <p:cNvCxnSpPr>
            <a:cxnSpLocks/>
          </p:cNvCxnSpPr>
          <p:nvPr/>
        </p:nvCxnSpPr>
        <p:spPr>
          <a:xfrm>
            <a:off x="2340746" y="4196135"/>
            <a:ext cx="139854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11D42CD-B956-AB30-9512-327387C739EF}"/>
              </a:ext>
            </a:extLst>
          </p:cNvPr>
          <p:cNvCxnSpPr>
            <a:cxnSpLocks/>
          </p:cNvCxnSpPr>
          <p:nvPr/>
        </p:nvCxnSpPr>
        <p:spPr>
          <a:xfrm>
            <a:off x="3040017" y="3750898"/>
            <a:ext cx="0" cy="220337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E286BE09-A9A3-96EF-FE82-454E840DF6E8}"/>
              </a:ext>
            </a:extLst>
          </p:cNvPr>
          <p:cNvSpPr/>
          <p:nvPr/>
        </p:nvSpPr>
        <p:spPr>
          <a:xfrm rot="5400000">
            <a:off x="1940044" y="4155024"/>
            <a:ext cx="2200913" cy="1397578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EA67469-2E78-736D-3375-F9C645952677}"/>
              </a:ext>
            </a:extLst>
          </p:cNvPr>
          <p:cNvCxnSpPr>
            <a:cxnSpLocks/>
          </p:cNvCxnSpPr>
          <p:nvPr/>
        </p:nvCxnSpPr>
        <p:spPr>
          <a:xfrm>
            <a:off x="2340746" y="5446436"/>
            <a:ext cx="1398545" cy="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hteck 14">
            <a:extLst>
              <a:ext uri="{FF2B5EF4-FFF2-40B4-BE49-F238E27FC236}">
                <a16:creationId xmlns:a16="http://schemas.microsoft.com/office/drawing/2014/main" id="{C7DCEBB8-91E5-5941-6FE9-AAD7AC90C76D}"/>
              </a:ext>
            </a:extLst>
          </p:cNvPr>
          <p:cNvSpPr/>
          <p:nvPr/>
        </p:nvSpPr>
        <p:spPr>
          <a:xfrm>
            <a:off x="2293810" y="5299124"/>
            <a:ext cx="92904" cy="308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407B192-4962-2805-0485-F7B845A9FF53}"/>
              </a:ext>
            </a:extLst>
          </p:cNvPr>
          <p:cNvSpPr/>
          <p:nvPr/>
        </p:nvSpPr>
        <p:spPr>
          <a:xfrm>
            <a:off x="3693772" y="5299124"/>
            <a:ext cx="92904" cy="308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C3D3E14-DD4A-AA41-CBF9-5DF9E840960B}"/>
              </a:ext>
            </a:extLst>
          </p:cNvPr>
          <p:cNvSpPr/>
          <p:nvPr/>
        </p:nvSpPr>
        <p:spPr>
          <a:xfrm>
            <a:off x="2293358" y="4043207"/>
            <a:ext cx="92904" cy="308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0DA450B-5DE2-603F-C048-B0C27BE065C5}"/>
              </a:ext>
            </a:extLst>
          </p:cNvPr>
          <p:cNvSpPr/>
          <p:nvPr/>
        </p:nvSpPr>
        <p:spPr>
          <a:xfrm>
            <a:off x="3693772" y="4043207"/>
            <a:ext cx="92904" cy="3080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E2185BF-F4FC-6F2E-0191-AA491690FB30}"/>
              </a:ext>
            </a:extLst>
          </p:cNvPr>
          <p:cNvCxnSpPr>
            <a:cxnSpLocks/>
          </p:cNvCxnSpPr>
          <p:nvPr/>
        </p:nvCxnSpPr>
        <p:spPr>
          <a:xfrm flipH="1">
            <a:off x="862540" y="5453128"/>
            <a:ext cx="4355918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3C3D9DD-25F0-DC86-3797-201BA5A740A0}"/>
              </a:ext>
            </a:extLst>
          </p:cNvPr>
          <p:cNvCxnSpPr>
            <a:cxnSpLocks/>
          </p:cNvCxnSpPr>
          <p:nvPr/>
        </p:nvCxnSpPr>
        <p:spPr>
          <a:xfrm flipH="1">
            <a:off x="3034712" y="736093"/>
            <a:ext cx="2652" cy="4717034"/>
          </a:xfrm>
          <a:prstGeom prst="line">
            <a:avLst/>
          </a:prstGeom>
          <a:ln w="28575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AD8F33A3-7112-F55A-7DFC-053D8A0C0500}"/>
              </a:ext>
            </a:extLst>
          </p:cNvPr>
          <p:cNvSpPr txBox="1"/>
          <p:nvPr/>
        </p:nvSpPr>
        <p:spPr>
          <a:xfrm>
            <a:off x="3034712" y="616967"/>
            <a:ext cx="22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9B1CA48D-FCDD-7385-D613-4DFE28E92A25}"/>
              </a:ext>
            </a:extLst>
          </p:cNvPr>
          <p:cNvSpPr txBox="1"/>
          <p:nvPr/>
        </p:nvSpPr>
        <p:spPr>
          <a:xfrm>
            <a:off x="834026" y="5433235"/>
            <a:ext cx="22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Y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4DE30383-C3C1-ACB5-10DB-0A780D0B5EA0}"/>
              </a:ext>
            </a:extLst>
          </p:cNvPr>
          <p:cNvSpPr>
            <a:spLocks noChangeAspect="1"/>
          </p:cNvSpPr>
          <p:nvPr/>
        </p:nvSpPr>
        <p:spPr>
          <a:xfrm>
            <a:off x="813731" y="777901"/>
            <a:ext cx="816803" cy="1286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17007A8-D353-9755-61A3-CCB611683052}"/>
              </a:ext>
            </a:extLst>
          </p:cNvPr>
          <p:cNvSpPr>
            <a:spLocks noChangeAspect="1"/>
          </p:cNvSpPr>
          <p:nvPr/>
        </p:nvSpPr>
        <p:spPr>
          <a:xfrm rot="5400000">
            <a:off x="4660132" y="1110571"/>
            <a:ext cx="812648" cy="129289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B487E83-AAA5-9C61-79C0-A0BF216B58F7}"/>
              </a:ext>
            </a:extLst>
          </p:cNvPr>
          <p:cNvSpPr>
            <a:spLocks noChangeAspect="1"/>
          </p:cNvSpPr>
          <p:nvPr/>
        </p:nvSpPr>
        <p:spPr>
          <a:xfrm rot="1928295">
            <a:off x="2626310" y="1069431"/>
            <a:ext cx="816803" cy="12863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Multiplikationszeichen 2">
            <a:extLst>
              <a:ext uri="{FF2B5EF4-FFF2-40B4-BE49-F238E27FC236}">
                <a16:creationId xmlns:a16="http://schemas.microsoft.com/office/drawing/2014/main" id="{8355844B-A3B6-9569-9B3B-7DE7B51A6E61}"/>
              </a:ext>
            </a:extLst>
          </p:cNvPr>
          <p:cNvSpPr/>
          <p:nvPr/>
        </p:nvSpPr>
        <p:spPr>
          <a:xfrm>
            <a:off x="2884071" y="5273489"/>
            <a:ext cx="301280" cy="365545"/>
          </a:xfrm>
          <a:prstGeom prst="mathMultiply">
            <a:avLst/>
          </a:prstGeom>
          <a:solidFill>
            <a:schemeClr val="bg1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1D34D79-2A50-5B73-F0AE-2FC54C885405}"/>
              </a:ext>
            </a:extLst>
          </p:cNvPr>
          <p:cNvSpPr txBox="1"/>
          <p:nvPr/>
        </p:nvSpPr>
        <p:spPr>
          <a:xfrm>
            <a:off x="7142258" y="5646493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Ego </a:t>
            </a:r>
            <a:r>
              <a:rPr lang="de-DE" sz="1400" dirty="0" err="1"/>
              <a:t>Rear</a:t>
            </a:r>
            <a:r>
              <a:rPr lang="de-DE" sz="1400" dirty="0"/>
              <a:t> Center </a:t>
            </a:r>
            <a:r>
              <a:rPr lang="de-DE" sz="1400" dirty="0" err="1"/>
              <a:t>Axle</a:t>
            </a:r>
            <a:endParaRPr lang="de-DE" sz="1400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2C4E2153-6A35-3928-440E-BB8C4D4CF9F7}"/>
              </a:ext>
            </a:extLst>
          </p:cNvPr>
          <p:cNvCxnSpPr>
            <a:cxnSpLocks/>
          </p:cNvCxnSpPr>
          <p:nvPr/>
        </p:nvCxnSpPr>
        <p:spPr>
          <a:xfrm>
            <a:off x="6771029" y="6184401"/>
            <a:ext cx="40409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756E74BB-08F3-A658-AD27-2FF17EADACA4}"/>
              </a:ext>
            </a:extLst>
          </p:cNvPr>
          <p:cNvSpPr txBox="1"/>
          <p:nvPr/>
        </p:nvSpPr>
        <p:spPr>
          <a:xfrm>
            <a:off x="7157916" y="6027196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Target Mid </a:t>
            </a:r>
            <a:r>
              <a:rPr lang="de-DE" sz="1400" dirty="0" err="1"/>
              <a:t>of</a:t>
            </a:r>
            <a:r>
              <a:rPr lang="de-DE" sz="1400" dirty="0"/>
              <a:t> Geometry</a:t>
            </a:r>
          </a:p>
        </p:txBody>
      </p:sp>
      <p:sp>
        <p:nvSpPr>
          <p:cNvPr id="9" name="Pfeil: nach unten 8">
            <a:extLst>
              <a:ext uri="{FF2B5EF4-FFF2-40B4-BE49-F238E27FC236}">
                <a16:creationId xmlns:a16="http://schemas.microsoft.com/office/drawing/2014/main" id="{C7D2457B-3335-1F99-2E80-1821EAB33CBF}"/>
              </a:ext>
            </a:extLst>
          </p:cNvPr>
          <p:cNvSpPr/>
          <p:nvPr/>
        </p:nvSpPr>
        <p:spPr>
          <a:xfrm rot="10800000">
            <a:off x="1070762" y="1103665"/>
            <a:ext cx="302740" cy="589033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41E27BB4-72FF-2517-E223-C811E39A2B6E}"/>
              </a:ext>
            </a:extLst>
          </p:cNvPr>
          <p:cNvSpPr/>
          <p:nvPr/>
        </p:nvSpPr>
        <p:spPr>
          <a:xfrm rot="1977485">
            <a:off x="2883341" y="1430205"/>
            <a:ext cx="302740" cy="589033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Pfeil: nach unten 13">
            <a:extLst>
              <a:ext uri="{FF2B5EF4-FFF2-40B4-BE49-F238E27FC236}">
                <a16:creationId xmlns:a16="http://schemas.microsoft.com/office/drawing/2014/main" id="{5EE930F3-093A-EB74-FF1E-8460CAE4D335}"/>
              </a:ext>
            </a:extLst>
          </p:cNvPr>
          <p:cNvSpPr/>
          <p:nvPr/>
        </p:nvSpPr>
        <p:spPr>
          <a:xfrm rot="5400000">
            <a:off x="4915085" y="1462500"/>
            <a:ext cx="302740" cy="589033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D6224F2F-3248-94D7-7668-5A933E98B50B}"/>
              </a:ext>
            </a:extLst>
          </p:cNvPr>
          <p:cNvSpPr txBox="1"/>
          <p:nvPr/>
        </p:nvSpPr>
        <p:spPr>
          <a:xfrm>
            <a:off x="6635579" y="1544595"/>
            <a:ext cx="4788244" cy="375452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First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part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DLL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input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..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kern="0" dirty="0" err="1">
                <a:solidFill>
                  <a:srgbClr val="007BC0"/>
                </a:solidFill>
              </a:rPr>
              <a:t>From</a:t>
            </a:r>
            <a:r>
              <a:rPr lang="de-DE" kern="0" dirty="0">
                <a:solidFill>
                  <a:srgbClr val="007BC0"/>
                </a:solidFill>
              </a:rPr>
              <a:t> </a:t>
            </a:r>
            <a:r>
              <a:rPr lang="de-DE" kern="0" dirty="0" err="1">
                <a:solidFill>
                  <a:srgbClr val="007BC0"/>
                </a:solidFill>
              </a:rPr>
              <a:t>the</a:t>
            </a:r>
            <a:r>
              <a:rPr lang="de-DE" kern="0" dirty="0">
                <a:solidFill>
                  <a:srgbClr val="007BC0"/>
                </a:solidFill>
              </a:rPr>
              <a:t> Ego </a:t>
            </a:r>
            <a:r>
              <a:rPr lang="de-DE" kern="0" dirty="0" err="1">
                <a:solidFill>
                  <a:srgbClr val="007BC0"/>
                </a:solidFill>
              </a:rPr>
              <a:t>Rear</a:t>
            </a:r>
            <a:r>
              <a:rPr lang="de-DE" kern="0" dirty="0">
                <a:solidFill>
                  <a:srgbClr val="007BC0"/>
                </a:solidFill>
              </a:rPr>
              <a:t> Center </a:t>
            </a:r>
            <a:r>
              <a:rPr lang="de-DE" kern="0" dirty="0" err="1">
                <a:solidFill>
                  <a:srgbClr val="007BC0"/>
                </a:solidFill>
              </a:rPr>
              <a:t>Axle</a:t>
            </a:r>
            <a:endParaRPr lang="de-DE" kern="0" dirty="0">
              <a:solidFill>
                <a:srgbClr val="007BC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Towards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Target Mid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</a:rPr>
              <a:t> Geometry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Second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part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DLL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input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..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de-DE" kern="0" dirty="0" err="1">
                <a:solidFill>
                  <a:srgbClr val="00884A"/>
                </a:solidFill>
              </a:rPr>
              <a:t>From</a:t>
            </a:r>
            <a:r>
              <a:rPr lang="de-DE" kern="0" dirty="0">
                <a:solidFill>
                  <a:srgbClr val="00884A"/>
                </a:solidFill>
              </a:rPr>
              <a:t> </a:t>
            </a:r>
            <a:r>
              <a:rPr lang="de-DE" kern="0" dirty="0" err="1">
                <a:solidFill>
                  <a:srgbClr val="00884A"/>
                </a:solidFill>
              </a:rPr>
              <a:t>the</a:t>
            </a:r>
            <a:r>
              <a:rPr lang="de-DE" kern="0" dirty="0">
                <a:solidFill>
                  <a:srgbClr val="00884A"/>
                </a:solidFill>
              </a:rPr>
              <a:t> Sensors </a:t>
            </a:r>
            <a:r>
              <a:rPr lang="de-DE" kern="0" dirty="0" err="1">
                <a:solidFill>
                  <a:srgbClr val="00884A"/>
                </a:solidFill>
              </a:rPr>
              <a:t>position</a:t>
            </a:r>
            <a:endParaRPr lang="de-DE" kern="0" dirty="0">
              <a:solidFill>
                <a:srgbClr val="00884A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Towards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Target Mid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884A"/>
                </a:solidFill>
                <a:effectLst/>
                <a:uLnTx/>
                <a:uFillTx/>
              </a:rPr>
              <a:t> Geometry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7A1CBD5-3DDC-A02B-386E-4809699D579E}"/>
              </a:ext>
            </a:extLst>
          </p:cNvPr>
          <p:cNvCxnSpPr>
            <a:cxnSpLocks/>
          </p:cNvCxnSpPr>
          <p:nvPr/>
        </p:nvCxnSpPr>
        <p:spPr>
          <a:xfrm>
            <a:off x="1210962" y="1395252"/>
            <a:ext cx="1823749" cy="4057876"/>
          </a:xfrm>
          <a:prstGeom prst="line">
            <a:avLst/>
          </a:prstGeom>
          <a:ln w="28575">
            <a:solidFill>
              <a:srgbClr val="007BC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61A6E307-820E-575A-7D42-9B25B2D68126}"/>
              </a:ext>
            </a:extLst>
          </p:cNvPr>
          <p:cNvCxnSpPr>
            <a:cxnSpLocks/>
          </p:cNvCxnSpPr>
          <p:nvPr/>
        </p:nvCxnSpPr>
        <p:spPr>
          <a:xfrm>
            <a:off x="3034711" y="1692699"/>
            <a:ext cx="1" cy="3760428"/>
          </a:xfrm>
          <a:prstGeom prst="line">
            <a:avLst/>
          </a:prstGeom>
          <a:ln w="28575">
            <a:solidFill>
              <a:srgbClr val="007BC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D14E1E5-FB4C-B6C7-B2CA-48BC7BE6D911}"/>
              </a:ext>
            </a:extLst>
          </p:cNvPr>
          <p:cNvCxnSpPr>
            <a:cxnSpLocks/>
          </p:cNvCxnSpPr>
          <p:nvPr/>
        </p:nvCxnSpPr>
        <p:spPr>
          <a:xfrm flipH="1">
            <a:off x="3034712" y="1754659"/>
            <a:ext cx="2019202" cy="3698468"/>
          </a:xfrm>
          <a:prstGeom prst="line">
            <a:avLst/>
          </a:prstGeom>
          <a:ln w="28575">
            <a:solidFill>
              <a:srgbClr val="007BC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91D8206-E0CC-21E5-2FE7-92A2F6818543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3828930" y="1751242"/>
            <a:ext cx="1224984" cy="1882277"/>
          </a:xfrm>
          <a:prstGeom prst="line">
            <a:avLst/>
          </a:prstGeom>
          <a:ln w="28575">
            <a:solidFill>
              <a:srgbClr val="00884A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A1CFF14-5A71-892F-A0F0-8A5C93FE74B0}"/>
              </a:ext>
            </a:extLst>
          </p:cNvPr>
          <p:cNvGrpSpPr/>
          <p:nvPr/>
        </p:nvGrpSpPr>
        <p:grpSpPr>
          <a:xfrm rot="2224801">
            <a:off x="3653663" y="3603769"/>
            <a:ext cx="173120" cy="294255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557BCC0C-F8C2-6074-1FF4-01EFAD318076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lussdiagramm: Manuelle Verarbeitung 44">
              <a:extLst>
                <a:ext uri="{FF2B5EF4-FFF2-40B4-BE49-F238E27FC236}">
                  <a16:creationId xmlns:a16="http://schemas.microsoft.com/office/drawing/2014/main" id="{A6C71148-8A4C-9C81-B9A7-08D571F5197C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3B47EBD-01D1-BAAE-7EA5-804A96547578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3039997" y="1692699"/>
            <a:ext cx="788933" cy="1940820"/>
          </a:xfrm>
          <a:prstGeom prst="line">
            <a:avLst/>
          </a:prstGeom>
          <a:ln w="28575">
            <a:solidFill>
              <a:srgbClr val="00884A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9B2860F4-D51C-1BE5-5BEB-E4E9CE6E4D86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1205656" y="1404871"/>
            <a:ext cx="2623274" cy="2228648"/>
          </a:xfrm>
          <a:prstGeom prst="line">
            <a:avLst/>
          </a:prstGeom>
          <a:ln w="28575">
            <a:solidFill>
              <a:srgbClr val="00884A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C8D95860-C8D5-09C4-854B-5D089C286857}"/>
              </a:ext>
            </a:extLst>
          </p:cNvPr>
          <p:cNvGrpSpPr/>
          <p:nvPr/>
        </p:nvGrpSpPr>
        <p:grpSpPr>
          <a:xfrm rot="16200000">
            <a:off x="6886514" y="5278365"/>
            <a:ext cx="173120" cy="294255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02078B2C-387B-5C97-77CB-2C6D0160D7DB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lussdiagramm: Manuelle Verarbeitung 61">
              <a:extLst>
                <a:ext uri="{FF2B5EF4-FFF2-40B4-BE49-F238E27FC236}">
                  <a16:creationId xmlns:a16="http://schemas.microsoft.com/office/drawing/2014/main" id="{1EC6E08E-DEF2-1798-32A3-2A361262C0E4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3" name="Textfeld 62">
            <a:extLst>
              <a:ext uri="{FF2B5EF4-FFF2-40B4-BE49-F238E27FC236}">
                <a16:creationId xmlns:a16="http://schemas.microsoft.com/office/drawing/2014/main" id="{2FEF7431-3DB2-92DE-DBAB-8E64E07EF742}"/>
              </a:ext>
            </a:extLst>
          </p:cNvPr>
          <p:cNvSpPr txBox="1"/>
          <p:nvPr/>
        </p:nvSpPr>
        <p:spPr>
          <a:xfrm>
            <a:off x="7199426" y="5299354"/>
            <a:ext cx="27080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Ego Sensor Position</a:t>
            </a:r>
          </a:p>
        </p:txBody>
      </p:sp>
    </p:spTree>
    <p:extLst>
      <p:ext uri="{BB962C8B-B14F-4D97-AF65-F5344CB8AC3E}">
        <p14:creationId xmlns:p14="http://schemas.microsoft.com/office/powerpoint/2010/main" val="3088048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E159803-F66B-04B3-006C-9662B0813230}"/>
              </a:ext>
            </a:extLst>
          </p:cNvPr>
          <p:cNvSpPr/>
          <p:nvPr/>
        </p:nvSpPr>
        <p:spPr>
          <a:xfrm>
            <a:off x="8062827" y="483692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4B1810D-16B1-908B-DCC0-1494CDA60672}"/>
              </a:ext>
            </a:extLst>
          </p:cNvPr>
          <p:cNvSpPr/>
          <p:nvPr/>
        </p:nvSpPr>
        <p:spPr>
          <a:xfrm>
            <a:off x="8675602" y="483692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95B3EAA-5599-264B-7838-26C890A27174}"/>
              </a:ext>
            </a:extLst>
          </p:cNvPr>
          <p:cNvSpPr/>
          <p:nvPr/>
        </p:nvSpPr>
        <p:spPr>
          <a:xfrm>
            <a:off x="8675602" y="555447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3C5B798-DAAD-F316-4175-94AB91152DE0}"/>
              </a:ext>
            </a:extLst>
          </p:cNvPr>
          <p:cNvSpPr/>
          <p:nvPr/>
        </p:nvSpPr>
        <p:spPr>
          <a:xfrm>
            <a:off x="8062827" y="555447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B659FEB-F6B7-1814-A1AD-E25D88829360}"/>
              </a:ext>
            </a:extLst>
          </p:cNvPr>
          <p:cNvCxnSpPr>
            <a:cxnSpLocks/>
          </p:cNvCxnSpPr>
          <p:nvPr/>
        </p:nvCxnSpPr>
        <p:spPr>
          <a:xfrm rot="16200000">
            <a:off x="8397789" y="4635317"/>
            <a:ext cx="0" cy="5572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14CE194-2D1D-1F84-F549-7EE0E927AD11}"/>
              </a:ext>
            </a:extLst>
          </p:cNvPr>
          <p:cNvCxnSpPr>
            <a:cxnSpLocks/>
          </p:cNvCxnSpPr>
          <p:nvPr/>
        </p:nvCxnSpPr>
        <p:spPr>
          <a:xfrm rot="16200000">
            <a:off x="8397789" y="5354454"/>
            <a:ext cx="0" cy="555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ultiplikationszeichen 9">
            <a:extLst>
              <a:ext uri="{FF2B5EF4-FFF2-40B4-BE49-F238E27FC236}">
                <a16:creationId xmlns:a16="http://schemas.microsoft.com/office/drawing/2014/main" id="{9E33B174-AAFD-A8DF-0C55-20F5038FD772}"/>
              </a:ext>
            </a:extLst>
          </p:cNvPr>
          <p:cNvSpPr/>
          <p:nvPr/>
        </p:nvSpPr>
        <p:spPr>
          <a:xfrm>
            <a:off x="8323177" y="5541779"/>
            <a:ext cx="149225" cy="180975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D439108-4B3F-8695-6DAD-0F79A270F40E}"/>
              </a:ext>
            </a:extLst>
          </p:cNvPr>
          <p:cNvGrpSpPr/>
          <p:nvPr/>
        </p:nvGrpSpPr>
        <p:grpSpPr>
          <a:xfrm>
            <a:off x="10165832" y="2070986"/>
            <a:ext cx="1031875" cy="1052513"/>
            <a:chOff x="3253626" y="1922033"/>
            <a:chExt cx="1031875" cy="1052513"/>
          </a:xfrm>
        </p:grpSpPr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74546476-ED97-6541-8E59-2B46EA780F62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21AADFC-54DC-0AC7-95B2-9444AE749CBA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3FF4ABC1-D7F6-FE71-B0AE-719EA2DE8762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04F0316-839D-D5EF-6834-632D9903364D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4F95D03D-1BC3-82AD-91F5-69C2CC29AA21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011AB5A-5871-B306-D5AE-BFA5D81EDAD8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Multiplikationszeichen 26">
              <a:extLst>
                <a:ext uri="{FF2B5EF4-FFF2-40B4-BE49-F238E27FC236}">
                  <a16:creationId xmlns:a16="http://schemas.microsoft.com/office/drawing/2014/main" id="{C5D575F3-8EEB-3543-D3B7-7B916F556032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FA0434B7-F401-8A84-D954-B2ABAC7D8E3C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29" name="Rechteck 28">
            <a:extLst>
              <a:ext uri="{FF2B5EF4-FFF2-40B4-BE49-F238E27FC236}">
                <a16:creationId xmlns:a16="http://schemas.microsoft.com/office/drawing/2014/main" id="{4EC83EF0-7B12-DBB6-A16E-DD89215B310C}"/>
              </a:ext>
            </a:extLst>
          </p:cNvPr>
          <p:cNvSpPr/>
          <p:nvPr/>
        </p:nvSpPr>
        <p:spPr>
          <a:xfrm>
            <a:off x="8091402" y="4760729"/>
            <a:ext cx="612775" cy="10255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769E778-9514-1986-DF57-77CFBBB32552}"/>
              </a:ext>
            </a:extLst>
          </p:cNvPr>
          <p:cNvCxnSpPr>
            <a:cxnSpLocks/>
          </p:cNvCxnSpPr>
          <p:nvPr/>
        </p:nvCxnSpPr>
        <p:spPr>
          <a:xfrm flipH="1" flipV="1">
            <a:off x="10156695" y="2512811"/>
            <a:ext cx="649823" cy="64813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41D089B-0431-C6CB-9225-0521BB99FE8A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8685378" y="2814685"/>
            <a:ext cx="1780537" cy="195874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DA23A75F-3BA8-E048-D1A9-6DF15BD65DFF}"/>
              </a:ext>
            </a:extLst>
          </p:cNvPr>
          <p:cNvSpPr/>
          <p:nvPr/>
        </p:nvSpPr>
        <p:spPr>
          <a:xfrm>
            <a:off x="947898" y="485031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B75F9CEB-1199-2D98-BFB1-DC0FC5358E60}"/>
              </a:ext>
            </a:extLst>
          </p:cNvPr>
          <p:cNvSpPr/>
          <p:nvPr/>
        </p:nvSpPr>
        <p:spPr>
          <a:xfrm>
            <a:off x="1560673" y="4850319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477DCA0-C9CD-DB07-F012-587DF91DA9D6}"/>
              </a:ext>
            </a:extLst>
          </p:cNvPr>
          <p:cNvSpPr/>
          <p:nvPr/>
        </p:nvSpPr>
        <p:spPr>
          <a:xfrm>
            <a:off x="1560673" y="556786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F5CF3AF6-C155-9940-5F18-824F1FF72EC3}"/>
              </a:ext>
            </a:extLst>
          </p:cNvPr>
          <p:cNvSpPr/>
          <p:nvPr/>
        </p:nvSpPr>
        <p:spPr>
          <a:xfrm>
            <a:off x="947898" y="5567869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0346089-FD85-3DF5-4A84-E49B683C725D}"/>
              </a:ext>
            </a:extLst>
          </p:cNvPr>
          <p:cNvCxnSpPr>
            <a:cxnSpLocks/>
          </p:cNvCxnSpPr>
          <p:nvPr/>
        </p:nvCxnSpPr>
        <p:spPr>
          <a:xfrm rot="16200000">
            <a:off x="1282860" y="4648707"/>
            <a:ext cx="0" cy="5572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D0D67DC-FF6B-750E-8E7C-A588A9857362}"/>
              </a:ext>
            </a:extLst>
          </p:cNvPr>
          <p:cNvCxnSpPr>
            <a:cxnSpLocks/>
          </p:cNvCxnSpPr>
          <p:nvPr/>
        </p:nvCxnSpPr>
        <p:spPr>
          <a:xfrm rot="16200000">
            <a:off x="1282860" y="5367844"/>
            <a:ext cx="0" cy="555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Multiplikationszeichen 39">
            <a:extLst>
              <a:ext uri="{FF2B5EF4-FFF2-40B4-BE49-F238E27FC236}">
                <a16:creationId xmlns:a16="http://schemas.microsoft.com/office/drawing/2014/main" id="{269FEE06-9815-C6DD-A8AF-B3FDC752F513}"/>
              </a:ext>
            </a:extLst>
          </p:cNvPr>
          <p:cNvSpPr/>
          <p:nvPr/>
        </p:nvSpPr>
        <p:spPr>
          <a:xfrm>
            <a:off x="1208248" y="5555169"/>
            <a:ext cx="149225" cy="180975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AB41767-0924-F2E6-D824-D836F869D63E}"/>
              </a:ext>
            </a:extLst>
          </p:cNvPr>
          <p:cNvGrpSpPr/>
          <p:nvPr/>
        </p:nvGrpSpPr>
        <p:grpSpPr>
          <a:xfrm>
            <a:off x="3050903" y="2084376"/>
            <a:ext cx="1031875" cy="1052513"/>
            <a:chOff x="3253626" y="1922033"/>
            <a:chExt cx="1031875" cy="1052513"/>
          </a:xfrm>
        </p:grpSpPr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50269A13-2891-79D4-9FA1-54877B4E8BEA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19A28543-714A-A144-98E5-08E4D55E709E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9CC486D5-8B79-40B2-150F-34E4EAB723E3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FA106F1C-2EDE-4AA7-2B3C-483470CF1C87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216EE05D-E86F-BE9A-F797-19F58EB1B68B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16AAA4DB-7202-FF1F-4536-DE15931C5D87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Multiplikationszeichen 47">
              <a:extLst>
                <a:ext uri="{FF2B5EF4-FFF2-40B4-BE49-F238E27FC236}">
                  <a16:creationId xmlns:a16="http://schemas.microsoft.com/office/drawing/2014/main" id="{B4957CF1-36D2-1851-B238-51919AC82E7A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EF9E5CDF-FA24-1484-9366-C496C632FEA3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50" name="Rechteck 49">
            <a:extLst>
              <a:ext uri="{FF2B5EF4-FFF2-40B4-BE49-F238E27FC236}">
                <a16:creationId xmlns:a16="http://schemas.microsoft.com/office/drawing/2014/main" id="{9712E1D0-B816-0120-1C01-AB6C7EFAE47E}"/>
              </a:ext>
            </a:extLst>
          </p:cNvPr>
          <p:cNvSpPr/>
          <p:nvPr/>
        </p:nvSpPr>
        <p:spPr>
          <a:xfrm>
            <a:off x="976473" y="4774119"/>
            <a:ext cx="612775" cy="10255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9D89AB28-533D-FAF4-79C1-3F02A8D57C79}"/>
              </a:ext>
            </a:extLst>
          </p:cNvPr>
          <p:cNvCxnSpPr>
            <a:cxnSpLocks/>
          </p:cNvCxnSpPr>
          <p:nvPr/>
        </p:nvCxnSpPr>
        <p:spPr>
          <a:xfrm flipV="1">
            <a:off x="1589248" y="2610476"/>
            <a:ext cx="1978386" cy="216364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5BCD968A-CFBD-FA85-99B0-357524DF51C3}"/>
              </a:ext>
            </a:extLst>
          </p:cNvPr>
          <p:cNvSpPr txBox="1"/>
          <p:nvPr/>
        </p:nvSpPr>
        <p:spPr>
          <a:xfrm>
            <a:off x="1891619" y="86631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Input</a:t>
            </a:r>
          </a:p>
        </p:txBody>
      </p: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B849A82-8E2E-731C-C309-9A7C93C00D0B}"/>
              </a:ext>
            </a:extLst>
          </p:cNvPr>
          <p:cNvCxnSpPr>
            <a:cxnSpLocks/>
            <a:stCxn id="40" idx="1"/>
          </p:cNvCxnSpPr>
          <p:nvPr/>
        </p:nvCxnSpPr>
        <p:spPr>
          <a:xfrm flipV="1">
            <a:off x="1321633" y="2610476"/>
            <a:ext cx="2246001" cy="298815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>
            <a:extLst>
              <a:ext uri="{FF2B5EF4-FFF2-40B4-BE49-F238E27FC236}">
                <a16:creationId xmlns:a16="http://schemas.microsoft.com/office/drawing/2014/main" id="{1BBC86F5-4ADD-80ED-599F-177F155C2495}"/>
              </a:ext>
            </a:extLst>
          </p:cNvPr>
          <p:cNvSpPr txBox="1"/>
          <p:nvPr/>
        </p:nvSpPr>
        <p:spPr>
          <a:xfrm>
            <a:off x="667324" y="1216747"/>
            <a:ext cx="2992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00B050"/>
                </a:solidFill>
              </a:rPr>
              <a:t>RCA </a:t>
            </a:r>
            <a:r>
              <a:rPr lang="de-DE" sz="1200" dirty="0" err="1">
                <a:solidFill>
                  <a:srgbClr val="00B050"/>
                </a:solidFill>
              </a:rPr>
              <a:t>to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middle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of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target</a:t>
            </a:r>
            <a:r>
              <a:rPr lang="de-DE" sz="1200" dirty="0">
                <a:solidFill>
                  <a:srgbClr val="00B050"/>
                </a:solidFill>
              </a:rPr>
              <a:t> </a:t>
            </a:r>
            <a:r>
              <a:rPr lang="de-DE" sz="1200" dirty="0" err="1">
                <a:solidFill>
                  <a:srgbClr val="00B050"/>
                </a:solidFill>
              </a:rPr>
              <a:t>geometry</a:t>
            </a:r>
            <a:endParaRPr lang="de-DE" sz="1200" dirty="0">
              <a:solidFill>
                <a:srgbClr val="00B050"/>
              </a:solidFill>
            </a:endParaRPr>
          </a:p>
          <a:p>
            <a:r>
              <a:rPr lang="de-DE" sz="1200" dirty="0">
                <a:solidFill>
                  <a:srgbClr val="0070C0"/>
                </a:solidFill>
              </a:rPr>
              <a:t>Sensor </a:t>
            </a:r>
            <a:r>
              <a:rPr lang="de-DE" sz="1200" dirty="0" err="1">
                <a:solidFill>
                  <a:srgbClr val="0070C0"/>
                </a:solidFill>
              </a:rPr>
              <a:t>position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to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middle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of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target</a:t>
            </a:r>
            <a:r>
              <a:rPr lang="de-DE" sz="1200" dirty="0">
                <a:solidFill>
                  <a:srgbClr val="0070C0"/>
                </a:solidFill>
              </a:rPr>
              <a:t> </a:t>
            </a:r>
            <a:r>
              <a:rPr lang="de-DE" sz="1200" dirty="0" err="1">
                <a:solidFill>
                  <a:srgbClr val="0070C0"/>
                </a:solidFill>
              </a:rPr>
              <a:t>geometry</a:t>
            </a:r>
            <a:endParaRPr lang="de-DE" sz="1200" dirty="0">
              <a:solidFill>
                <a:srgbClr val="0070C0"/>
              </a:solidFill>
            </a:endParaRPr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F18E3AF6-0728-F485-BC23-6231ABEC3760}"/>
              </a:ext>
            </a:extLst>
          </p:cNvPr>
          <p:cNvSpPr txBox="1"/>
          <p:nvPr/>
        </p:nvSpPr>
        <p:spPr>
          <a:xfrm>
            <a:off x="8667331" y="86631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Output</a:t>
            </a: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F04D201F-9BB0-69E2-DDEC-FCBC1461CFE9}"/>
              </a:ext>
            </a:extLst>
          </p:cNvPr>
          <p:cNvSpPr txBox="1"/>
          <p:nvPr/>
        </p:nvSpPr>
        <p:spPr>
          <a:xfrm>
            <a:off x="7690334" y="1244412"/>
            <a:ext cx="4374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>
                <a:solidFill>
                  <a:srgbClr val="7030A0"/>
                </a:solidFill>
              </a:rPr>
              <a:t>RCA </a:t>
            </a:r>
            <a:r>
              <a:rPr lang="de-DE" sz="1200" dirty="0" err="1">
                <a:solidFill>
                  <a:srgbClr val="7030A0"/>
                </a:solidFill>
              </a:rPr>
              <a:t>to</a:t>
            </a:r>
            <a:r>
              <a:rPr lang="de-DE" sz="1200" dirty="0">
                <a:solidFill>
                  <a:srgbClr val="7030A0"/>
                </a:solidFill>
              </a:rPr>
              <a:t> </a:t>
            </a:r>
            <a:r>
              <a:rPr lang="de-DE" sz="1200" dirty="0" err="1">
                <a:solidFill>
                  <a:srgbClr val="7030A0"/>
                </a:solidFill>
              </a:rPr>
              <a:t>reference</a:t>
            </a:r>
            <a:r>
              <a:rPr lang="de-DE" sz="1200" dirty="0">
                <a:solidFill>
                  <a:srgbClr val="7030A0"/>
                </a:solidFill>
              </a:rPr>
              <a:t> </a:t>
            </a:r>
            <a:r>
              <a:rPr lang="de-DE" sz="1200" dirty="0" err="1">
                <a:solidFill>
                  <a:srgbClr val="7030A0"/>
                </a:solidFill>
              </a:rPr>
              <a:t>point</a:t>
            </a:r>
            <a:endParaRPr lang="de-DE" sz="1200" dirty="0">
              <a:solidFill>
                <a:srgbClr val="7030A0"/>
              </a:solidFill>
            </a:endParaRPr>
          </a:p>
          <a:p>
            <a:r>
              <a:rPr lang="de-DE" sz="1200" dirty="0">
                <a:solidFill>
                  <a:srgbClr val="FFC000"/>
                </a:solidFill>
              </a:rPr>
              <a:t>Sensor </a:t>
            </a:r>
            <a:r>
              <a:rPr lang="de-DE" sz="1200" dirty="0" err="1">
                <a:solidFill>
                  <a:srgbClr val="FFC000"/>
                </a:solidFill>
              </a:rPr>
              <a:t>position</a:t>
            </a:r>
            <a:r>
              <a:rPr lang="de-DE" sz="1200" dirty="0">
                <a:solidFill>
                  <a:srgbClr val="FFC000"/>
                </a:solidFill>
              </a:rPr>
              <a:t> </a:t>
            </a:r>
            <a:r>
              <a:rPr lang="de-DE" sz="1200" dirty="0" err="1">
                <a:solidFill>
                  <a:srgbClr val="FFC000"/>
                </a:solidFill>
              </a:rPr>
              <a:t>to</a:t>
            </a:r>
            <a:r>
              <a:rPr lang="de-DE" sz="1200" dirty="0">
                <a:solidFill>
                  <a:srgbClr val="FFC000"/>
                </a:solidFill>
              </a:rPr>
              <a:t> </a:t>
            </a:r>
            <a:r>
              <a:rPr lang="de-DE" sz="1200" dirty="0" err="1">
                <a:solidFill>
                  <a:srgbClr val="FFC000"/>
                </a:solidFill>
              </a:rPr>
              <a:t>reference</a:t>
            </a:r>
            <a:r>
              <a:rPr lang="de-DE" sz="1200" dirty="0">
                <a:solidFill>
                  <a:srgbClr val="FFC000"/>
                </a:solidFill>
              </a:rPr>
              <a:t> </a:t>
            </a:r>
            <a:r>
              <a:rPr lang="de-DE" sz="1200" dirty="0" err="1">
                <a:solidFill>
                  <a:srgbClr val="FFC000"/>
                </a:solidFill>
              </a:rPr>
              <a:t>point</a:t>
            </a:r>
            <a:endParaRPr lang="de-DE" sz="1200" dirty="0">
              <a:solidFill>
                <a:srgbClr val="FFC000"/>
              </a:solidFill>
            </a:endParaRPr>
          </a:p>
          <a:p>
            <a:r>
              <a:rPr lang="de-DE" sz="1200" dirty="0">
                <a:solidFill>
                  <a:srgbClr val="00B0F0"/>
                </a:solidFill>
              </a:rPr>
              <a:t>Reference </a:t>
            </a:r>
            <a:r>
              <a:rPr lang="de-DE" sz="1200" dirty="0" err="1">
                <a:solidFill>
                  <a:srgbClr val="00B0F0"/>
                </a:solidFill>
              </a:rPr>
              <a:t>side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which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middle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point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is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the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calculated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reference</a:t>
            </a:r>
            <a:r>
              <a:rPr lang="de-DE" sz="1200" dirty="0">
                <a:solidFill>
                  <a:srgbClr val="00B0F0"/>
                </a:solidFill>
              </a:rPr>
              <a:t> </a:t>
            </a:r>
            <a:r>
              <a:rPr lang="de-DE" sz="1200" dirty="0" err="1">
                <a:solidFill>
                  <a:srgbClr val="00B0F0"/>
                </a:solidFill>
              </a:rPr>
              <a:t>point</a:t>
            </a:r>
            <a:endParaRPr lang="de-DE" sz="1200" dirty="0">
              <a:solidFill>
                <a:srgbClr val="00B0F0"/>
              </a:solidFill>
            </a:endParaRP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2B571025-EEF0-166B-D3A1-CD03DD2E1BA9}"/>
              </a:ext>
            </a:extLst>
          </p:cNvPr>
          <p:cNvCxnSpPr>
            <a:cxnSpLocks/>
            <a:stCxn id="10" idx="1"/>
            <a:endCxn id="28" idx="1"/>
          </p:cNvCxnSpPr>
          <p:nvPr/>
        </p:nvCxnSpPr>
        <p:spPr>
          <a:xfrm flipV="1">
            <a:off x="8436562" y="2814685"/>
            <a:ext cx="2029353" cy="277056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048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DEA119A-83D1-6E4B-BB0B-34EF81764760}"/>
              </a:ext>
            </a:extLst>
          </p:cNvPr>
          <p:cNvSpPr txBox="1"/>
          <p:nvPr/>
        </p:nvSpPr>
        <p:spPr>
          <a:xfrm>
            <a:off x="813732" y="32192"/>
            <a:ext cx="105645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Calculating the position of the reference side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D83AE75-22C4-4455-5E3E-F291815951C5}"/>
              </a:ext>
            </a:extLst>
          </p:cNvPr>
          <p:cNvSpPr txBox="1"/>
          <p:nvPr/>
        </p:nvSpPr>
        <p:spPr>
          <a:xfrm>
            <a:off x="360727" y="1073791"/>
            <a:ext cx="11291581" cy="4932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position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reference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side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distance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want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inject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onto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BUS/via XCP.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To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calculate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this</a:t>
            </a:r>
            <a:r>
              <a:rPr lang="de-DE" kern="0" dirty="0">
                <a:solidFill>
                  <a:srgbClr val="000000"/>
                </a:solidFill>
              </a:rPr>
              <a:t>,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DLL </a:t>
            </a:r>
            <a:r>
              <a:rPr lang="de-DE" kern="0" dirty="0" err="1">
                <a:solidFill>
                  <a:srgbClr val="000000"/>
                </a:solidFill>
              </a:rPr>
              <a:t>first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gets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position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middle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target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geometry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as</a:t>
            </a:r>
            <a:r>
              <a:rPr lang="de-DE" kern="0" dirty="0">
                <a:solidFill>
                  <a:srgbClr val="000000"/>
                </a:solidFill>
              </a:rPr>
              <a:t> an </a:t>
            </a:r>
            <a:r>
              <a:rPr lang="de-DE" kern="0" dirty="0" err="1">
                <a:solidFill>
                  <a:srgbClr val="000000"/>
                </a:solidFill>
              </a:rPr>
              <a:t>input</a:t>
            </a:r>
            <a:r>
              <a:rPr lang="de-DE" kern="0" dirty="0">
                <a:solidFill>
                  <a:srgbClr val="000000"/>
                </a:solidFill>
              </a:rPr>
              <a:t>.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Using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aswell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given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length</a:t>
            </a:r>
            <a:r>
              <a:rPr lang="de-DE" kern="0" dirty="0">
                <a:solidFill>
                  <a:srgbClr val="000000"/>
                </a:solidFill>
              </a:rPr>
              <a:t>, </a:t>
            </a:r>
            <a:r>
              <a:rPr lang="de-DE" kern="0" dirty="0" err="1">
                <a:solidFill>
                  <a:srgbClr val="000000"/>
                </a:solidFill>
              </a:rPr>
              <a:t>width</a:t>
            </a:r>
            <a:r>
              <a:rPr lang="de-DE" kern="0" dirty="0">
                <a:solidFill>
                  <a:srgbClr val="000000"/>
                </a:solidFill>
              </a:rPr>
              <a:t> and heading angle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target</a:t>
            </a:r>
            <a:r>
              <a:rPr lang="de-DE" kern="0" dirty="0">
                <a:solidFill>
                  <a:srgbClr val="000000"/>
                </a:solidFill>
              </a:rPr>
              <a:t>,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DLL </a:t>
            </a:r>
            <a:r>
              <a:rPr lang="de-DE" kern="0" dirty="0" err="1">
                <a:solidFill>
                  <a:srgbClr val="000000"/>
                </a:solidFill>
              </a:rPr>
              <a:t>calculates</a:t>
            </a:r>
            <a:r>
              <a:rPr lang="de-DE" kern="0" dirty="0">
                <a:solidFill>
                  <a:srgbClr val="000000"/>
                </a:solidFill>
              </a:rPr>
              <a:t> a </a:t>
            </a:r>
            <a:r>
              <a:rPr lang="de-DE" kern="0" dirty="0" err="1">
                <a:solidFill>
                  <a:srgbClr val="000000"/>
                </a:solidFill>
              </a:rPr>
              <a:t>rectangle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around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target</a:t>
            </a:r>
            <a:r>
              <a:rPr lang="de-DE" kern="0" dirty="0">
                <a:solidFill>
                  <a:srgbClr val="000000"/>
                </a:solidFill>
              </a:rPr>
              <a:t> and </a:t>
            </a:r>
            <a:r>
              <a:rPr lang="de-DE" kern="0" dirty="0" err="1">
                <a:solidFill>
                  <a:srgbClr val="000000"/>
                </a:solidFill>
              </a:rPr>
              <a:t>by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this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middle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points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each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side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aswell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as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edge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points</a:t>
            </a:r>
            <a:r>
              <a:rPr lang="de-DE" kern="0" dirty="0">
                <a:solidFill>
                  <a:srgbClr val="000000"/>
                </a:solidFill>
              </a:rPr>
              <a:t>.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reference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side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found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by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comparing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all 4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middle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points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on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each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side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of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target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and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taking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smallest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Using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this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reference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point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together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with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heading angle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visible </a:t>
            </a:r>
            <a:r>
              <a:rPr lang="de-DE" kern="0" dirty="0" err="1">
                <a:solidFill>
                  <a:srgbClr val="000000"/>
                </a:solidFill>
              </a:rPr>
              <a:t>view</a:t>
            </a:r>
            <a:r>
              <a:rPr lang="de-DE" kern="0" dirty="0">
                <a:solidFill>
                  <a:srgbClr val="000000"/>
                </a:solidFill>
              </a:rPr>
              <a:t> on </a:t>
            </a:r>
            <a:r>
              <a:rPr lang="de-DE" kern="0" dirty="0" err="1">
                <a:solidFill>
                  <a:srgbClr val="000000"/>
                </a:solidFill>
              </a:rPr>
              <a:t>the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target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can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be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calculated</a:t>
            </a:r>
            <a:r>
              <a:rPr lang="de-DE" kern="0" dirty="0">
                <a:solidFill>
                  <a:srgbClr val="000000"/>
                </a:solidFill>
              </a:rPr>
              <a:t>.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following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slides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procedure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is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being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displayed</a:t>
            </a:r>
            <a:r>
              <a:rPr lang="de-DE" kern="0" dirty="0">
                <a:solidFill>
                  <a:srgbClr val="000000"/>
                </a:solidFill>
              </a:rPr>
              <a:t>…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2375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feld 49">
            <a:extLst>
              <a:ext uri="{FF2B5EF4-FFF2-40B4-BE49-F238E27FC236}">
                <a16:creationId xmlns:a16="http://schemas.microsoft.com/office/drawing/2014/main" id="{BD5C5BDB-C39C-8241-80C9-0BE790A7ECFD}"/>
              </a:ext>
            </a:extLst>
          </p:cNvPr>
          <p:cNvSpPr txBox="1"/>
          <p:nvPr/>
        </p:nvSpPr>
        <p:spPr>
          <a:xfrm>
            <a:off x="7945774" y="3059412"/>
            <a:ext cx="3432494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Calculated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rectangle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around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target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in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the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Rear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Center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Axle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coordinate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System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B28B371E-6F1F-7465-F45D-525649339F5A}"/>
              </a:ext>
            </a:extLst>
          </p:cNvPr>
          <p:cNvSpPr txBox="1"/>
          <p:nvPr/>
        </p:nvSpPr>
        <p:spPr>
          <a:xfrm>
            <a:off x="2046910" y="5199215"/>
            <a:ext cx="34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Output : Target </a:t>
            </a:r>
            <a:r>
              <a:rPr lang="de-DE" dirty="0" err="1"/>
              <a:t>data</a:t>
            </a:r>
            <a:r>
              <a:rPr lang="de-DE" dirty="0"/>
              <a:t> RFC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A5D7B90-958E-A3F4-39BB-7E9FC92E7DF1}"/>
              </a:ext>
            </a:extLst>
          </p:cNvPr>
          <p:cNvSpPr/>
          <p:nvPr/>
        </p:nvSpPr>
        <p:spPr>
          <a:xfrm>
            <a:off x="813732" y="713063"/>
            <a:ext cx="1233182" cy="556973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CAPL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BEC7938-E608-37D6-B07B-4231A28E31ED}"/>
              </a:ext>
            </a:extLst>
          </p:cNvPr>
          <p:cNvSpPr/>
          <p:nvPr/>
        </p:nvSpPr>
        <p:spPr>
          <a:xfrm>
            <a:off x="5479409" y="713064"/>
            <a:ext cx="1233182" cy="556974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DLL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808FF76-C23D-239D-4779-F87B40AC6D13}"/>
              </a:ext>
            </a:extLst>
          </p:cNvPr>
          <p:cNvCxnSpPr/>
          <p:nvPr/>
        </p:nvCxnSpPr>
        <p:spPr>
          <a:xfrm>
            <a:off x="2047804" y="1019439"/>
            <a:ext cx="343249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C4F1D51-87E4-A748-BE27-AFE6203F8047}"/>
              </a:ext>
            </a:extLst>
          </p:cNvPr>
          <p:cNvSpPr txBox="1"/>
          <p:nvPr/>
        </p:nvSpPr>
        <p:spPr>
          <a:xfrm>
            <a:off x="2047801" y="658493"/>
            <a:ext cx="3432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Input: Sensor </a:t>
            </a:r>
            <a:r>
              <a:rPr lang="de-DE" dirty="0" err="1"/>
              <a:t>data</a:t>
            </a:r>
            <a:r>
              <a:rPr lang="de-DE" dirty="0"/>
              <a:t> RFC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661318A-24B5-EFE9-19AE-4F1F13137EB4}"/>
              </a:ext>
            </a:extLst>
          </p:cNvPr>
          <p:cNvSpPr txBox="1"/>
          <p:nvPr/>
        </p:nvSpPr>
        <p:spPr>
          <a:xfrm>
            <a:off x="432486" y="32192"/>
            <a:ext cx="113867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dirty="0" err="1"/>
              <a:t>Example</a:t>
            </a:r>
            <a:r>
              <a:rPr lang="de-DE" sz="3200" dirty="0"/>
              <a:t>: DLL </a:t>
            </a:r>
            <a:r>
              <a:rPr lang="de-DE" sz="3200" dirty="0" err="1"/>
              <a:t>working</a:t>
            </a:r>
            <a:r>
              <a:rPr lang="de-DE" sz="3200" dirty="0"/>
              <a:t> </a:t>
            </a:r>
            <a:r>
              <a:rPr lang="de-DE" sz="3200" dirty="0" err="1"/>
              <a:t>chain</a:t>
            </a:r>
            <a:r>
              <a:rPr lang="de-DE" sz="3200" dirty="0"/>
              <a:t> Radar Front Center (</a:t>
            </a:r>
            <a:r>
              <a:rPr lang="de-DE" sz="3200" dirty="0" err="1"/>
              <a:t>locations</a:t>
            </a:r>
            <a:r>
              <a:rPr lang="de-DE" sz="3200" dirty="0"/>
              <a:t>)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F35485BC-CC3C-E3A3-7D3E-2C0534FA5336}"/>
              </a:ext>
            </a:extLst>
          </p:cNvPr>
          <p:cNvCxnSpPr/>
          <p:nvPr/>
        </p:nvCxnSpPr>
        <p:spPr>
          <a:xfrm>
            <a:off x="2046913" y="5560161"/>
            <a:ext cx="343249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BEA3C933-6FEF-70A7-B1A3-8053280B0109}"/>
              </a:ext>
            </a:extLst>
          </p:cNvPr>
          <p:cNvSpPr txBox="1"/>
          <p:nvPr/>
        </p:nvSpPr>
        <p:spPr>
          <a:xfrm>
            <a:off x="6702345" y="3686687"/>
            <a:ext cx="343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calculate_radial_distance, …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DE471F0D-74F9-D467-D178-CF07235FB7ED}"/>
              </a:ext>
            </a:extLst>
          </p:cNvPr>
          <p:cNvSpPr txBox="1"/>
          <p:nvPr/>
        </p:nvSpPr>
        <p:spPr>
          <a:xfrm>
            <a:off x="6707611" y="671538"/>
            <a:ext cx="343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calculate_RCA</a:t>
            </a:r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9E29F1A0-F8A8-56C2-3016-76928F4C693D}"/>
              </a:ext>
            </a:extLst>
          </p:cNvPr>
          <p:cNvSpPr txBox="1"/>
          <p:nvPr/>
        </p:nvSpPr>
        <p:spPr>
          <a:xfrm>
            <a:off x="3169920" y="1029342"/>
            <a:ext cx="2319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dx_rca</a:t>
            </a:r>
            <a:endParaRPr lang="de-DE" sz="1600" dirty="0"/>
          </a:p>
          <a:p>
            <a:r>
              <a:rPr lang="de-DE" sz="1600" dirty="0" err="1"/>
              <a:t>dy_rca</a:t>
            </a:r>
            <a:br>
              <a:rPr lang="de-DE" sz="1600" dirty="0"/>
            </a:br>
            <a:r>
              <a:rPr lang="de-DE" sz="1600" dirty="0" err="1"/>
              <a:t>heading_angle_rca</a:t>
            </a:r>
            <a:br>
              <a:rPr lang="de-DE" sz="1600" dirty="0"/>
            </a:br>
            <a:r>
              <a:rPr lang="de-DE" sz="1600" dirty="0" err="1"/>
              <a:t>dx_sensor</a:t>
            </a:r>
            <a:br>
              <a:rPr lang="de-DE" sz="1600" dirty="0"/>
            </a:br>
            <a:r>
              <a:rPr lang="de-DE" sz="1600" dirty="0" err="1"/>
              <a:t>dy_sensor</a:t>
            </a:r>
            <a:br>
              <a:rPr lang="de-DE" sz="1600" dirty="0"/>
            </a:br>
            <a:r>
              <a:rPr lang="de-DE" sz="1600" dirty="0" err="1"/>
              <a:t>heading_angle_sensor</a:t>
            </a:r>
            <a:br>
              <a:rPr lang="de-DE" sz="1600" dirty="0"/>
            </a:br>
            <a:r>
              <a:rPr lang="de-DE" sz="1600" dirty="0" err="1"/>
              <a:t>height</a:t>
            </a:r>
            <a:br>
              <a:rPr lang="de-DE" sz="1600" dirty="0"/>
            </a:br>
            <a:r>
              <a:rPr lang="de-DE" sz="1600" dirty="0" err="1"/>
              <a:t>length</a:t>
            </a:r>
            <a:br>
              <a:rPr lang="de-DE" sz="1600" dirty="0"/>
            </a:br>
            <a:r>
              <a:rPr lang="de-DE" sz="1600" dirty="0" err="1"/>
              <a:t>width</a:t>
            </a:r>
            <a:endParaRPr lang="de-DE" sz="16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BA710DA-D3AC-8F4F-EDBA-105157AE2F9D}"/>
              </a:ext>
            </a:extLst>
          </p:cNvPr>
          <p:cNvSpPr txBox="1"/>
          <p:nvPr/>
        </p:nvSpPr>
        <p:spPr>
          <a:xfrm>
            <a:off x="3405118" y="5560161"/>
            <a:ext cx="2319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get_dx_ref_pnt</a:t>
            </a:r>
            <a:br>
              <a:rPr lang="de-DE" sz="1600" dirty="0"/>
            </a:br>
            <a:r>
              <a:rPr lang="de-DE" sz="1600" dirty="0" err="1"/>
              <a:t>get_dy_ref_pnt</a:t>
            </a:r>
            <a:endParaRPr lang="de-DE" sz="16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CB13220D-1452-B161-4CBE-3C12507C74E2}"/>
              </a:ext>
            </a:extLst>
          </p:cNvPr>
          <p:cNvSpPr txBox="1"/>
          <p:nvPr/>
        </p:nvSpPr>
        <p:spPr>
          <a:xfrm>
            <a:off x="7829732" y="1039980"/>
            <a:ext cx="23197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offset_dx</a:t>
            </a:r>
            <a:br>
              <a:rPr lang="de-DE" sz="1600" dirty="0"/>
            </a:br>
            <a:r>
              <a:rPr lang="de-DE" sz="1600" dirty="0" err="1"/>
              <a:t>offset_dy</a:t>
            </a:r>
            <a:br>
              <a:rPr lang="de-DE" sz="1600" dirty="0"/>
            </a:br>
            <a:r>
              <a:rPr lang="de-DE" sz="1600" dirty="0" err="1"/>
              <a:t>dx_rear_center_axle</a:t>
            </a:r>
            <a:endParaRPr lang="de-DE" sz="1600" dirty="0"/>
          </a:p>
          <a:p>
            <a:r>
              <a:rPr lang="de-DE" sz="1600" dirty="0" err="1"/>
              <a:t>dy_rear_center_axle</a:t>
            </a:r>
            <a:br>
              <a:rPr lang="de-DE" sz="1600" dirty="0"/>
            </a:br>
            <a:r>
              <a:rPr lang="de-DE" sz="1600" dirty="0" err="1"/>
              <a:t>height</a:t>
            </a:r>
            <a:br>
              <a:rPr lang="de-DE" sz="1600" dirty="0"/>
            </a:br>
            <a:r>
              <a:rPr lang="de-DE" sz="1600" dirty="0" err="1"/>
              <a:t>length</a:t>
            </a:r>
            <a:br>
              <a:rPr lang="de-DE" sz="1600" dirty="0"/>
            </a:br>
            <a:r>
              <a:rPr lang="de-DE" sz="1600" dirty="0" err="1"/>
              <a:t>width</a:t>
            </a:r>
            <a:br>
              <a:rPr lang="de-DE" sz="1600" dirty="0"/>
            </a:br>
            <a:r>
              <a:rPr lang="de-DE" sz="1600" dirty="0" err="1"/>
              <a:t>heading_angle</a:t>
            </a:r>
            <a:endParaRPr lang="de-DE" sz="1600" dirty="0"/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240368FC-3CE4-D89A-42F7-D5DB012E4FF2}"/>
              </a:ext>
            </a:extLst>
          </p:cNvPr>
          <p:cNvSpPr txBox="1"/>
          <p:nvPr/>
        </p:nvSpPr>
        <p:spPr>
          <a:xfrm>
            <a:off x="7829731" y="4070401"/>
            <a:ext cx="2319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err="1"/>
              <a:t>dx_ref_pnt</a:t>
            </a:r>
            <a:endParaRPr lang="de-DE" sz="1600" dirty="0"/>
          </a:p>
          <a:p>
            <a:r>
              <a:rPr lang="de-DE" sz="1600" dirty="0" err="1"/>
              <a:t>dy_ref_pnt</a:t>
            </a:r>
            <a:endParaRPr lang="de-DE" sz="160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02D3C44-5979-11E7-DB80-15F15B05C2A5}"/>
              </a:ext>
            </a:extLst>
          </p:cNvPr>
          <p:cNvGrpSpPr/>
          <p:nvPr/>
        </p:nvGrpSpPr>
        <p:grpSpPr>
          <a:xfrm>
            <a:off x="6702344" y="1039980"/>
            <a:ext cx="1047814" cy="2542652"/>
            <a:chOff x="6702344" y="1156662"/>
            <a:chExt cx="1047814" cy="2425970"/>
          </a:xfrm>
        </p:grpSpPr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22A3FBA0-BAB4-8DE5-4AAE-FE6E6241C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099" y="3582632"/>
              <a:ext cx="10185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0750BC47-CBFB-0BC5-01E0-260CA06C50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0650" y="1156662"/>
              <a:ext cx="9508" cy="24259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A760BEC8-798C-B19F-1237-114C719FB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2344" y="1156662"/>
              <a:ext cx="10478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5073E3B5-06BD-8921-C5B4-8B05E2537B9F}"/>
              </a:ext>
            </a:extLst>
          </p:cNvPr>
          <p:cNvGrpSpPr/>
          <p:nvPr/>
        </p:nvGrpSpPr>
        <p:grpSpPr>
          <a:xfrm>
            <a:off x="6692836" y="4070401"/>
            <a:ext cx="1047814" cy="1123851"/>
            <a:chOff x="6702344" y="1156662"/>
            <a:chExt cx="1047814" cy="2425970"/>
          </a:xfrm>
        </p:grpSpPr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B10AE7DA-9068-A540-AF0A-2FA5021E1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2099" y="3582632"/>
              <a:ext cx="101855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FC3FCDC8-600F-F72A-8A66-31106F7033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40650" y="1156662"/>
              <a:ext cx="9508" cy="24259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 Verbindung mit Pfeil 61">
              <a:extLst>
                <a:ext uri="{FF2B5EF4-FFF2-40B4-BE49-F238E27FC236}">
                  <a16:creationId xmlns:a16="http://schemas.microsoft.com/office/drawing/2014/main" id="{E4BD167E-589C-EE1E-6315-89932343BD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02344" y="1156662"/>
              <a:ext cx="104781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feld 62">
            <a:extLst>
              <a:ext uri="{FF2B5EF4-FFF2-40B4-BE49-F238E27FC236}">
                <a16:creationId xmlns:a16="http://schemas.microsoft.com/office/drawing/2014/main" id="{25D63191-B2AF-46DA-C139-0EC9016CBF62}"/>
              </a:ext>
            </a:extLst>
          </p:cNvPr>
          <p:cNvSpPr txBox="1"/>
          <p:nvPr/>
        </p:nvSpPr>
        <p:spPr>
          <a:xfrm>
            <a:off x="7945774" y="4692735"/>
            <a:ext cx="3432494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Calculated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needed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from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the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perspective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the</a:t>
            </a:r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 RFC </a:t>
            </a:r>
            <a:r>
              <a:rPr lang="de-DE" sz="1400" dirty="0" err="1">
                <a:solidFill>
                  <a:schemeClr val="bg2">
                    <a:lumMod val="50000"/>
                  </a:schemeClr>
                </a:solidFill>
              </a:rPr>
              <a:t>position</a:t>
            </a:r>
            <a:endParaRPr lang="de-DE" sz="1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037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8C13350-0551-1AE3-D575-F754958C3560}"/>
              </a:ext>
            </a:extLst>
          </p:cNvPr>
          <p:cNvSpPr/>
          <p:nvPr/>
        </p:nvSpPr>
        <p:spPr>
          <a:xfrm rot="18378587">
            <a:off x="1160114" y="2414715"/>
            <a:ext cx="219160" cy="6621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98A4EAF-DA31-8381-CEEB-C5FBE5750716}"/>
              </a:ext>
            </a:extLst>
          </p:cNvPr>
          <p:cNvSpPr/>
          <p:nvPr/>
        </p:nvSpPr>
        <p:spPr>
          <a:xfrm rot="18378587">
            <a:off x="2551600" y="521115"/>
            <a:ext cx="219160" cy="6621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4D7A459-AF10-DAE3-3291-EFE44AA061B5}"/>
              </a:ext>
            </a:extLst>
          </p:cNvPr>
          <p:cNvSpPr/>
          <p:nvPr/>
        </p:nvSpPr>
        <p:spPr>
          <a:xfrm rot="18378587">
            <a:off x="5040527" y="2346657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C09450B-348A-9718-6C9C-35837DEADE90}"/>
              </a:ext>
            </a:extLst>
          </p:cNvPr>
          <p:cNvSpPr/>
          <p:nvPr/>
        </p:nvSpPr>
        <p:spPr>
          <a:xfrm rot="18378587">
            <a:off x="3649042" y="4240257"/>
            <a:ext cx="219160" cy="66892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436FF9E5-7593-A8F6-0412-A730C09CF792}"/>
              </a:ext>
            </a:extLst>
          </p:cNvPr>
          <p:cNvCxnSpPr>
            <a:cxnSpLocks/>
          </p:cNvCxnSpPr>
          <p:nvPr/>
        </p:nvCxnSpPr>
        <p:spPr>
          <a:xfrm rot="12978587">
            <a:off x="1965436" y="730563"/>
            <a:ext cx="0" cy="21368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7DD6BA6-CB2E-A13B-B95D-41598AEC3DF2}"/>
              </a:ext>
            </a:extLst>
          </p:cNvPr>
          <p:cNvCxnSpPr>
            <a:cxnSpLocks/>
          </p:cNvCxnSpPr>
          <p:nvPr/>
        </p:nvCxnSpPr>
        <p:spPr>
          <a:xfrm rot="12978587">
            <a:off x="4454364" y="2562560"/>
            <a:ext cx="0" cy="21307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6429F51A-E6FE-9D11-047C-F51B863C0CF1}"/>
              </a:ext>
            </a:extLst>
          </p:cNvPr>
          <p:cNvSpPr/>
          <p:nvPr/>
        </p:nvSpPr>
        <p:spPr>
          <a:xfrm rot="18378587">
            <a:off x="2036334" y="509728"/>
            <a:ext cx="2349883" cy="44094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9" name="Multiplikationszeichen 8">
            <a:extLst>
              <a:ext uri="{FF2B5EF4-FFF2-40B4-BE49-F238E27FC236}">
                <a16:creationId xmlns:a16="http://schemas.microsoft.com/office/drawing/2014/main" id="{FD6FB626-E2F1-AA5B-4B93-82818AE8DE13}"/>
              </a:ext>
            </a:extLst>
          </p:cNvPr>
          <p:cNvSpPr/>
          <p:nvPr/>
        </p:nvSpPr>
        <p:spPr>
          <a:xfrm rot="18378587">
            <a:off x="4704528" y="3632940"/>
            <a:ext cx="572251" cy="778138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D946FC75-7415-6432-982C-14C422A33EF7}"/>
              </a:ext>
            </a:extLst>
          </p:cNvPr>
          <p:cNvSpPr/>
          <p:nvPr/>
        </p:nvSpPr>
        <p:spPr>
          <a:xfrm rot="18378587">
            <a:off x="1145767" y="1017835"/>
            <a:ext cx="572251" cy="778138"/>
          </a:xfrm>
          <a:prstGeom prst="mathMultiply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sp>
        <p:nvSpPr>
          <p:cNvPr id="12" name="Multiplikationszeichen 11">
            <a:extLst>
              <a:ext uri="{FF2B5EF4-FFF2-40B4-BE49-F238E27FC236}">
                <a16:creationId xmlns:a16="http://schemas.microsoft.com/office/drawing/2014/main" id="{D9686358-2EAE-7169-0A5C-CA18F1128798}"/>
              </a:ext>
            </a:extLst>
          </p:cNvPr>
          <p:cNvSpPr/>
          <p:nvPr/>
        </p:nvSpPr>
        <p:spPr>
          <a:xfrm rot="18378587">
            <a:off x="3620888" y="1378583"/>
            <a:ext cx="572251" cy="778138"/>
          </a:xfrm>
          <a:prstGeom prst="mathMultiply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sp>
        <p:nvSpPr>
          <p:cNvPr id="13" name="Multiplikationszeichen 12">
            <a:extLst>
              <a:ext uri="{FF2B5EF4-FFF2-40B4-BE49-F238E27FC236}">
                <a16:creationId xmlns:a16="http://schemas.microsoft.com/office/drawing/2014/main" id="{21FAC4E8-5C90-A17B-9815-EFE2DF391964}"/>
              </a:ext>
            </a:extLst>
          </p:cNvPr>
          <p:cNvSpPr/>
          <p:nvPr/>
        </p:nvSpPr>
        <p:spPr>
          <a:xfrm rot="18378587">
            <a:off x="2229405" y="3272180"/>
            <a:ext cx="572251" cy="778138"/>
          </a:xfrm>
          <a:prstGeom prst="mathMultiply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8AE19A3-3A5A-A539-FD84-E8430673D2C1}"/>
                  </a:ext>
                </a:extLst>
              </p:cNvPr>
              <p:cNvSpPr txBox="1"/>
              <p:nvPr/>
            </p:nvSpPr>
            <p:spPr>
              <a:xfrm>
                <a:off x="6303445" y="4754019"/>
                <a:ext cx="13769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h𝑒𝑎𝑑𝑖𝑛𝑔</m:t>
                      </m:r>
                      <m:r>
                        <a:rPr lang="de-DE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𝑎𝑛𝑔𝑙𝑒</m:t>
                      </m:r>
                    </m:oMath>
                  </m:oMathPara>
                </a14:m>
                <a:endParaRPr lang="de-DE" sz="1600" b="0" i="1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de-DE" sz="16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8AE19A3-3A5A-A539-FD84-E8430673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45" y="4754019"/>
                <a:ext cx="1376979" cy="492443"/>
              </a:xfrm>
              <a:prstGeom prst="rect">
                <a:avLst/>
              </a:prstGeom>
              <a:blipFill>
                <a:blip r:embed="rId2"/>
                <a:stretch>
                  <a:fillRect l="-4425" r="-39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ogen 44">
            <a:extLst>
              <a:ext uri="{FF2B5EF4-FFF2-40B4-BE49-F238E27FC236}">
                <a16:creationId xmlns:a16="http://schemas.microsoft.com/office/drawing/2014/main" id="{0769EE2E-40B2-7492-E347-15397B4CD215}"/>
              </a:ext>
            </a:extLst>
          </p:cNvPr>
          <p:cNvSpPr/>
          <p:nvPr/>
        </p:nvSpPr>
        <p:spPr>
          <a:xfrm rot="15262168">
            <a:off x="6212642" y="4157526"/>
            <a:ext cx="1825112" cy="2078363"/>
          </a:xfrm>
          <a:prstGeom prst="arc">
            <a:avLst>
              <a:gd name="adj1" fmla="val 18228111"/>
              <a:gd name="adj2" fmla="val 3084666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8A1759F-71DB-B7B9-DC95-9A2BDAC08CBE}"/>
              </a:ext>
            </a:extLst>
          </p:cNvPr>
          <p:cNvCxnSpPr>
            <a:cxnSpLocks/>
          </p:cNvCxnSpPr>
          <p:nvPr/>
        </p:nvCxnSpPr>
        <p:spPr>
          <a:xfrm flipV="1">
            <a:off x="7732468" y="292167"/>
            <a:ext cx="0" cy="57728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3B0B585-5152-BE94-8289-D21BC43BD395}"/>
              </a:ext>
            </a:extLst>
          </p:cNvPr>
          <p:cNvCxnSpPr>
            <a:cxnSpLocks/>
          </p:cNvCxnSpPr>
          <p:nvPr/>
        </p:nvCxnSpPr>
        <p:spPr>
          <a:xfrm flipH="1" flipV="1">
            <a:off x="342627" y="6018583"/>
            <a:ext cx="7416035" cy="274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4CEC1618-DA6C-4BC7-B5F2-F2C726EE9813}"/>
              </a:ext>
            </a:extLst>
          </p:cNvPr>
          <p:cNvCxnSpPr>
            <a:cxnSpLocks/>
          </p:cNvCxnSpPr>
          <p:nvPr/>
        </p:nvCxnSpPr>
        <p:spPr>
          <a:xfrm flipH="1" flipV="1">
            <a:off x="342627" y="595933"/>
            <a:ext cx="7389841" cy="54500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feld 56">
            <a:extLst>
              <a:ext uri="{FF2B5EF4-FFF2-40B4-BE49-F238E27FC236}">
                <a16:creationId xmlns:a16="http://schemas.microsoft.com/office/drawing/2014/main" id="{5DB48C8A-5AE5-2507-FBFE-5DA4CEB40F41}"/>
              </a:ext>
            </a:extLst>
          </p:cNvPr>
          <p:cNvSpPr txBox="1"/>
          <p:nvPr/>
        </p:nvSpPr>
        <p:spPr>
          <a:xfrm>
            <a:off x="5255764" y="3928264"/>
            <a:ext cx="1490986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600" b="0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 </a:t>
            </a:r>
            <a:r>
              <a:rPr lang="de-DE" sz="1600" b="0" i="1" dirty="0" err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rear</a:t>
            </a:r>
            <a:r>
              <a:rPr lang="de-DE" sz="1600" b="0" i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de-DE" sz="1600" b="0" i="1" dirty="0" err="1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bumper</a:t>
            </a:r>
            <a:endParaRPr lang="de-DE" sz="1600" b="0" i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673B9B78-A48F-BC4D-05B3-62D1681AE88D}"/>
                  </a:ext>
                </a:extLst>
              </p:cNvPr>
              <p:cNvSpPr txBox="1"/>
              <p:nvPr/>
            </p:nvSpPr>
            <p:spPr>
              <a:xfrm>
                <a:off x="2776186" y="3052465"/>
                <a:ext cx="578778" cy="500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40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i="1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400" i="0" dirty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1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673B9B78-A48F-BC4D-05B3-62D1681A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6186" y="3052465"/>
                <a:ext cx="578778" cy="5002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100BFC2A-2A53-4EFF-92B5-7A58C0BEDE8C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4543252" y="1049674"/>
            <a:ext cx="1701622" cy="1254961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9FC36F6C-3F17-B649-5C3D-2D77EF561931}"/>
              </a:ext>
            </a:extLst>
          </p:cNvPr>
          <p:cNvSpPr txBox="1"/>
          <p:nvPr/>
        </p:nvSpPr>
        <p:spPr>
          <a:xfrm>
            <a:off x="5337498" y="1153934"/>
            <a:ext cx="896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Length</a:t>
            </a:r>
            <a:r>
              <a:rPr lang="de-DE" sz="1400" dirty="0"/>
              <a:t>/2</a:t>
            </a:r>
          </a:p>
          <a:p>
            <a:r>
              <a:rPr lang="de-DE" sz="1400" dirty="0"/>
              <a:t>=L/2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71EFEBAF-CAC9-3BA2-E9F2-410E2EB31210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999433" y="152619"/>
            <a:ext cx="696032" cy="94376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7B354C9E-9D81-9B2D-4308-E1223DB78011}"/>
              </a:ext>
            </a:extLst>
          </p:cNvPr>
          <p:cNvSpPr txBox="1"/>
          <p:nvPr/>
        </p:nvSpPr>
        <p:spPr>
          <a:xfrm>
            <a:off x="680223" y="259537"/>
            <a:ext cx="804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Width/2</a:t>
            </a:r>
          </a:p>
          <a:p>
            <a:r>
              <a:rPr lang="de-DE" sz="1400" dirty="0"/>
              <a:t>=W/2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91C58069-28C8-D785-7985-BC7AA2157B88}"/>
              </a:ext>
            </a:extLst>
          </p:cNvPr>
          <p:cNvSpPr txBox="1"/>
          <p:nvPr/>
        </p:nvSpPr>
        <p:spPr>
          <a:xfrm>
            <a:off x="7531398" y="-108991"/>
            <a:ext cx="68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X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4A801A6A-6235-03F4-A0D3-A024DB5563BC}"/>
              </a:ext>
            </a:extLst>
          </p:cNvPr>
          <p:cNvSpPr txBox="1"/>
          <p:nvPr/>
        </p:nvSpPr>
        <p:spPr>
          <a:xfrm>
            <a:off x="-1887" y="5738847"/>
            <a:ext cx="68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841FAC27-C563-2C4E-9AFA-1A2617AB3C60}"/>
                  </a:ext>
                </a:extLst>
              </p:cNvPr>
              <p:cNvSpPr txBox="1"/>
              <p:nvPr/>
            </p:nvSpPr>
            <p:spPr>
              <a:xfrm>
                <a:off x="8815566" y="1797139"/>
                <a:ext cx="1936235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+90°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841FAC27-C563-2C4E-9AFA-1A2617AB3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66" y="1797139"/>
                <a:ext cx="1936235" cy="349648"/>
              </a:xfrm>
              <a:prstGeom prst="rect">
                <a:avLst/>
              </a:prstGeom>
              <a:blipFill>
                <a:blip r:embed="rId4"/>
                <a:stretch>
                  <a:fillRect l="-1572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8AFA07F5-1C59-BBC2-A561-D94ADA746E44}"/>
                  </a:ext>
                </a:extLst>
              </p:cNvPr>
              <p:cNvSpPr txBox="1"/>
              <p:nvPr/>
            </p:nvSpPr>
            <p:spPr>
              <a:xfrm>
                <a:off x="8805998" y="2212900"/>
                <a:ext cx="1918602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+90°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8AFA07F5-1C59-BBC2-A561-D94ADA746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998" y="2212900"/>
                <a:ext cx="1918602" cy="349648"/>
              </a:xfrm>
              <a:prstGeom prst="rect">
                <a:avLst/>
              </a:prstGeom>
              <a:blipFill>
                <a:blip r:embed="rId5"/>
                <a:stretch>
                  <a:fillRect l="-1911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646AFEC-8F6A-E26D-E596-5968FC16244F}"/>
                  </a:ext>
                </a:extLst>
              </p:cNvPr>
              <p:cNvSpPr txBox="1"/>
              <p:nvPr/>
            </p:nvSpPr>
            <p:spPr>
              <a:xfrm>
                <a:off x="5299164" y="135467"/>
                <a:ext cx="184409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𝐻𝑦𝑝𝑜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𝑎𝑛𝑔𝑙</m:t>
                              </m:r>
                              <m:sSub>
                                <m:sSubPr>
                                  <m:ctrlP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𝑟𝑒𝑠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646AFEC-8F6A-E26D-E596-5968FC162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164" y="135467"/>
                <a:ext cx="1844095" cy="184666"/>
              </a:xfrm>
              <a:prstGeom prst="rect">
                <a:avLst/>
              </a:prstGeom>
              <a:blipFill>
                <a:blip r:embed="rId13"/>
                <a:stretch>
                  <a:fillRect l="-1650" t="-3226" b="-290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DA4445E1-620F-D863-D529-827194B73577}"/>
                  </a:ext>
                </a:extLst>
              </p:cNvPr>
              <p:cNvSpPr txBox="1"/>
              <p:nvPr/>
            </p:nvSpPr>
            <p:spPr>
              <a:xfrm>
                <a:off x="8801591" y="2625510"/>
                <a:ext cx="2011576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DA4445E1-620F-D863-D529-827194B7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591" y="2625510"/>
                <a:ext cx="2011576" cy="349648"/>
              </a:xfrm>
              <a:prstGeom prst="rect">
                <a:avLst/>
              </a:prstGeom>
              <a:blipFill>
                <a:blip r:embed="rId14"/>
                <a:stretch>
                  <a:fillRect l="-1818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B9A67EF4-B0B5-78A2-8ED7-B5AB493D2302}"/>
                  </a:ext>
                </a:extLst>
              </p:cNvPr>
              <p:cNvSpPr txBox="1"/>
              <p:nvPr/>
            </p:nvSpPr>
            <p:spPr>
              <a:xfrm>
                <a:off x="8801591" y="3041271"/>
                <a:ext cx="1993944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feld 127">
                <a:extLst>
                  <a:ext uri="{FF2B5EF4-FFF2-40B4-BE49-F238E27FC236}">
                    <a16:creationId xmlns:a16="http://schemas.microsoft.com/office/drawing/2014/main" id="{B9A67EF4-B0B5-78A2-8ED7-B5AB493D2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591" y="3041271"/>
                <a:ext cx="1993944" cy="349648"/>
              </a:xfrm>
              <a:prstGeom prst="rect">
                <a:avLst/>
              </a:prstGeom>
              <a:blipFill>
                <a:blip r:embed="rId15"/>
                <a:stretch>
                  <a:fillRect l="-1835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2" name="Tabelle 109">
                <a:extLst>
                  <a:ext uri="{FF2B5EF4-FFF2-40B4-BE49-F238E27FC236}">
                    <a16:creationId xmlns:a16="http://schemas.microsoft.com/office/drawing/2014/main" id="{9AA935A0-6F00-6423-9CCE-8986BE2535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04651" y="135467"/>
              <a:ext cx="3932947" cy="1051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6465">
                      <a:extLst>
                        <a:ext uri="{9D8B030D-6E8A-4147-A177-3AD203B41FA5}">
                          <a16:colId xmlns:a16="http://schemas.microsoft.com/office/drawing/2014/main" val="576695010"/>
                        </a:ext>
                      </a:extLst>
                    </a:gridCol>
                    <a:gridCol w="1109810">
                      <a:extLst>
                        <a:ext uri="{9D8B030D-6E8A-4147-A177-3AD203B41FA5}">
                          <a16:colId xmlns:a16="http://schemas.microsoft.com/office/drawing/2014/main" val="4158676526"/>
                        </a:ext>
                      </a:extLst>
                    </a:gridCol>
                    <a:gridCol w="1108336">
                      <a:extLst>
                        <a:ext uri="{9D8B030D-6E8A-4147-A177-3AD203B41FA5}">
                          <a16:colId xmlns:a16="http://schemas.microsoft.com/office/drawing/2014/main" val="1202174177"/>
                        </a:ext>
                      </a:extLst>
                    </a:gridCol>
                    <a:gridCol w="1108336">
                      <a:extLst>
                        <a:ext uri="{9D8B030D-6E8A-4147-A177-3AD203B41FA5}">
                          <a16:colId xmlns:a16="http://schemas.microsoft.com/office/drawing/2014/main" val="278275951"/>
                        </a:ext>
                      </a:extLst>
                    </a:gridCol>
                  </a:tblGrid>
                  <a:tr h="26161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Referencepoint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427303"/>
                      </a:ext>
                    </a:extLst>
                  </a:tr>
                  <a:tr h="2616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Front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1597392"/>
                      </a:ext>
                    </a:extLst>
                  </a:tr>
                  <a:tr h="2616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𝑓𝑟𝑜𝑛𝑡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𝑓𝑟𝑜𝑛𝑡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84019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2" name="Tabelle 109">
                <a:extLst>
                  <a:ext uri="{FF2B5EF4-FFF2-40B4-BE49-F238E27FC236}">
                    <a16:creationId xmlns:a16="http://schemas.microsoft.com/office/drawing/2014/main" id="{9AA935A0-6F00-6423-9CCE-8986BE2535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5179795"/>
                  </p:ext>
                </p:extLst>
              </p:nvPr>
            </p:nvGraphicFramePr>
            <p:xfrm>
              <a:off x="7904651" y="135467"/>
              <a:ext cx="3932947" cy="1051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6465">
                      <a:extLst>
                        <a:ext uri="{9D8B030D-6E8A-4147-A177-3AD203B41FA5}">
                          <a16:colId xmlns:a16="http://schemas.microsoft.com/office/drawing/2014/main" val="576695010"/>
                        </a:ext>
                      </a:extLst>
                    </a:gridCol>
                    <a:gridCol w="1109810">
                      <a:extLst>
                        <a:ext uri="{9D8B030D-6E8A-4147-A177-3AD203B41FA5}">
                          <a16:colId xmlns:a16="http://schemas.microsoft.com/office/drawing/2014/main" val="4158676526"/>
                        </a:ext>
                      </a:extLst>
                    </a:gridCol>
                    <a:gridCol w="1108336">
                      <a:extLst>
                        <a:ext uri="{9D8B030D-6E8A-4147-A177-3AD203B41FA5}">
                          <a16:colId xmlns:a16="http://schemas.microsoft.com/office/drawing/2014/main" val="1202174177"/>
                        </a:ext>
                      </a:extLst>
                    </a:gridCol>
                    <a:gridCol w="1108336">
                      <a:extLst>
                        <a:ext uri="{9D8B030D-6E8A-4147-A177-3AD203B41FA5}">
                          <a16:colId xmlns:a16="http://schemas.microsoft.com/office/drawing/2014/main" val="278275951"/>
                        </a:ext>
                      </a:extLst>
                    </a:gridCol>
                  </a:tblGrid>
                  <a:tr h="27432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Referencepoint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242730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Front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1597392"/>
                      </a:ext>
                    </a:extLst>
                  </a:tr>
                  <a:tr h="502412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8"/>
                          <a:stretch>
                            <a:fillRect l="-1000" t="-109639" r="-548000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8"/>
                          <a:stretch>
                            <a:fillRect l="-55495" t="-109639" r="-201099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8"/>
                          <a:stretch>
                            <a:fillRect l="-155495" t="-109639" r="-101099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8"/>
                          <a:stretch>
                            <a:fillRect l="-255495" t="-109639" r="-1099" b="-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84019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Multiplikationszeichen 1">
            <a:extLst>
              <a:ext uri="{FF2B5EF4-FFF2-40B4-BE49-F238E27FC236}">
                <a16:creationId xmlns:a16="http://schemas.microsoft.com/office/drawing/2014/main" id="{1BD648DD-CAD1-4398-8E90-94AE82EB6A87}"/>
              </a:ext>
            </a:extLst>
          </p:cNvPr>
          <p:cNvSpPr/>
          <p:nvPr/>
        </p:nvSpPr>
        <p:spPr>
          <a:xfrm rot="18378587">
            <a:off x="2939826" y="2323804"/>
            <a:ext cx="572251" cy="778138"/>
          </a:xfrm>
          <a:prstGeom prst="mathMultiply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E3CD1DB-152B-C764-7488-2279DD656017}"/>
                  </a:ext>
                </a:extLst>
              </p:cNvPr>
              <p:cNvSpPr txBox="1"/>
              <p:nvPr/>
            </p:nvSpPr>
            <p:spPr>
              <a:xfrm>
                <a:off x="2014082" y="2526675"/>
                <a:ext cx="95135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𝐺𝑖𝑣𝑒𝑛</m:t>
                      </m:r>
                      <m:r>
                        <a:rPr lang="de-DE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1400" b="0" i="1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𝐶𝑜𝑜𝑟𝑑𝑖𝑛𝑎𝑡𝑒</m:t>
                      </m:r>
                    </m:oMath>
                  </m:oMathPara>
                </a14:m>
                <a:endParaRPr lang="de-DE" sz="1400" b="0" i="1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E3CD1DB-152B-C764-7488-2279DD656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4082" y="2526675"/>
                <a:ext cx="951351" cy="430887"/>
              </a:xfrm>
              <a:prstGeom prst="rect">
                <a:avLst/>
              </a:prstGeom>
              <a:blipFill>
                <a:blip r:embed="rId19"/>
                <a:stretch>
                  <a:fillRect l="-3846" r="-3205" b="-42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Pfeil: nach unten 75">
            <a:extLst>
              <a:ext uri="{FF2B5EF4-FFF2-40B4-BE49-F238E27FC236}">
                <a16:creationId xmlns:a16="http://schemas.microsoft.com/office/drawing/2014/main" id="{5D8CDF1A-F115-57C6-48A9-A1F9910D6B8F}"/>
              </a:ext>
            </a:extLst>
          </p:cNvPr>
          <p:cNvSpPr/>
          <p:nvPr/>
        </p:nvSpPr>
        <p:spPr>
          <a:xfrm rot="12981294">
            <a:off x="3498575" y="1671960"/>
            <a:ext cx="109810" cy="1150411"/>
          </a:xfrm>
          <a:prstGeom prst="downArrow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Pfeil: nach unten 79">
            <a:extLst>
              <a:ext uri="{FF2B5EF4-FFF2-40B4-BE49-F238E27FC236}">
                <a16:creationId xmlns:a16="http://schemas.microsoft.com/office/drawing/2014/main" id="{CA045D31-BEC0-3D66-85E2-89812A3E9143}"/>
              </a:ext>
            </a:extLst>
          </p:cNvPr>
          <p:cNvSpPr/>
          <p:nvPr/>
        </p:nvSpPr>
        <p:spPr>
          <a:xfrm rot="2186198">
            <a:off x="2809990" y="2603209"/>
            <a:ext cx="105567" cy="1186198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Pfeil: nach unten 81">
            <a:extLst>
              <a:ext uri="{FF2B5EF4-FFF2-40B4-BE49-F238E27FC236}">
                <a16:creationId xmlns:a16="http://schemas.microsoft.com/office/drawing/2014/main" id="{ADF3A689-C68C-7F70-3100-80F25B7F781E}"/>
              </a:ext>
            </a:extLst>
          </p:cNvPr>
          <p:cNvSpPr/>
          <p:nvPr/>
        </p:nvSpPr>
        <p:spPr>
          <a:xfrm rot="7581672">
            <a:off x="2276180" y="939682"/>
            <a:ext cx="89153" cy="2229338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F59A2EA5-7495-439B-0CFA-E3CF486C9EC7}"/>
              </a:ext>
            </a:extLst>
          </p:cNvPr>
          <p:cNvSpPr/>
          <p:nvPr/>
        </p:nvSpPr>
        <p:spPr>
          <a:xfrm rot="18383118">
            <a:off x="4066884" y="2261745"/>
            <a:ext cx="89153" cy="222933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99E67834-8342-D3E8-3604-9641288CB414}"/>
                  </a:ext>
                </a:extLst>
              </p:cNvPr>
              <p:cNvSpPr txBox="1"/>
              <p:nvPr/>
            </p:nvSpPr>
            <p:spPr>
              <a:xfrm>
                <a:off x="3033984" y="1797139"/>
                <a:ext cx="578778" cy="500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40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i="1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de-DE" sz="1400" i="0" dirty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14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99E67834-8342-D3E8-3604-9641288CB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84" y="1797139"/>
                <a:ext cx="578778" cy="50020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E5B5321-0484-DD5A-BF40-6FD895FF2AEA}"/>
                  </a:ext>
                </a:extLst>
              </p:cNvPr>
              <p:cNvSpPr txBox="1"/>
              <p:nvPr/>
            </p:nvSpPr>
            <p:spPr>
              <a:xfrm>
                <a:off x="2235799" y="1574620"/>
                <a:ext cx="578778" cy="500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40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 dirty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b="0" i="1" dirty="0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400" i="0" dirty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1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DE5B5321-0484-DD5A-BF40-6FD895FF2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99" y="1574620"/>
                <a:ext cx="578778" cy="500202"/>
              </a:xfrm>
              <a:prstGeom prst="rect">
                <a:avLst/>
              </a:prstGeom>
              <a:blipFill>
                <a:blip r:embed="rId21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C900972-31FC-575D-531F-BD6A1A537E2A}"/>
                  </a:ext>
                </a:extLst>
              </p:cNvPr>
              <p:cNvSpPr txBox="1"/>
              <p:nvPr/>
            </p:nvSpPr>
            <p:spPr>
              <a:xfrm>
                <a:off x="3832128" y="2751780"/>
                <a:ext cx="578778" cy="500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4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400" i="0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BC900972-31FC-575D-531F-BD6A1A537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2128" y="2751780"/>
                <a:ext cx="578778" cy="500202"/>
              </a:xfrm>
              <a:prstGeom prst="rect">
                <a:avLst/>
              </a:prstGeom>
              <a:blipFill>
                <a:blip r:embed="rId2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feld 19">
            <a:extLst>
              <a:ext uri="{FF2B5EF4-FFF2-40B4-BE49-F238E27FC236}">
                <a16:creationId xmlns:a16="http://schemas.microsoft.com/office/drawing/2014/main" id="{18894F83-EBAB-39FF-9760-5A8EEDB70EE6}"/>
              </a:ext>
            </a:extLst>
          </p:cNvPr>
          <p:cNvSpPr txBox="1"/>
          <p:nvPr/>
        </p:nvSpPr>
        <p:spPr>
          <a:xfrm>
            <a:off x="1763779" y="3945040"/>
            <a:ext cx="107401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600" b="0" i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 </a:t>
            </a:r>
            <a:r>
              <a:rPr lang="de-DE" sz="1600" b="0" i="1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de-DE" sz="1600" b="0" i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de-DE" sz="1600" b="0" i="1" dirty="0" err="1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side</a:t>
            </a:r>
            <a:endParaRPr lang="de-DE" sz="1600" b="0" i="1" dirty="0">
              <a:solidFill>
                <a:srgbClr val="7030A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2A19F10-B7E5-5DDC-A20E-7C1CC029E671}"/>
              </a:ext>
            </a:extLst>
          </p:cNvPr>
          <p:cNvSpPr txBox="1"/>
          <p:nvPr/>
        </p:nvSpPr>
        <p:spPr>
          <a:xfrm>
            <a:off x="3517024" y="1234484"/>
            <a:ext cx="107401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600" b="0" i="1" dirty="0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 </a:t>
            </a:r>
            <a:r>
              <a:rPr lang="de-DE" sz="1600" b="0" i="1" dirty="0" err="1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left</a:t>
            </a:r>
            <a:r>
              <a:rPr lang="de-DE" sz="1600" b="0" i="1" dirty="0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de-DE" sz="1600" b="0" i="1" dirty="0" err="1">
                <a:solidFill>
                  <a:srgbClr val="00B0F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side</a:t>
            </a:r>
            <a:endParaRPr lang="de-DE" sz="1600" b="0" i="1" dirty="0">
              <a:solidFill>
                <a:srgbClr val="00B0F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288A4A9C-F18A-C160-D144-8307E138BD13}"/>
              </a:ext>
            </a:extLst>
          </p:cNvPr>
          <p:cNvSpPr txBox="1"/>
          <p:nvPr/>
        </p:nvSpPr>
        <p:spPr>
          <a:xfrm>
            <a:off x="270429" y="1218093"/>
            <a:ext cx="86421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600" b="0" i="1" dirty="0">
                <a:solidFill>
                  <a:srgbClr val="FFC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Mid front </a:t>
            </a:r>
          </a:p>
          <a:p>
            <a:r>
              <a:rPr lang="de-DE" sz="1600" b="0" i="1" dirty="0" err="1">
                <a:solidFill>
                  <a:srgbClr val="FFC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bumper</a:t>
            </a:r>
            <a:endParaRPr lang="de-DE" sz="1600" b="0" i="1" dirty="0">
              <a:solidFill>
                <a:srgbClr val="FFC00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2FD48CD6-7E0E-DC5B-37B4-530A45737A71}"/>
                  </a:ext>
                </a:extLst>
              </p:cNvPr>
              <p:cNvSpPr txBox="1"/>
              <p:nvPr/>
            </p:nvSpPr>
            <p:spPr>
              <a:xfrm>
                <a:off x="8817312" y="3455743"/>
                <a:ext cx="1546385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2FD48CD6-7E0E-DC5B-37B4-530A45737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312" y="3455743"/>
                <a:ext cx="1546385" cy="349648"/>
              </a:xfrm>
              <a:prstGeom prst="rect">
                <a:avLst/>
              </a:prstGeom>
              <a:blipFill>
                <a:blip r:embed="rId23"/>
                <a:stretch>
                  <a:fillRect l="-1969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4D2ED529-2B81-960A-D004-F543E8F2AD42}"/>
                  </a:ext>
                </a:extLst>
              </p:cNvPr>
              <p:cNvSpPr txBox="1"/>
              <p:nvPr/>
            </p:nvSpPr>
            <p:spPr>
              <a:xfrm>
                <a:off x="8817312" y="3871504"/>
                <a:ext cx="1529200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4D2ED529-2B81-960A-D004-F543E8F2A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312" y="3871504"/>
                <a:ext cx="1529200" cy="349648"/>
              </a:xfrm>
              <a:prstGeom prst="rect">
                <a:avLst/>
              </a:prstGeom>
              <a:blipFill>
                <a:blip r:embed="rId24"/>
                <a:stretch>
                  <a:fillRect l="-1992" t="-3509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2FD3D194-DB61-9C4B-2EAA-6858D18BC3F8}"/>
                  </a:ext>
                </a:extLst>
              </p:cNvPr>
              <p:cNvSpPr txBox="1"/>
              <p:nvPr/>
            </p:nvSpPr>
            <p:spPr>
              <a:xfrm>
                <a:off x="8815566" y="4287265"/>
                <a:ext cx="1968872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2FD3D194-DB61-9C4B-2EAA-6858D18BC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66" y="4287265"/>
                <a:ext cx="1968872" cy="349648"/>
              </a:xfrm>
              <a:prstGeom prst="rect">
                <a:avLst/>
              </a:prstGeom>
              <a:blipFill>
                <a:blip r:embed="rId25"/>
                <a:stretch>
                  <a:fillRect l="-1858" t="-1724" b="-120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A5F562E1-945B-0F27-BEA6-85903B95B7E4}"/>
                  </a:ext>
                </a:extLst>
              </p:cNvPr>
              <p:cNvSpPr txBox="1"/>
              <p:nvPr/>
            </p:nvSpPr>
            <p:spPr>
              <a:xfrm>
                <a:off x="8815566" y="4703026"/>
                <a:ext cx="1942391" cy="349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−18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A5F562E1-945B-0F27-BEA6-85903B95B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566" y="4703026"/>
                <a:ext cx="1942391" cy="349648"/>
              </a:xfrm>
              <a:prstGeom prst="rect">
                <a:avLst/>
              </a:prstGeom>
              <a:blipFill>
                <a:blip r:embed="rId26"/>
                <a:stretch>
                  <a:fillRect l="-1881" t="-1724" b="-120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83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ogen 24">
            <a:extLst>
              <a:ext uri="{FF2B5EF4-FFF2-40B4-BE49-F238E27FC236}">
                <a16:creationId xmlns:a16="http://schemas.microsoft.com/office/drawing/2014/main" id="{0DA2236F-0EA5-FE83-CFEB-64437C2ECAFE}"/>
              </a:ext>
            </a:extLst>
          </p:cNvPr>
          <p:cNvSpPr/>
          <p:nvPr/>
        </p:nvSpPr>
        <p:spPr>
          <a:xfrm rot="12898203">
            <a:off x="3846670" y="3046798"/>
            <a:ext cx="1825112" cy="2078363"/>
          </a:xfrm>
          <a:prstGeom prst="arc">
            <a:avLst>
              <a:gd name="adj1" fmla="val 21353452"/>
              <a:gd name="adj2" fmla="val 813879"/>
            </a:avLst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A39E9B3-29B6-CCED-BDCC-92E3BE872BF3}"/>
              </a:ext>
            </a:extLst>
          </p:cNvPr>
          <p:cNvGrpSpPr/>
          <p:nvPr/>
        </p:nvGrpSpPr>
        <p:grpSpPr>
          <a:xfrm rot="18378587">
            <a:off x="1742099" y="101095"/>
            <a:ext cx="2920148" cy="5217506"/>
            <a:chOff x="2590644" y="2307168"/>
            <a:chExt cx="761482" cy="1213458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F8C13350-0551-1AE3-D575-F754958C3560}"/>
                </a:ext>
              </a:extLst>
            </p:cNvPr>
            <p:cNvSpPr/>
            <p:nvPr/>
          </p:nvSpPr>
          <p:spPr>
            <a:xfrm>
              <a:off x="2636860" y="2479675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398A4EAF-DA31-8381-CEEB-C5FBE5750716}"/>
                </a:ext>
              </a:extLst>
            </p:cNvPr>
            <p:cNvSpPr/>
            <p:nvPr/>
          </p:nvSpPr>
          <p:spPr>
            <a:xfrm>
              <a:off x="3249635" y="2479675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84D7A459-AF10-DAE3-3291-EFE44AA061B5}"/>
                </a:ext>
              </a:extLst>
            </p:cNvPr>
            <p:cNvSpPr/>
            <p:nvPr/>
          </p:nvSpPr>
          <p:spPr>
            <a:xfrm>
              <a:off x="3249635" y="3197225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FC09450B-348A-9718-6C9C-35837DEADE90}"/>
                </a:ext>
              </a:extLst>
            </p:cNvPr>
            <p:cNvSpPr/>
            <p:nvPr/>
          </p:nvSpPr>
          <p:spPr>
            <a:xfrm>
              <a:off x="2636860" y="3197225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436FF9E5-7593-A8F6-0412-A730C09CF7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71822" y="2278063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27DD6BA6-CB2E-A13B-B95D-41598AEC3DF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71822" y="2997200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429F51A-E6FE-9D11-047C-F51B863C0CF1}"/>
                </a:ext>
              </a:extLst>
            </p:cNvPr>
            <p:cNvSpPr/>
            <p:nvPr/>
          </p:nvSpPr>
          <p:spPr>
            <a:xfrm>
              <a:off x="2665435" y="2403475"/>
              <a:ext cx="612775" cy="1025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9" name="Multiplikationszeichen 8">
              <a:extLst>
                <a:ext uri="{FF2B5EF4-FFF2-40B4-BE49-F238E27FC236}">
                  <a16:creationId xmlns:a16="http://schemas.microsoft.com/office/drawing/2014/main" id="{FD6FB626-E2F1-AA5B-4B93-82818AE8DE13}"/>
                </a:ext>
              </a:extLst>
            </p:cNvPr>
            <p:cNvSpPr/>
            <p:nvPr/>
          </p:nvSpPr>
          <p:spPr>
            <a:xfrm>
              <a:off x="2897209" y="3339307"/>
              <a:ext cx="149225" cy="180975"/>
            </a:xfrm>
            <a:prstGeom prst="mathMultiply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1" name="Multiplikationszeichen 10">
              <a:extLst>
                <a:ext uri="{FF2B5EF4-FFF2-40B4-BE49-F238E27FC236}">
                  <a16:creationId xmlns:a16="http://schemas.microsoft.com/office/drawing/2014/main" id="{D946FC75-7415-6432-982C-14C422A33EF7}"/>
                </a:ext>
              </a:extLst>
            </p:cNvPr>
            <p:cNvSpPr/>
            <p:nvPr/>
          </p:nvSpPr>
          <p:spPr>
            <a:xfrm>
              <a:off x="2590988" y="2307168"/>
              <a:ext cx="149225" cy="180975"/>
            </a:xfrm>
            <a:prstGeom prst="mathMultiply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2" name="Multiplikationszeichen 11">
              <a:extLst>
                <a:ext uri="{FF2B5EF4-FFF2-40B4-BE49-F238E27FC236}">
                  <a16:creationId xmlns:a16="http://schemas.microsoft.com/office/drawing/2014/main" id="{D9686358-2EAE-7169-0A5C-CA18F1128798}"/>
                </a:ext>
              </a:extLst>
            </p:cNvPr>
            <p:cNvSpPr/>
            <p:nvPr/>
          </p:nvSpPr>
          <p:spPr>
            <a:xfrm>
              <a:off x="3202901" y="3339259"/>
              <a:ext cx="149225" cy="180975"/>
            </a:xfrm>
            <a:prstGeom prst="mathMultiply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3" name="Multiplikationszeichen 12">
              <a:extLst>
                <a:ext uri="{FF2B5EF4-FFF2-40B4-BE49-F238E27FC236}">
                  <a16:creationId xmlns:a16="http://schemas.microsoft.com/office/drawing/2014/main" id="{21FAC4E8-5C90-A17B-9815-EFE2DF391964}"/>
                </a:ext>
              </a:extLst>
            </p:cNvPr>
            <p:cNvSpPr/>
            <p:nvPr/>
          </p:nvSpPr>
          <p:spPr>
            <a:xfrm>
              <a:off x="2590644" y="3339651"/>
              <a:ext cx="149225" cy="180975"/>
            </a:xfrm>
            <a:prstGeom prst="mathMultiply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8AE19A3-3A5A-A539-FD84-E8430673D2C1}"/>
                  </a:ext>
                </a:extLst>
              </p:cNvPr>
              <p:cNvSpPr txBox="1"/>
              <p:nvPr/>
            </p:nvSpPr>
            <p:spPr>
              <a:xfrm>
                <a:off x="6303445" y="4754019"/>
                <a:ext cx="137697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h𝑒𝑎𝑑𝑖𝑛𝑔</m:t>
                      </m:r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𝑎𝑛𝑔𝑙𝑒</m:t>
                      </m:r>
                    </m:oMath>
                  </m:oMathPara>
                </a14:m>
                <a:endParaRPr lang="de-DE" sz="16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de-DE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feld 43">
                <a:extLst>
                  <a:ext uri="{FF2B5EF4-FFF2-40B4-BE49-F238E27FC236}">
                    <a16:creationId xmlns:a16="http://schemas.microsoft.com/office/drawing/2014/main" id="{28AE19A3-3A5A-A539-FD84-E8430673D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445" y="4754019"/>
                <a:ext cx="1376979" cy="492443"/>
              </a:xfrm>
              <a:prstGeom prst="rect">
                <a:avLst/>
              </a:prstGeom>
              <a:blipFill>
                <a:blip r:embed="rId2"/>
                <a:stretch>
                  <a:fillRect l="-4425" r="-39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Bogen 44">
            <a:extLst>
              <a:ext uri="{FF2B5EF4-FFF2-40B4-BE49-F238E27FC236}">
                <a16:creationId xmlns:a16="http://schemas.microsoft.com/office/drawing/2014/main" id="{0769EE2E-40B2-7492-E347-15397B4CD215}"/>
              </a:ext>
            </a:extLst>
          </p:cNvPr>
          <p:cNvSpPr/>
          <p:nvPr/>
        </p:nvSpPr>
        <p:spPr>
          <a:xfrm rot="15262168">
            <a:off x="6212642" y="4157526"/>
            <a:ext cx="1825112" cy="2078363"/>
          </a:xfrm>
          <a:prstGeom prst="arc">
            <a:avLst>
              <a:gd name="adj1" fmla="val 18228111"/>
              <a:gd name="adj2" fmla="val 3084666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08A1759F-71DB-B7B9-DC95-9A2BDAC08CBE}"/>
              </a:ext>
            </a:extLst>
          </p:cNvPr>
          <p:cNvCxnSpPr>
            <a:cxnSpLocks/>
          </p:cNvCxnSpPr>
          <p:nvPr/>
        </p:nvCxnSpPr>
        <p:spPr>
          <a:xfrm flipV="1">
            <a:off x="7732468" y="292167"/>
            <a:ext cx="0" cy="57728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3B0B585-5152-BE94-8289-D21BC43BD395}"/>
              </a:ext>
            </a:extLst>
          </p:cNvPr>
          <p:cNvCxnSpPr>
            <a:cxnSpLocks/>
          </p:cNvCxnSpPr>
          <p:nvPr/>
        </p:nvCxnSpPr>
        <p:spPr>
          <a:xfrm flipH="1" flipV="1">
            <a:off x="342627" y="6018583"/>
            <a:ext cx="7416035" cy="2742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4CEC1618-DA6C-4BC7-B5F2-F2C726EE9813}"/>
              </a:ext>
            </a:extLst>
          </p:cNvPr>
          <p:cNvCxnSpPr>
            <a:cxnSpLocks/>
          </p:cNvCxnSpPr>
          <p:nvPr/>
        </p:nvCxnSpPr>
        <p:spPr>
          <a:xfrm flipH="1" flipV="1">
            <a:off x="342627" y="595933"/>
            <a:ext cx="7389841" cy="54500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5DB48C8A-5AE5-2507-FBFE-5DA4CEB40F41}"/>
                  </a:ext>
                </a:extLst>
              </p:cNvPr>
              <p:cNvSpPr txBox="1"/>
              <p:nvPr/>
            </p:nvSpPr>
            <p:spPr>
              <a:xfrm>
                <a:off x="5299164" y="3661249"/>
                <a:ext cx="16927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𝐺𝑖𝑣𝑒𝑛</m:t>
                      </m:r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de-DE" sz="16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𝐶𝑜𝑜𝑟𝑑𝑖𝑛𝑎𝑡𝑒</m:t>
                      </m:r>
                    </m:oMath>
                  </m:oMathPara>
                </a14:m>
                <a:endParaRPr lang="de-DE" sz="16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e-DE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(Mid </a:t>
                </a:r>
                <a:r>
                  <a:rPr lang="de-DE" sz="1600" b="0" i="1" dirty="0" err="1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rear</a:t>
                </a:r>
                <a:r>
                  <a:rPr lang="de-DE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de-DE" sz="1600" b="0" i="1" dirty="0" err="1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bumper</a:t>
                </a:r>
                <a:r>
                  <a:rPr lang="de-DE" sz="1600" b="0" i="1" dirty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5DB48C8A-5AE5-2507-FBFE-5DA4CEB4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164" y="3661249"/>
                <a:ext cx="1692771" cy="492443"/>
              </a:xfrm>
              <a:prstGeom prst="rect">
                <a:avLst/>
              </a:prstGeom>
              <a:blipFill>
                <a:blip r:embed="rId3"/>
                <a:stretch>
                  <a:fillRect l="-7194" r="-3957" b="-237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Pfeil: nach unten 70">
            <a:extLst>
              <a:ext uri="{FF2B5EF4-FFF2-40B4-BE49-F238E27FC236}">
                <a16:creationId xmlns:a16="http://schemas.microsoft.com/office/drawing/2014/main" id="{91FC62C2-838A-FE7A-0EFD-0D48FFA33B3C}"/>
              </a:ext>
            </a:extLst>
          </p:cNvPr>
          <p:cNvSpPr/>
          <p:nvPr/>
        </p:nvSpPr>
        <p:spPr>
          <a:xfrm rot="10800000">
            <a:off x="663259" y="2310492"/>
            <a:ext cx="107442" cy="1760494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Pfeil: nach unten 71">
            <a:extLst>
              <a:ext uri="{FF2B5EF4-FFF2-40B4-BE49-F238E27FC236}">
                <a16:creationId xmlns:a16="http://schemas.microsoft.com/office/drawing/2014/main" id="{161BF096-DE0D-D7E9-5AEB-2C343B5ED66F}"/>
              </a:ext>
            </a:extLst>
          </p:cNvPr>
          <p:cNvSpPr/>
          <p:nvPr/>
        </p:nvSpPr>
        <p:spPr>
          <a:xfrm rot="5400000">
            <a:off x="2781326" y="1973347"/>
            <a:ext cx="114427" cy="4199272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Pfeil: nach unten 72">
            <a:extLst>
              <a:ext uri="{FF2B5EF4-FFF2-40B4-BE49-F238E27FC236}">
                <a16:creationId xmlns:a16="http://schemas.microsoft.com/office/drawing/2014/main" id="{B006784F-B0AA-0973-2943-EE0064F09639}"/>
              </a:ext>
            </a:extLst>
          </p:cNvPr>
          <p:cNvSpPr/>
          <p:nvPr/>
        </p:nvSpPr>
        <p:spPr>
          <a:xfrm>
            <a:off x="4224197" y="4011905"/>
            <a:ext cx="112952" cy="973873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Pfeil: nach unten 73">
            <a:extLst>
              <a:ext uri="{FF2B5EF4-FFF2-40B4-BE49-F238E27FC236}">
                <a16:creationId xmlns:a16="http://schemas.microsoft.com/office/drawing/2014/main" id="{0E42732A-5F91-76D6-3E1E-A59BF5C1665E}"/>
              </a:ext>
            </a:extLst>
          </p:cNvPr>
          <p:cNvSpPr/>
          <p:nvPr/>
        </p:nvSpPr>
        <p:spPr>
          <a:xfrm rot="5400000">
            <a:off x="4583068" y="3662433"/>
            <a:ext cx="109521" cy="705648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0" name="Pfeil: nach unten 79">
            <a:extLst>
              <a:ext uri="{FF2B5EF4-FFF2-40B4-BE49-F238E27FC236}">
                <a16:creationId xmlns:a16="http://schemas.microsoft.com/office/drawing/2014/main" id="{CA045D31-BEC0-3D66-85E2-89812A3E9143}"/>
              </a:ext>
            </a:extLst>
          </p:cNvPr>
          <p:cNvSpPr/>
          <p:nvPr/>
        </p:nvSpPr>
        <p:spPr>
          <a:xfrm rot="2151879">
            <a:off x="4597047" y="3930911"/>
            <a:ext cx="133690" cy="1190942"/>
          </a:xfrm>
          <a:prstGeom prst="downArrow">
            <a:avLst/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2" name="Pfeil: nach unten 81">
            <a:extLst>
              <a:ext uri="{FF2B5EF4-FFF2-40B4-BE49-F238E27FC236}">
                <a16:creationId xmlns:a16="http://schemas.microsoft.com/office/drawing/2014/main" id="{ADF3A689-C68C-7F70-3100-80F25B7F781E}"/>
              </a:ext>
            </a:extLst>
          </p:cNvPr>
          <p:cNvSpPr/>
          <p:nvPr/>
        </p:nvSpPr>
        <p:spPr>
          <a:xfrm rot="6738733">
            <a:off x="2811336" y="856263"/>
            <a:ext cx="108608" cy="4643904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CC485A1F-4409-62AD-E42D-C0837C85CBD7}"/>
              </a:ext>
            </a:extLst>
          </p:cNvPr>
          <p:cNvSpPr txBox="1"/>
          <p:nvPr/>
        </p:nvSpPr>
        <p:spPr>
          <a:xfrm>
            <a:off x="1472794" y="4050449"/>
            <a:ext cx="84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FFC000"/>
                </a:solidFill>
              </a:rPr>
              <a:t>dy_front</a:t>
            </a:r>
            <a:endParaRPr lang="de-DE" sz="1400" dirty="0">
              <a:solidFill>
                <a:srgbClr val="FFC000"/>
              </a:solidFill>
            </a:endParaRP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F5D71963-DC99-EB5D-C8CE-85DBEF0A174C}"/>
              </a:ext>
            </a:extLst>
          </p:cNvPr>
          <p:cNvSpPr txBox="1"/>
          <p:nvPr/>
        </p:nvSpPr>
        <p:spPr>
          <a:xfrm>
            <a:off x="737361" y="3140619"/>
            <a:ext cx="84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FFC000"/>
                </a:solidFill>
              </a:rPr>
              <a:t>dx_front</a:t>
            </a:r>
            <a:endParaRPr lang="de-DE" sz="1400" dirty="0">
              <a:solidFill>
                <a:srgbClr val="FFC000"/>
              </a:solidFill>
            </a:endParaRP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8EF914AB-8C82-7482-981A-BB8A619891DD}"/>
              </a:ext>
            </a:extLst>
          </p:cNvPr>
          <p:cNvSpPr txBox="1"/>
          <p:nvPr/>
        </p:nvSpPr>
        <p:spPr>
          <a:xfrm>
            <a:off x="3636262" y="4188087"/>
            <a:ext cx="84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</a:rPr>
              <a:t>dx_left</a:t>
            </a:r>
            <a:endParaRPr lang="de-DE" sz="1400" dirty="0">
              <a:solidFill>
                <a:srgbClr val="7030A0"/>
              </a:solidFill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70DCD60-BAA2-8FBA-B7CF-FD635BDBB42E}"/>
              </a:ext>
            </a:extLst>
          </p:cNvPr>
          <p:cNvSpPr txBox="1"/>
          <p:nvPr/>
        </p:nvSpPr>
        <p:spPr>
          <a:xfrm>
            <a:off x="4256680" y="4005027"/>
            <a:ext cx="84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</a:rPr>
              <a:t>dy_left</a:t>
            </a:r>
            <a:endParaRPr lang="de-DE" sz="1400" dirty="0">
              <a:solidFill>
                <a:srgbClr val="7030A0"/>
              </a:solidFill>
            </a:endParaRP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340B7704-6A9E-D1D3-9926-B2272DB27677}"/>
              </a:ext>
            </a:extLst>
          </p:cNvPr>
          <p:cNvSpPr txBox="1"/>
          <p:nvPr/>
        </p:nvSpPr>
        <p:spPr>
          <a:xfrm>
            <a:off x="1731019" y="2420718"/>
            <a:ext cx="169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FFC000"/>
                </a:solidFill>
              </a:rPr>
              <a:t>Hypo_front</a:t>
            </a:r>
            <a:endParaRPr lang="de-DE" sz="1400" dirty="0">
              <a:solidFill>
                <a:srgbClr val="FFC000"/>
              </a:solidFill>
            </a:endParaRP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673B9B78-A48F-BC4D-05B3-62D1681AE88D}"/>
              </a:ext>
            </a:extLst>
          </p:cNvPr>
          <p:cNvSpPr txBox="1"/>
          <p:nvPr/>
        </p:nvSpPr>
        <p:spPr>
          <a:xfrm>
            <a:off x="4672801" y="4499890"/>
            <a:ext cx="1692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>
                <a:solidFill>
                  <a:srgbClr val="7030A0"/>
                </a:solidFill>
              </a:rPr>
              <a:t>Hypo_left</a:t>
            </a:r>
            <a:endParaRPr lang="de-DE" sz="1400" dirty="0">
              <a:solidFill>
                <a:srgbClr val="7030A0"/>
              </a:solidFill>
            </a:endParaRPr>
          </a:p>
        </p:txBody>
      </p: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100BFC2A-2A53-4EFF-92B5-7A58C0BEDE8C}"/>
              </a:ext>
            </a:extLst>
          </p:cNvPr>
          <p:cNvCxnSpPr>
            <a:cxnSpLocks noChangeAspect="1"/>
          </p:cNvCxnSpPr>
          <p:nvPr/>
        </p:nvCxnSpPr>
        <p:spPr>
          <a:xfrm flipH="1" flipV="1">
            <a:off x="2428561" y="36634"/>
            <a:ext cx="3543782" cy="261357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9FC36F6C-3F17-B649-5C3D-2D77EF561931}"/>
              </a:ext>
            </a:extLst>
          </p:cNvPr>
          <p:cNvSpPr txBox="1"/>
          <p:nvPr/>
        </p:nvSpPr>
        <p:spPr>
          <a:xfrm>
            <a:off x="5066764" y="1455183"/>
            <a:ext cx="896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/>
              <a:t>Length</a:t>
            </a:r>
            <a:endParaRPr lang="de-DE" sz="1400" dirty="0"/>
          </a:p>
          <a:p>
            <a:r>
              <a:rPr lang="de-DE" sz="1400" dirty="0"/>
              <a:t>=L</a:t>
            </a:r>
          </a:p>
        </p:txBody>
      </p:sp>
      <p:cxnSp>
        <p:nvCxnSpPr>
          <p:cNvPr id="102" name="Gerade Verbindung mit Pfeil 101">
            <a:extLst>
              <a:ext uri="{FF2B5EF4-FFF2-40B4-BE49-F238E27FC236}">
                <a16:creationId xmlns:a16="http://schemas.microsoft.com/office/drawing/2014/main" id="{71EFEBAF-CAC9-3BA2-E9F2-410E2EB31210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999433" y="152619"/>
            <a:ext cx="696032" cy="94376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feld 103">
            <a:extLst>
              <a:ext uri="{FF2B5EF4-FFF2-40B4-BE49-F238E27FC236}">
                <a16:creationId xmlns:a16="http://schemas.microsoft.com/office/drawing/2014/main" id="{7B354C9E-9D81-9B2D-4308-E1223DB78011}"/>
              </a:ext>
            </a:extLst>
          </p:cNvPr>
          <p:cNvSpPr txBox="1"/>
          <p:nvPr/>
        </p:nvSpPr>
        <p:spPr>
          <a:xfrm>
            <a:off x="680223" y="259537"/>
            <a:ext cx="804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Width/2</a:t>
            </a:r>
          </a:p>
          <a:p>
            <a:r>
              <a:rPr lang="de-DE" sz="1400" dirty="0"/>
              <a:t>=W/2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91C58069-28C8-D785-7985-BC7AA2157B88}"/>
              </a:ext>
            </a:extLst>
          </p:cNvPr>
          <p:cNvSpPr txBox="1"/>
          <p:nvPr/>
        </p:nvSpPr>
        <p:spPr>
          <a:xfrm>
            <a:off x="7531398" y="-108991"/>
            <a:ext cx="68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X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4A801A6A-6235-03F4-A0D3-A024DB5563BC}"/>
              </a:ext>
            </a:extLst>
          </p:cNvPr>
          <p:cNvSpPr txBox="1"/>
          <p:nvPr/>
        </p:nvSpPr>
        <p:spPr>
          <a:xfrm>
            <a:off x="-1887" y="5738847"/>
            <a:ext cx="682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841FAC27-C563-2C4E-9AFA-1A2617AB3C60}"/>
                  </a:ext>
                </a:extLst>
              </p:cNvPr>
              <p:cNvSpPr txBox="1"/>
              <p:nvPr/>
            </p:nvSpPr>
            <p:spPr>
              <a:xfrm>
                <a:off x="7904990" y="2235450"/>
                <a:ext cx="2079480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+90°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841FAC27-C563-2C4E-9AFA-1A2617AB3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990" y="2235450"/>
                <a:ext cx="2079480" cy="344518"/>
              </a:xfrm>
              <a:prstGeom prst="rect">
                <a:avLst/>
              </a:prstGeom>
              <a:blipFill>
                <a:blip r:embed="rId5"/>
                <a:stretch>
                  <a:fillRect l="-1760" t="-3571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8AFA07F5-1C59-BBC2-A561-D94ADA746E44}"/>
                  </a:ext>
                </a:extLst>
              </p:cNvPr>
              <p:cNvSpPr txBox="1"/>
              <p:nvPr/>
            </p:nvSpPr>
            <p:spPr>
              <a:xfrm>
                <a:off x="10020118" y="2233337"/>
                <a:ext cx="2061846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+90°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8AFA07F5-1C59-BBC2-A561-D94ADA746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118" y="2233337"/>
                <a:ext cx="2061846" cy="344518"/>
              </a:xfrm>
              <a:prstGeom prst="rect">
                <a:avLst/>
              </a:prstGeom>
              <a:blipFill>
                <a:blip r:embed="rId6"/>
                <a:stretch>
                  <a:fillRect l="-1775" t="-1754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2EDD7873-4C89-5217-E662-C423C4065345}"/>
                  </a:ext>
                </a:extLst>
              </p:cNvPr>
              <p:cNvSpPr txBox="1"/>
              <p:nvPr/>
            </p:nvSpPr>
            <p:spPr>
              <a:xfrm>
                <a:off x="7896799" y="1816665"/>
                <a:ext cx="1274964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8" name="Textfeld 117">
                <a:extLst>
                  <a:ext uri="{FF2B5EF4-FFF2-40B4-BE49-F238E27FC236}">
                    <a16:creationId xmlns:a16="http://schemas.microsoft.com/office/drawing/2014/main" id="{2EDD7873-4C89-5217-E662-C423C4065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799" y="1816665"/>
                <a:ext cx="1274964" cy="344518"/>
              </a:xfrm>
              <a:prstGeom prst="rect">
                <a:avLst/>
              </a:prstGeom>
              <a:blipFill>
                <a:blip r:embed="rId7"/>
                <a:stretch>
                  <a:fillRect l="-3333" t="-3509" r="-1905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E6A79DB8-2B0C-D297-D9D3-779A3D7F5EC1}"/>
                  </a:ext>
                </a:extLst>
              </p:cNvPr>
              <p:cNvSpPr txBox="1"/>
              <p:nvPr/>
            </p:nvSpPr>
            <p:spPr>
              <a:xfrm>
                <a:off x="10023749" y="1898197"/>
                <a:ext cx="1661160" cy="199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+90°</m:t>
                      </m:r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E6A79DB8-2B0C-D297-D9D3-779A3D7F5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749" y="1898197"/>
                <a:ext cx="1661160" cy="199478"/>
              </a:xfrm>
              <a:prstGeom prst="rect">
                <a:avLst/>
              </a:prstGeom>
              <a:blipFill>
                <a:blip r:embed="rId8"/>
                <a:stretch>
                  <a:fillRect l="-2930" r="-1465" b="-272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646AFEC-8F6A-E26D-E596-5968FC16244F}"/>
                  </a:ext>
                </a:extLst>
              </p:cNvPr>
              <p:cNvSpPr txBox="1"/>
              <p:nvPr/>
            </p:nvSpPr>
            <p:spPr>
              <a:xfrm>
                <a:off x="5299164" y="135467"/>
                <a:ext cx="184409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𝐻𝑦𝑝𝑜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𝑎𝑛𝑔𝑙</m:t>
                              </m:r>
                              <m:sSub>
                                <m:sSubPr>
                                  <m:ctrlP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de-DE" sz="1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𝑟𝑒𝑠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646AFEC-8F6A-E26D-E596-5968FC162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164" y="135467"/>
                <a:ext cx="1844095" cy="184666"/>
              </a:xfrm>
              <a:prstGeom prst="rect">
                <a:avLst/>
              </a:prstGeom>
              <a:blipFill>
                <a:blip r:embed="rId9"/>
                <a:stretch>
                  <a:fillRect l="-1650" t="-3226" b="-2903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F58A1C02-74E5-EFB8-8516-28F726254097}"/>
                  </a:ext>
                </a:extLst>
              </p:cNvPr>
              <p:cNvSpPr txBox="1"/>
              <p:nvPr/>
            </p:nvSpPr>
            <p:spPr>
              <a:xfrm>
                <a:off x="7895634" y="6044302"/>
                <a:ext cx="2076851" cy="545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F58A1C02-74E5-EFB8-8516-28F726254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634" y="6044302"/>
                <a:ext cx="2076851" cy="54566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A624396F-5E09-96A5-BC81-6B4FE4FAFFAD}"/>
                  </a:ext>
                </a:extLst>
              </p:cNvPr>
              <p:cNvSpPr txBox="1"/>
              <p:nvPr/>
            </p:nvSpPr>
            <p:spPr>
              <a:xfrm>
                <a:off x="7904651" y="5553670"/>
                <a:ext cx="2483949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2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type m:val="skw"/>
                                      <m:ctrlPr>
                                        <a:rPr lang="de-DE" sz="12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sz="12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0" name="Textfeld 129">
                <a:extLst>
                  <a:ext uri="{FF2B5EF4-FFF2-40B4-BE49-F238E27FC236}">
                    <a16:creationId xmlns:a16="http://schemas.microsoft.com/office/drawing/2014/main" id="{A624396F-5E09-96A5-BC81-6B4FE4FAF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651" y="5553670"/>
                <a:ext cx="2483949" cy="4149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2" name="Tabelle 109">
                <a:extLst>
                  <a:ext uri="{FF2B5EF4-FFF2-40B4-BE49-F238E27FC236}">
                    <a16:creationId xmlns:a16="http://schemas.microsoft.com/office/drawing/2014/main" id="{9AA935A0-6F00-6423-9CCE-8986BE25354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904651" y="135467"/>
              <a:ext cx="4135669" cy="1553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3397">
                      <a:extLst>
                        <a:ext uri="{9D8B030D-6E8A-4147-A177-3AD203B41FA5}">
                          <a16:colId xmlns:a16="http://schemas.microsoft.com/office/drawing/2014/main" val="576695010"/>
                        </a:ext>
                      </a:extLst>
                    </a:gridCol>
                    <a:gridCol w="1803633">
                      <a:extLst>
                        <a:ext uri="{9D8B030D-6E8A-4147-A177-3AD203B41FA5}">
                          <a16:colId xmlns:a16="http://schemas.microsoft.com/office/drawing/2014/main" val="1202174177"/>
                        </a:ext>
                      </a:extLst>
                    </a:gridCol>
                    <a:gridCol w="1738639">
                      <a:extLst>
                        <a:ext uri="{9D8B030D-6E8A-4147-A177-3AD203B41FA5}">
                          <a16:colId xmlns:a16="http://schemas.microsoft.com/office/drawing/2014/main" val="278275951"/>
                        </a:ext>
                      </a:extLst>
                    </a:gridCol>
                  </a:tblGrid>
                  <a:tr h="26161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 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597392"/>
                      </a:ext>
                    </a:extLst>
                  </a:tr>
                  <a:tr h="261610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78401930"/>
                      </a:ext>
                    </a:extLst>
                  </a:tr>
                  <a:tr h="26161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Front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Front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Front 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9826010"/>
                      </a:ext>
                    </a:extLst>
                  </a:tr>
                  <a:tr h="261610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𝑓𝑟𝑜𝑛𝑡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𝑓𝑟𝑜𝑛𝑡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𝑙𝑒𝑓𝑡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de-DE" sz="12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e-DE" sz="1200" b="0" i="1" smtClean="0">
                                            <a:solidFill>
                                              <a:sysClr val="windowText" lastClr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𝑑𝑥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+ⅆ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ⅆ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ysClr val="windowText" lastClr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a:rPr lang="de-DE" sz="1200" b="0" i="1" smtClean="0">
                                              <a:solidFill>
                                                <a:srgbClr val="00B0F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𝑟𝑒𝑎𝑟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_</m:t>
                                              </m:r>
                                              <m:r>
                                                <a:rPr lang="de-DE" sz="1200" b="0" i="1" smtClean="0">
                                                  <a:solidFill>
                                                    <a:srgbClr val="00B0F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𝑟𝑖𝑔h𝑡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85858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2" name="Tabelle 109">
                <a:extLst>
                  <a:ext uri="{FF2B5EF4-FFF2-40B4-BE49-F238E27FC236}">
                    <a16:creationId xmlns:a16="http://schemas.microsoft.com/office/drawing/2014/main" id="{9AA935A0-6F00-6423-9CCE-8986BE2535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52775816"/>
                  </p:ext>
                </p:extLst>
              </p:nvPr>
            </p:nvGraphicFramePr>
            <p:xfrm>
              <a:off x="7904651" y="135467"/>
              <a:ext cx="4135669" cy="1553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93397">
                      <a:extLst>
                        <a:ext uri="{9D8B030D-6E8A-4147-A177-3AD203B41FA5}">
                          <a16:colId xmlns:a16="http://schemas.microsoft.com/office/drawing/2014/main" val="576695010"/>
                        </a:ext>
                      </a:extLst>
                    </a:gridCol>
                    <a:gridCol w="1803633">
                      <a:extLst>
                        <a:ext uri="{9D8B030D-6E8A-4147-A177-3AD203B41FA5}">
                          <a16:colId xmlns:a16="http://schemas.microsoft.com/office/drawing/2014/main" val="1202174177"/>
                        </a:ext>
                      </a:extLst>
                    </a:gridCol>
                    <a:gridCol w="1738639">
                      <a:extLst>
                        <a:ext uri="{9D8B030D-6E8A-4147-A177-3AD203B41FA5}">
                          <a16:colId xmlns:a16="http://schemas.microsoft.com/office/drawing/2014/main" val="278275951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Rear</a:t>
                          </a:r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 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1597392"/>
                      </a:ext>
                    </a:extLst>
                  </a:tr>
                  <a:tr h="502412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3446" t="-55422" r="-97297" b="-156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38112" t="-55422" r="-699" b="-1566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8401930"/>
                      </a:ext>
                    </a:extLst>
                  </a:tr>
                  <a:tr h="27432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Front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Front </a:t>
                          </a:r>
                          <a:r>
                            <a:rPr lang="de-DE" sz="1200" b="0" dirty="0" err="1">
                              <a:solidFill>
                                <a:sysClr val="windowText" lastClr="000000"/>
                              </a:solidFill>
                            </a:rPr>
                            <a:t>Left</a:t>
                          </a:r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e-DE" sz="1200" b="0" dirty="0">
                              <a:solidFill>
                                <a:sysClr val="windowText" lastClr="000000"/>
                              </a:solidFill>
                            </a:rPr>
                            <a:t>Edge Front Right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9826010"/>
                      </a:ext>
                    </a:extLst>
                  </a:tr>
                  <a:tr h="502412">
                    <a:tc vMerge="1">
                      <a:txBody>
                        <a:bodyPr/>
                        <a:lstStyle/>
                        <a:p>
                          <a:pPr algn="ctr"/>
                          <a:endParaRPr lang="de-DE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33446" t="-209639" r="-97297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2"/>
                          <a:stretch>
                            <a:fillRect l="-138112" t="-209639" r="-699" b="-2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5858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Multiplikationszeichen 1">
            <a:extLst>
              <a:ext uri="{FF2B5EF4-FFF2-40B4-BE49-F238E27FC236}">
                <a16:creationId xmlns:a16="http://schemas.microsoft.com/office/drawing/2014/main" id="{A8E32725-015F-1618-762D-8030BAC35E3A}"/>
              </a:ext>
            </a:extLst>
          </p:cNvPr>
          <p:cNvSpPr/>
          <p:nvPr/>
        </p:nvSpPr>
        <p:spPr>
          <a:xfrm rot="18378587">
            <a:off x="1835172" y="98406"/>
            <a:ext cx="572251" cy="778138"/>
          </a:xfrm>
          <a:prstGeom prst="mathMultiply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242609B-946B-73F0-AD68-33FA7BA2B2C5}"/>
                  </a:ext>
                </a:extLst>
              </p:cNvPr>
              <p:cNvSpPr txBox="1"/>
              <p:nvPr/>
            </p:nvSpPr>
            <p:spPr>
              <a:xfrm>
                <a:off x="7916573" y="4168656"/>
                <a:ext cx="3572132" cy="545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de-DE" sz="1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de-DE" sz="1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de-DE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f>
                                            <m:fPr>
                                              <m:type m:val="skw"/>
                                              <m:ctrlPr>
                                                <a:rPr lang="de-DE" sz="12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de-DE" sz="12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𝑊</m:t>
                                              </m:r>
                                            </m:num>
                                            <m:den>
                                              <m:r>
                                                <a:rPr lang="de-DE" sz="1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num>
                                        <m:den>
                                          <m:r>
                                            <a:rPr lang="de-DE" sz="1200" b="0" i="1" smtClean="0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3242609B-946B-73F0-AD68-33FA7BA2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73" y="4168656"/>
                <a:ext cx="3572132" cy="54566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BAFB92-963A-5E31-27CA-E93152A2F759}"/>
                  </a:ext>
                </a:extLst>
              </p:cNvPr>
              <p:cNvSpPr txBox="1"/>
              <p:nvPr/>
            </p:nvSpPr>
            <p:spPr>
              <a:xfrm>
                <a:off x="7916573" y="4885816"/>
                <a:ext cx="3554948" cy="545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2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1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i="1" dirty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1200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1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arctan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12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f>
                                        <m:fPr>
                                          <m:type m:val="skw"/>
                                          <m:ctrlPr>
                                            <a:rPr lang="de-DE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de-DE" sz="12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num>
                                        <m:den>
                                          <m:r>
                                            <a:rPr lang="de-DE" sz="1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num>
                                    <m:den>
                                      <m:r>
                                        <a:rPr lang="de-DE" sz="12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A3BAFB92-963A-5E31-27CA-E93152A2F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573" y="4885816"/>
                <a:ext cx="3554948" cy="54566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8C571BAD-B188-E420-50C3-D5B4449F5E1E}"/>
                  </a:ext>
                </a:extLst>
              </p:cNvPr>
              <p:cNvSpPr txBox="1"/>
              <p:nvPr/>
            </p:nvSpPr>
            <p:spPr>
              <a:xfrm>
                <a:off x="7923848" y="3470112"/>
                <a:ext cx="2069669" cy="545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de-DE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de-DE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sz="12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de-DE" sz="12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i="0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de-DE" sz="12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8C571BAD-B188-E420-50C3-D5B4449F5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3848" y="3470112"/>
                <a:ext cx="2069669" cy="54566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4521B24-FD21-74E3-3BB7-5AAA8CC90334}"/>
                  </a:ext>
                </a:extLst>
              </p:cNvPr>
              <p:cNvSpPr txBox="1"/>
              <p:nvPr/>
            </p:nvSpPr>
            <p:spPr>
              <a:xfrm>
                <a:off x="10107718" y="3562416"/>
                <a:ext cx="2057423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2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type m:val="skw"/>
                                      <m:ctrlPr>
                                        <a:rPr lang="de-DE" sz="12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200" b="0" i="1" smtClean="0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sz="1200" b="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F4521B24-FD21-74E3-3BB7-5AAA8CC90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7718" y="3562416"/>
                <a:ext cx="2057423" cy="41498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C994907A-EDC5-C487-1501-668C8BBBE2A5}"/>
                  </a:ext>
                </a:extLst>
              </p:cNvPr>
              <p:cNvSpPr txBox="1"/>
              <p:nvPr/>
            </p:nvSpPr>
            <p:spPr>
              <a:xfrm>
                <a:off x="7906763" y="3065330"/>
                <a:ext cx="2154821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de-DE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DE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C994907A-EDC5-C487-1501-668C8BBBE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763" y="3065330"/>
                <a:ext cx="2154821" cy="344518"/>
              </a:xfrm>
              <a:prstGeom prst="rect">
                <a:avLst/>
              </a:prstGeom>
              <a:blipFill>
                <a:blip r:embed="rId17"/>
                <a:stretch>
                  <a:fillRect l="-1130" t="-3571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E8BFD582-0FA1-F1E9-7D46-03B8710BE1F0}"/>
                  </a:ext>
                </a:extLst>
              </p:cNvPr>
              <p:cNvSpPr txBox="1"/>
              <p:nvPr/>
            </p:nvSpPr>
            <p:spPr>
              <a:xfrm>
                <a:off x="10058645" y="3053426"/>
                <a:ext cx="2137188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DE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sin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de-DE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90°</m:t>
                          </m:r>
                        </m:e>
                      </m:d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E8BFD582-0FA1-F1E9-7D46-03B8710BE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645" y="3053426"/>
                <a:ext cx="2137188" cy="344518"/>
              </a:xfrm>
              <a:prstGeom prst="rect">
                <a:avLst/>
              </a:prstGeom>
              <a:blipFill>
                <a:blip r:embed="rId18"/>
                <a:stretch>
                  <a:fillRect l="-1140" t="-3571" b="-160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C968A87-40A7-D7BD-CF56-661F6889563C}"/>
                  </a:ext>
                </a:extLst>
              </p:cNvPr>
              <p:cNvSpPr txBox="1"/>
              <p:nvPr/>
            </p:nvSpPr>
            <p:spPr>
              <a:xfrm>
                <a:off x="7898572" y="2646545"/>
                <a:ext cx="1350306" cy="344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𝐻𝑦𝑝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sz="1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1200" i="1" dirty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de-DE" sz="1200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C968A87-40A7-D7BD-CF56-661F68895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572" y="2646545"/>
                <a:ext cx="1350306" cy="344518"/>
              </a:xfrm>
              <a:prstGeom prst="rect">
                <a:avLst/>
              </a:prstGeom>
              <a:blipFill>
                <a:blip r:embed="rId19"/>
                <a:stretch>
                  <a:fillRect l="-3620" t="-3509" r="-2262" b="-14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E18B954B-32C1-43A6-F56E-DF80D4208A70}"/>
                  </a:ext>
                </a:extLst>
              </p:cNvPr>
              <p:cNvSpPr txBox="1"/>
              <p:nvPr/>
            </p:nvSpPr>
            <p:spPr>
              <a:xfrm>
                <a:off x="10058645" y="2728495"/>
                <a:ext cx="1965731" cy="199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𝑎𝑛𝑔𝑙</m:t>
                      </m:r>
                      <m:sSub>
                        <m:sSubPr>
                          <m:ctrlP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_</m:t>
                          </m:r>
                          <m:r>
                            <a:rPr lang="de-DE" sz="1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de-DE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1.5708</m:t>
                      </m:r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E18B954B-32C1-43A6-F56E-DF80D4208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645" y="2728495"/>
                <a:ext cx="1965731" cy="199735"/>
              </a:xfrm>
              <a:prstGeom prst="rect">
                <a:avLst/>
              </a:prstGeom>
              <a:blipFill>
                <a:blip r:embed="rId20"/>
                <a:stretch>
                  <a:fillRect l="-2477" t="-3125" r="-1858" b="-312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Bogen 110">
            <a:extLst>
              <a:ext uri="{FF2B5EF4-FFF2-40B4-BE49-F238E27FC236}">
                <a16:creationId xmlns:a16="http://schemas.microsoft.com/office/drawing/2014/main" id="{138B3D94-08BF-BE59-1FA8-221CDFFDD16C}"/>
              </a:ext>
            </a:extLst>
          </p:cNvPr>
          <p:cNvSpPr/>
          <p:nvPr/>
        </p:nvSpPr>
        <p:spPr>
          <a:xfrm rot="1943531">
            <a:off x="-301899" y="840259"/>
            <a:ext cx="1825112" cy="2078363"/>
          </a:xfrm>
          <a:prstGeom prst="arc">
            <a:avLst>
              <a:gd name="adj1" fmla="val 923696"/>
              <a:gd name="adj2" fmla="val 2948718"/>
            </a:avLst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846E0D79-D498-0BBA-AB5A-2725D4031D41}"/>
                  </a:ext>
                </a:extLst>
              </p:cNvPr>
              <p:cNvSpPr txBox="1"/>
              <p:nvPr/>
            </p:nvSpPr>
            <p:spPr>
              <a:xfrm>
                <a:off x="-15452" y="1212791"/>
                <a:ext cx="1440202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1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de-DE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de-DE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DE" sz="140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de-DE" sz="140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400" i="1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type m:val="skw"/>
                                      <m:ctrlPr>
                                        <a:rPr lang="de-DE" sz="14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400" i="1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sz="14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1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846E0D79-D498-0BBA-AB5A-2725D4031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452" y="1212791"/>
                <a:ext cx="1440202" cy="4840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AE5FD33-9C72-8EFF-BDC9-05FBE70ADD8E}"/>
              </a:ext>
            </a:extLst>
          </p:cNvPr>
          <p:cNvCxnSpPr>
            <a:cxnSpLocks/>
          </p:cNvCxnSpPr>
          <p:nvPr/>
        </p:nvCxnSpPr>
        <p:spPr>
          <a:xfrm flipV="1">
            <a:off x="860837" y="1747381"/>
            <a:ext cx="0" cy="91427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B6C7E9C1-6FBE-E0F0-669F-A7D771D778FC}"/>
                  </a:ext>
                </a:extLst>
              </p:cNvPr>
              <p:cNvSpPr txBox="1"/>
              <p:nvPr/>
            </p:nvSpPr>
            <p:spPr>
              <a:xfrm>
                <a:off x="3235553" y="2430250"/>
                <a:ext cx="1692767" cy="576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14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400" b="0" i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d>
                            <m:dPr>
                              <m:ctrlPr>
                                <a:rPr lang="de-DE" sz="14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14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>
                                    <m:fPr>
                                      <m:type m:val="skw"/>
                                      <m:ctrlPr>
                                        <a:rPr lang="de-DE" sz="14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14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𝑊</m:t>
                                      </m:r>
                                    </m:num>
                                    <m:den>
                                      <m:r>
                                        <a:rPr lang="de-DE" sz="1400" b="0" i="1" smtClean="0">
                                          <a:solidFill>
                                            <a:srgbClr val="FFC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sz="1400" b="0" i="1" smtClean="0">
                                      <a:solidFill>
                                        <a:srgbClr val="FFC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14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B6C7E9C1-6FBE-E0F0-669F-A7D771D77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553" y="2430250"/>
                <a:ext cx="1692767" cy="57637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DF3361F-B213-D5CA-C1BC-45C8B0C2063B}"/>
              </a:ext>
            </a:extLst>
          </p:cNvPr>
          <p:cNvCxnSpPr>
            <a:cxnSpLocks/>
            <a:endCxn id="27" idx="2"/>
          </p:cNvCxnSpPr>
          <p:nvPr/>
        </p:nvCxnSpPr>
        <p:spPr>
          <a:xfrm flipH="1" flipV="1">
            <a:off x="4081937" y="3006626"/>
            <a:ext cx="77563" cy="674186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6BD5638-67E2-4DFF-02BE-3BF80D9FFE7D}"/>
                  </a:ext>
                </a:extLst>
              </p:cNvPr>
              <p:cNvSpPr txBox="1"/>
              <p:nvPr/>
            </p:nvSpPr>
            <p:spPr>
              <a:xfrm>
                <a:off x="5299163" y="400941"/>
                <a:ext cx="120770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90°=1.5708 </m:t>
                      </m:r>
                      <m:r>
                        <a:rPr lang="de-DE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𝑟𝑎𝑑</m:t>
                      </m:r>
                    </m:oMath>
                  </m:oMathPara>
                </a14:m>
                <a:endParaRPr lang="de-DE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26BD5638-67E2-4DFF-02BE-3BF80D9FF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163" y="400941"/>
                <a:ext cx="1207703" cy="184666"/>
              </a:xfrm>
              <a:prstGeom prst="rect">
                <a:avLst/>
              </a:prstGeom>
              <a:blipFill>
                <a:blip r:embed="rId23"/>
                <a:stretch>
                  <a:fillRect l="-2525" r="-303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248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94E2908-6D2F-0B5F-2602-AF7CA70163E1}"/>
              </a:ext>
            </a:extLst>
          </p:cNvPr>
          <p:cNvSpPr txBox="1"/>
          <p:nvPr/>
        </p:nvSpPr>
        <p:spPr>
          <a:xfrm>
            <a:off x="847053" y="330699"/>
            <a:ext cx="11296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Choose</a:t>
            </a:r>
            <a:r>
              <a:rPr lang="de-DE" b="1" dirty="0"/>
              <a:t> </a:t>
            </a:r>
            <a:r>
              <a:rPr lang="de-DE" b="1" dirty="0" err="1"/>
              <a:t>reference</a:t>
            </a:r>
            <a:r>
              <a:rPr lang="de-DE" b="1" dirty="0"/>
              <a:t> </a:t>
            </a:r>
            <a:r>
              <a:rPr lang="de-DE" b="1" dirty="0" err="1"/>
              <a:t>point</a:t>
            </a:r>
            <a:r>
              <a:rPr lang="de-DE" b="1" dirty="0"/>
              <a:t> </a:t>
            </a:r>
            <a:r>
              <a:rPr lang="de-DE" dirty="0"/>
              <a:t>(and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corresponding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)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comparing</a:t>
            </a:r>
            <a:r>
              <a:rPr lang="de-DE" dirty="0"/>
              <a:t> radial </a:t>
            </a:r>
            <a:r>
              <a:rPr lang="de-DE" dirty="0" err="1"/>
              <a:t>distance</a:t>
            </a:r>
            <a:r>
              <a:rPr lang="de-DE" dirty="0"/>
              <a:t>. </a:t>
            </a:r>
            <a:r>
              <a:rPr lang="de-DE" dirty="0" err="1"/>
              <a:t>Lowest</a:t>
            </a:r>
            <a:r>
              <a:rPr lang="de-DE" dirty="0"/>
              <a:t> </a:t>
            </a:r>
            <a:r>
              <a:rPr lang="de-DE" dirty="0" err="1"/>
              <a:t>value</a:t>
            </a:r>
            <a:r>
              <a:rPr lang="de-DE" dirty="0"/>
              <a:t> = </a:t>
            </a:r>
            <a:r>
              <a:rPr lang="de-DE" dirty="0" err="1"/>
              <a:t>refPoint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6F62CBA-C762-6B85-4E04-5AD01B126CE5}"/>
                  </a:ext>
                </a:extLst>
              </p:cNvPr>
              <p:cNvSpPr txBox="1"/>
              <p:nvPr/>
            </p:nvSpPr>
            <p:spPr>
              <a:xfrm>
                <a:off x="908961" y="1572793"/>
                <a:ext cx="518373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𝑓𝑟𝑜𝑛𝑡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𝑓𝑟𝑜𝑛𝑡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6F62CBA-C762-6B85-4E04-5AD01B126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61" y="1572793"/>
                <a:ext cx="5183737" cy="656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788856E-3C33-CC27-32F1-E32DEA466A05}"/>
                  </a:ext>
                </a:extLst>
              </p:cNvPr>
              <p:cNvSpPr txBox="1"/>
              <p:nvPr/>
            </p:nvSpPr>
            <p:spPr>
              <a:xfrm>
                <a:off x="1020557" y="922147"/>
                <a:ext cx="518373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𝑟𝑒𝑎𝑟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𝑟𝑒𝑎𝑟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𝑟𝑒𝑎𝑟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788856E-3C33-CC27-32F1-E32DEA466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557" y="922147"/>
                <a:ext cx="5183737" cy="656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8F30A18-5D85-7835-3894-B381674C4C41}"/>
                  </a:ext>
                </a:extLst>
              </p:cNvPr>
              <p:cNvSpPr txBox="1"/>
              <p:nvPr/>
            </p:nvSpPr>
            <p:spPr>
              <a:xfrm>
                <a:off x="912262" y="2240007"/>
                <a:ext cx="518373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𝑙𝑒𝑓𝑡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8F30A18-5D85-7835-3894-B381674C4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62" y="2240007"/>
                <a:ext cx="5183737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A6FC2BC-9F8E-0F3F-820A-0B46D8DD31FD}"/>
                  </a:ext>
                </a:extLst>
              </p:cNvPr>
              <p:cNvSpPr txBox="1"/>
              <p:nvPr/>
            </p:nvSpPr>
            <p:spPr>
              <a:xfrm>
                <a:off x="912262" y="2896020"/>
                <a:ext cx="5183737" cy="656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𝑟𝑖𝑔h𝑡</m:t>
                          </m:r>
                        </m:sub>
                      </m:sSub>
                      <m:r>
                        <a:rPr lang="de-DE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Sup>
                            <m:sSubSup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  <m:sup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de-D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7A6FC2BC-9F8E-0F3F-820A-0B46D8DD3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262" y="2896020"/>
                <a:ext cx="5183737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F7CA2994-6B57-0F57-9996-43AC5FCB69F7}"/>
              </a:ext>
            </a:extLst>
          </p:cNvPr>
          <p:cNvSpPr txBox="1"/>
          <p:nvPr/>
        </p:nvSpPr>
        <p:spPr>
          <a:xfrm>
            <a:off x="7016097" y="966710"/>
            <a:ext cx="483773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double </a:t>
            </a:r>
            <a:r>
              <a:rPr lang="de-DE" dirty="0" err="1"/>
              <a:t>smallestElement</a:t>
            </a:r>
            <a:r>
              <a:rPr lang="de-DE" dirty="0"/>
              <a:t> = 0;</a:t>
            </a:r>
          </a:p>
          <a:p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dirty="0" err="1"/>
              <a:t>indexSmallestElement</a:t>
            </a:r>
            <a:r>
              <a:rPr lang="de-DE" dirty="0"/>
              <a:t> = 0;</a:t>
            </a:r>
          </a:p>
          <a:p>
            <a:endParaRPr lang="de-DE" dirty="0"/>
          </a:p>
          <a:p>
            <a:r>
              <a:rPr lang="de-DE" dirty="0"/>
              <a:t>for(</a:t>
            </a:r>
            <a:r>
              <a:rPr lang="de-DE" dirty="0" err="1"/>
              <a:t>int</a:t>
            </a:r>
            <a:r>
              <a:rPr lang="de-DE" dirty="0"/>
              <a:t> i = 0; i &lt; 4; i++){</a:t>
            </a:r>
          </a:p>
          <a:p>
            <a:r>
              <a:rPr lang="de-DE" dirty="0"/>
              <a:t>	</a:t>
            </a:r>
            <a:r>
              <a:rPr lang="de-DE" dirty="0" err="1"/>
              <a:t>if</a:t>
            </a:r>
            <a:r>
              <a:rPr lang="de-DE" dirty="0"/>
              <a:t>(</a:t>
            </a:r>
            <a:r>
              <a:rPr lang="de-DE" dirty="0" err="1"/>
              <a:t>distance</a:t>
            </a:r>
            <a:r>
              <a:rPr lang="de-DE" dirty="0"/>
              <a:t>[i] &lt; </a:t>
            </a:r>
            <a:r>
              <a:rPr lang="de-DE" dirty="0" err="1"/>
              <a:t>smallestElement</a:t>
            </a:r>
            <a:r>
              <a:rPr lang="de-DE" dirty="0"/>
              <a:t>){</a:t>
            </a:r>
          </a:p>
          <a:p>
            <a:r>
              <a:rPr lang="de-DE" dirty="0"/>
              <a:t>		</a:t>
            </a:r>
            <a:r>
              <a:rPr lang="de-DE" dirty="0" err="1"/>
              <a:t>smallestElement</a:t>
            </a:r>
            <a:r>
              <a:rPr lang="de-DE" dirty="0"/>
              <a:t> = </a:t>
            </a:r>
            <a:r>
              <a:rPr lang="de-DE" dirty="0" err="1"/>
              <a:t>distance</a:t>
            </a:r>
            <a:r>
              <a:rPr lang="de-DE" dirty="0"/>
              <a:t>[i];</a:t>
            </a:r>
          </a:p>
          <a:p>
            <a:r>
              <a:rPr lang="de-DE" dirty="0"/>
              <a:t>		</a:t>
            </a:r>
            <a:r>
              <a:rPr lang="de-DE" dirty="0" err="1"/>
              <a:t>indexSmallestElement</a:t>
            </a:r>
            <a:r>
              <a:rPr lang="de-DE" dirty="0"/>
              <a:t> = i;</a:t>
            </a:r>
          </a:p>
          <a:p>
            <a:r>
              <a:rPr lang="de-DE" dirty="0"/>
              <a:t>	}</a:t>
            </a:r>
          </a:p>
          <a:p>
            <a:r>
              <a:rPr lang="de-DE" dirty="0"/>
              <a:t>}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0E2B491-46E2-C8E7-326C-565195543046}"/>
              </a:ext>
            </a:extLst>
          </p:cNvPr>
          <p:cNvSpPr txBox="1"/>
          <p:nvPr/>
        </p:nvSpPr>
        <p:spPr>
          <a:xfrm>
            <a:off x="847053" y="3819023"/>
            <a:ext cx="846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Use </a:t>
            </a:r>
            <a:r>
              <a:rPr lang="de-DE" dirty="0" err="1"/>
              <a:t>refPoint</a:t>
            </a:r>
            <a:r>
              <a:rPr lang="de-DE" dirty="0"/>
              <a:t> and 1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side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define</a:t>
            </a:r>
            <a:r>
              <a:rPr lang="de-DE" dirty="0"/>
              <a:t> </a:t>
            </a:r>
            <a:r>
              <a:rPr lang="de-DE" dirty="0" err="1"/>
              <a:t>view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calculations</a:t>
            </a:r>
            <a:endParaRPr lang="de-DE" dirty="0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7CC96E-6144-D98B-B4FC-6C5D27F7EF02}"/>
              </a:ext>
            </a:extLst>
          </p:cNvPr>
          <p:cNvGrpSpPr/>
          <p:nvPr/>
        </p:nvGrpSpPr>
        <p:grpSpPr>
          <a:xfrm rot="1800000">
            <a:off x="1034464" y="4275878"/>
            <a:ext cx="1053306" cy="1031875"/>
            <a:chOff x="5453901" y="1933146"/>
            <a:chExt cx="1053306" cy="1031875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8BC7E4BA-E89B-CF8B-DEDA-FC40521B4241}"/>
                </a:ext>
              </a:extLst>
            </p:cNvPr>
            <p:cNvSpPr/>
            <p:nvPr/>
          </p:nvSpPr>
          <p:spPr>
            <a:xfrm rot="2700000">
              <a:off x="5972220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4B720EDC-8B45-102F-10E7-C99F2CFAC2E5}"/>
                </a:ext>
              </a:extLst>
            </p:cNvPr>
            <p:cNvSpPr/>
            <p:nvPr/>
          </p:nvSpPr>
          <p:spPr>
            <a:xfrm rot="2700000">
              <a:off x="640560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FC84C70-51A4-C780-276A-302708B94284}"/>
                </a:ext>
              </a:extLst>
            </p:cNvPr>
            <p:cNvSpPr/>
            <p:nvPr/>
          </p:nvSpPr>
          <p:spPr>
            <a:xfrm rot="2700000">
              <a:off x="5932532" y="2830083"/>
              <a:ext cx="55563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3A483463-2A0B-5C49-087F-A50B52B4A411}"/>
                </a:ext>
              </a:extLst>
            </p:cNvPr>
            <p:cNvSpPr/>
            <p:nvPr/>
          </p:nvSpPr>
          <p:spPr>
            <a:xfrm rot="2700000">
              <a:off x="549755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B80C4D0B-36D6-A235-C824-3D4ED4A71463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21828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2D9F32FB-D890-41B6-70F7-5E202BCD4575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5743620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Multiplikationszeichen 16">
              <a:extLst>
                <a:ext uri="{FF2B5EF4-FFF2-40B4-BE49-F238E27FC236}">
                  <a16:creationId xmlns:a16="http://schemas.microsoft.com/office/drawing/2014/main" id="{C29DE718-3141-E25D-33B6-B7B660248DCF}"/>
                </a:ext>
              </a:extLst>
            </p:cNvPr>
            <p:cNvSpPr/>
            <p:nvPr/>
          </p:nvSpPr>
          <p:spPr>
            <a:xfrm rot="2700000">
              <a:off x="5667420" y="2601483"/>
              <a:ext cx="150812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A8807063-B77A-490A-0D4B-66522F872BD0}"/>
                </a:ext>
              </a:extLst>
            </p:cNvPr>
            <p:cNvSpPr/>
            <p:nvPr/>
          </p:nvSpPr>
          <p:spPr>
            <a:xfrm rot="2700000">
              <a:off x="56737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A5672A7E-DE13-06A0-4ECB-4B8CC46C68FB}"/>
              </a:ext>
            </a:extLst>
          </p:cNvPr>
          <p:cNvGrpSpPr/>
          <p:nvPr/>
        </p:nvGrpSpPr>
        <p:grpSpPr>
          <a:xfrm>
            <a:off x="2400900" y="5645207"/>
            <a:ext cx="669925" cy="1025525"/>
            <a:chOff x="4598059" y="5121512"/>
            <a:chExt cx="669925" cy="1025525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F6EA26F1-1F8E-FE47-779A-73D839C97731}"/>
                </a:ext>
              </a:extLst>
            </p:cNvPr>
            <p:cNvSpPr/>
            <p:nvPr/>
          </p:nvSpPr>
          <p:spPr>
            <a:xfrm>
              <a:off x="4598059" y="5197712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4A9FC67-207F-50EF-0C55-2FB2103FB191}"/>
                </a:ext>
              </a:extLst>
            </p:cNvPr>
            <p:cNvSpPr/>
            <p:nvPr/>
          </p:nvSpPr>
          <p:spPr>
            <a:xfrm>
              <a:off x="5210834" y="5197712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33AC561-C623-679B-D9B5-C458507C75FA}"/>
                </a:ext>
              </a:extLst>
            </p:cNvPr>
            <p:cNvSpPr/>
            <p:nvPr/>
          </p:nvSpPr>
          <p:spPr>
            <a:xfrm>
              <a:off x="5210834" y="5915262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7D51E853-D41D-D6D8-631C-463B6FB8727F}"/>
                </a:ext>
              </a:extLst>
            </p:cNvPr>
            <p:cNvSpPr/>
            <p:nvPr/>
          </p:nvSpPr>
          <p:spPr>
            <a:xfrm>
              <a:off x="4598059" y="5915262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FB592121-6B4A-E79E-6795-BD4137BED2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33021" y="4996100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E225C21F-D9C0-7DD2-2826-23C486ED8E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33021" y="5715237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ultiplikationszeichen 25">
              <a:extLst>
                <a:ext uri="{FF2B5EF4-FFF2-40B4-BE49-F238E27FC236}">
                  <a16:creationId xmlns:a16="http://schemas.microsoft.com/office/drawing/2014/main" id="{B5864F3D-4901-B1E7-D189-406B2D53A1B9}"/>
                </a:ext>
              </a:extLst>
            </p:cNvPr>
            <p:cNvSpPr/>
            <p:nvPr/>
          </p:nvSpPr>
          <p:spPr>
            <a:xfrm>
              <a:off x="4858409" y="5902562"/>
              <a:ext cx="149225" cy="180975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CC120BE1-1DA7-C6E7-B5C7-2658AB2E04A4}"/>
                </a:ext>
              </a:extLst>
            </p:cNvPr>
            <p:cNvSpPr/>
            <p:nvPr/>
          </p:nvSpPr>
          <p:spPr>
            <a:xfrm>
              <a:off x="4626634" y="5121512"/>
              <a:ext cx="612775" cy="1025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32" name="Textfeld 31">
            <a:extLst>
              <a:ext uri="{FF2B5EF4-FFF2-40B4-BE49-F238E27FC236}">
                <a16:creationId xmlns:a16="http://schemas.microsoft.com/office/drawing/2014/main" id="{9F3FDC07-C076-B265-4393-AE5E9C06CF1E}"/>
              </a:ext>
            </a:extLst>
          </p:cNvPr>
          <p:cNvSpPr txBox="1"/>
          <p:nvPr/>
        </p:nvSpPr>
        <p:spPr>
          <a:xfrm>
            <a:off x="1535211" y="490699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5E95A554-FD31-E07E-4D1E-D3B48D3317C1}"/>
              </a:ext>
            </a:extLst>
          </p:cNvPr>
          <p:cNvSpPr txBox="1"/>
          <p:nvPr/>
        </p:nvSpPr>
        <p:spPr>
          <a:xfrm>
            <a:off x="1964289" y="477470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X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83AE1423-9D59-9674-AC68-5BAA04FC31F5}"/>
              </a:ext>
            </a:extLst>
          </p:cNvPr>
          <p:cNvSpPr txBox="1"/>
          <p:nvPr/>
        </p:nvSpPr>
        <p:spPr>
          <a:xfrm>
            <a:off x="1316543" y="5035241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p1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F55EE035-6331-C03C-1605-89849A06DC98}"/>
              </a:ext>
            </a:extLst>
          </p:cNvPr>
          <p:cNvSpPr txBox="1"/>
          <p:nvPr/>
        </p:nvSpPr>
        <p:spPr>
          <a:xfrm>
            <a:off x="2084768" y="455753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p2</a:t>
            </a: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4F9C55E2-FD5B-E697-4AD7-450611B3B816}"/>
              </a:ext>
            </a:extLst>
          </p:cNvPr>
          <p:cNvCxnSpPr/>
          <p:nvPr/>
        </p:nvCxnSpPr>
        <p:spPr>
          <a:xfrm flipH="1" flipV="1">
            <a:off x="1687657" y="5091657"/>
            <a:ext cx="1048205" cy="70674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11CCD172-2158-306E-6466-D218A1D81F8E}"/>
              </a:ext>
            </a:extLst>
          </p:cNvPr>
          <p:cNvCxnSpPr>
            <a:cxnSpLocks/>
          </p:cNvCxnSpPr>
          <p:nvPr/>
        </p:nvCxnSpPr>
        <p:spPr>
          <a:xfrm flipV="1">
            <a:off x="1707551" y="4967625"/>
            <a:ext cx="395611" cy="1016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9655896D-2017-9C6B-EEE7-D78F83E11EE1}"/>
              </a:ext>
            </a:extLst>
          </p:cNvPr>
          <p:cNvSpPr txBox="1"/>
          <p:nvPr/>
        </p:nvSpPr>
        <p:spPr>
          <a:xfrm>
            <a:off x="2095090" y="510938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u1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9D33612-73A2-BBB7-F789-CF81E327C2A7}"/>
              </a:ext>
            </a:extLst>
          </p:cNvPr>
          <p:cNvSpPr txBox="1"/>
          <p:nvPr/>
        </p:nvSpPr>
        <p:spPr>
          <a:xfrm>
            <a:off x="1566433" y="466734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u2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76AAEA97-A456-D4CC-1B86-5EFC85EBA183}"/>
                  </a:ext>
                </a:extLst>
              </p:cNvPr>
              <p:cNvSpPr txBox="1"/>
              <p:nvPr/>
            </p:nvSpPr>
            <p:spPr>
              <a:xfrm>
                <a:off x="3784068" y="4280990"/>
                <a:ext cx="4499309" cy="2248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𝑓𝑟𝑜𝑛𝑡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𝑓𝑟𝑜𝑛𝑡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  <a:p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de-DE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0 →90°!→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SIDE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CLASSIC</m:t>
                    </m:r>
                  </m:oMath>
                </a14:m>
                <a:r>
                  <a:rPr lang="de-DE" dirty="0"/>
                  <a:t> (+-0.1)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de-DE" b="0" i="0" smtClean="0">
                          <a:latin typeface="Cambria Math" panose="02040503050406030204" pitchFamily="18" charset="0"/>
                        </a:rPr>
                        <m:t>0 →</m:t>
                      </m:r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LShape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76AAEA97-A456-D4CC-1B86-5EFC85EBA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068" y="4280990"/>
                <a:ext cx="4499309" cy="2248629"/>
              </a:xfrm>
              <a:prstGeom prst="rect">
                <a:avLst/>
              </a:prstGeom>
              <a:blipFill>
                <a:blip r:embed="rId6"/>
                <a:stretch>
                  <a:fillRect r="-542" b="-16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feld 48">
            <a:extLst>
              <a:ext uri="{FF2B5EF4-FFF2-40B4-BE49-F238E27FC236}">
                <a16:creationId xmlns:a16="http://schemas.microsoft.com/office/drawing/2014/main" id="{5CA95558-A496-1218-5969-23E8988804A6}"/>
              </a:ext>
            </a:extLst>
          </p:cNvPr>
          <p:cNvSpPr txBox="1"/>
          <p:nvPr/>
        </p:nvSpPr>
        <p:spPr>
          <a:xfrm>
            <a:off x="8677304" y="5477226"/>
            <a:ext cx="3176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If </a:t>
            </a:r>
            <a:r>
              <a:rPr lang="de-DE" dirty="0" err="1"/>
              <a:t>Lshape</a:t>
            </a:r>
            <a:r>
              <a:rPr lang="de-DE" dirty="0"/>
              <a:t>: Check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edge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farthest</a:t>
            </a:r>
            <a:r>
              <a:rPr lang="de-DE" dirty="0"/>
              <a:t> </a:t>
            </a:r>
            <a:r>
              <a:rPr lang="de-DE" dirty="0" err="1"/>
              <a:t>away</a:t>
            </a:r>
            <a:endParaRPr lang="de-DE" dirty="0"/>
          </a:p>
          <a:p>
            <a:r>
              <a:rPr lang="de-DE" dirty="0"/>
              <a:t>-&gt; </a:t>
            </a:r>
            <a:r>
              <a:rPr lang="de-DE" dirty="0" err="1"/>
              <a:t>other</a:t>
            </a:r>
            <a:r>
              <a:rPr lang="de-DE" dirty="0"/>
              <a:t> 3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building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L!</a:t>
            </a:r>
          </a:p>
        </p:txBody>
      </p:sp>
    </p:spTree>
    <p:extLst>
      <p:ext uri="{BB962C8B-B14F-4D97-AF65-F5344CB8AC3E}">
        <p14:creationId xmlns:p14="http://schemas.microsoft.com/office/powerpoint/2010/main" val="18516073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4. </a:t>
            </a:r>
            <a:r>
              <a:rPr lang="de-DE" dirty="0" err="1"/>
              <a:t>Fradar</a:t>
            </a:r>
            <a:r>
              <a:rPr lang="de-DE" dirty="0"/>
              <a:t> </a:t>
            </a:r>
            <a:r>
              <a:rPr lang="de-DE" dirty="0" err="1"/>
              <a:t>signals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92403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23</a:t>
            </a:fld>
            <a:endParaRPr lang="en-US" noProof="1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4E3C9C5-ED8D-44D8-BAD5-324628B7461C}"/>
              </a:ext>
            </a:extLst>
          </p:cNvPr>
          <p:cNvGrpSpPr/>
          <p:nvPr/>
        </p:nvGrpSpPr>
        <p:grpSpPr>
          <a:xfrm>
            <a:off x="3177144" y="2622149"/>
            <a:ext cx="331435" cy="466076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A252AE7-FAA5-4C94-835A-23B82CEDCB58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lussdiagramm: Manuelle Verarbeitung 5">
              <a:extLst>
                <a:ext uri="{FF2B5EF4-FFF2-40B4-BE49-F238E27FC236}">
                  <a16:creationId xmlns:a16="http://schemas.microsoft.com/office/drawing/2014/main" id="{E773EC5B-0A65-44A5-962C-45E79236F301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7723E058-8035-4CF7-86CE-06B8D51DBC8A}"/>
              </a:ext>
            </a:extLst>
          </p:cNvPr>
          <p:cNvSpPr/>
          <p:nvPr/>
        </p:nvSpPr>
        <p:spPr>
          <a:xfrm>
            <a:off x="2310056" y="1504947"/>
            <a:ext cx="2065623" cy="32168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A953179-70E9-4716-BB13-0E151AD7ABCA}"/>
              </a:ext>
            </a:extLst>
          </p:cNvPr>
          <p:cNvSpPr/>
          <p:nvPr/>
        </p:nvSpPr>
        <p:spPr>
          <a:xfrm>
            <a:off x="2214669" y="1743844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01149D0-6ADC-480F-9B9D-99641734D457}"/>
              </a:ext>
            </a:extLst>
          </p:cNvPr>
          <p:cNvSpPr/>
          <p:nvPr/>
        </p:nvSpPr>
        <p:spPr>
          <a:xfrm>
            <a:off x="4280292" y="1743844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BF13747-5816-4F52-9622-E46EFE11C748}"/>
              </a:ext>
            </a:extLst>
          </p:cNvPr>
          <p:cNvSpPr/>
          <p:nvPr/>
        </p:nvSpPr>
        <p:spPr>
          <a:xfrm>
            <a:off x="4280292" y="3994759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0BBBB3B-AA0B-4A54-AA23-3B416F6AB893}"/>
              </a:ext>
            </a:extLst>
          </p:cNvPr>
          <p:cNvSpPr/>
          <p:nvPr/>
        </p:nvSpPr>
        <p:spPr>
          <a:xfrm>
            <a:off x="2214669" y="3994759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F6C9A1F3-6AAB-4E1E-B130-D588410A24F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405443" y="1986208"/>
            <a:ext cx="18748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5A339F98-B644-4DFD-B5D0-8C964B9FA106}"/>
              </a:ext>
            </a:extLst>
          </p:cNvPr>
          <p:cNvCxnSpPr>
            <a:cxnSpLocks/>
          </p:cNvCxnSpPr>
          <p:nvPr/>
        </p:nvCxnSpPr>
        <p:spPr>
          <a:xfrm>
            <a:off x="2405443" y="4237123"/>
            <a:ext cx="18748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ultiplikationszeichen 13">
            <a:extLst>
              <a:ext uri="{FF2B5EF4-FFF2-40B4-BE49-F238E27FC236}">
                <a16:creationId xmlns:a16="http://schemas.microsoft.com/office/drawing/2014/main" id="{6B1CEB85-2784-456F-9C00-34CE8CC9E82F}"/>
              </a:ext>
            </a:extLst>
          </p:cNvPr>
          <p:cNvSpPr/>
          <p:nvPr/>
        </p:nvSpPr>
        <p:spPr>
          <a:xfrm>
            <a:off x="3089595" y="3953317"/>
            <a:ext cx="506538" cy="567612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087CA8E9-29B7-4127-93A4-D546323AAB9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42866" y="3760012"/>
            <a:ext cx="1572242" cy="234746"/>
          </a:xfrm>
          <a:prstGeom prst="bentConnector3">
            <a:avLst>
              <a:gd name="adj1" fmla="val 9992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91E8BAB3-1123-4277-BE5E-35FAA869DC98}"/>
              </a:ext>
            </a:extLst>
          </p:cNvPr>
          <p:cNvCxnSpPr>
            <a:cxnSpLocks/>
          </p:cNvCxnSpPr>
          <p:nvPr/>
        </p:nvCxnSpPr>
        <p:spPr>
          <a:xfrm rot="10800000">
            <a:off x="3342862" y="3083647"/>
            <a:ext cx="1572247" cy="279424"/>
          </a:xfrm>
          <a:prstGeom prst="bentConnector3">
            <a:avLst>
              <a:gd name="adj1" fmla="val 999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F5AA414-E954-49BB-B4B2-9DE62B0412A4}"/>
              </a:ext>
            </a:extLst>
          </p:cNvPr>
          <p:cNvSpPr txBox="1"/>
          <p:nvPr/>
        </p:nvSpPr>
        <p:spPr>
          <a:xfrm>
            <a:off x="4915108" y="318139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radar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7C00C3E-EC3C-48A7-8FD5-73EFACCB99F8}"/>
              </a:ext>
            </a:extLst>
          </p:cNvPr>
          <p:cNvSpPr txBox="1"/>
          <p:nvPr/>
        </p:nvSpPr>
        <p:spPr>
          <a:xfrm>
            <a:off x="4915108" y="3572361"/>
            <a:ext cx="1510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vehicle model</a:t>
            </a:r>
          </a:p>
        </p:txBody>
      </p:sp>
      <p:sp>
        <p:nvSpPr>
          <p:cNvPr id="19" name="Geschweifte Klammer links 18">
            <a:extLst>
              <a:ext uri="{FF2B5EF4-FFF2-40B4-BE49-F238E27FC236}">
                <a16:creationId xmlns:a16="http://schemas.microsoft.com/office/drawing/2014/main" id="{5898BF74-849C-419F-91E6-0B985B5D8B8F}"/>
              </a:ext>
            </a:extLst>
          </p:cNvPr>
          <p:cNvSpPr/>
          <p:nvPr/>
        </p:nvSpPr>
        <p:spPr>
          <a:xfrm>
            <a:off x="1787483" y="1986208"/>
            <a:ext cx="331799" cy="2250915"/>
          </a:xfrm>
          <a:prstGeom prst="leftBrace">
            <a:avLst>
              <a:gd name="adj1" fmla="val 8333"/>
              <a:gd name="adj2" fmla="val 2510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F1C88D6-76AC-4CDE-B3EE-D26A5CE210F6}"/>
              </a:ext>
            </a:extLst>
          </p:cNvPr>
          <p:cNvSpPr txBox="1"/>
          <p:nvPr/>
        </p:nvSpPr>
        <p:spPr>
          <a:xfrm>
            <a:off x="355139" y="2361416"/>
            <a:ext cx="12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3.5m offset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F34CAD6-3C0F-46FF-9D3C-14172B84B8A0}"/>
                  </a:ext>
                </a:extLst>
              </p:cNvPr>
              <p:cNvSpPr txBox="1"/>
              <p:nvPr/>
            </p:nvSpPr>
            <p:spPr>
              <a:xfrm>
                <a:off x="7376611" y="1986208"/>
                <a:ext cx="378212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3.5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𝑟𝑎𝑑𝑎𝑟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CF34CAD6-3C0F-46FF-9D3C-14172B84B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1986208"/>
                <a:ext cx="3782126" cy="553998"/>
              </a:xfrm>
              <a:prstGeom prst="rect">
                <a:avLst/>
              </a:prstGeom>
              <a:blipFill>
                <a:blip r:embed="rId2"/>
                <a:stretch>
                  <a:fillRect l="-1127" r="-161" b="-175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Geschweifte Klammer rechts 21">
            <a:extLst>
              <a:ext uri="{FF2B5EF4-FFF2-40B4-BE49-F238E27FC236}">
                <a16:creationId xmlns:a16="http://schemas.microsoft.com/office/drawing/2014/main" id="{F09E64E4-AD0E-4E62-BD44-4F184D64F6CE}"/>
              </a:ext>
            </a:extLst>
          </p:cNvPr>
          <p:cNvSpPr/>
          <p:nvPr/>
        </p:nvSpPr>
        <p:spPr>
          <a:xfrm>
            <a:off x="4566453" y="2015366"/>
            <a:ext cx="248938" cy="106828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F575A5B-FA27-44D2-AE27-610D7B050729}"/>
              </a:ext>
            </a:extLst>
          </p:cNvPr>
          <p:cNvSpPr txBox="1"/>
          <p:nvPr/>
        </p:nvSpPr>
        <p:spPr>
          <a:xfrm>
            <a:off x="4915107" y="2364840"/>
            <a:ext cx="1655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radar_offset_x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2C5F76A-8888-44F5-AE82-B53BD50CAC44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Center of coordinates for FRadar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DB4FE35F-C8D2-48C7-A92D-7F8BA4166D84}"/>
              </a:ext>
            </a:extLst>
          </p:cNvPr>
          <p:cNvSpPr txBox="1"/>
          <p:nvPr/>
        </p:nvSpPr>
        <p:spPr>
          <a:xfrm>
            <a:off x="0" y="5717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Note: This dx, dy and dz are used in the following slides to calculate all the values for the signals</a:t>
            </a:r>
          </a:p>
        </p:txBody>
      </p:sp>
      <p:sp>
        <p:nvSpPr>
          <p:cNvPr id="28" name="Geschweifte Klammer links 27">
            <a:extLst>
              <a:ext uri="{FF2B5EF4-FFF2-40B4-BE49-F238E27FC236}">
                <a16:creationId xmlns:a16="http://schemas.microsoft.com/office/drawing/2014/main" id="{C565A127-00B0-4C7D-973B-9BD6F53F048A}"/>
              </a:ext>
            </a:extLst>
          </p:cNvPr>
          <p:cNvSpPr/>
          <p:nvPr/>
        </p:nvSpPr>
        <p:spPr>
          <a:xfrm>
            <a:off x="1438827" y="2941743"/>
            <a:ext cx="331799" cy="1295380"/>
          </a:xfrm>
          <a:prstGeom prst="leftBrace">
            <a:avLst>
              <a:gd name="adj1" fmla="val 8333"/>
              <a:gd name="adj2" fmla="val 4741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0BDAA27-E3B9-446A-940D-6A5F850DDB9C}"/>
              </a:ext>
            </a:extLst>
          </p:cNvPr>
          <p:cNvSpPr txBox="1"/>
          <p:nvPr/>
        </p:nvSpPr>
        <p:spPr>
          <a:xfrm>
            <a:off x="296419" y="336948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dx_offset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52A5113C-4BF1-4B6A-AD56-B7C096F4F58A}"/>
              </a:ext>
            </a:extLst>
          </p:cNvPr>
          <p:cNvSpPr txBox="1"/>
          <p:nvPr/>
        </p:nvSpPr>
        <p:spPr>
          <a:xfrm>
            <a:off x="7340630" y="2627392"/>
            <a:ext cx="4015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Distances between Ego and Target</a:t>
            </a:r>
          </a:p>
          <a:p>
            <a:r>
              <a:rPr lang="en-US" dirty="0"/>
              <a:t>dx 	= of the radar</a:t>
            </a:r>
          </a:p>
          <a:p>
            <a:r>
              <a:rPr lang="en-US" dirty="0"/>
              <a:t>obj_dx 	= in vehicle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4A397AF-3BC6-4EC4-AC95-F08185055055}"/>
                  </a:ext>
                </a:extLst>
              </p:cNvPr>
              <p:cNvSpPr txBox="1"/>
              <p:nvPr/>
            </p:nvSpPr>
            <p:spPr>
              <a:xfrm>
                <a:off x="7376611" y="4242450"/>
                <a:ext cx="31412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𝑟𝑎𝑑𝑎𝑟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1" name="Textfeld 30">
                <a:extLst>
                  <a:ext uri="{FF2B5EF4-FFF2-40B4-BE49-F238E27FC236}">
                    <a16:creationId xmlns:a16="http://schemas.microsoft.com/office/drawing/2014/main" id="{E4A397AF-3BC6-4EC4-AC95-F08185055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4242450"/>
                <a:ext cx="3141245" cy="276999"/>
              </a:xfrm>
              <a:prstGeom prst="rect">
                <a:avLst/>
              </a:prstGeom>
              <a:blipFill>
                <a:blip r:embed="rId3"/>
                <a:stretch>
                  <a:fillRect l="-1359" r="-583" b="-3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5B665B9-56BF-4FF9-8DAD-C81B708967A3}"/>
                  </a:ext>
                </a:extLst>
              </p:cNvPr>
              <p:cNvSpPr txBox="1"/>
              <p:nvPr/>
            </p:nvSpPr>
            <p:spPr>
              <a:xfrm>
                <a:off x="7376611" y="3789536"/>
                <a:ext cx="31941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𝑟𝑎𝑑𝑎𝑟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5B665B9-56BF-4FF9-8DAD-C81B70896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3789536"/>
                <a:ext cx="3194144" cy="276999"/>
              </a:xfrm>
              <a:prstGeom prst="rect">
                <a:avLst/>
              </a:prstGeom>
              <a:blipFill>
                <a:blip r:embed="rId4"/>
                <a:stretch>
                  <a:fillRect l="-2099" t="-2222" r="-1336" b="-3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67390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24</a:t>
            </a:fld>
            <a:endParaRPr lang="en-US" noProof="1"/>
          </a:p>
        </p:txBody>
      </p:sp>
      <p:sp>
        <p:nvSpPr>
          <p:cNvPr id="3" name="Bogen 2">
            <a:extLst>
              <a:ext uri="{FF2B5EF4-FFF2-40B4-BE49-F238E27FC236}">
                <a16:creationId xmlns:a16="http://schemas.microsoft.com/office/drawing/2014/main" id="{F917312F-CC16-49C3-80C1-D5DAA0482DC8}"/>
              </a:ext>
            </a:extLst>
          </p:cNvPr>
          <p:cNvSpPr/>
          <p:nvPr/>
        </p:nvSpPr>
        <p:spPr>
          <a:xfrm rot="14179004">
            <a:off x="5110215" y="2673741"/>
            <a:ext cx="956123" cy="2504417"/>
          </a:xfrm>
          <a:prstGeom prst="arc">
            <a:avLst>
              <a:gd name="adj1" fmla="val 17051644"/>
              <a:gd name="adj2" fmla="val 4053233"/>
            </a:avLst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Bogen 4">
            <a:extLst>
              <a:ext uri="{FF2B5EF4-FFF2-40B4-BE49-F238E27FC236}">
                <a16:creationId xmlns:a16="http://schemas.microsoft.com/office/drawing/2014/main" id="{59FB87FA-3BDC-42B9-B2A1-A8A68AC9A434}"/>
              </a:ext>
            </a:extLst>
          </p:cNvPr>
          <p:cNvSpPr/>
          <p:nvPr/>
        </p:nvSpPr>
        <p:spPr>
          <a:xfrm rot="13699445">
            <a:off x="4084923" y="3648110"/>
            <a:ext cx="200571" cy="299016"/>
          </a:xfrm>
          <a:prstGeom prst="arc">
            <a:avLst>
              <a:gd name="adj1" fmla="val 17534648"/>
              <a:gd name="adj2" fmla="val 3948491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DC4D6FB-2CF6-413A-A978-75B8641FEAF9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030604" y="2163932"/>
            <a:ext cx="4065396" cy="336685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BA9610ED-6BDF-404C-A83D-597DC720BAF4}"/>
              </a:ext>
            </a:extLst>
          </p:cNvPr>
          <p:cNvCxnSpPr>
            <a:stCxn id="41" idx="0"/>
            <a:endCxn id="41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72037E6D-E776-4A74-B67E-1D3F9C665737}"/>
              </a:ext>
            </a:extLst>
          </p:cNvPr>
          <p:cNvSpPr txBox="1"/>
          <p:nvPr/>
        </p:nvSpPr>
        <p:spPr>
          <a:xfrm>
            <a:off x="4507859" y="21809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B3D0FB0-FBD3-40F8-ACBE-7F80C8B11D6F}"/>
              </a:ext>
            </a:extLst>
          </p:cNvPr>
          <p:cNvSpPr txBox="1"/>
          <p:nvPr/>
        </p:nvSpPr>
        <p:spPr>
          <a:xfrm>
            <a:off x="6095995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33D499FA-92FC-4F2E-B865-6B342D04093B}"/>
              </a:ext>
            </a:extLst>
          </p:cNvPr>
          <p:cNvSpPr txBox="1"/>
          <p:nvPr/>
        </p:nvSpPr>
        <p:spPr>
          <a:xfrm>
            <a:off x="2362508" y="3018722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Dr_2d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ABA7D41-1644-43C9-8EAC-9B653F111F2B}"/>
              </a:ext>
            </a:extLst>
          </p:cNvPr>
          <p:cNvSpPr txBox="1"/>
          <p:nvPr/>
        </p:nvSpPr>
        <p:spPr>
          <a:xfrm>
            <a:off x="3643455" y="4071074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71DCD92C-604F-4C19-98DF-115C04DAED39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902501" y="3769096"/>
            <a:ext cx="314749" cy="30197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hteck 24">
            <a:extLst>
              <a:ext uri="{FF2B5EF4-FFF2-40B4-BE49-F238E27FC236}">
                <a16:creationId xmlns:a16="http://schemas.microsoft.com/office/drawing/2014/main" id="{D009EE65-D364-41F0-BA83-99C68E34A125}"/>
              </a:ext>
            </a:extLst>
          </p:cNvPr>
          <p:cNvSpPr/>
          <p:nvPr/>
        </p:nvSpPr>
        <p:spPr>
          <a:xfrm>
            <a:off x="2993326" y="1086665"/>
            <a:ext cx="5715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7E87BF4-6A1D-41C0-BAD5-99EF0A9343D9}"/>
              </a:ext>
            </a:extLst>
          </p:cNvPr>
          <p:cNvSpPr/>
          <p:nvPr/>
        </p:nvSpPr>
        <p:spPr>
          <a:xfrm>
            <a:off x="1942683" y="2178357"/>
            <a:ext cx="45719" cy="7102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17B95FD-7940-4505-A9B9-320B90F563C3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E7CA3CDE-E19E-4A61-A0D2-14461AF4A326}"/>
                  </a:ext>
                </a:extLst>
              </p:cNvPr>
              <p:cNvSpPr txBox="1"/>
              <p:nvPr/>
            </p:nvSpPr>
            <p:spPr>
              <a:xfrm>
                <a:off x="7508033" y="2369288"/>
                <a:ext cx="1996786" cy="427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E7CA3CDE-E19E-4A61-A0D2-14461AF4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33" y="2369288"/>
                <a:ext cx="1996786" cy="427746"/>
              </a:xfrm>
              <a:prstGeom prst="rect">
                <a:avLst/>
              </a:prstGeom>
              <a:blipFill>
                <a:blip r:embed="rId2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62D6F85-0BD8-4679-85DC-51AAF7C3298B}"/>
              </a:ext>
            </a:extLst>
          </p:cNvPr>
          <p:cNvCxnSpPr>
            <a:cxnSpLocks/>
          </p:cNvCxnSpPr>
          <p:nvPr/>
        </p:nvCxnSpPr>
        <p:spPr>
          <a:xfrm flipH="1">
            <a:off x="2024111" y="2155056"/>
            <a:ext cx="4071882" cy="554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8CE1648-B8FF-43F8-99B9-8F72BD09D96F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2024106" y="1470937"/>
            <a:ext cx="4071894" cy="4059851"/>
          </a:xfrm>
          <a:prstGeom prst="line">
            <a:avLst/>
          </a:prstGeom>
          <a:ln w="38100" cap="flat">
            <a:solidFill>
              <a:srgbClr val="FFC000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EEF310D-95E5-4C97-BD35-9739108EA14F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024106" y="1479069"/>
            <a:ext cx="6498" cy="6992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AFD1B556-7D71-4EBF-8649-EFFD395B2328}"/>
              </a:ext>
            </a:extLst>
          </p:cNvPr>
          <p:cNvSpPr txBox="1"/>
          <p:nvPr/>
        </p:nvSpPr>
        <p:spPr>
          <a:xfrm>
            <a:off x="1561771" y="159095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8389ACC-53FF-41BE-A8A2-8E782342FCB4}"/>
                  </a:ext>
                </a:extLst>
              </p:cNvPr>
              <p:cNvSpPr txBox="1"/>
              <p:nvPr/>
            </p:nvSpPr>
            <p:spPr>
              <a:xfrm>
                <a:off x="7512297" y="1462737"/>
                <a:ext cx="923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E8389ACC-53FF-41BE-A8A2-8E782342F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297" y="1462737"/>
                <a:ext cx="92336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F2C6723F-F504-43A1-BC9B-EA371274BA37}"/>
                  </a:ext>
                </a:extLst>
              </p:cNvPr>
              <p:cNvSpPr txBox="1"/>
              <p:nvPr/>
            </p:nvSpPr>
            <p:spPr>
              <a:xfrm>
                <a:off x="7508033" y="1918988"/>
                <a:ext cx="2322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_3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𝐷𝑟</m:t>
                      </m:r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F2C6723F-F504-43A1-BC9B-EA371274B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33" y="1918988"/>
                <a:ext cx="232282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feld 35">
            <a:extLst>
              <a:ext uri="{FF2B5EF4-FFF2-40B4-BE49-F238E27FC236}">
                <a16:creationId xmlns:a16="http://schemas.microsoft.com/office/drawing/2014/main" id="{0C6D1EAC-29B4-4221-AEDC-50844ECE4111}"/>
              </a:ext>
            </a:extLst>
          </p:cNvPr>
          <p:cNvSpPr txBox="1"/>
          <p:nvPr/>
        </p:nvSpPr>
        <p:spPr>
          <a:xfrm>
            <a:off x="3371612" y="251897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Dr_3d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507AF1D-156A-44E4-A359-FD07570A9495}"/>
                  </a:ext>
                </a:extLst>
              </p:cNvPr>
              <p:cNvSpPr txBox="1"/>
              <p:nvPr/>
            </p:nvSpPr>
            <p:spPr>
              <a:xfrm>
                <a:off x="7508033" y="2878002"/>
                <a:ext cx="3213886" cy="80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𝑃h𝑖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sSup>
                                        <m:sSupPr>
                                          <m:ctrlP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de-DE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e>
                          </m:d>
                        </m:e>
                      </m:func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507AF1D-156A-44E4-A359-FD07570A9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33" y="2878002"/>
                <a:ext cx="3213886" cy="80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3B0B512-9DAA-4131-99D6-67B33F7A51C8}"/>
                  </a:ext>
                </a:extLst>
              </p:cNvPr>
              <p:cNvSpPr txBox="1"/>
              <p:nvPr/>
            </p:nvSpPr>
            <p:spPr>
              <a:xfrm>
                <a:off x="7508033" y="3767205"/>
                <a:ext cx="2654723" cy="544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𝑇h𝑒𝑡𝑎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atan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lang="de-DE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3B0B512-9DAA-4131-99D6-67B33F7A5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033" y="3767205"/>
                <a:ext cx="2654723" cy="5446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feld 38">
            <a:extLst>
              <a:ext uri="{FF2B5EF4-FFF2-40B4-BE49-F238E27FC236}">
                <a16:creationId xmlns:a16="http://schemas.microsoft.com/office/drawing/2014/main" id="{FBAE7C07-165F-487D-A1A7-0BEF4849EB97}"/>
              </a:ext>
            </a:extLst>
          </p:cNvPr>
          <p:cNvSpPr txBox="1"/>
          <p:nvPr/>
        </p:nvSpPr>
        <p:spPr>
          <a:xfrm>
            <a:off x="5157273" y="3905423"/>
            <a:ext cx="717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Theta</a:t>
            </a:r>
          </a:p>
        </p:txBody>
      </p:sp>
      <p:sp>
        <p:nvSpPr>
          <p:cNvPr id="41" name="Trapezoid 40">
            <a:extLst>
              <a:ext uri="{FF2B5EF4-FFF2-40B4-BE49-F238E27FC236}">
                <a16:creationId xmlns:a16="http://schemas.microsoft.com/office/drawing/2014/main" id="{2179F029-F5C9-4519-8A84-11A28B781B35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CE5344A3-8C9D-45E9-BA84-2E50D9D746E6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337FEC16-5DB5-4BA4-B503-2A9DE85AD188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lussdiagramm: Manuelle Verarbeitung 43">
              <a:extLst>
                <a:ext uri="{FF2B5EF4-FFF2-40B4-BE49-F238E27FC236}">
                  <a16:creationId xmlns:a16="http://schemas.microsoft.com/office/drawing/2014/main" id="{2AC9E8D4-535D-4293-ACAC-9C878D1003D5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10E15A4A-23C1-4C35-AD2E-B7313C37526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locations for FRadar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4FBA6EA-6F9B-4715-9D96-8E4761019E4E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6CBF2AE4-E036-47DB-BC74-79EEAD608611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A509D9F-E17E-42C4-80A0-43CEDB3EED5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53087E26-D2C1-49F6-B0FD-B498206227DE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BAF0F32C-E859-43EE-A6BE-77691829CF38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FCD9C187-AFDC-4698-B990-F3AF7F792E68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dy</a:t>
              </a:r>
            </a:p>
          </p:txBody>
        </p:sp>
      </p:grpSp>
      <p:sp>
        <p:nvSpPr>
          <p:cNvPr id="54" name="Textfeld 53">
            <a:extLst>
              <a:ext uri="{FF2B5EF4-FFF2-40B4-BE49-F238E27FC236}">
                <a16:creationId xmlns:a16="http://schemas.microsoft.com/office/drawing/2014/main" id="{D2C7EC0A-CF3C-4376-B14B-5853288A5B9F}"/>
              </a:ext>
            </a:extLst>
          </p:cNvPr>
          <p:cNvSpPr txBox="1"/>
          <p:nvPr/>
        </p:nvSpPr>
        <p:spPr>
          <a:xfrm>
            <a:off x="8174845" y="5504501"/>
            <a:ext cx="349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Note: Classe is 2-dimensional which is why dz is always 0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40B3675-59D3-43D1-8B1E-7EC290722BFF}"/>
              </a:ext>
            </a:extLst>
          </p:cNvPr>
          <p:cNvGrpSpPr/>
          <p:nvPr/>
        </p:nvGrpSpPr>
        <p:grpSpPr>
          <a:xfrm>
            <a:off x="1171851" y="475892"/>
            <a:ext cx="1704510" cy="1264686"/>
            <a:chOff x="1171855" y="1154097"/>
            <a:chExt cx="1704510" cy="1264686"/>
          </a:xfrm>
        </p:grpSpPr>
        <p:sp>
          <p:nvSpPr>
            <p:cNvPr id="8" name="Rechteck: abgerundete Ecken 7">
              <a:extLst>
                <a:ext uri="{FF2B5EF4-FFF2-40B4-BE49-F238E27FC236}">
                  <a16:creationId xmlns:a16="http://schemas.microsoft.com/office/drawing/2014/main" id="{DA1D5D6C-6E19-42F4-BA49-4B7AA9D6FB8E}"/>
                </a:ext>
              </a:extLst>
            </p:cNvPr>
            <p:cNvSpPr/>
            <p:nvPr/>
          </p:nvSpPr>
          <p:spPr>
            <a:xfrm>
              <a:off x="2520459" y="2119531"/>
              <a:ext cx="248575" cy="299252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5A3F6AAF-5C92-4DF3-84BB-6D28624CC1B3}"/>
                </a:ext>
              </a:extLst>
            </p:cNvPr>
            <p:cNvSpPr/>
            <p:nvPr/>
          </p:nvSpPr>
          <p:spPr>
            <a:xfrm>
              <a:off x="1285684" y="2106257"/>
              <a:ext cx="248575" cy="299252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1CFF08D2-CAC1-455A-9818-84F4CC2DBD85}"/>
                </a:ext>
              </a:extLst>
            </p:cNvPr>
            <p:cNvGrpSpPr/>
            <p:nvPr/>
          </p:nvGrpSpPr>
          <p:grpSpPr>
            <a:xfrm>
              <a:off x="1171855" y="1154097"/>
              <a:ext cx="1704510" cy="1003177"/>
              <a:chOff x="1171855" y="1154097"/>
              <a:chExt cx="1704510" cy="1003177"/>
            </a:xfrm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FCED8E5F-E063-4F8C-A21E-40D1832B6A61}"/>
                  </a:ext>
                </a:extLst>
              </p:cNvPr>
              <p:cNvSpPr/>
              <p:nvPr/>
            </p:nvSpPr>
            <p:spPr>
              <a:xfrm>
                <a:off x="1171855" y="1713391"/>
                <a:ext cx="1704510" cy="44388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Trapezoid 11">
                <a:extLst>
                  <a:ext uri="{FF2B5EF4-FFF2-40B4-BE49-F238E27FC236}">
                    <a16:creationId xmlns:a16="http://schemas.microsoft.com/office/drawing/2014/main" id="{452033A2-E40C-4DDB-A679-1B72E4F68655}"/>
                  </a:ext>
                </a:extLst>
              </p:cNvPr>
              <p:cNvSpPr/>
              <p:nvPr/>
            </p:nvSpPr>
            <p:spPr>
              <a:xfrm>
                <a:off x="1171855" y="1154097"/>
                <a:ext cx="1704510" cy="559294"/>
              </a:xfrm>
              <a:prstGeom prst="trapezoid">
                <a:avLst>
                  <a:gd name="adj" fmla="val 43662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Trapezoid 12">
                <a:extLst>
                  <a:ext uri="{FF2B5EF4-FFF2-40B4-BE49-F238E27FC236}">
                    <a16:creationId xmlns:a16="http://schemas.microsoft.com/office/drawing/2014/main" id="{E9036B62-E29C-4E1F-B5DC-041D16E5F91F}"/>
                  </a:ext>
                </a:extLst>
              </p:cNvPr>
              <p:cNvSpPr/>
              <p:nvPr/>
            </p:nvSpPr>
            <p:spPr>
              <a:xfrm>
                <a:off x="1411546" y="1271726"/>
                <a:ext cx="1232514" cy="324036"/>
              </a:xfrm>
              <a:prstGeom prst="trapezoid">
                <a:avLst>
                  <a:gd name="adj" fmla="val 43662"/>
                </a:avLst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1A29C116-4174-4097-AD88-A900D9D84772}"/>
                  </a:ext>
                </a:extLst>
              </p:cNvPr>
              <p:cNvSpPr/>
              <p:nvPr/>
            </p:nvSpPr>
            <p:spPr>
              <a:xfrm>
                <a:off x="1775535" y="1970843"/>
                <a:ext cx="497150" cy="115409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LR RB 2022</a:t>
                </a:r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C84583AC-6AC3-4DC6-8051-60DC3494A2D9}"/>
                  </a:ext>
                </a:extLst>
              </p:cNvPr>
              <p:cNvSpPr/>
              <p:nvPr/>
            </p:nvSpPr>
            <p:spPr>
              <a:xfrm>
                <a:off x="1171856" y="1935332"/>
                <a:ext cx="142043" cy="150921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9F934FB7-FFBA-4ADD-9115-8C221C2A5F00}"/>
                  </a:ext>
                </a:extLst>
              </p:cNvPr>
              <p:cNvSpPr/>
              <p:nvPr/>
            </p:nvSpPr>
            <p:spPr>
              <a:xfrm>
                <a:off x="1171855" y="1784412"/>
                <a:ext cx="142043" cy="15092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C1758CEB-C455-4F09-ACCD-6A0524023B07}"/>
                  </a:ext>
                </a:extLst>
              </p:cNvPr>
              <p:cNvSpPr/>
              <p:nvPr/>
            </p:nvSpPr>
            <p:spPr>
              <a:xfrm>
                <a:off x="2734322" y="1935332"/>
                <a:ext cx="142043" cy="150921"/>
              </a:xfrm>
              <a:prstGeom prst="rect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8ED7D10E-647E-408E-B663-DEA337BEC5E5}"/>
                  </a:ext>
                </a:extLst>
              </p:cNvPr>
              <p:cNvSpPr/>
              <p:nvPr/>
            </p:nvSpPr>
            <p:spPr>
              <a:xfrm>
                <a:off x="2734321" y="1784412"/>
                <a:ext cx="142043" cy="150921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8106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gen 8">
            <a:extLst>
              <a:ext uri="{FF2B5EF4-FFF2-40B4-BE49-F238E27FC236}">
                <a16:creationId xmlns:a16="http://schemas.microsoft.com/office/drawing/2014/main" id="{8B82DD9B-085F-9B29-EE87-0B8B265408FC}"/>
              </a:ext>
            </a:extLst>
          </p:cNvPr>
          <p:cNvSpPr/>
          <p:nvPr/>
        </p:nvSpPr>
        <p:spPr>
          <a:xfrm rot="15623249">
            <a:off x="1715489" y="1743905"/>
            <a:ext cx="2371845" cy="2690287"/>
          </a:xfrm>
          <a:prstGeom prst="arc">
            <a:avLst>
              <a:gd name="adj1" fmla="val 16200000"/>
              <a:gd name="adj2" fmla="val 19683297"/>
            </a:avLst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25</a:t>
            </a:fld>
            <a:endParaRPr lang="en-US" noProof="1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229CBBC-AD23-4399-84B8-876A12A3A7C5}"/>
              </a:ext>
            </a:extLst>
          </p:cNvPr>
          <p:cNvGrpSpPr/>
          <p:nvPr/>
        </p:nvGrpSpPr>
        <p:grpSpPr>
          <a:xfrm>
            <a:off x="190092" y="5143724"/>
            <a:ext cx="1144821" cy="1074944"/>
            <a:chOff x="2469187" y="4790880"/>
            <a:chExt cx="1144821" cy="1074944"/>
          </a:xfrm>
        </p:grpSpPr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C20C1E3-7122-43F5-A7E2-863F61429D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AA68CBE8-C8E9-48D8-9AE0-4628CEAB46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C6BDA83-5640-4C5C-B327-822D14BE646B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8F38011B-5274-4A5C-9B48-9D33E6DB5011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5B4332F4-089C-42EC-87FD-BD6AD75FE2CA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vy</a:t>
              </a:r>
            </a:p>
          </p:txBody>
        </p:sp>
      </p:grp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7ABBC841-D4BD-4682-8412-E431CCEE179C}"/>
              </a:ext>
            </a:extLst>
          </p:cNvPr>
          <p:cNvCxnSpPr>
            <a:stCxn id="63" idx="0"/>
            <a:endCxn id="63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5D3D8528-03C8-40AA-9554-2B88D1947CD9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169651C2-DEF2-495D-B5DB-885FB3804306}"/>
                  </a:ext>
                </a:extLst>
              </p:cNvPr>
              <p:cNvSpPr txBox="1"/>
              <p:nvPr/>
            </p:nvSpPr>
            <p:spPr>
              <a:xfrm>
                <a:off x="4507859" y="2180948"/>
                <a:ext cx="502894" cy="39126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030A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de-DE" i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extfeld 59">
                <a:extLst>
                  <a:ext uri="{FF2B5EF4-FFF2-40B4-BE49-F238E27FC236}">
                    <a16:creationId xmlns:a16="http://schemas.microsoft.com/office/drawing/2014/main" id="{169651C2-DEF2-495D-B5DB-885FB3804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7859" y="2180948"/>
                <a:ext cx="502894" cy="391261"/>
              </a:xfrm>
              <a:prstGeom prst="rect">
                <a:avLst/>
              </a:prstGeom>
              <a:blipFill>
                <a:blip r:embed="rId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FF1768D4-9454-406C-9842-DD188DB9B661}"/>
                  </a:ext>
                </a:extLst>
              </p:cNvPr>
              <p:cNvSpPr txBox="1"/>
              <p:nvPr/>
            </p:nvSpPr>
            <p:spPr>
              <a:xfrm>
                <a:off x="6095995" y="3244334"/>
                <a:ext cx="4952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de-DE" i="1" dirty="0">
                  <a:solidFill>
                    <a:schemeClr val="accent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FF1768D4-9454-406C-9842-DD188DB9B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5" y="3244334"/>
                <a:ext cx="4952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8EEA132F-EF0F-42D6-A191-D610E39964A2}"/>
                  </a:ext>
                </a:extLst>
              </p:cNvPr>
              <p:cNvSpPr txBox="1"/>
              <p:nvPr/>
            </p:nvSpPr>
            <p:spPr>
              <a:xfrm>
                <a:off x="2726085" y="3121812"/>
                <a:ext cx="464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1767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1767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71767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rgbClr val="71767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8EEA132F-EF0F-42D6-A191-D610E3996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6085" y="3121812"/>
                <a:ext cx="4649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E193A59D-CDE2-4BEE-8A0C-455086A97AFD}"/>
              </a:ext>
            </a:extLst>
          </p:cNvPr>
          <p:cNvCxnSpPr>
            <a:cxnSpLocks/>
          </p:cNvCxnSpPr>
          <p:nvPr/>
        </p:nvCxnSpPr>
        <p:spPr>
          <a:xfrm>
            <a:off x="2067046" y="2178357"/>
            <a:ext cx="2422510" cy="201726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AE6F5E0E-A65E-4E2A-B40F-C36C8DCDBF2C}"/>
                  </a:ext>
                </a:extLst>
              </p:cNvPr>
              <p:cNvSpPr txBox="1"/>
              <p:nvPr/>
            </p:nvSpPr>
            <p:spPr>
              <a:xfrm>
                <a:off x="7510932" y="2193139"/>
                <a:ext cx="9233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𝑣𝑧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0" name="Textfeld 109">
                <a:extLst>
                  <a:ext uri="{FF2B5EF4-FFF2-40B4-BE49-F238E27FC236}">
                    <a16:creationId xmlns:a16="http://schemas.microsoft.com/office/drawing/2014/main" id="{AE6F5E0E-A65E-4E2A-B40F-C36C8DCDB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932" y="2193139"/>
                <a:ext cx="92336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2A2EA4A4-DED0-4492-81FB-13E7A6A26D8C}"/>
                  </a:ext>
                </a:extLst>
              </p:cNvPr>
              <p:cNvSpPr txBox="1"/>
              <p:nvPr/>
            </p:nvSpPr>
            <p:spPr>
              <a:xfrm>
                <a:off x="7506668" y="2649390"/>
                <a:ext cx="2322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_2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𝑉𝑟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_3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𝑉𝑟</m:t>
                      </m:r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2A2EA4A4-DED0-4492-81FB-13E7A6A26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668" y="2649390"/>
                <a:ext cx="232282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B6F49869-EEAC-4EFB-A678-558F5CC9BA73}"/>
              </a:ext>
            </a:extLst>
          </p:cNvPr>
          <p:cNvCxnSpPr>
            <a:cxnSpLocks/>
          </p:cNvCxnSpPr>
          <p:nvPr/>
        </p:nvCxnSpPr>
        <p:spPr>
          <a:xfrm flipH="1">
            <a:off x="2050256" y="2157275"/>
            <a:ext cx="4045742" cy="21082"/>
          </a:xfrm>
          <a:prstGeom prst="line">
            <a:avLst/>
          </a:prstGeom>
          <a:ln w="38100">
            <a:solidFill>
              <a:srgbClr val="7030A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feld 116">
            <a:extLst>
              <a:ext uri="{FF2B5EF4-FFF2-40B4-BE49-F238E27FC236}">
                <a16:creationId xmlns:a16="http://schemas.microsoft.com/office/drawing/2014/main" id="{1FAED45B-D72C-4168-ACBE-492B1149D902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velocities for FRadar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4F99DCAC-94C5-4C41-985E-7F37791BC694}"/>
              </a:ext>
            </a:extLst>
          </p:cNvPr>
          <p:cNvSpPr txBox="1"/>
          <p:nvPr/>
        </p:nvSpPr>
        <p:spPr>
          <a:xfrm>
            <a:off x="8174845" y="5504501"/>
            <a:ext cx="349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Classe is 2-dimensional which is why vz is always 0</a:t>
            </a:r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296575A9-69EB-4141-A69B-5F6AD8ECE4DC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BB60C28F-6300-4ABD-825A-55FC295C6A7B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43D14B8C-AC13-4A23-B893-2DCDEB91ADCD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lussdiagramm: Manuelle Verarbeitung 65">
              <a:extLst>
                <a:ext uri="{FF2B5EF4-FFF2-40B4-BE49-F238E27FC236}">
                  <a16:creationId xmlns:a16="http://schemas.microsoft.com/office/drawing/2014/main" id="{81FE9228-72EC-4997-87EA-E0B4C073F6A8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BD5E1E-1648-A422-49E4-11C9B8B6EFA9}"/>
                  </a:ext>
                </a:extLst>
              </p:cNvPr>
              <p:cNvSpPr txBox="1"/>
              <p:nvPr/>
            </p:nvSpPr>
            <p:spPr>
              <a:xfrm>
                <a:off x="7506668" y="3922828"/>
                <a:ext cx="4078895" cy="944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de-DE" sz="18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de-DE" b="0" i="1" kern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kern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de-DE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de-DE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de-DE" b="0" i="1" kern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de-DE" b="0" i="1" kern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de-DE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de-DE" i="1" ker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BD5E1E-1648-A422-49E4-11C9B8B6E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668" y="3922828"/>
                <a:ext cx="4078895" cy="944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AC321B-C76C-DB1C-AFDF-4A6B01B06B46}"/>
                  </a:ext>
                </a:extLst>
              </p:cNvPr>
              <p:cNvSpPr txBox="1"/>
              <p:nvPr/>
            </p:nvSpPr>
            <p:spPr>
              <a:xfrm>
                <a:off x="7573617" y="3087081"/>
                <a:ext cx="4011946" cy="6838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noAutofit/>
              </a:bodyPr>
              <a:lstStyle/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de-DE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de-DE" sz="1800" b="0" i="1" u="none" strike="sng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sng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sng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Cambria Math" panose="02040503050406030204" pitchFamily="18" charset="0"/>
                </a:endParaRPr>
              </a:p>
              <a:p>
                <a:pPr fontAlgn="auto">
                  <a:spcBef>
                    <a:spcPts val="5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0" lang="de-D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0" lang="de-DE" sz="1800" b="0" i="1" u="none" strike="sng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ker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sng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sng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BAC321B-C76C-DB1C-AFDF-4A6B01B06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617" y="3087081"/>
                <a:ext cx="4011946" cy="683838"/>
              </a:xfrm>
              <a:prstGeom prst="rect">
                <a:avLst/>
              </a:prstGeom>
              <a:blipFill>
                <a:blip r:embed="rId8"/>
                <a:stretch>
                  <a:fillRect l="-1973" b="-265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hteck 5">
            <a:extLst>
              <a:ext uri="{FF2B5EF4-FFF2-40B4-BE49-F238E27FC236}">
                <a16:creationId xmlns:a16="http://schemas.microsoft.com/office/drawing/2014/main" id="{6A26A483-227A-D9F6-A6D8-B7091DF54F68}"/>
              </a:ext>
            </a:extLst>
          </p:cNvPr>
          <p:cNvSpPr/>
          <p:nvPr/>
        </p:nvSpPr>
        <p:spPr>
          <a:xfrm>
            <a:off x="1599408" y="691540"/>
            <a:ext cx="935275" cy="1486817"/>
          </a:xfrm>
          <a:prstGeom prst="rect">
            <a:avLst/>
          </a:prstGeom>
          <a:noFill/>
          <a:ln w="3810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B6DE24F-E5E7-7CA5-8F14-DDA21E78D41A}"/>
                  </a:ext>
                </a:extLst>
              </p:cNvPr>
              <p:cNvSpPr txBox="1"/>
              <p:nvPr/>
            </p:nvSpPr>
            <p:spPr>
              <a:xfrm>
                <a:off x="1257150" y="2332950"/>
                <a:ext cx="4957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de-D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de-DE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BB6DE24F-E5E7-7CA5-8F14-DDA21E78D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150" y="2332950"/>
                <a:ext cx="495713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2812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5. FVideo </a:t>
            </a:r>
            <a:r>
              <a:rPr lang="de-DE" dirty="0" err="1"/>
              <a:t>signals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997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27</a:t>
            </a:fld>
            <a:endParaRPr lang="en-US" noProof="1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510A36E-8FFB-42AB-91B3-1CD431781E73}"/>
              </a:ext>
            </a:extLst>
          </p:cNvPr>
          <p:cNvGrpSpPr/>
          <p:nvPr/>
        </p:nvGrpSpPr>
        <p:grpSpPr>
          <a:xfrm>
            <a:off x="3177144" y="2622149"/>
            <a:ext cx="331435" cy="466076"/>
            <a:chOff x="5930281" y="5868140"/>
            <a:chExt cx="331435" cy="466076"/>
          </a:xfrm>
          <a:solidFill>
            <a:schemeClr val="bg1">
              <a:lumMod val="65000"/>
            </a:schemeClr>
          </a:solidFill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9FFDC371-6AA2-4805-ABB5-2EFE3971EB76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lussdiagramm: Manuelle Verarbeitung 53">
              <a:extLst>
                <a:ext uri="{FF2B5EF4-FFF2-40B4-BE49-F238E27FC236}">
                  <a16:creationId xmlns:a16="http://schemas.microsoft.com/office/drawing/2014/main" id="{47036510-68CB-415F-96D7-25BB29A70662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5" name="Rechteck 54">
            <a:extLst>
              <a:ext uri="{FF2B5EF4-FFF2-40B4-BE49-F238E27FC236}">
                <a16:creationId xmlns:a16="http://schemas.microsoft.com/office/drawing/2014/main" id="{E0B17989-95FA-4DCE-A7C4-A0EAFB89EEBB}"/>
              </a:ext>
            </a:extLst>
          </p:cNvPr>
          <p:cNvSpPr/>
          <p:nvPr/>
        </p:nvSpPr>
        <p:spPr>
          <a:xfrm>
            <a:off x="2310056" y="1504947"/>
            <a:ext cx="2065623" cy="32168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D1099EF9-D565-4F12-86DA-068B74FD2D31}"/>
              </a:ext>
            </a:extLst>
          </p:cNvPr>
          <p:cNvSpPr/>
          <p:nvPr/>
        </p:nvSpPr>
        <p:spPr>
          <a:xfrm>
            <a:off x="2214669" y="1743844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5E6898FC-5E44-4B9F-8E19-A055A3BF3BE9}"/>
              </a:ext>
            </a:extLst>
          </p:cNvPr>
          <p:cNvSpPr/>
          <p:nvPr/>
        </p:nvSpPr>
        <p:spPr>
          <a:xfrm>
            <a:off x="4280292" y="1743844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1F910606-3A0E-4FD8-90EC-366A5BE35AC7}"/>
              </a:ext>
            </a:extLst>
          </p:cNvPr>
          <p:cNvSpPr/>
          <p:nvPr/>
        </p:nvSpPr>
        <p:spPr>
          <a:xfrm>
            <a:off x="4280292" y="3994759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E9772B-40BD-40EE-8285-926D1D6835F1}"/>
              </a:ext>
            </a:extLst>
          </p:cNvPr>
          <p:cNvSpPr/>
          <p:nvPr/>
        </p:nvSpPr>
        <p:spPr>
          <a:xfrm>
            <a:off x="2214669" y="3994759"/>
            <a:ext cx="190774" cy="4847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E9D59881-08FE-4679-AAB0-C69708FCADB8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2405443" y="1986208"/>
            <a:ext cx="18748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2562679-157D-466B-A887-F20777325FC7}"/>
              </a:ext>
            </a:extLst>
          </p:cNvPr>
          <p:cNvCxnSpPr>
            <a:cxnSpLocks/>
          </p:cNvCxnSpPr>
          <p:nvPr/>
        </p:nvCxnSpPr>
        <p:spPr>
          <a:xfrm>
            <a:off x="2405443" y="4237123"/>
            <a:ext cx="18748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Multiplikationszeichen 61">
            <a:extLst>
              <a:ext uri="{FF2B5EF4-FFF2-40B4-BE49-F238E27FC236}">
                <a16:creationId xmlns:a16="http://schemas.microsoft.com/office/drawing/2014/main" id="{A6DA5DA8-8251-415C-BFD3-46DD1365052C}"/>
              </a:ext>
            </a:extLst>
          </p:cNvPr>
          <p:cNvSpPr/>
          <p:nvPr/>
        </p:nvSpPr>
        <p:spPr>
          <a:xfrm>
            <a:off x="3089595" y="3953317"/>
            <a:ext cx="506538" cy="567612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A2CF2D2C-60AA-4E2A-997A-683B1E98A2E9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42866" y="3760012"/>
            <a:ext cx="1572242" cy="234746"/>
          </a:xfrm>
          <a:prstGeom prst="bentConnector3">
            <a:avLst>
              <a:gd name="adj1" fmla="val 9992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Verbinder: gewinkelt 63">
            <a:extLst>
              <a:ext uri="{FF2B5EF4-FFF2-40B4-BE49-F238E27FC236}">
                <a16:creationId xmlns:a16="http://schemas.microsoft.com/office/drawing/2014/main" id="{2532DDB1-66EA-412A-AB0E-3CB4E442CCAF}"/>
              </a:ext>
            </a:extLst>
          </p:cNvPr>
          <p:cNvCxnSpPr>
            <a:cxnSpLocks/>
          </p:cNvCxnSpPr>
          <p:nvPr/>
        </p:nvCxnSpPr>
        <p:spPr>
          <a:xfrm rot="10800000">
            <a:off x="3342862" y="3083647"/>
            <a:ext cx="1572247" cy="279424"/>
          </a:xfrm>
          <a:prstGeom prst="bentConnector3">
            <a:avLst>
              <a:gd name="adj1" fmla="val 999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>
            <a:extLst>
              <a:ext uri="{FF2B5EF4-FFF2-40B4-BE49-F238E27FC236}">
                <a16:creationId xmlns:a16="http://schemas.microsoft.com/office/drawing/2014/main" id="{C7F239F1-EB48-4DEB-B1C8-7E9790477345}"/>
              </a:ext>
            </a:extLst>
          </p:cNvPr>
          <p:cNvSpPr txBox="1"/>
          <p:nvPr/>
        </p:nvSpPr>
        <p:spPr>
          <a:xfrm>
            <a:off x="4915108" y="318139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camera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4C7D3DBF-0173-4239-BB09-41EF8DA3FFB1}"/>
              </a:ext>
            </a:extLst>
          </p:cNvPr>
          <p:cNvSpPr txBox="1"/>
          <p:nvPr/>
        </p:nvSpPr>
        <p:spPr>
          <a:xfrm>
            <a:off x="4915108" y="3572361"/>
            <a:ext cx="1510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vehicle model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B0DEC101-0350-45EA-9B06-FF31063F7472}"/>
              </a:ext>
            </a:extLst>
          </p:cNvPr>
          <p:cNvSpPr txBox="1"/>
          <p:nvPr/>
        </p:nvSpPr>
        <p:spPr>
          <a:xfrm>
            <a:off x="7340630" y="2627392"/>
            <a:ext cx="40150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Distances between Ego and Target</a:t>
            </a:r>
          </a:p>
          <a:p>
            <a:r>
              <a:rPr lang="de-DE" dirty="0"/>
              <a:t>dx 	= of the camera</a:t>
            </a:r>
          </a:p>
          <a:p>
            <a:r>
              <a:rPr lang="de-DE" dirty="0"/>
              <a:t>obj_dx 	= in vehicle model</a:t>
            </a:r>
          </a:p>
        </p:txBody>
      </p:sp>
      <p:sp>
        <p:nvSpPr>
          <p:cNvPr id="71" name="Geschweifte Klammer rechts 70">
            <a:extLst>
              <a:ext uri="{FF2B5EF4-FFF2-40B4-BE49-F238E27FC236}">
                <a16:creationId xmlns:a16="http://schemas.microsoft.com/office/drawing/2014/main" id="{E6AB7422-C044-45BA-A16F-89861663F25F}"/>
              </a:ext>
            </a:extLst>
          </p:cNvPr>
          <p:cNvSpPr/>
          <p:nvPr/>
        </p:nvSpPr>
        <p:spPr>
          <a:xfrm>
            <a:off x="4566453" y="2015366"/>
            <a:ext cx="248938" cy="106828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EF44F9F5-CB6A-4BB9-ABA1-94CA36A8914F}"/>
              </a:ext>
            </a:extLst>
          </p:cNvPr>
          <p:cNvSpPr txBox="1"/>
          <p:nvPr/>
        </p:nvSpPr>
        <p:spPr>
          <a:xfrm>
            <a:off x="4915107" y="2364840"/>
            <a:ext cx="188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camera_offset_x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A791F52C-8121-4BE4-A327-71F210E885A0}"/>
                  </a:ext>
                </a:extLst>
              </p:cNvPr>
              <p:cNvSpPr txBox="1"/>
              <p:nvPr/>
            </p:nvSpPr>
            <p:spPr>
              <a:xfrm>
                <a:off x="7376611" y="4242450"/>
                <a:ext cx="33662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𝑐𝑎𝑚𝑒𝑟𝑎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A791F52C-8121-4BE4-A327-71F210E88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4242450"/>
                <a:ext cx="3366243" cy="276999"/>
              </a:xfrm>
              <a:prstGeom prst="rect">
                <a:avLst/>
              </a:prstGeom>
              <a:blipFill>
                <a:blip r:embed="rId3"/>
                <a:stretch>
                  <a:fillRect l="-543" b="-3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0E9FE664-BBB9-4361-AA06-D1A26CCA009E}"/>
                  </a:ext>
                </a:extLst>
              </p:cNvPr>
              <p:cNvSpPr txBox="1"/>
              <p:nvPr/>
            </p:nvSpPr>
            <p:spPr>
              <a:xfrm>
                <a:off x="7376611" y="3789536"/>
                <a:ext cx="33662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𝑐𝑎𝑚𝑒𝑟𝑎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de-DE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0E9FE664-BBB9-4361-AA06-D1A26CCA0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3789536"/>
                <a:ext cx="3366243" cy="276999"/>
              </a:xfrm>
              <a:prstGeom prst="rect">
                <a:avLst/>
              </a:prstGeom>
              <a:blipFill>
                <a:blip r:embed="rId4"/>
                <a:stretch>
                  <a:fillRect l="-1993" t="-2222" r="-1268" b="-37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Center of coordinates for FVideo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D71FC5F-53B0-42D0-B7C6-0C941B0109B6}"/>
              </a:ext>
            </a:extLst>
          </p:cNvPr>
          <p:cNvSpPr txBox="1"/>
          <p:nvPr/>
        </p:nvSpPr>
        <p:spPr>
          <a:xfrm>
            <a:off x="0" y="5717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Note: This dx, dy and dz are used in the following slides to calculate all the values for the signals</a:t>
            </a:r>
          </a:p>
        </p:txBody>
      </p:sp>
      <p:sp>
        <p:nvSpPr>
          <p:cNvPr id="28" name="Geschweifte Klammer links 27">
            <a:extLst>
              <a:ext uri="{FF2B5EF4-FFF2-40B4-BE49-F238E27FC236}">
                <a16:creationId xmlns:a16="http://schemas.microsoft.com/office/drawing/2014/main" id="{88BB5F60-B485-4C12-A0D6-6D837548FFEC}"/>
              </a:ext>
            </a:extLst>
          </p:cNvPr>
          <p:cNvSpPr/>
          <p:nvPr/>
        </p:nvSpPr>
        <p:spPr>
          <a:xfrm>
            <a:off x="1787483" y="1986208"/>
            <a:ext cx="331799" cy="2250915"/>
          </a:xfrm>
          <a:prstGeom prst="leftBrace">
            <a:avLst>
              <a:gd name="adj1" fmla="val 8333"/>
              <a:gd name="adj2" fmla="val 2510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5C5785FB-92B6-4C34-B9CA-9A57D09EC29C}"/>
              </a:ext>
            </a:extLst>
          </p:cNvPr>
          <p:cNvSpPr txBox="1"/>
          <p:nvPr/>
        </p:nvSpPr>
        <p:spPr>
          <a:xfrm>
            <a:off x="355139" y="2361416"/>
            <a:ext cx="12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3.5m offset</a:t>
            </a:r>
          </a:p>
        </p:txBody>
      </p:sp>
      <p:sp>
        <p:nvSpPr>
          <p:cNvPr id="30" name="Geschweifte Klammer links 29">
            <a:extLst>
              <a:ext uri="{FF2B5EF4-FFF2-40B4-BE49-F238E27FC236}">
                <a16:creationId xmlns:a16="http://schemas.microsoft.com/office/drawing/2014/main" id="{00604B78-C818-488F-A74D-2D7C8F4CBB86}"/>
              </a:ext>
            </a:extLst>
          </p:cNvPr>
          <p:cNvSpPr/>
          <p:nvPr/>
        </p:nvSpPr>
        <p:spPr>
          <a:xfrm>
            <a:off x="1438827" y="2941743"/>
            <a:ext cx="331799" cy="1295380"/>
          </a:xfrm>
          <a:prstGeom prst="leftBrace">
            <a:avLst>
              <a:gd name="adj1" fmla="val 8333"/>
              <a:gd name="adj2" fmla="val 4741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CBA9F5A6-C79D-49D4-A373-E2CC92915D44}"/>
              </a:ext>
            </a:extLst>
          </p:cNvPr>
          <p:cNvSpPr txBox="1"/>
          <p:nvPr/>
        </p:nvSpPr>
        <p:spPr>
          <a:xfrm>
            <a:off x="296419" y="3369480"/>
            <a:ext cx="1155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dx_offset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65BA96E-5BC3-4FAE-8AA7-AFB033BB47CC}"/>
                  </a:ext>
                </a:extLst>
              </p:cNvPr>
              <p:cNvSpPr txBox="1"/>
              <p:nvPr/>
            </p:nvSpPr>
            <p:spPr>
              <a:xfrm>
                <a:off x="7376611" y="1986208"/>
                <a:ext cx="395422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3.5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𝑐𝑎𝑚𝑒𝑟𝑎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𝑜𝑓𝑓𝑠𝑒𝑡</m:t>
                      </m:r>
                    </m:oMath>
                  </m:oMathPara>
                </a14:m>
                <a:endParaRPr lang="de-DE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665BA96E-5BC3-4FAE-8AA7-AFB033BB4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611" y="1986208"/>
                <a:ext cx="3954224" cy="553998"/>
              </a:xfrm>
              <a:prstGeom prst="rect">
                <a:avLst/>
              </a:prstGeom>
              <a:blipFill>
                <a:blip r:embed="rId5"/>
                <a:stretch>
                  <a:fillRect l="-1079" r="-154" b="-175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4387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28</a:t>
            </a:fld>
            <a:endParaRPr lang="en-US" noProof="1"/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AAAA929E-584C-4BB7-8259-51816BE39BEB}"/>
              </a:ext>
            </a:extLst>
          </p:cNvPr>
          <p:cNvSpPr/>
          <p:nvPr/>
        </p:nvSpPr>
        <p:spPr>
          <a:xfrm>
            <a:off x="2520459" y="2119531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E40FC2EE-840D-40DC-9897-527A04E5147A}"/>
              </a:ext>
            </a:extLst>
          </p:cNvPr>
          <p:cNvSpPr/>
          <p:nvPr/>
        </p:nvSpPr>
        <p:spPr>
          <a:xfrm>
            <a:off x="1285684" y="2106257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Bogen 53">
            <a:extLst>
              <a:ext uri="{FF2B5EF4-FFF2-40B4-BE49-F238E27FC236}">
                <a16:creationId xmlns:a16="http://schemas.microsoft.com/office/drawing/2014/main" id="{69D3A105-59C3-4B27-8412-57FBF1B73D20}"/>
              </a:ext>
            </a:extLst>
          </p:cNvPr>
          <p:cNvSpPr/>
          <p:nvPr/>
        </p:nvSpPr>
        <p:spPr>
          <a:xfrm rot="15295019">
            <a:off x="5009748" y="3561909"/>
            <a:ext cx="857012" cy="1950021"/>
          </a:xfrm>
          <a:prstGeom prst="arc">
            <a:avLst>
              <a:gd name="adj1" fmla="val 17250101"/>
              <a:gd name="adj2" fmla="val 4222890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808E108F-2162-4B32-ABF2-32BE78F7768C}"/>
              </a:ext>
            </a:extLst>
          </p:cNvPr>
          <p:cNvGrpSpPr/>
          <p:nvPr/>
        </p:nvGrpSpPr>
        <p:grpSpPr>
          <a:xfrm>
            <a:off x="1171855" y="1154097"/>
            <a:ext cx="1704510" cy="1003177"/>
            <a:chOff x="1171855" y="1154097"/>
            <a:chExt cx="1704510" cy="1003177"/>
          </a:xfrm>
        </p:grpSpPr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678E5A25-B1EF-4B8C-AA17-C8B73F2EBA38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rapezoid 56">
              <a:extLst>
                <a:ext uri="{FF2B5EF4-FFF2-40B4-BE49-F238E27FC236}">
                  <a16:creationId xmlns:a16="http://schemas.microsoft.com/office/drawing/2014/main" id="{76F95828-8E57-4543-99FC-370B6B5218F5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5510668D-5F6C-46A6-96E6-5C5E84109470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D83127A1-3946-4787-91A2-D2F8F27A9802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8E2667AF-9F03-4C05-B627-25FDCA8A6619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B7D9C35E-8012-45B8-8839-3A66F23DF507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D2270F41-412F-4D20-A2C9-A4F3C1073175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3B6E3C0C-9BA5-45A1-A26D-A81B7E254B07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F3FDF0A6-3E91-4B24-AA71-2F22FD891AC2}"/>
              </a:ext>
            </a:extLst>
          </p:cNvPr>
          <p:cNvCxnSpPr>
            <a:stCxn id="73" idx="0"/>
            <a:endCxn id="73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51CDCFB9-E2DF-4D4A-8DD6-A6107E8AD214}"/>
              </a:ext>
            </a:extLst>
          </p:cNvPr>
          <p:cNvCxnSpPr>
            <a:cxnSpLocks/>
          </p:cNvCxnSpPr>
          <p:nvPr/>
        </p:nvCxnSpPr>
        <p:spPr>
          <a:xfrm flipH="1">
            <a:off x="2024109" y="2157274"/>
            <a:ext cx="4071887" cy="332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61B3F8ED-9112-4515-A9AD-0945CA354A38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63513AA-C3D5-4517-9A9E-B33B71EC4384}"/>
              </a:ext>
            </a:extLst>
          </p:cNvPr>
          <p:cNvCxnSpPr>
            <a:cxnSpLocks/>
          </p:cNvCxnSpPr>
          <p:nvPr/>
        </p:nvCxnSpPr>
        <p:spPr>
          <a:xfrm flipH="1">
            <a:off x="1171855" y="2157274"/>
            <a:ext cx="85225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61C5FA5C-21B1-44CE-B066-AA52275DFBA8}"/>
                  </a:ext>
                </a:extLst>
              </p:cNvPr>
              <p:cNvSpPr txBox="1"/>
              <p:nvPr/>
            </p:nvSpPr>
            <p:spPr>
              <a:xfrm>
                <a:off x="1645269" y="2110939"/>
                <a:ext cx="937257" cy="616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𝑤𝑖𝑑𝑡h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b="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61C5FA5C-21B1-44CE-B066-AA52275DF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269" y="2110939"/>
                <a:ext cx="937257" cy="616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feld 68">
            <a:extLst>
              <a:ext uri="{FF2B5EF4-FFF2-40B4-BE49-F238E27FC236}">
                <a16:creationId xmlns:a16="http://schemas.microsoft.com/office/drawing/2014/main" id="{7985C775-C560-4539-A6C9-A265469DA4CB}"/>
              </a:ext>
            </a:extLst>
          </p:cNvPr>
          <p:cNvSpPr txBox="1"/>
          <p:nvPr/>
        </p:nvSpPr>
        <p:spPr>
          <a:xfrm>
            <a:off x="4507859" y="21809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80BB28FD-722F-4956-8BC1-2E1B2EE0E6A3}"/>
              </a:ext>
            </a:extLst>
          </p:cNvPr>
          <p:cNvSpPr txBox="1"/>
          <p:nvPr/>
        </p:nvSpPr>
        <p:spPr>
          <a:xfrm>
            <a:off x="6095995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CFD0F783-057B-4C53-A0A0-35EF80AEFF0C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171855" y="2155056"/>
            <a:ext cx="4924145" cy="337573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4E496410-BA36-45B5-A0EE-FB9D3E833709}"/>
              </a:ext>
            </a:extLst>
          </p:cNvPr>
          <p:cNvSpPr txBox="1"/>
          <p:nvPr/>
        </p:nvSpPr>
        <p:spPr>
          <a:xfrm>
            <a:off x="4999674" y="43145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phiLeft</a:t>
            </a:r>
          </a:p>
        </p:txBody>
      </p:sp>
      <p:sp>
        <p:nvSpPr>
          <p:cNvPr id="73" name="Trapezoid 72">
            <a:extLst>
              <a:ext uri="{FF2B5EF4-FFF2-40B4-BE49-F238E27FC236}">
                <a16:creationId xmlns:a16="http://schemas.microsoft.com/office/drawing/2014/main" id="{96CA6D16-C27F-41B9-82E1-6D4351BA627A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04FD85C0-94FD-4010-AA98-1AB5526E5376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30870F62-CC1F-4C5A-B7C2-3D436453CF4C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lussdiagramm: Manuelle Verarbeitung 75">
              <a:extLst>
                <a:ext uri="{FF2B5EF4-FFF2-40B4-BE49-F238E27FC236}">
                  <a16:creationId xmlns:a16="http://schemas.microsoft.com/office/drawing/2014/main" id="{73CDE4A3-D6E5-4B9B-A4B0-364B89B710C0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5E17C0D4-4542-4A2E-8D13-9F5CCD410B0F}"/>
                  </a:ext>
                </a:extLst>
              </p:cNvPr>
              <p:cNvSpPr txBox="1"/>
              <p:nvPr/>
            </p:nvSpPr>
            <p:spPr>
              <a:xfrm>
                <a:off x="6346917" y="1563923"/>
                <a:ext cx="3223959" cy="808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𝑝h𝑖𝐿𝑒𝑓𝑡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𝑤𝑖𝑑𝑡h</m:t>
                                      </m:r>
                                    </m:num>
                                    <m:den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5E17C0D4-4542-4A2E-8D13-9F5CCD41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917" y="1563923"/>
                <a:ext cx="3223959" cy="80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B77747DB-C3E6-4AAB-9576-C578F908E504}"/>
                  </a:ext>
                </a:extLst>
              </p:cNvPr>
              <p:cNvSpPr txBox="1"/>
              <p:nvPr/>
            </p:nvSpPr>
            <p:spPr>
              <a:xfrm>
                <a:off x="6341344" y="2550280"/>
                <a:ext cx="4657172" cy="666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𝑝h𝑖𝐿𝑒𝑓𝑡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𝑝h𝑖𝐿𝑒𝑓𝑡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𝑝h𝑖𝐿𝑒𝑓𝑡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𝑝𝑟𝑒𝑣𝑖𝑜𝑢𝑠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𝑠𝑖𝑚𝑢𝑙𝑎𝑡𝑖𝑜𝑛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𝑐𝑦𝑙𝑒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den>
                      </m:f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B77747DB-C3E6-4AAB-9576-C578F908E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44" y="2550280"/>
                <a:ext cx="4657172" cy="6662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feld 78">
            <a:extLst>
              <a:ext uri="{FF2B5EF4-FFF2-40B4-BE49-F238E27FC236}">
                <a16:creationId xmlns:a16="http://schemas.microsoft.com/office/drawing/2014/main" id="{E19CABE7-EFE3-4C36-B280-3487B7B6E20D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phi for FVideo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6FBD631B-0388-436B-8534-8D9223053E98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28F146C0-79B2-4EFB-82E3-A502DB1A5F75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354702F5-E6A7-4ABA-ABC4-8134E46B5B5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FB43C004-799F-47E7-ADA6-2C0D802C89C1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84" name="Textfeld 83">
              <a:extLst>
                <a:ext uri="{FF2B5EF4-FFF2-40B4-BE49-F238E27FC236}">
                  <a16:creationId xmlns:a16="http://schemas.microsoft.com/office/drawing/2014/main" id="{1A01E3B1-8E42-4309-AC21-E6E3AB9326E1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8F9A0217-E605-4951-923E-843E1BCD64FB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7BB524F-5443-415A-8E3D-A536A9ECD818}"/>
                  </a:ext>
                </a:extLst>
              </p:cNvPr>
              <p:cNvSpPr txBox="1"/>
              <p:nvPr/>
            </p:nvSpPr>
            <p:spPr>
              <a:xfrm>
                <a:off x="8174845" y="5504501"/>
                <a:ext cx="35269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Note2: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𝑝h𝑖𝐿𝑒𝑓𝑡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𝑝𝑟𝑒𝑣𝑖𝑜𝑢𝑠</m:t>
                    </m:r>
                  </m:oMath>
                </a14:m>
                <a:r>
                  <a:rPr lang="en-US" dirty="0"/>
                  <a:t> is the value of phiLeft one simulation cycle of Classe earlier</a:t>
                </a:r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7BB524F-5443-415A-8E3D-A536A9ECD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845" y="5504501"/>
                <a:ext cx="3526980" cy="923330"/>
              </a:xfrm>
              <a:prstGeom prst="rect">
                <a:avLst/>
              </a:prstGeom>
              <a:blipFill>
                <a:blip r:embed="rId5"/>
                <a:stretch>
                  <a:fillRect l="-1382" t="-3974" b="-99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F1C4F44C-70E5-45EE-ADF3-649A0796F63D}"/>
                  </a:ext>
                </a:extLst>
              </p:cNvPr>
              <p:cNvSpPr txBox="1"/>
              <p:nvPr/>
            </p:nvSpPr>
            <p:spPr>
              <a:xfrm>
                <a:off x="8174845" y="4647746"/>
                <a:ext cx="35269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𝑝h𝑖𝐿𝑒𝑓𝑡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𝑣𝑒𝑙</m:t>
                    </m:r>
                  </m:oMath>
                </a14:m>
                <a:r>
                  <a:rPr lang="en-US" dirty="0"/>
                  <a:t> is the rate of change of the angle phiLeft </a:t>
                </a:r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F1C4F44C-70E5-45EE-ADF3-649A0796F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845" y="4647746"/>
                <a:ext cx="3526980" cy="646331"/>
              </a:xfrm>
              <a:prstGeom prst="rect">
                <a:avLst/>
              </a:prstGeom>
              <a:blipFill>
                <a:blip r:embed="rId6"/>
                <a:stretch>
                  <a:fillRect l="-1382" t="-4717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127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29</a:t>
            </a:fld>
            <a:endParaRPr lang="en-US" noProof="1"/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236001E1-2630-4C1A-B2E9-0460D5FFB445}"/>
              </a:ext>
            </a:extLst>
          </p:cNvPr>
          <p:cNvSpPr/>
          <p:nvPr/>
        </p:nvSpPr>
        <p:spPr>
          <a:xfrm>
            <a:off x="2520459" y="2119531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00CDE733-73B1-424C-A1EF-33FB899B5AD8}"/>
              </a:ext>
            </a:extLst>
          </p:cNvPr>
          <p:cNvSpPr/>
          <p:nvPr/>
        </p:nvSpPr>
        <p:spPr>
          <a:xfrm>
            <a:off x="1285684" y="2106257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Bogen 53">
            <a:extLst>
              <a:ext uri="{FF2B5EF4-FFF2-40B4-BE49-F238E27FC236}">
                <a16:creationId xmlns:a16="http://schemas.microsoft.com/office/drawing/2014/main" id="{923F2D55-6403-4235-A73D-526DF4849BC3}"/>
              </a:ext>
            </a:extLst>
          </p:cNvPr>
          <p:cNvSpPr/>
          <p:nvPr/>
        </p:nvSpPr>
        <p:spPr>
          <a:xfrm rot="15295019">
            <a:off x="5313010" y="3431941"/>
            <a:ext cx="591070" cy="1788255"/>
          </a:xfrm>
          <a:prstGeom prst="arc">
            <a:avLst>
              <a:gd name="adj1" fmla="val 17211969"/>
              <a:gd name="adj2" fmla="val 4096648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848AD765-ABAF-4447-9358-4AAF3B48E504}"/>
              </a:ext>
            </a:extLst>
          </p:cNvPr>
          <p:cNvGrpSpPr/>
          <p:nvPr/>
        </p:nvGrpSpPr>
        <p:grpSpPr>
          <a:xfrm>
            <a:off x="1171855" y="1154097"/>
            <a:ext cx="1704510" cy="1003177"/>
            <a:chOff x="1171855" y="1154097"/>
            <a:chExt cx="1704510" cy="1003177"/>
          </a:xfrm>
        </p:grpSpPr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3473CDB6-7E20-472E-B19F-1B5579E2ACF3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rapezoid 56">
              <a:extLst>
                <a:ext uri="{FF2B5EF4-FFF2-40B4-BE49-F238E27FC236}">
                  <a16:creationId xmlns:a16="http://schemas.microsoft.com/office/drawing/2014/main" id="{34FD6FC9-0584-44B8-838A-F7DC981F0F4B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39811604-1950-4286-83FF-7A5A7B234E86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0C581C02-DA94-44A3-A007-21D34291426F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8ED3AFA7-8199-4D36-8256-9DC281209611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FF2708CE-2323-437F-A472-9FCC54E3B6B5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C8377AB4-7137-437A-8568-7B40D6D6C41D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20C8C26A-03AD-4B27-946B-11D94729727B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53ED44FC-6332-4C09-B6C8-AD78577DD32B}"/>
              </a:ext>
            </a:extLst>
          </p:cNvPr>
          <p:cNvCxnSpPr>
            <a:stCxn id="74" idx="0"/>
            <a:endCxn id="74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30FD3C74-9D9B-4EF8-B6DF-0CCA56B85F7D}"/>
              </a:ext>
            </a:extLst>
          </p:cNvPr>
          <p:cNvCxnSpPr>
            <a:cxnSpLocks/>
          </p:cNvCxnSpPr>
          <p:nvPr/>
        </p:nvCxnSpPr>
        <p:spPr>
          <a:xfrm flipH="1">
            <a:off x="2024109" y="2157274"/>
            <a:ext cx="4071887" cy="332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F08D894F-6965-4ED5-B765-D0654D4135A1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8400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EF575A55-8EF9-4BCA-BD19-0732E19B0FAC}"/>
              </a:ext>
            </a:extLst>
          </p:cNvPr>
          <p:cNvCxnSpPr>
            <a:cxnSpLocks/>
          </p:cNvCxnSpPr>
          <p:nvPr/>
        </p:nvCxnSpPr>
        <p:spPr>
          <a:xfrm flipH="1">
            <a:off x="2024110" y="2159843"/>
            <a:ext cx="85225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71C7010D-882C-4410-945B-946C79987D96}"/>
                  </a:ext>
                </a:extLst>
              </p:cNvPr>
              <p:cNvSpPr txBox="1"/>
              <p:nvPr/>
            </p:nvSpPr>
            <p:spPr>
              <a:xfrm>
                <a:off x="1651238" y="2167105"/>
                <a:ext cx="937257" cy="616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𝑤𝑖𝑑𝑡h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 b="0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71C7010D-882C-4410-945B-946C79987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238" y="2167105"/>
                <a:ext cx="937257" cy="6164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feld 68">
            <a:extLst>
              <a:ext uri="{FF2B5EF4-FFF2-40B4-BE49-F238E27FC236}">
                <a16:creationId xmlns:a16="http://schemas.microsoft.com/office/drawing/2014/main" id="{E4F96C20-5D9D-41B3-AF3F-1069D5411E89}"/>
              </a:ext>
            </a:extLst>
          </p:cNvPr>
          <p:cNvSpPr txBox="1"/>
          <p:nvPr/>
        </p:nvSpPr>
        <p:spPr>
          <a:xfrm>
            <a:off x="4507859" y="21809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FFF59694-BA76-49D4-A76F-93557796B0A8}"/>
              </a:ext>
            </a:extLst>
          </p:cNvPr>
          <p:cNvSpPr txBox="1"/>
          <p:nvPr/>
        </p:nvSpPr>
        <p:spPr>
          <a:xfrm>
            <a:off x="6095995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AB26B76B-A3D1-4CFE-8559-8BF816F28F4F}"/>
              </a:ext>
            </a:extLst>
          </p:cNvPr>
          <p:cNvCxnSpPr>
            <a:cxnSpLocks/>
            <a:endCxn id="74" idx="0"/>
          </p:cNvCxnSpPr>
          <p:nvPr/>
        </p:nvCxnSpPr>
        <p:spPr>
          <a:xfrm>
            <a:off x="2876364" y="2155056"/>
            <a:ext cx="3219636" cy="337573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>
            <a:extLst>
              <a:ext uri="{FF2B5EF4-FFF2-40B4-BE49-F238E27FC236}">
                <a16:creationId xmlns:a16="http://schemas.microsoft.com/office/drawing/2014/main" id="{B2FB9290-F475-433F-8234-55E561136D07}"/>
              </a:ext>
            </a:extLst>
          </p:cNvPr>
          <p:cNvSpPr txBox="1"/>
          <p:nvPr/>
        </p:nvSpPr>
        <p:spPr>
          <a:xfrm>
            <a:off x="5093019" y="4237235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phiRight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0BF72211-51F2-43BE-AB90-65DC1228E2BA}"/>
                  </a:ext>
                </a:extLst>
              </p:cNvPr>
              <p:cNvSpPr txBox="1"/>
              <p:nvPr/>
            </p:nvSpPr>
            <p:spPr>
              <a:xfrm>
                <a:off x="6341344" y="1563923"/>
                <a:ext cx="3350597" cy="8082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𝑝h𝑖𝑅𝑖𝑔h𝑡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𝑤𝑖𝑑𝑡h</m:t>
                                      </m:r>
                                    </m:num>
                                    <m:den>
                                      <m:r>
                                        <a:rPr lang="de-DE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0BF72211-51F2-43BE-AB90-65DC1228E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44" y="1563923"/>
                <a:ext cx="3350597" cy="808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rapezoid 73">
            <a:extLst>
              <a:ext uri="{FF2B5EF4-FFF2-40B4-BE49-F238E27FC236}">
                <a16:creationId xmlns:a16="http://schemas.microsoft.com/office/drawing/2014/main" id="{1CA09731-B778-4C14-B12B-4C12F0AB129E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9CA54BA0-DDE0-4CCD-9F37-115E6A4C7945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02E26121-A524-4F19-B596-D30649BA30B1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lussdiagramm: Manuelle Verarbeitung 76">
              <a:extLst>
                <a:ext uri="{FF2B5EF4-FFF2-40B4-BE49-F238E27FC236}">
                  <a16:creationId xmlns:a16="http://schemas.microsoft.com/office/drawing/2014/main" id="{F80F7453-1E49-4473-81A2-31E2C0BE26E6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AC18997-798C-4D99-B6AB-7A2099D01944}"/>
                  </a:ext>
                </a:extLst>
              </p:cNvPr>
              <p:cNvSpPr txBox="1"/>
              <p:nvPr/>
            </p:nvSpPr>
            <p:spPr>
              <a:xfrm>
                <a:off x="6341344" y="2550279"/>
                <a:ext cx="5037085" cy="665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𝑝h𝑖𝑅𝑖𝑔h𝑡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𝑣𝑒𝑙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𝑝h𝑖𝑅𝑖𝑔h𝑡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𝑝h𝑖𝑅𝑖𝑔h𝑡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𝑝𝑟𝑒𝑣𝑖𝑜𝑢𝑠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𝑠𝑖𝑚𝑢𝑙𝑎𝑡𝑖𝑜𝑛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𝑐𝑦𝑙𝑒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𝑡𝑖𝑚𝑒</m:t>
                          </m:r>
                        </m:den>
                      </m:f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AC18997-798C-4D99-B6AB-7A2099D01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44" y="2550279"/>
                <a:ext cx="5037085" cy="6655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feld 78">
            <a:extLst>
              <a:ext uri="{FF2B5EF4-FFF2-40B4-BE49-F238E27FC236}">
                <a16:creationId xmlns:a16="http://schemas.microsoft.com/office/drawing/2014/main" id="{6A674137-8C17-4FC3-A380-73F950426AE2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phi for FVideo</a:t>
            </a:r>
          </a:p>
        </p:txBody>
      </p: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EA9DD933-F04B-4292-B8BC-5801F59C8052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A79E5EA7-370E-4127-B87E-7D1DD9BEE749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0DBF4B23-8C8D-4FFB-B703-F1B000C6F8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8DEAE23D-77BD-44B2-91C6-A388157909A7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55AA2AD4-8BEF-4145-8A91-6E72F72B6E67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C8DA2E14-0EF7-4DE4-A589-73168E56913E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9AD381F-EB58-4D57-9464-24E27A25C47A}"/>
                  </a:ext>
                </a:extLst>
              </p:cNvPr>
              <p:cNvSpPr txBox="1"/>
              <p:nvPr/>
            </p:nvSpPr>
            <p:spPr>
              <a:xfrm>
                <a:off x="8174845" y="5504501"/>
                <a:ext cx="35269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Note2: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𝑝h𝑖𝑅𝑖𝑔h𝑡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𝑝𝑟𝑒𝑣𝑖𝑜𝑢𝑠</m:t>
                    </m:r>
                  </m:oMath>
                </a14:m>
                <a:r>
                  <a:rPr lang="en-US" dirty="0"/>
                  <a:t> is the value of phiRight one simulation cycle of Classe earlier</a:t>
                </a:r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09AD381F-EB58-4D57-9464-24E27A25C4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845" y="5504501"/>
                <a:ext cx="3526980" cy="923330"/>
              </a:xfrm>
              <a:prstGeom prst="rect">
                <a:avLst/>
              </a:prstGeom>
              <a:blipFill>
                <a:blip r:embed="rId5"/>
                <a:stretch>
                  <a:fillRect l="-1382" t="-3974" r="-518" b="-99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2351477F-FD13-4F76-BF63-44AA1A33B84D}"/>
                  </a:ext>
                </a:extLst>
              </p:cNvPr>
              <p:cNvSpPr txBox="1"/>
              <p:nvPr/>
            </p:nvSpPr>
            <p:spPr>
              <a:xfrm>
                <a:off x="8174845" y="4647746"/>
                <a:ext cx="352698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𝑝h𝑖𝑅𝑖𝑔h𝑡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𝑣𝑒𝑙</m:t>
                    </m:r>
                  </m:oMath>
                </a14:m>
                <a:r>
                  <a:rPr lang="en-US" dirty="0"/>
                  <a:t> is the rate of change of the angle phiRight </a:t>
                </a:r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2351477F-FD13-4F76-BF63-44AA1A33B8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845" y="4647746"/>
                <a:ext cx="3526980" cy="646331"/>
              </a:xfrm>
              <a:prstGeom prst="rect">
                <a:avLst/>
              </a:prstGeom>
              <a:blipFill>
                <a:blip r:embed="rId6"/>
                <a:stretch>
                  <a:fillRect l="-1382" t="-4717" r="-345" b="-14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327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30</a:t>
            </a:fld>
            <a:endParaRPr lang="en-US" noProof="1"/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4FBA6EA-6F9B-4715-9D96-8E4761019E4E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6CBF2AE4-E036-47DB-BC74-79EEAD608611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EA509D9F-E17E-42C4-80A0-43CEDB3EED5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53087E26-D2C1-49F6-B0FD-B498206227DE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BAF0F32C-E859-43EE-A6BE-77691829CF38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FCD9C187-AFDC-4698-B990-F3AF7F792E68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dy</a:t>
              </a:r>
            </a:p>
          </p:txBody>
        </p:sp>
      </p:grp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8D02B0D5-B85B-4F7F-ADA8-4E729BA49D9E}"/>
              </a:ext>
            </a:extLst>
          </p:cNvPr>
          <p:cNvSpPr/>
          <p:nvPr/>
        </p:nvSpPr>
        <p:spPr>
          <a:xfrm>
            <a:off x="2520459" y="2119531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3E53F431-BCB5-490C-B5A8-F2FF44B13C4E}"/>
              </a:ext>
            </a:extLst>
          </p:cNvPr>
          <p:cNvSpPr/>
          <p:nvPr/>
        </p:nvSpPr>
        <p:spPr>
          <a:xfrm>
            <a:off x="1285684" y="2106257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Bogen 53">
            <a:extLst>
              <a:ext uri="{FF2B5EF4-FFF2-40B4-BE49-F238E27FC236}">
                <a16:creationId xmlns:a16="http://schemas.microsoft.com/office/drawing/2014/main" id="{35315FCA-2222-4ECA-96D1-2B6B14E196A6}"/>
              </a:ext>
            </a:extLst>
          </p:cNvPr>
          <p:cNvSpPr/>
          <p:nvPr/>
        </p:nvSpPr>
        <p:spPr>
          <a:xfrm rot="14676193">
            <a:off x="5101991" y="3334119"/>
            <a:ext cx="913688" cy="1913484"/>
          </a:xfrm>
          <a:prstGeom prst="arc">
            <a:avLst>
              <a:gd name="adj1" fmla="val 17277185"/>
              <a:gd name="adj2" fmla="val 4093295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2B70B4CB-4CD5-4F1D-8315-33A2989DDCFD}"/>
              </a:ext>
            </a:extLst>
          </p:cNvPr>
          <p:cNvGrpSpPr/>
          <p:nvPr/>
        </p:nvGrpSpPr>
        <p:grpSpPr>
          <a:xfrm>
            <a:off x="1171855" y="1154097"/>
            <a:ext cx="1704510" cy="1003177"/>
            <a:chOff x="1171855" y="1154097"/>
            <a:chExt cx="1704510" cy="1003177"/>
          </a:xfrm>
        </p:grpSpPr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EBD78ABC-D35F-43D4-88F4-5593AB0BCE91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rapezoid 56">
              <a:extLst>
                <a:ext uri="{FF2B5EF4-FFF2-40B4-BE49-F238E27FC236}">
                  <a16:creationId xmlns:a16="http://schemas.microsoft.com/office/drawing/2014/main" id="{0F781426-FB1B-44BC-B041-29FC80CA2E1B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rapezoid 57">
              <a:extLst>
                <a:ext uri="{FF2B5EF4-FFF2-40B4-BE49-F238E27FC236}">
                  <a16:creationId xmlns:a16="http://schemas.microsoft.com/office/drawing/2014/main" id="{D9D1A735-3100-492E-A614-6F3EFA97CC18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2DB459EE-E570-4BD4-88F6-F30062C232F2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ADF62AEF-F4BA-4C74-9391-323FDD14CACB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E30B7FB5-3DA0-45DE-8289-4468761139AD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9BA350CA-544F-4BFD-9E5E-419641640F51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9309535F-CC88-482B-8C2B-5F465A8F0DA4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334F3D78-B761-4553-9774-43D5DF72DDE0}"/>
              </a:ext>
            </a:extLst>
          </p:cNvPr>
          <p:cNvCxnSpPr>
            <a:stCxn id="73" idx="0"/>
            <a:endCxn id="73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A37774D0-9393-46CB-84E2-43C69188BCD3}"/>
              </a:ext>
            </a:extLst>
          </p:cNvPr>
          <p:cNvCxnSpPr>
            <a:cxnSpLocks/>
          </p:cNvCxnSpPr>
          <p:nvPr/>
        </p:nvCxnSpPr>
        <p:spPr>
          <a:xfrm flipH="1">
            <a:off x="2024109" y="2157274"/>
            <a:ext cx="4071887" cy="3328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8466FEF-EDF1-4E65-BE70-7AFFE98767AE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06E99876-A9B2-4CC8-8B5E-C9A9135E9783}"/>
              </a:ext>
            </a:extLst>
          </p:cNvPr>
          <p:cNvCxnSpPr>
            <a:cxnSpLocks/>
            <a:stCxn id="56" idx="2"/>
            <a:endCxn id="73" idx="0"/>
          </p:cNvCxnSpPr>
          <p:nvPr/>
        </p:nvCxnSpPr>
        <p:spPr>
          <a:xfrm>
            <a:off x="2024110" y="2157274"/>
            <a:ext cx="4071890" cy="3373514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feld 67">
            <a:extLst>
              <a:ext uri="{FF2B5EF4-FFF2-40B4-BE49-F238E27FC236}">
                <a16:creationId xmlns:a16="http://schemas.microsoft.com/office/drawing/2014/main" id="{8CC3B076-7171-41AA-9ED9-A15EDC272C1D}"/>
              </a:ext>
            </a:extLst>
          </p:cNvPr>
          <p:cNvSpPr txBox="1"/>
          <p:nvPr/>
        </p:nvSpPr>
        <p:spPr>
          <a:xfrm>
            <a:off x="4507859" y="21809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6EE8B77-7B92-4063-B8FD-45889548B460}"/>
              </a:ext>
            </a:extLst>
          </p:cNvPr>
          <p:cNvSpPr txBox="1"/>
          <p:nvPr/>
        </p:nvSpPr>
        <p:spPr>
          <a:xfrm>
            <a:off x="6095995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80F33EB4-0416-433C-BB53-BB0B5681C3EA}"/>
              </a:ext>
            </a:extLst>
          </p:cNvPr>
          <p:cNvSpPr txBox="1"/>
          <p:nvPr/>
        </p:nvSpPr>
        <p:spPr>
          <a:xfrm>
            <a:off x="2354426" y="312181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83321593-BAE3-4B8F-9384-ACDD647FA63D}"/>
              </a:ext>
            </a:extLst>
          </p:cNvPr>
          <p:cNvSpPr txBox="1"/>
          <p:nvPr/>
        </p:nvSpPr>
        <p:spPr>
          <a:xfrm>
            <a:off x="5140776" y="4290861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phiMid</a:t>
            </a:r>
          </a:p>
        </p:txBody>
      </p:sp>
      <p:sp>
        <p:nvSpPr>
          <p:cNvPr id="73" name="Trapezoid 72">
            <a:extLst>
              <a:ext uri="{FF2B5EF4-FFF2-40B4-BE49-F238E27FC236}">
                <a16:creationId xmlns:a16="http://schemas.microsoft.com/office/drawing/2014/main" id="{09E9878E-397B-42F5-A5A5-DE16E75E24E2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BCD649D2-545E-43D1-80AA-CE219FAA1F96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1826D0A2-AE5E-493B-987E-570761CAC9D1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lussdiagramm: Manuelle Verarbeitung 75">
              <a:extLst>
                <a:ext uri="{FF2B5EF4-FFF2-40B4-BE49-F238E27FC236}">
                  <a16:creationId xmlns:a16="http://schemas.microsoft.com/office/drawing/2014/main" id="{8618BB61-3FC3-4343-BB2A-CFC9A1B47718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7" name="Textfeld 76">
            <a:extLst>
              <a:ext uri="{FF2B5EF4-FFF2-40B4-BE49-F238E27FC236}">
                <a16:creationId xmlns:a16="http://schemas.microsoft.com/office/drawing/2014/main" id="{2965DC43-B9A9-4B0E-943A-E1528A2B0E4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phi for FVideo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9EAC64C1-DB65-47DF-95AC-E2B942AEB2E3}"/>
                  </a:ext>
                </a:extLst>
              </p:cNvPr>
              <p:cNvSpPr txBox="1"/>
              <p:nvPr/>
            </p:nvSpPr>
            <p:spPr>
              <a:xfrm>
                <a:off x="7116644" y="2156949"/>
                <a:ext cx="2293000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𝑝h𝑖𝑀𝑖𝑑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9EAC64C1-DB65-47DF-95AC-E2B942AEB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644" y="2156949"/>
                <a:ext cx="2293000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245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31</a:t>
            </a:fld>
            <a:endParaRPr lang="en-US" noProof="1"/>
          </a:p>
        </p:txBody>
      </p:sp>
      <p:sp>
        <p:nvSpPr>
          <p:cNvPr id="76" name="Rechteck: abgerundete Ecken 75">
            <a:extLst>
              <a:ext uri="{FF2B5EF4-FFF2-40B4-BE49-F238E27FC236}">
                <a16:creationId xmlns:a16="http://schemas.microsoft.com/office/drawing/2014/main" id="{CF70744D-7ED3-4583-8B37-2EDD753AB16D}"/>
              </a:ext>
            </a:extLst>
          </p:cNvPr>
          <p:cNvSpPr/>
          <p:nvPr/>
        </p:nvSpPr>
        <p:spPr>
          <a:xfrm>
            <a:off x="2520459" y="2119531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C5D52915-897C-4209-98D7-7380884EF3FB}"/>
              </a:ext>
            </a:extLst>
          </p:cNvPr>
          <p:cNvSpPr/>
          <p:nvPr/>
        </p:nvSpPr>
        <p:spPr>
          <a:xfrm>
            <a:off x="1285684" y="2106257"/>
            <a:ext cx="248575" cy="299252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8" name="Bogen 77">
            <a:extLst>
              <a:ext uri="{FF2B5EF4-FFF2-40B4-BE49-F238E27FC236}">
                <a16:creationId xmlns:a16="http://schemas.microsoft.com/office/drawing/2014/main" id="{710F0D71-CB4E-4A31-BB3E-949BCD717954}"/>
              </a:ext>
            </a:extLst>
          </p:cNvPr>
          <p:cNvSpPr/>
          <p:nvPr/>
        </p:nvSpPr>
        <p:spPr>
          <a:xfrm rot="13699445">
            <a:off x="4130186" y="3547220"/>
            <a:ext cx="200571" cy="420212"/>
          </a:xfrm>
          <a:prstGeom prst="arc">
            <a:avLst>
              <a:gd name="adj1" fmla="val 17211969"/>
              <a:gd name="adj2" fmla="val 3948491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FB283892-6AB5-48C5-AECF-9874CB34F2EE}"/>
              </a:ext>
            </a:extLst>
          </p:cNvPr>
          <p:cNvCxnSpPr>
            <a:stCxn id="105" idx="0"/>
            <a:endCxn id="105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79">
            <a:extLst>
              <a:ext uri="{FF2B5EF4-FFF2-40B4-BE49-F238E27FC236}">
                <a16:creationId xmlns:a16="http://schemas.microsoft.com/office/drawing/2014/main" id="{1B35DE8E-D5E7-4FFF-B9C2-7BB745439A31}"/>
              </a:ext>
            </a:extLst>
          </p:cNvPr>
          <p:cNvCxnSpPr>
            <a:cxnSpLocks/>
            <a:endCxn id="105" idx="0"/>
          </p:cNvCxnSpPr>
          <p:nvPr/>
        </p:nvCxnSpPr>
        <p:spPr>
          <a:xfrm>
            <a:off x="1681163" y="1878806"/>
            <a:ext cx="4414837" cy="365198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>
            <a:extLst>
              <a:ext uri="{FF2B5EF4-FFF2-40B4-BE49-F238E27FC236}">
                <a16:creationId xmlns:a16="http://schemas.microsoft.com/office/drawing/2014/main" id="{F0B8CA28-5FB7-4E86-9882-D98BE233EE6E}"/>
              </a:ext>
            </a:extLst>
          </p:cNvPr>
          <p:cNvSpPr txBox="1"/>
          <p:nvPr/>
        </p:nvSpPr>
        <p:spPr>
          <a:xfrm>
            <a:off x="4507859" y="218094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4113CD28-7D81-4B91-9168-E878C0F25387}"/>
              </a:ext>
            </a:extLst>
          </p:cNvPr>
          <p:cNvSpPr txBox="1"/>
          <p:nvPr/>
        </p:nvSpPr>
        <p:spPr>
          <a:xfrm>
            <a:off x="6095995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B9F9BB6F-0057-4D02-95A8-3CB43A1D3BF4}"/>
              </a:ext>
            </a:extLst>
          </p:cNvPr>
          <p:cNvSpPr txBox="1"/>
          <p:nvPr/>
        </p:nvSpPr>
        <p:spPr>
          <a:xfrm>
            <a:off x="2354426" y="312181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1C202BC8-F1D2-4421-BEC2-DE7941088F8B}"/>
                  </a:ext>
                </a:extLst>
              </p:cNvPr>
              <p:cNvSpPr txBox="1"/>
              <p:nvPr/>
            </p:nvSpPr>
            <p:spPr>
              <a:xfrm>
                <a:off x="1153275" y="791424"/>
                <a:ext cx="17045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height</m:t>
                      </m:r>
                      <m:r>
                        <a:rPr lang="de-DE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  <m:r>
                        <m:rPr>
                          <m:sty m:val="p"/>
                        </m:rPr>
                        <a:rPr lang="de-DE" b="0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de-DE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1C202BC8-F1D2-4421-BEC2-DE7941088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275" y="791424"/>
                <a:ext cx="1704508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feld 84">
            <a:extLst>
              <a:ext uri="{FF2B5EF4-FFF2-40B4-BE49-F238E27FC236}">
                <a16:creationId xmlns:a16="http://schemas.microsoft.com/office/drawing/2014/main" id="{12EB10C1-2D0B-4228-9449-AE29255E23BF}"/>
              </a:ext>
            </a:extLst>
          </p:cNvPr>
          <p:cNvSpPr txBox="1"/>
          <p:nvPr/>
        </p:nvSpPr>
        <p:spPr>
          <a:xfrm>
            <a:off x="3643455" y="4071074"/>
            <a:ext cx="86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phiTop</a:t>
            </a:r>
          </a:p>
        </p:txBody>
      </p:sp>
      <p:cxnSp>
        <p:nvCxnSpPr>
          <p:cNvPr id="86" name="Gerade Verbindung mit Pfeil 85">
            <a:extLst>
              <a:ext uri="{FF2B5EF4-FFF2-40B4-BE49-F238E27FC236}">
                <a16:creationId xmlns:a16="http://schemas.microsoft.com/office/drawing/2014/main" id="{49DD9AF5-E04E-4962-9821-F7D30462928D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4075657" y="3769096"/>
            <a:ext cx="141593" cy="301978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CDE6D546-2016-4546-BA24-8E4EE6BCD425}"/>
                  </a:ext>
                </a:extLst>
              </p:cNvPr>
              <p:cNvSpPr txBox="1"/>
              <p:nvPr/>
            </p:nvSpPr>
            <p:spPr>
              <a:xfrm>
                <a:off x="7057565" y="3117511"/>
                <a:ext cx="4564391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𝑝h𝑖𝐵𝑜𝑡𝑡𝑜𝑚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𝑐𝑎𝑚𝑒𝑟𝑎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𝑜𝑓𝑓𝑠𝑒𝑡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𝑑𝑖𝑠𝑡𝑎𝑛𝑐𝑒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CDE6D546-2016-4546-BA24-8E4EE6BCD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565" y="3117511"/>
                <a:ext cx="4564391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ABB1A38E-06D5-4346-8086-7DC6699A5322}"/>
                  </a:ext>
                </a:extLst>
              </p:cNvPr>
              <p:cNvSpPr txBox="1"/>
              <p:nvPr/>
            </p:nvSpPr>
            <p:spPr>
              <a:xfrm>
                <a:off x="7057565" y="2156950"/>
                <a:ext cx="4730782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𝑝h𝑖𝑇𝑜𝑝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h𝑒𝑖𝑔h𝑡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𝑐𝑎𝑚𝑒𝑟𝑎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𝑜𝑓𝑓𝑠𝑒𝑡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𝑑𝑖𝑠𝑡𝑎𝑛𝑐𝑒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ABB1A38E-06D5-4346-8086-7DC6699A5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565" y="2156950"/>
                <a:ext cx="4730782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47E4E85E-DDAC-4D59-B27B-CAC03743C41E}"/>
              </a:ext>
            </a:extLst>
          </p:cNvPr>
          <p:cNvGrpSpPr/>
          <p:nvPr/>
        </p:nvGrpSpPr>
        <p:grpSpPr>
          <a:xfrm>
            <a:off x="1171854" y="1154097"/>
            <a:ext cx="1704510" cy="1003177"/>
            <a:chOff x="1171855" y="1154097"/>
            <a:chExt cx="1704510" cy="1003177"/>
          </a:xfrm>
        </p:grpSpPr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F487E245-650E-4BE2-A5F4-5397D0CBA321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Trapezoid 90">
              <a:extLst>
                <a:ext uri="{FF2B5EF4-FFF2-40B4-BE49-F238E27FC236}">
                  <a16:creationId xmlns:a16="http://schemas.microsoft.com/office/drawing/2014/main" id="{8722600F-892D-406A-8E74-2CDC0439B2C0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Trapezoid 91">
              <a:extLst>
                <a:ext uri="{FF2B5EF4-FFF2-40B4-BE49-F238E27FC236}">
                  <a16:creationId xmlns:a16="http://schemas.microsoft.com/office/drawing/2014/main" id="{6F42A17F-9A48-468E-8048-C34FC7782113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42CCB863-BE61-45D7-9509-E7633B4C6973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94" name="Rechteck 93">
              <a:extLst>
                <a:ext uri="{FF2B5EF4-FFF2-40B4-BE49-F238E27FC236}">
                  <a16:creationId xmlns:a16="http://schemas.microsoft.com/office/drawing/2014/main" id="{85459368-97EC-4BFB-AC09-DA6A2963A2CD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DEEC93D3-E281-4054-A8E4-439E06BF4005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Rechteck 95">
              <a:extLst>
                <a:ext uri="{FF2B5EF4-FFF2-40B4-BE49-F238E27FC236}">
                  <a16:creationId xmlns:a16="http://schemas.microsoft.com/office/drawing/2014/main" id="{1F74A311-BBC9-47A5-8B09-8737243E3AE0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Rechteck 96">
              <a:extLst>
                <a:ext uri="{FF2B5EF4-FFF2-40B4-BE49-F238E27FC236}">
                  <a16:creationId xmlns:a16="http://schemas.microsoft.com/office/drawing/2014/main" id="{433DBFB7-9987-4DD5-9D4A-B82893AC6123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8" name="Gerader Verbinder 97">
            <a:extLst>
              <a:ext uri="{FF2B5EF4-FFF2-40B4-BE49-F238E27FC236}">
                <a16:creationId xmlns:a16="http://schemas.microsoft.com/office/drawing/2014/main" id="{F9436F6A-4D5E-4859-8AFD-F548BE2D5FD7}"/>
              </a:ext>
            </a:extLst>
          </p:cNvPr>
          <p:cNvCxnSpPr>
            <a:cxnSpLocks/>
          </p:cNvCxnSpPr>
          <p:nvPr/>
        </p:nvCxnSpPr>
        <p:spPr>
          <a:xfrm flipH="1">
            <a:off x="2024111" y="2155056"/>
            <a:ext cx="4071882" cy="5546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B3C5D4C7-BA96-41F4-BCE5-591D7254E39E}"/>
              </a:ext>
            </a:extLst>
          </p:cNvPr>
          <p:cNvCxnSpPr>
            <a:cxnSpLocks/>
            <a:stCxn id="91" idx="0"/>
            <a:endCxn id="105" idx="0"/>
          </p:cNvCxnSpPr>
          <p:nvPr/>
        </p:nvCxnSpPr>
        <p:spPr>
          <a:xfrm>
            <a:off x="2024109" y="1154097"/>
            <a:ext cx="4071891" cy="4376691"/>
          </a:xfrm>
          <a:prstGeom prst="line">
            <a:avLst/>
          </a:prstGeom>
          <a:ln w="38100" cap="flat">
            <a:solidFill>
              <a:srgbClr val="FFC000"/>
            </a:solidFill>
            <a:headEnd type="non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Gerader Verbinder 99">
            <a:extLst>
              <a:ext uri="{FF2B5EF4-FFF2-40B4-BE49-F238E27FC236}">
                <a16:creationId xmlns:a16="http://schemas.microsoft.com/office/drawing/2014/main" id="{D964B8B3-4FEB-4B2A-9F67-F8BEAD9C2A9F}"/>
              </a:ext>
            </a:extLst>
          </p:cNvPr>
          <p:cNvCxnSpPr>
            <a:cxnSpLocks/>
            <a:stCxn id="91" idx="0"/>
          </p:cNvCxnSpPr>
          <p:nvPr/>
        </p:nvCxnSpPr>
        <p:spPr>
          <a:xfrm>
            <a:off x="2024109" y="1154097"/>
            <a:ext cx="0" cy="102685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F5E1C99D-4710-4104-9470-EC4FFA27E720}"/>
              </a:ext>
            </a:extLst>
          </p:cNvPr>
          <p:cNvCxnSpPr>
            <a:cxnSpLocks/>
          </p:cNvCxnSpPr>
          <p:nvPr/>
        </p:nvCxnSpPr>
        <p:spPr>
          <a:xfrm>
            <a:off x="1411546" y="1154097"/>
            <a:ext cx="116972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hteck 101">
            <a:extLst>
              <a:ext uri="{FF2B5EF4-FFF2-40B4-BE49-F238E27FC236}">
                <a16:creationId xmlns:a16="http://schemas.microsoft.com/office/drawing/2014/main" id="{24B9C581-DCB6-41DC-ABCD-82B0A26F270E}"/>
              </a:ext>
            </a:extLst>
          </p:cNvPr>
          <p:cNvSpPr/>
          <p:nvPr/>
        </p:nvSpPr>
        <p:spPr>
          <a:xfrm>
            <a:off x="2993326" y="1086665"/>
            <a:ext cx="5715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3" name="Rechteck 102">
            <a:extLst>
              <a:ext uri="{FF2B5EF4-FFF2-40B4-BE49-F238E27FC236}">
                <a16:creationId xmlns:a16="http://schemas.microsoft.com/office/drawing/2014/main" id="{02B7029C-F406-44BA-A086-37C7245A037B}"/>
              </a:ext>
            </a:extLst>
          </p:cNvPr>
          <p:cNvSpPr/>
          <p:nvPr/>
        </p:nvSpPr>
        <p:spPr>
          <a:xfrm>
            <a:off x="1942683" y="2178357"/>
            <a:ext cx="45719" cy="7102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6A537ED9-D493-4CBA-BAC2-4EA0751F2383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rapezoid 104">
            <a:extLst>
              <a:ext uri="{FF2B5EF4-FFF2-40B4-BE49-F238E27FC236}">
                <a16:creationId xmlns:a16="http://schemas.microsoft.com/office/drawing/2014/main" id="{DCC1A9A5-46BC-4103-A7E9-857C8D08B18A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65C8FB01-ECA6-4D36-8EFE-AC25F1AE9037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107" name="Rechteck 106">
              <a:extLst>
                <a:ext uri="{FF2B5EF4-FFF2-40B4-BE49-F238E27FC236}">
                  <a16:creationId xmlns:a16="http://schemas.microsoft.com/office/drawing/2014/main" id="{2C738D55-9E55-4AB9-9FEB-4D7EC5A2D24B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lussdiagramm: Manuelle Verarbeitung 107">
              <a:extLst>
                <a:ext uri="{FF2B5EF4-FFF2-40B4-BE49-F238E27FC236}">
                  <a16:creationId xmlns:a16="http://schemas.microsoft.com/office/drawing/2014/main" id="{6435C7E3-0A2C-4207-A9D2-CE592563E250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9" name="Textfeld 108">
            <a:extLst>
              <a:ext uri="{FF2B5EF4-FFF2-40B4-BE49-F238E27FC236}">
                <a16:creationId xmlns:a16="http://schemas.microsoft.com/office/drawing/2014/main" id="{CECF0FD3-FE7D-4527-95DD-37B812E8A566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phi for FVideo</a:t>
            </a:r>
          </a:p>
        </p:txBody>
      </p: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D778EFD1-2D8E-4B57-86E7-78D810186D69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5D6F3615-DFAB-4356-AF46-CA414D20B73C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80857F4A-A04E-49FC-A2D2-948587D164D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D69CE232-3473-4EA2-BBED-5001DC423D43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115" name="Textfeld 114">
              <a:extLst>
                <a:ext uri="{FF2B5EF4-FFF2-40B4-BE49-F238E27FC236}">
                  <a16:creationId xmlns:a16="http://schemas.microsoft.com/office/drawing/2014/main" id="{DAEF7248-FECA-4AFC-BCC1-92454681FE70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116" name="Textfeld 115">
              <a:extLst>
                <a:ext uri="{FF2B5EF4-FFF2-40B4-BE49-F238E27FC236}">
                  <a16:creationId xmlns:a16="http://schemas.microsoft.com/office/drawing/2014/main" id="{4C3F2122-9054-446A-A84F-DDCFDA47640B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dy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6078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32</a:t>
            </a:fld>
            <a:endParaRPr lang="en-US" noProof="1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229CBBC-AD23-4399-84B8-876A12A3A7C5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C20C1E3-7122-43F5-A7E2-863F61429D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AA68CBE8-C8E9-48D8-9AE0-4628CEAB46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C6BDA83-5640-4C5C-B327-822D14BE646B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8F38011B-5274-4A5C-9B48-9D33E6DB5011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5B4332F4-089C-42EC-87FD-BD6AD75FE2CA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vy</a:t>
              </a:r>
            </a:p>
          </p:txBody>
        </p:sp>
      </p:grpSp>
      <p:sp>
        <p:nvSpPr>
          <p:cNvPr id="120" name="Bogen 119">
            <a:extLst>
              <a:ext uri="{FF2B5EF4-FFF2-40B4-BE49-F238E27FC236}">
                <a16:creationId xmlns:a16="http://schemas.microsoft.com/office/drawing/2014/main" id="{3D67D378-4C30-4F8C-BE3E-2AC4770B3AEC}"/>
              </a:ext>
            </a:extLst>
          </p:cNvPr>
          <p:cNvSpPr/>
          <p:nvPr/>
        </p:nvSpPr>
        <p:spPr>
          <a:xfrm rot="14676193">
            <a:off x="5101991" y="3334119"/>
            <a:ext cx="913688" cy="1913484"/>
          </a:xfrm>
          <a:prstGeom prst="arc">
            <a:avLst>
              <a:gd name="adj1" fmla="val 17277185"/>
              <a:gd name="adj2" fmla="val 4093295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1DD2DC99-3FC8-4BB1-BA5D-9D63D04A46FB}"/>
              </a:ext>
            </a:extLst>
          </p:cNvPr>
          <p:cNvCxnSpPr>
            <a:stCxn id="127" idx="0"/>
            <a:endCxn id="127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004F89F3-A60C-4784-B2AE-3636FD14FFF3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447EA955-172D-41F5-824B-3EF644930397}"/>
              </a:ext>
            </a:extLst>
          </p:cNvPr>
          <p:cNvSpPr txBox="1"/>
          <p:nvPr/>
        </p:nvSpPr>
        <p:spPr>
          <a:xfrm>
            <a:off x="4507859" y="21809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8A7E5F51-24DF-4391-B498-1C7AA5150DB5}"/>
              </a:ext>
            </a:extLst>
          </p:cNvPr>
          <p:cNvSpPr txBox="1"/>
          <p:nvPr/>
        </p:nvSpPr>
        <p:spPr>
          <a:xfrm>
            <a:off x="6095995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vx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440ADEBD-DD3A-476F-9ECA-1DC2FA1C8721}"/>
              </a:ext>
            </a:extLst>
          </p:cNvPr>
          <p:cNvSpPr txBox="1"/>
          <p:nvPr/>
        </p:nvSpPr>
        <p:spPr>
          <a:xfrm>
            <a:off x="2354426" y="312181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987AE332-2D13-4BB2-AD27-6F862A09A563}"/>
              </a:ext>
            </a:extLst>
          </p:cNvPr>
          <p:cNvSpPr txBox="1"/>
          <p:nvPr/>
        </p:nvSpPr>
        <p:spPr>
          <a:xfrm>
            <a:off x="5030520" y="4076222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</a:t>
            </a:r>
          </a:p>
          <a:p>
            <a:pPr algn="r"/>
            <a:endParaRPr lang="de-DE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rapezoid 130">
            <a:extLst>
              <a:ext uri="{FF2B5EF4-FFF2-40B4-BE49-F238E27FC236}">
                <a16:creationId xmlns:a16="http://schemas.microsoft.com/office/drawing/2014/main" id="{641C0F8F-D019-400F-B839-D91CC3EDD29A}"/>
              </a:ext>
            </a:extLst>
          </p:cNvPr>
          <p:cNvSpPr/>
          <p:nvPr/>
        </p:nvSpPr>
        <p:spPr>
          <a:xfrm rot="13286551">
            <a:off x="64708" y="1368335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B6256CBE-D051-488C-AFF9-E55C9E50D6AA}"/>
                  </a:ext>
                </a:extLst>
              </p:cNvPr>
              <p:cNvSpPr txBox="1"/>
              <p:nvPr/>
            </p:nvSpPr>
            <p:spPr>
              <a:xfrm>
                <a:off x="7386851" y="2133600"/>
                <a:ext cx="2476255" cy="84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If vx </a:t>
                </a:r>
                <a14:m>
                  <m:oMath xmlns:m="http://schemas.openxmlformats.org/officeDocument/2006/math">
                    <m:r>
                      <a:rPr lang="de-DE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de-DE" b="0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de-DE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0:</a:t>
                </a:r>
                <a:endParaRPr lang="de-DE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𝐻𝑒𝑎𝑑𝑖𝑛𝑔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b="0" i="0" smtClean="0">
                              <a:latin typeface="Cambria Math" panose="02040503050406030204" pitchFamily="18" charset="0"/>
                            </a:rPr>
                            <m:t>atan</m:t>
                          </m:r>
                        </m:fName>
                        <m:e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𝑣𝑦</m:t>
                                  </m:r>
                                </m:num>
                                <m:den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𝑣𝑥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B6256CBE-D051-488C-AFF9-E55C9E50D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851" y="2133600"/>
                <a:ext cx="2476255" cy="844270"/>
              </a:xfrm>
              <a:prstGeom prst="rect">
                <a:avLst/>
              </a:prstGeom>
              <a:blipFill>
                <a:blip r:embed="rId2"/>
                <a:stretch>
                  <a:fillRect l="-2217" t="-362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A2DB588C-2A9B-4A5A-9333-3ABB8545B194}"/>
                  </a:ext>
                </a:extLst>
              </p:cNvPr>
              <p:cNvSpPr txBox="1"/>
              <p:nvPr/>
            </p:nvSpPr>
            <p:spPr>
              <a:xfrm>
                <a:off x="7386851" y="3105834"/>
                <a:ext cx="35645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If vx </a:t>
                </a:r>
                <a14:m>
                  <m:oMath xmlns:m="http://schemas.openxmlformats.org/officeDocument/2006/math">
                    <m:r>
                      <a:rPr lang="de-DE" i="1" u="sng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de-DE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 0 &amp;&amp; vy </a:t>
                </a:r>
                <a14:m>
                  <m:oMath xmlns:m="http://schemas.openxmlformats.org/officeDocument/2006/math">
                    <m:r>
                      <a:rPr lang="de-DE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≠</m:t>
                    </m:r>
                    <m:r>
                      <a:rPr lang="de-DE" b="0" i="1" u="sng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de-DE" u="sng" dirty="0">
                    <a:latin typeface="Arial" panose="020B0604020202020204" pitchFamily="34" charset="0"/>
                    <a:cs typeface="Arial" panose="020B0604020202020204" pitchFamily="34" charset="0"/>
                  </a:rPr>
                  <a:t>0:</a:t>
                </a:r>
              </a:p>
              <a:p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Heading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1,57rad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± </m:t>
                    </m:r>
                  </m:oMath>
                </a14:m>
                <a:r>
                  <a:rPr lang="de-DE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90°</a:t>
                </a:r>
              </a:p>
            </p:txBody>
          </p:sp>
        </mc:Choice>
        <mc:Fallback xmlns="">
          <p:sp>
            <p:nvSpPr>
              <p:cNvPr id="134" name="Textfeld 133">
                <a:extLst>
                  <a:ext uri="{FF2B5EF4-FFF2-40B4-BE49-F238E27FC236}">
                    <a16:creationId xmlns:a16="http://schemas.microsoft.com/office/drawing/2014/main" id="{A2DB588C-2A9B-4A5A-9333-3ABB8545B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6851" y="3105834"/>
                <a:ext cx="3564586" cy="646331"/>
              </a:xfrm>
              <a:prstGeom prst="rect">
                <a:avLst/>
              </a:prstGeom>
              <a:blipFill>
                <a:blip r:embed="rId3"/>
                <a:stretch>
                  <a:fillRect l="-1541" t="-4673" b="-1215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365A8CAB-D406-4592-854A-51050D731DD6}"/>
              </a:ext>
            </a:extLst>
          </p:cNvPr>
          <p:cNvGrpSpPr/>
          <p:nvPr/>
        </p:nvGrpSpPr>
        <p:grpSpPr>
          <a:xfrm rot="21281098">
            <a:off x="418239" y="1394158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BC8F66E5-DB33-49F5-919E-1D12D8484C92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37" name="Gruppieren 136">
              <a:extLst>
                <a:ext uri="{FF2B5EF4-FFF2-40B4-BE49-F238E27FC236}">
                  <a16:creationId xmlns:a16="http://schemas.microsoft.com/office/drawing/2014/main" id="{1EC320E4-A564-43BB-99DA-B417E14C6206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727EFA0A-8A01-4568-83EB-374A2889C496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F6080F20-5B67-4CD5-986D-3C8C80ADB71C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B81D485C-4A96-454F-A4F0-5C8166C57953}"/>
              </a:ext>
            </a:extLst>
          </p:cNvPr>
          <p:cNvGrpSpPr/>
          <p:nvPr/>
        </p:nvGrpSpPr>
        <p:grpSpPr>
          <a:xfrm rot="21281098">
            <a:off x="2399357" y="1846394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96324AB6-FE46-486C-AD68-015E98860775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99826C22-B349-4189-8C02-5150F62EF70D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5D17307E-971C-48C8-8D55-4E51DAD9EEE3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F85BA882-A845-4191-A9FE-1B76504F14C2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CBB2843C-49A7-40D3-8D87-5ACDA5BD8719}"/>
              </a:ext>
            </a:extLst>
          </p:cNvPr>
          <p:cNvGrpSpPr/>
          <p:nvPr/>
        </p:nvGrpSpPr>
        <p:grpSpPr>
          <a:xfrm rot="21281098">
            <a:off x="1052364" y="1958601"/>
            <a:ext cx="420872" cy="422085"/>
            <a:chOff x="1194882" y="2757964"/>
            <a:chExt cx="330848" cy="367961"/>
          </a:xfrm>
        </p:grpSpPr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6261A537-AA2E-44FF-9902-349D05A3030D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47" name="Gruppieren 146">
              <a:extLst>
                <a:ext uri="{FF2B5EF4-FFF2-40B4-BE49-F238E27FC236}">
                  <a16:creationId xmlns:a16="http://schemas.microsoft.com/office/drawing/2014/main" id="{5F520835-78C6-474C-A9B0-2B303506A5E0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</p:grpSpPr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0F47BD51-37DA-4E04-A53F-93CEDB62DC9C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B9B93AF1-F2CA-4C21-99ED-5BB5E848CCBD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150" name="Trapezoid 149">
            <a:extLst>
              <a:ext uri="{FF2B5EF4-FFF2-40B4-BE49-F238E27FC236}">
                <a16:creationId xmlns:a16="http://schemas.microsoft.com/office/drawing/2014/main" id="{758DFB23-0EF7-437D-A6B8-8524B36D9FBB}"/>
              </a:ext>
            </a:extLst>
          </p:cNvPr>
          <p:cNvSpPr/>
          <p:nvPr/>
        </p:nvSpPr>
        <p:spPr>
          <a:xfrm rot="2494879">
            <a:off x="330399" y="967233"/>
            <a:ext cx="846471" cy="382050"/>
          </a:xfrm>
          <a:prstGeom prst="trapezoid">
            <a:avLst>
              <a:gd name="adj" fmla="val 9501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rapezoid 150">
            <a:extLst>
              <a:ext uri="{FF2B5EF4-FFF2-40B4-BE49-F238E27FC236}">
                <a16:creationId xmlns:a16="http://schemas.microsoft.com/office/drawing/2014/main" id="{56B7C0D8-58A5-44AC-80EB-C28EE35A759F}"/>
              </a:ext>
            </a:extLst>
          </p:cNvPr>
          <p:cNvSpPr/>
          <p:nvPr/>
        </p:nvSpPr>
        <p:spPr>
          <a:xfrm rot="21295876">
            <a:off x="1565366" y="718800"/>
            <a:ext cx="985941" cy="425233"/>
          </a:xfrm>
          <a:prstGeom prst="trapezoid">
            <a:avLst>
              <a:gd name="adj" fmla="val 9358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rapezoid 151">
            <a:extLst>
              <a:ext uri="{FF2B5EF4-FFF2-40B4-BE49-F238E27FC236}">
                <a16:creationId xmlns:a16="http://schemas.microsoft.com/office/drawing/2014/main" id="{8F95B48D-E776-4CEF-9FED-8D676AD28E3E}"/>
              </a:ext>
            </a:extLst>
          </p:cNvPr>
          <p:cNvSpPr/>
          <p:nvPr/>
        </p:nvSpPr>
        <p:spPr>
          <a:xfrm rot="10520580">
            <a:off x="931595" y="765966"/>
            <a:ext cx="1204084" cy="430894"/>
          </a:xfrm>
          <a:prstGeom prst="trapezoid">
            <a:avLst>
              <a:gd name="adj" fmla="val 948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rapezoid 152">
            <a:extLst>
              <a:ext uri="{FF2B5EF4-FFF2-40B4-BE49-F238E27FC236}">
                <a16:creationId xmlns:a16="http://schemas.microsoft.com/office/drawing/2014/main" id="{982A5567-FBD5-4E57-ADE4-B5434D7E38E7}"/>
              </a:ext>
            </a:extLst>
          </p:cNvPr>
          <p:cNvSpPr/>
          <p:nvPr/>
        </p:nvSpPr>
        <p:spPr>
          <a:xfrm rot="2494879">
            <a:off x="694947" y="1046481"/>
            <a:ext cx="750153" cy="555296"/>
          </a:xfrm>
          <a:prstGeom prst="trapezoid">
            <a:avLst>
              <a:gd name="adj" fmla="val 4244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rapezoid 153">
            <a:extLst>
              <a:ext uri="{FF2B5EF4-FFF2-40B4-BE49-F238E27FC236}">
                <a16:creationId xmlns:a16="http://schemas.microsoft.com/office/drawing/2014/main" id="{D140E03B-6F5C-4FC4-834C-76520F2BC340}"/>
              </a:ext>
            </a:extLst>
          </p:cNvPr>
          <p:cNvSpPr/>
          <p:nvPr/>
        </p:nvSpPr>
        <p:spPr>
          <a:xfrm rot="2494879">
            <a:off x="562920" y="925007"/>
            <a:ext cx="750153" cy="555296"/>
          </a:xfrm>
          <a:prstGeom prst="trapezoid">
            <a:avLst>
              <a:gd name="adj" fmla="val 1838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7D62E81A-634A-4059-BF2F-5543EEFF7CB9}"/>
              </a:ext>
            </a:extLst>
          </p:cNvPr>
          <p:cNvCxnSpPr>
            <a:cxnSpLocks/>
          </p:cNvCxnSpPr>
          <p:nvPr/>
        </p:nvCxnSpPr>
        <p:spPr>
          <a:xfrm flipH="1" flipV="1">
            <a:off x="919163" y="814300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FCE46BA-5CC0-46D9-9AF3-624E12725E7C}"/>
              </a:ext>
            </a:extLst>
          </p:cNvPr>
          <p:cNvCxnSpPr>
            <a:cxnSpLocks/>
          </p:cNvCxnSpPr>
          <p:nvPr/>
        </p:nvCxnSpPr>
        <p:spPr>
          <a:xfrm flipH="1" flipV="1">
            <a:off x="2129150" y="706727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83BAF40B-7EF1-4708-A3AE-96015BD6BA8D}"/>
              </a:ext>
            </a:extLst>
          </p:cNvPr>
          <p:cNvCxnSpPr>
            <a:cxnSpLocks/>
          </p:cNvCxnSpPr>
          <p:nvPr/>
        </p:nvCxnSpPr>
        <p:spPr>
          <a:xfrm flipH="1">
            <a:off x="473059" y="814300"/>
            <a:ext cx="446104" cy="3517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BD8770F2-C8E8-428D-8190-26153EA8FB35}"/>
              </a:ext>
            </a:extLst>
          </p:cNvPr>
          <p:cNvCxnSpPr>
            <a:cxnSpLocks/>
          </p:cNvCxnSpPr>
          <p:nvPr/>
        </p:nvCxnSpPr>
        <p:spPr>
          <a:xfrm flipV="1">
            <a:off x="303102" y="986952"/>
            <a:ext cx="402939" cy="33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95506003-2490-4592-B729-853CB96E5DA3}"/>
              </a:ext>
            </a:extLst>
          </p:cNvPr>
          <p:cNvCxnSpPr>
            <a:cxnSpLocks/>
          </p:cNvCxnSpPr>
          <p:nvPr/>
        </p:nvCxnSpPr>
        <p:spPr>
          <a:xfrm flipV="1">
            <a:off x="917409" y="711315"/>
            <a:ext cx="1217942" cy="100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rapezoid 159">
            <a:extLst>
              <a:ext uri="{FF2B5EF4-FFF2-40B4-BE49-F238E27FC236}">
                <a16:creationId xmlns:a16="http://schemas.microsoft.com/office/drawing/2014/main" id="{F15D154B-5D4C-4781-8410-3F61E55C90D9}"/>
              </a:ext>
            </a:extLst>
          </p:cNvPr>
          <p:cNvSpPr/>
          <p:nvPr/>
        </p:nvSpPr>
        <p:spPr>
          <a:xfrm rot="2520030">
            <a:off x="703673" y="918949"/>
            <a:ext cx="284179" cy="411770"/>
          </a:xfrm>
          <a:prstGeom prst="trapezoid">
            <a:avLst>
              <a:gd name="adj" fmla="val 2007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1" name="Trapezoid 160">
            <a:extLst>
              <a:ext uri="{FF2B5EF4-FFF2-40B4-BE49-F238E27FC236}">
                <a16:creationId xmlns:a16="http://schemas.microsoft.com/office/drawing/2014/main" id="{A2144ABB-438C-4CCE-94B6-5F1F96DEE9B9}"/>
              </a:ext>
            </a:extLst>
          </p:cNvPr>
          <p:cNvSpPr/>
          <p:nvPr/>
        </p:nvSpPr>
        <p:spPr>
          <a:xfrm rot="2494879">
            <a:off x="303616" y="1586779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rapezoid 161">
            <a:extLst>
              <a:ext uri="{FF2B5EF4-FFF2-40B4-BE49-F238E27FC236}">
                <a16:creationId xmlns:a16="http://schemas.microsoft.com/office/drawing/2014/main" id="{1E3CDA47-FB3D-42D7-9AD9-E869CA54640A}"/>
              </a:ext>
            </a:extLst>
          </p:cNvPr>
          <p:cNvSpPr/>
          <p:nvPr/>
        </p:nvSpPr>
        <p:spPr>
          <a:xfrm rot="13286551">
            <a:off x="64708" y="1368335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27017946-BD1B-4167-BB2C-128118CD1515}"/>
              </a:ext>
            </a:extLst>
          </p:cNvPr>
          <p:cNvCxnSpPr>
            <a:cxnSpLocks/>
          </p:cNvCxnSpPr>
          <p:nvPr/>
        </p:nvCxnSpPr>
        <p:spPr>
          <a:xfrm>
            <a:off x="303102" y="1014995"/>
            <a:ext cx="40789" cy="446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79A106CA-C43A-4102-B659-76505F1DFAC5}"/>
              </a:ext>
            </a:extLst>
          </p:cNvPr>
          <p:cNvCxnSpPr>
            <a:cxnSpLocks/>
          </p:cNvCxnSpPr>
          <p:nvPr/>
        </p:nvCxnSpPr>
        <p:spPr>
          <a:xfrm flipH="1" flipV="1">
            <a:off x="303102" y="10149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27A9A0DA-95AE-4256-8A04-3C985D67C499}"/>
              </a:ext>
            </a:extLst>
          </p:cNvPr>
          <p:cNvCxnSpPr>
            <a:cxnSpLocks/>
          </p:cNvCxnSpPr>
          <p:nvPr/>
        </p:nvCxnSpPr>
        <p:spPr>
          <a:xfrm flipH="1" flipV="1">
            <a:off x="343891" y="14617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84063118-D7D3-4189-B80E-AAD72D03E4DE}"/>
              </a:ext>
            </a:extLst>
          </p:cNvPr>
          <p:cNvGrpSpPr/>
          <p:nvPr/>
        </p:nvGrpSpPr>
        <p:grpSpPr>
          <a:xfrm rot="21305333">
            <a:off x="1160645" y="1154578"/>
            <a:ext cx="1704510" cy="1003177"/>
            <a:chOff x="1171855" y="1154097"/>
            <a:chExt cx="1704510" cy="1003177"/>
          </a:xfrm>
        </p:grpSpPr>
        <p:sp>
          <p:nvSpPr>
            <p:cNvPr id="167" name="Rechteck 166">
              <a:extLst>
                <a:ext uri="{FF2B5EF4-FFF2-40B4-BE49-F238E27FC236}">
                  <a16:creationId xmlns:a16="http://schemas.microsoft.com/office/drawing/2014/main" id="{4DCC2B8C-14C3-4A56-B02A-D71F8A3D40BC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Trapezoid 167">
              <a:extLst>
                <a:ext uri="{FF2B5EF4-FFF2-40B4-BE49-F238E27FC236}">
                  <a16:creationId xmlns:a16="http://schemas.microsoft.com/office/drawing/2014/main" id="{AAE9FE7C-316D-4A0B-B5C4-00BC993967C3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rapezoid 168">
              <a:extLst>
                <a:ext uri="{FF2B5EF4-FFF2-40B4-BE49-F238E27FC236}">
                  <a16:creationId xmlns:a16="http://schemas.microsoft.com/office/drawing/2014/main" id="{9C973C80-7C76-4B16-BF4F-CB7C8B172F1C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0101D4BF-B8B0-4842-A48D-2268E1462DC3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171" name="Rechteck 170">
              <a:extLst>
                <a:ext uri="{FF2B5EF4-FFF2-40B4-BE49-F238E27FC236}">
                  <a16:creationId xmlns:a16="http://schemas.microsoft.com/office/drawing/2014/main" id="{3CE6C356-E043-4F3A-8220-772B80CB6F8E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hteck 171">
              <a:extLst>
                <a:ext uri="{FF2B5EF4-FFF2-40B4-BE49-F238E27FC236}">
                  <a16:creationId xmlns:a16="http://schemas.microsoft.com/office/drawing/2014/main" id="{AF8A7C7C-ECD1-47DF-9BBF-DEEAD795CAAA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Rechteck 172">
              <a:extLst>
                <a:ext uri="{FF2B5EF4-FFF2-40B4-BE49-F238E27FC236}">
                  <a16:creationId xmlns:a16="http://schemas.microsoft.com/office/drawing/2014/main" id="{80058CA7-5A7F-4D9B-8D98-3D831AC27865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echteck 173">
              <a:extLst>
                <a:ext uri="{FF2B5EF4-FFF2-40B4-BE49-F238E27FC236}">
                  <a16:creationId xmlns:a16="http://schemas.microsoft.com/office/drawing/2014/main" id="{B981C96A-3F8F-4664-868C-A931C9DF5D88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CD83D99E-0F10-45A3-9723-E67B589FFC66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2055840" y="2155913"/>
            <a:ext cx="4040160" cy="337487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0F074096-356A-41D1-9324-CB3899819629}"/>
              </a:ext>
            </a:extLst>
          </p:cNvPr>
          <p:cNvCxnSpPr>
            <a:cxnSpLocks/>
          </p:cNvCxnSpPr>
          <p:nvPr/>
        </p:nvCxnSpPr>
        <p:spPr>
          <a:xfrm flipH="1">
            <a:off x="2055841" y="2133600"/>
            <a:ext cx="4040154" cy="22313"/>
          </a:xfrm>
          <a:prstGeom prst="line">
            <a:avLst/>
          </a:prstGeom>
          <a:ln w="3810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feld 177">
            <a:extLst>
              <a:ext uri="{FF2B5EF4-FFF2-40B4-BE49-F238E27FC236}">
                <a16:creationId xmlns:a16="http://schemas.microsoft.com/office/drawing/2014/main" id="{1B2C9CC0-3E1C-4BBF-AEB5-C5D03A438011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heading angle for FVideo</a:t>
            </a:r>
          </a:p>
        </p:txBody>
      </p:sp>
      <p:sp>
        <p:nvSpPr>
          <p:cNvPr id="180" name="Textfeld 179">
            <a:extLst>
              <a:ext uri="{FF2B5EF4-FFF2-40B4-BE49-F238E27FC236}">
                <a16:creationId xmlns:a16="http://schemas.microsoft.com/office/drawing/2014/main" id="{D9AAD497-9B54-4A5F-AD96-7EAAAA2022DF}"/>
              </a:ext>
            </a:extLst>
          </p:cNvPr>
          <p:cNvSpPr txBox="1"/>
          <p:nvPr/>
        </p:nvSpPr>
        <p:spPr>
          <a:xfrm>
            <a:off x="8237060" y="5406456"/>
            <a:ext cx="349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Note</a:t>
            </a:r>
            <a:r>
              <a:rPr lang="en-US" dirty="0"/>
              <a:t>: those</a:t>
            </a:r>
            <a:r>
              <a:rPr lang="de-DE" dirty="0"/>
              <a:t> </a:t>
            </a:r>
            <a:r>
              <a:rPr lang="en-US" dirty="0"/>
              <a:t>velocities are the ones of the object</a:t>
            </a:r>
          </a:p>
        </p:txBody>
      </p:sp>
      <p:sp>
        <p:nvSpPr>
          <p:cNvPr id="127" name="Trapezoid 126">
            <a:extLst>
              <a:ext uri="{FF2B5EF4-FFF2-40B4-BE49-F238E27FC236}">
                <a16:creationId xmlns:a16="http://schemas.microsoft.com/office/drawing/2014/main" id="{6244E665-64F8-4405-89B6-C5B726B3DECA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23AC9BBF-165C-4913-9540-4E4FCC5BE270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AD562C5B-DDF0-42EB-9BFC-323BBFDDEA72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lussdiagramm: Manuelle Verarbeitung 129">
              <a:extLst>
                <a:ext uri="{FF2B5EF4-FFF2-40B4-BE49-F238E27FC236}">
                  <a16:creationId xmlns:a16="http://schemas.microsoft.com/office/drawing/2014/main" id="{FA6B9F05-7EBB-4A1C-9A9E-A52BAA9E061C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86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33</a:t>
            </a:fld>
            <a:endParaRPr lang="en-US" noProof="1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229CBBC-AD23-4399-84B8-876A12A3A7C5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C20C1E3-7122-43F5-A7E2-863F61429D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AA68CBE8-C8E9-48D8-9AE0-4628CEAB46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C6BDA83-5640-4C5C-B327-822D14BE646B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8F38011B-5274-4A5C-9B48-9D33E6DB5011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5B4332F4-089C-42EC-87FD-BD6AD75FE2CA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vy</a:t>
              </a:r>
            </a:p>
          </p:txBody>
        </p:sp>
      </p:grpSp>
      <p:cxnSp>
        <p:nvCxnSpPr>
          <p:cNvPr id="121" name="Gerader Verbinder 120">
            <a:extLst>
              <a:ext uri="{FF2B5EF4-FFF2-40B4-BE49-F238E27FC236}">
                <a16:creationId xmlns:a16="http://schemas.microsoft.com/office/drawing/2014/main" id="{1DD2DC99-3FC8-4BB1-BA5D-9D63D04A46FB}"/>
              </a:ext>
            </a:extLst>
          </p:cNvPr>
          <p:cNvCxnSpPr>
            <a:stCxn id="127" idx="0"/>
            <a:endCxn id="127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Gerader Verbinder 121">
            <a:extLst>
              <a:ext uri="{FF2B5EF4-FFF2-40B4-BE49-F238E27FC236}">
                <a16:creationId xmlns:a16="http://schemas.microsoft.com/office/drawing/2014/main" id="{004F89F3-A60C-4784-B2AE-3636FD14FFF3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feld 122">
            <a:extLst>
              <a:ext uri="{FF2B5EF4-FFF2-40B4-BE49-F238E27FC236}">
                <a16:creationId xmlns:a16="http://schemas.microsoft.com/office/drawing/2014/main" id="{447EA955-172D-41F5-824B-3EF644930397}"/>
              </a:ext>
            </a:extLst>
          </p:cNvPr>
          <p:cNvSpPr txBox="1"/>
          <p:nvPr/>
        </p:nvSpPr>
        <p:spPr>
          <a:xfrm>
            <a:off x="4507859" y="21809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8A7E5F51-24DF-4391-B498-1C7AA5150DB5}"/>
              </a:ext>
            </a:extLst>
          </p:cNvPr>
          <p:cNvSpPr txBox="1"/>
          <p:nvPr/>
        </p:nvSpPr>
        <p:spPr>
          <a:xfrm>
            <a:off x="6095995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vx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440ADEBD-DD3A-476F-9ECA-1DC2FA1C8721}"/>
              </a:ext>
            </a:extLst>
          </p:cNvPr>
          <p:cNvSpPr txBox="1"/>
          <p:nvPr/>
        </p:nvSpPr>
        <p:spPr>
          <a:xfrm>
            <a:off x="2354426" y="312181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</p:txBody>
      </p:sp>
      <p:sp>
        <p:nvSpPr>
          <p:cNvPr id="131" name="Trapezoid 130">
            <a:extLst>
              <a:ext uri="{FF2B5EF4-FFF2-40B4-BE49-F238E27FC236}">
                <a16:creationId xmlns:a16="http://schemas.microsoft.com/office/drawing/2014/main" id="{641C0F8F-D019-400F-B839-D91CC3EDD29A}"/>
              </a:ext>
            </a:extLst>
          </p:cNvPr>
          <p:cNvSpPr/>
          <p:nvPr/>
        </p:nvSpPr>
        <p:spPr>
          <a:xfrm rot="13286551">
            <a:off x="64708" y="1368335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5" name="Gruppieren 134">
            <a:extLst>
              <a:ext uri="{FF2B5EF4-FFF2-40B4-BE49-F238E27FC236}">
                <a16:creationId xmlns:a16="http://schemas.microsoft.com/office/drawing/2014/main" id="{365A8CAB-D406-4592-854A-51050D731DD6}"/>
              </a:ext>
            </a:extLst>
          </p:cNvPr>
          <p:cNvGrpSpPr/>
          <p:nvPr/>
        </p:nvGrpSpPr>
        <p:grpSpPr>
          <a:xfrm rot="21281098">
            <a:off x="418239" y="1394158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36" name="Ellipse 135">
              <a:extLst>
                <a:ext uri="{FF2B5EF4-FFF2-40B4-BE49-F238E27FC236}">
                  <a16:creationId xmlns:a16="http://schemas.microsoft.com/office/drawing/2014/main" id="{BC8F66E5-DB33-49F5-919E-1D12D8484C92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37" name="Gruppieren 136">
              <a:extLst>
                <a:ext uri="{FF2B5EF4-FFF2-40B4-BE49-F238E27FC236}">
                  <a16:creationId xmlns:a16="http://schemas.microsoft.com/office/drawing/2014/main" id="{1EC320E4-A564-43BB-99DA-B417E14C6206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727EFA0A-8A01-4568-83EB-374A2889C496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9" name="Ellipse 138">
                <a:extLst>
                  <a:ext uri="{FF2B5EF4-FFF2-40B4-BE49-F238E27FC236}">
                    <a16:creationId xmlns:a16="http://schemas.microsoft.com/office/drawing/2014/main" id="{F6080F20-5B67-4CD5-986D-3C8C80ADB71C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B81D485C-4A96-454F-A4F0-5C8166C57953}"/>
              </a:ext>
            </a:extLst>
          </p:cNvPr>
          <p:cNvGrpSpPr/>
          <p:nvPr/>
        </p:nvGrpSpPr>
        <p:grpSpPr>
          <a:xfrm rot="21281098">
            <a:off x="2399357" y="1846394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41" name="Ellipse 140">
              <a:extLst>
                <a:ext uri="{FF2B5EF4-FFF2-40B4-BE49-F238E27FC236}">
                  <a16:creationId xmlns:a16="http://schemas.microsoft.com/office/drawing/2014/main" id="{96324AB6-FE46-486C-AD68-015E98860775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42" name="Gruppieren 141">
              <a:extLst>
                <a:ext uri="{FF2B5EF4-FFF2-40B4-BE49-F238E27FC236}">
                  <a16:creationId xmlns:a16="http://schemas.microsoft.com/office/drawing/2014/main" id="{99826C22-B349-4189-8C02-5150F62EF70D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5D17307E-971C-48C8-8D55-4E51DAD9EEE3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4" name="Ellipse 143">
                <a:extLst>
                  <a:ext uri="{FF2B5EF4-FFF2-40B4-BE49-F238E27FC236}">
                    <a16:creationId xmlns:a16="http://schemas.microsoft.com/office/drawing/2014/main" id="{F85BA882-A845-4191-A9FE-1B76504F14C2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145" name="Gruppieren 144">
            <a:extLst>
              <a:ext uri="{FF2B5EF4-FFF2-40B4-BE49-F238E27FC236}">
                <a16:creationId xmlns:a16="http://schemas.microsoft.com/office/drawing/2014/main" id="{CBB2843C-49A7-40D3-8D87-5ACDA5BD8719}"/>
              </a:ext>
            </a:extLst>
          </p:cNvPr>
          <p:cNvGrpSpPr/>
          <p:nvPr/>
        </p:nvGrpSpPr>
        <p:grpSpPr>
          <a:xfrm rot="21281098">
            <a:off x="1052364" y="1958601"/>
            <a:ext cx="420872" cy="422085"/>
            <a:chOff x="1194882" y="2757964"/>
            <a:chExt cx="330848" cy="367961"/>
          </a:xfrm>
        </p:grpSpPr>
        <p:sp>
          <p:nvSpPr>
            <p:cNvPr id="146" name="Ellipse 145">
              <a:extLst>
                <a:ext uri="{FF2B5EF4-FFF2-40B4-BE49-F238E27FC236}">
                  <a16:creationId xmlns:a16="http://schemas.microsoft.com/office/drawing/2014/main" id="{6261A537-AA2E-44FF-9902-349D05A3030D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47" name="Gruppieren 146">
              <a:extLst>
                <a:ext uri="{FF2B5EF4-FFF2-40B4-BE49-F238E27FC236}">
                  <a16:creationId xmlns:a16="http://schemas.microsoft.com/office/drawing/2014/main" id="{5F520835-78C6-474C-A9B0-2B303506A5E0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</p:grpSpPr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0F47BD51-37DA-4E04-A53F-93CEDB62DC9C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9" name="Ellipse 148">
                <a:extLst>
                  <a:ext uri="{FF2B5EF4-FFF2-40B4-BE49-F238E27FC236}">
                    <a16:creationId xmlns:a16="http://schemas.microsoft.com/office/drawing/2014/main" id="{B9B93AF1-F2CA-4C21-99ED-5BB5E848CCBD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150" name="Trapezoid 149">
            <a:extLst>
              <a:ext uri="{FF2B5EF4-FFF2-40B4-BE49-F238E27FC236}">
                <a16:creationId xmlns:a16="http://schemas.microsoft.com/office/drawing/2014/main" id="{758DFB23-0EF7-437D-A6B8-8524B36D9FBB}"/>
              </a:ext>
            </a:extLst>
          </p:cNvPr>
          <p:cNvSpPr/>
          <p:nvPr/>
        </p:nvSpPr>
        <p:spPr>
          <a:xfrm rot="2494879">
            <a:off x="330399" y="967233"/>
            <a:ext cx="846471" cy="382050"/>
          </a:xfrm>
          <a:prstGeom prst="trapezoid">
            <a:avLst>
              <a:gd name="adj" fmla="val 9501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rapezoid 150">
            <a:extLst>
              <a:ext uri="{FF2B5EF4-FFF2-40B4-BE49-F238E27FC236}">
                <a16:creationId xmlns:a16="http://schemas.microsoft.com/office/drawing/2014/main" id="{56B7C0D8-58A5-44AC-80EB-C28EE35A759F}"/>
              </a:ext>
            </a:extLst>
          </p:cNvPr>
          <p:cNvSpPr/>
          <p:nvPr/>
        </p:nvSpPr>
        <p:spPr>
          <a:xfrm rot="21295876">
            <a:off x="1565366" y="718800"/>
            <a:ext cx="985941" cy="425233"/>
          </a:xfrm>
          <a:prstGeom prst="trapezoid">
            <a:avLst>
              <a:gd name="adj" fmla="val 9358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rapezoid 151">
            <a:extLst>
              <a:ext uri="{FF2B5EF4-FFF2-40B4-BE49-F238E27FC236}">
                <a16:creationId xmlns:a16="http://schemas.microsoft.com/office/drawing/2014/main" id="{8F95B48D-E776-4CEF-9FED-8D676AD28E3E}"/>
              </a:ext>
            </a:extLst>
          </p:cNvPr>
          <p:cNvSpPr/>
          <p:nvPr/>
        </p:nvSpPr>
        <p:spPr>
          <a:xfrm rot="10520580">
            <a:off x="931595" y="765966"/>
            <a:ext cx="1204084" cy="430894"/>
          </a:xfrm>
          <a:prstGeom prst="trapezoid">
            <a:avLst>
              <a:gd name="adj" fmla="val 948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rapezoid 152">
            <a:extLst>
              <a:ext uri="{FF2B5EF4-FFF2-40B4-BE49-F238E27FC236}">
                <a16:creationId xmlns:a16="http://schemas.microsoft.com/office/drawing/2014/main" id="{982A5567-FBD5-4E57-ADE4-B5434D7E38E7}"/>
              </a:ext>
            </a:extLst>
          </p:cNvPr>
          <p:cNvSpPr/>
          <p:nvPr/>
        </p:nvSpPr>
        <p:spPr>
          <a:xfrm rot="2494879">
            <a:off x="694947" y="1046481"/>
            <a:ext cx="750153" cy="555296"/>
          </a:xfrm>
          <a:prstGeom prst="trapezoid">
            <a:avLst>
              <a:gd name="adj" fmla="val 4244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rapezoid 153">
            <a:extLst>
              <a:ext uri="{FF2B5EF4-FFF2-40B4-BE49-F238E27FC236}">
                <a16:creationId xmlns:a16="http://schemas.microsoft.com/office/drawing/2014/main" id="{D140E03B-6F5C-4FC4-834C-76520F2BC340}"/>
              </a:ext>
            </a:extLst>
          </p:cNvPr>
          <p:cNvSpPr/>
          <p:nvPr/>
        </p:nvSpPr>
        <p:spPr>
          <a:xfrm rot="2494879">
            <a:off x="562920" y="925007"/>
            <a:ext cx="750153" cy="555296"/>
          </a:xfrm>
          <a:prstGeom prst="trapezoid">
            <a:avLst>
              <a:gd name="adj" fmla="val 1838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5" name="Gerader Verbinder 154">
            <a:extLst>
              <a:ext uri="{FF2B5EF4-FFF2-40B4-BE49-F238E27FC236}">
                <a16:creationId xmlns:a16="http://schemas.microsoft.com/office/drawing/2014/main" id="{7D62E81A-634A-4059-BF2F-5543EEFF7CB9}"/>
              </a:ext>
            </a:extLst>
          </p:cNvPr>
          <p:cNvCxnSpPr>
            <a:cxnSpLocks/>
          </p:cNvCxnSpPr>
          <p:nvPr/>
        </p:nvCxnSpPr>
        <p:spPr>
          <a:xfrm flipH="1" flipV="1">
            <a:off x="919163" y="814300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3FCE46BA-5CC0-46D9-9AF3-624E12725E7C}"/>
              </a:ext>
            </a:extLst>
          </p:cNvPr>
          <p:cNvCxnSpPr>
            <a:cxnSpLocks/>
          </p:cNvCxnSpPr>
          <p:nvPr/>
        </p:nvCxnSpPr>
        <p:spPr>
          <a:xfrm flipH="1" flipV="1">
            <a:off x="2129150" y="706727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83BAF40B-7EF1-4708-A3AE-96015BD6BA8D}"/>
              </a:ext>
            </a:extLst>
          </p:cNvPr>
          <p:cNvCxnSpPr>
            <a:cxnSpLocks/>
          </p:cNvCxnSpPr>
          <p:nvPr/>
        </p:nvCxnSpPr>
        <p:spPr>
          <a:xfrm flipH="1">
            <a:off x="473059" y="814300"/>
            <a:ext cx="446104" cy="3517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Gerader Verbinder 157">
            <a:extLst>
              <a:ext uri="{FF2B5EF4-FFF2-40B4-BE49-F238E27FC236}">
                <a16:creationId xmlns:a16="http://schemas.microsoft.com/office/drawing/2014/main" id="{BD8770F2-C8E8-428D-8190-26153EA8FB35}"/>
              </a:ext>
            </a:extLst>
          </p:cNvPr>
          <p:cNvCxnSpPr>
            <a:cxnSpLocks/>
          </p:cNvCxnSpPr>
          <p:nvPr/>
        </p:nvCxnSpPr>
        <p:spPr>
          <a:xfrm flipV="1">
            <a:off x="303102" y="986952"/>
            <a:ext cx="402939" cy="33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95506003-2490-4592-B729-853CB96E5DA3}"/>
              </a:ext>
            </a:extLst>
          </p:cNvPr>
          <p:cNvCxnSpPr>
            <a:cxnSpLocks/>
          </p:cNvCxnSpPr>
          <p:nvPr/>
        </p:nvCxnSpPr>
        <p:spPr>
          <a:xfrm flipV="1">
            <a:off x="917409" y="711315"/>
            <a:ext cx="1217942" cy="100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rapezoid 159">
            <a:extLst>
              <a:ext uri="{FF2B5EF4-FFF2-40B4-BE49-F238E27FC236}">
                <a16:creationId xmlns:a16="http://schemas.microsoft.com/office/drawing/2014/main" id="{F15D154B-5D4C-4781-8410-3F61E55C90D9}"/>
              </a:ext>
            </a:extLst>
          </p:cNvPr>
          <p:cNvSpPr/>
          <p:nvPr/>
        </p:nvSpPr>
        <p:spPr>
          <a:xfrm rot="2520030">
            <a:off x="703673" y="918949"/>
            <a:ext cx="284179" cy="411770"/>
          </a:xfrm>
          <a:prstGeom prst="trapezoid">
            <a:avLst>
              <a:gd name="adj" fmla="val 2007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1" name="Trapezoid 160">
            <a:extLst>
              <a:ext uri="{FF2B5EF4-FFF2-40B4-BE49-F238E27FC236}">
                <a16:creationId xmlns:a16="http://schemas.microsoft.com/office/drawing/2014/main" id="{A2144ABB-438C-4CCE-94B6-5F1F96DEE9B9}"/>
              </a:ext>
            </a:extLst>
          </p:cNvPr>
          <p:cNvSpPr/>
          <p:nvPr/>
        </p:nvSpPr>
        <p:spPr>
          <a:xfrm rot="2494879">
            <a:off x="303616" y="1586779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rapezoid 161">
            <a:extLst>
              <a:ext uri="{FF2B5EF4-FFF2-40B4-BE49-F238E27FC236}">
                <a16:creationId xmlns:a16="http://schemas.microsoft.com/office/drawing/2014/main" id="{1E3CDA47-FB3D-42D7-9AD9-E869CA54640A}"/>
              </a:ext>
            </a:extLst>
          </p:cNvPr>
          <p:cNvSpPr/>
          <p:nvPr/>
        </p:nvSpPr>
        <p:spPr>
          <a:xfrm rot="13286551">
            <a:off x="64708" y="1368335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27017946-BD1B-4167-BB2C-128118CD1515}"/>
              </a:ext>
            </a:extLst>
          </p:cNvPr>
          <p:cNvCxnSpPr>
            <a:cxnSpLocks/>
          </p:cNvCxnSpPr>
          <p:nvPr/>
        </p:nvCxnSpPr>
        <p:spPr>
          <a:xfrm>
            <a:off x="303102" y="1014995"/>
            <a:ext cx="40789" cy="446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79A106CA-C43A-4102-B659-76505F1DFAC5}"/>
              </a:ext>
            </a:extLst>
          </p:cNvPr>
          <p:cNvCxnSpPr>
            <a:cxnSpLocks/>
          </p:cNvCxnSpPr>
          <p:nvPr/>
        </p:nvCxnSpPr>
        <p:spPr>
          <a:xfrm flipH="1" flipV="1">
            <a:off x="303102" y="10149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27A9A0DA-95AE-4256-8A04-3C985D67C499}"/>
              </a:ext>
            </a:extLst>
          </p:cNvPr>
          <p:cNvCxnSpPr>
            <a:cxnSpLocks/>
          </p:cNvCxnSpPr>
          <p:nvPr/>
        </p:nvCxnSpPr>
        <p:spPr>
          <a:xfrm flipH="1" flipV="1">
            <a:off x="343891" y="14617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uppieren 165">
            <a:extLst>
              <a:ext uri="{FF2B5EF4-FFF2-40B4-BE49-F238E27FC236}">
                <a16:creationId xmlns:a16="http://schemas.microsoft.com/office/drawing/2014/main" id="{84063118-D7D3-4189-B80E-AAD72D03E4DE}"/>
              </a:ext>
            </a:extLst>
          </p:cNvPr>
          <p:cNvGrpSpPr/>
          <p:nvPr/>
        </p:nvGrpSpPr>
        <p:grpSpPr>
          <a:xfrm rot="21305333">
            <a:off x="1160645" y="1154578"/>
            <a:ext cx="1704510" cy="1003177"/>
            <a:chOff x="1171855" y="1154097"/>
            <a:chExt cx="1704510" cy="1003177"/>
          </a:xfrm>
        </p:grpSpPr>
        <p:sp>
          <p:nvSpPr>
            <p:cNvPr id="167" name="Rechteck 166">
              <a:extLst>
                <a:ext uri="{FF2B5EF4-FFF2-40B4-BE49-F238E27FC236}">
                  <a16:creationId xmlns:a16="http://schemas.microsoft.com/office/drawing/2014/main" id="{4DCC2B8C-14C3-4A56-B02A-D71F8A3D40BC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Trapezoid 167">
              <a:extLst>
                <a:ext uri="{FF2B5EF4-FFF2-40B4-BE49-F238E27FC236}">
                  <a16:creationId xmlns:a16="http://schemas.microsoft.com/office/drawing/2014/main" id="{AAE9FE7C-316D-4A0B-B5C4-00BC993967C3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Trapezoid 168">
              <a:extLst>
                <a:ext uri="{FF2B5EF4-FFF2-40B4-BE49-F238E27FC236}">
                  <a16:creationId xmlns:a16="http://schemas.microsoft.com/office/drawing/2014/main" id="{9C973C80-7C76-4B16-BF4F-CB7C8B172F1C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Rechteck 169">
              <a:extLst>
                <a:ext uri="{FF2B5EF4-FFF2-40B4-BE49-F238E27FC236}">
                  <a16:creationId xmlns:a16="http://schemas.microsoft.com/office/drawing/2014/main" id="{0101D4BF-B8B0-4842-A48D-2268E1462DC3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171" name="Rechteck 170">
              <a:extLst>
                <a:ext uri="{FF2B5EF4-FFF2-40B4-BE49-F238E27FC236}">
                  <a16:creationId xmlns:a16="http://schemas.microsoft.com/office/drawing/2014/main" id="{3CE6C356-E043-4F3A-8220-772B80CB6F8E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hteck 171">
              <a:extLst>
                <a:ext uri="{FF2B5EF4-FFF2-40B4-BE49-F238E27FC236}">
                  <a16:creationId xmlns:a16="http://schemas.microsoft.com/office/drawing/2014/main" id="{AF8A7C7C-ECD1-47DF-9BBF-DEEAD795CAAA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Rechteck 172">
              <a:extLst>
                <a:ext uri="{FF2B5EF4-FFF2-40B4-BE49-F238E27FC236}">
                  <a16:creationId xmlns:a16="http://schemas.microsoft.com/office/drawing/2014/main" id="{80058CA7-5A7F-4D9B-8D98-3D831AC27865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Rechteck 173">
              <a:extLst>
                <a:ext uri="{FF2B5EF4-FFF2-40B4-BE49-F238E27FC236}">
                  <a16:creationId xmlns:a16="http://schemas.microsoft.com/office/drawing/2014/main" id="{B981C96A-3F8F-4664-868C-A931C9DF5D88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CD83D99E-0F10-45A3-9723-E67B589FFC66}"/>
              </a:ext>
            </a:extLst>
          </p:cNvPr>
          <p:cNvCxnSpPr>
            <a:cxnSpLocks/>
            <a:endCxn id="127" idx="0"/>
          </p:cNvCxnSpPr>
          <p:nvPr/>
        </p:nvCxnSpPr>
        <p:spPr>
          <a:xfrm>
            <a:off x="2055840" y="2155913"/>
            <a:ext cx="4040160" cy="337487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Gerader Verbinder 175">
            <a:extLst>
              <a:ext uri="{FF2B5EF4-FFF2-40B4-BE49-F238E27FC236}">
                <a16:creationId xmlns:a16="http://schemas.microsoft.com/office/drawing/2014/main" id="{0F074096-356A-41D1-9324-CB3899819629}"/>
              </a:ext>
            </a:extLst>
          </p:cNvPr>
          <p:cNvCxnSpPr>
            <a:cxnSpLocks/>
          </p:cNvCxnSpPr>
          <p:nvPr/>
        </p:nvCxnSpPr>
        <p:spPr>
          <a:xfrm flipH="1">
            <a:off x="2055841" y="2133600"/>
            <a:ext cx="4040154" cy="22313"/>
          </a:xfrm>
          <a:prstGeom prst="line">
            <a:avLst/>
          </a:prstGeom>
          <a:ln w="38100">
            <a:solidFill>
              <a:srgbClr val="7030A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feld 179">
            <a:extLst>
              <a:ext uri="{FF2B5EF4-FFF2-40B4-BE49-F238E27FC236}">
                <a16:creationId xmlns:a16="http://schemas.microsoft.com/office/drawing/2014/main" id="{D9AAD497-9B54-4A5F-AD96-7EAAAA2022DF}"/>
              </a:ext>
            </a:extLst>
          </p:cNvPr>
          <p:cNvSpPr txBox="1"/>
          <p:nvPr/>
        </p:nvSpPr>
        <p:spPr>
          <a:xfrm>
            <a:off x="8237060" y="5406456"/>
            <a:ext cx="3494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Note</a:t>
            </a:r>
            <a:r>
              <a:rPr lang="en-US" dirty="0"/>
              <a:t>: those</a:t>
            </a:r>
            <a:r>
              <a:rPr lang="de-DE" dirty="0"/>
              <a:t> </a:t>
            </a:r>
            <a:r>
              <a:rPr lang="en-US" dirty="0"/>
              <a:t>velocities are the ones of the object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0A6C4BFE-68BC-44FE-86F7-F238DD1F7D77}"/>
              </a:ext>
            </a:extLst>
          </p:cNvPr>
          <p:cNvSpPr txBox="1"/>
          <p:nvPr/>
        </p:nvSpPr>
        <p:spPr>
          <a:xfrm>
            <a:off x="1" y="431291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normalised velocity and </a:t>
            </a:r>
          </a:p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indicator signals for FVideo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7E234E62-25C6-4553-B5F9-879A0F6D22EB}"/>
              </a:ext>
            </a:extLst>
          </p:cNvPr>
          <p:cNvCxnSpPr>
            <a:cxnSpLocks/>
          </p:cNvCxnSpPr>
          <p:nvPr/>
        </p:nvCxnSpPr>
        <p:spPr>
          <a:xfrm>
            <a:off x="6605701" y="2133600"/>
            <a:ext cx="0" cy="33971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>
            <a:extLst>
              <a:ext uri="{FF2B5EF4-FFF2-40B4-BE49-F238E27FC236}">
                <a16:creationId xmlns:a16="http://schemas.microsoft.com/office/drawing/2014/main" id="{20A3331C-1A8A-48C0-994A-965A221421D0}"/>
              </a:ext>
            </a:extLst>
          </p:cNvPr>
          <p:cNvSpPr txBox="1"/>
          <p:nvPr/>
        </p:nvSpPr>
        <p:spPr>
          <a:xfrm>
            <a:off x="6605701" y="3244334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dx</a:t>
            </a:r>
          </a:p>
        </p:txBody>
      </p:sp>
      <p:sp>
        <p:nvSpPr>
          <p:cNvPr id="127" name="Trapezoid 126">
            <a:extLst>
              <a:ext uri="{FF2B5EF4-FFF2-40B4-BE49-F238E27FC236}">
                <a16:creationId xmlns:a16="http://schemas.microsoft.com/office/drawing/2014/main" id="{6244E665-64F8-4405-89B6-C5B726B3DECA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8" name="Gruppieren 127">
            <a:extLst>
              <a:ext uri="{FF2B5EF4-FFF2-40B4-BE49-F238E27FC236}">
                <a16:creationId xmlns:a16="http://schemas.microsoft.com/office/drawing/2014/main" id="{23AC9BBF-165C-4913-9540-4E4FCC5BE270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AD562C5B-DDF0-42EB-9BFC-323BBFDDEA72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lussdiagramm: Manuelle Verarbeitung 129">
              <a:extLst>
                <a:ext uri="{FF2B5EF4-FFF2-40B4-BE49-F238E27FC236}">
                  <a16:creationId xmlns:a16="http://schemas.microsoft.com/office/drawing/2014/main" id="{FA6B9F05-7EBB-4A1C-9A9E-A52BAA9E061C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72" name="Tabelle 119">
            <a:extLst>
              <a:ext uri="{FF2B5EF4-FFF2-40B4-BE49-F238E27FC236}">
                <a16:creationId xmlns:a16="http://schemas.microsoft.com/office/drawing/2014/main" id="{5837938C-5B7C-4406-BFDE-682230BD8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61871"/>
              </p:ext>
            </p:extLst>
          </p:nvPr>
        </p:nvGraphicFramePr>
        <p:xfrm>
          <a:off x="7439699" y="3131196"/>
          <a:ext cx="36688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88">
                  <a:extLst>
                    <a:ext uri="{9D8B030D-6E8A-4147-A177-3AD203B41FA5}">
                      <a16:colId xmlns:a16="http://schemas.microsoft.com/office/drawing/2014/main" val="1389189792"/>
                    </a:ext>
                  </a:extLst>
                </a:gridCol>
                <a:gridCol w="1891670">
                  <a:extLst>
                    <a:ext uri="{9D8B030D-6E8A-4147-A177-3AD203B41FA5}">
                      <a16:colId xmlns:a16="http://schemas.microsoft.com/office/drawing/2014/main" val="3724099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vy &gt; 0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vy &lt;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06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noProof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Indicator = Left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Indicator = Right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8921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CDEEEF10-01FF-4CD3-84FD-641BD2798946}"/>
                  </a:ext>
                </a:extLst>
              </p:cNvPr>
              <p:cNvSpPr txBox="1"/>
              <p:nvPr/>
            </p:nvSpPr>
            <p:spPr>
              <a:xfrm>
                <a:off x="7375376" y="2089155"/>
                <a:ext cx="3564586" cy="6202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𝑁𝑜𝑟𝑚𝑉𝑥</m:t>
                      </m:r>
                      <m:r>
                        <a:rPr lang="de-DE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𝑉𝑥</m:t>
                          </m:r>
                        </m:num>
                        <m:den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𝐷𝑥</m:t>
                          </m:r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𝑀𝑜𝑢𝑛𝑡𝑃𝑜𝑠𝑋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de-DE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CDEEEF10-01FF-4CD3-84FD-641BD2798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376" y="2089155"/>
                <a:ext cx="3564586" cy="6202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6541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34</a:t>
            </a:fld>
            <a:endParaRPr lang="en-US" noProof="1"/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B229CBBC-AD23-4399-84B8-876A12A3A7C5}"/>
              </a:ext>
            </a:extLst>
          </p:cNvPr>
          <p:cNvGrpSpPr/>
          <p:nvPr/>
        </p:nvGrpSpPr>
        <p:grpSpPr>
          <a:xfrm>
            <a:off x="1458193" y="5148839"/>
            <a:ext cx="1144821" cy="1074944"/>
            <a:chOff x="2469187" y="4790880"/>
            <a:chExt cx="1144821" cy="1074944"/>
          </a:xfrm>
        </p:grpSpPr>
        <p:cxnSp>
          <p:nvCxnSpPr>
            <p:cNvPr id="53" name="Gerader Verbinder 52">
              <a:extLst>
                <a:ext uri="{FF2B5EF4-FFF2-40B4-BE49-F238E27FC236}">
                  <a16:creationId xmlns:a16="http://schemas.microsoft.com/office/drawing/2014/main" id="{3C20C1E3-7122-43F5-A7E2-863F61429DFA}"/>
                </a:ext>
              </a:extLst>
            </p:cNvPr>
            <p:cNvCxnSpPr>
              <a:cxnSpLocks/>
            </p:cNvCxnSpPr>
            <p:nvPr/>
          </p:nvCxnSpPr>
          <p:spPr>
            <a:xfrm>
              <a:off x="3032758" y="4790880"/>
              <a:ext cx="0" cy="719282"/>
            </a:xfrm>
            <a:prstGeom prst="line">
              <a:avLst/>
            </a:prstGeom>
            <a:ln w="19050">
              <a:solidFill>
                <a:schemeClr val="tx1"/>
              </a:solidFill>
              <a:head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53">
              <a:extLst>
                <a:ext uri="{FF2B5EF4-FFF2-40B4-BE49-F238E27FC236}">
                  <a16:creationId xmlns:a16="http://schemas.microsoft.com/office/drawing/2014/main" id="{AA68CBE8-C8E9-48D8-9AE0-4628CEAB463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050590" y="4767790"/>
              <a:ext cx="0" cy="1126836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FC6BDA83-5640-4C5C-B327-822D14BE646B}"/>
                </a:ext>
              </a:extLst>
            </p:cNvPr>
            <p:cNvSpPr txBox="1"/>
            <p:nvPr/>
          </p:nvSpPr>
          <p:spPr>
            <a:xfrm>
              <a:off x="2487170" y="4961876"/>
              <a:ext cx="545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+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8F38011B-5274-4A5C-9B48-9D33E6DB5011}"/>
                </a:ext>
              </a:extLst>
            </p:cNvPr>
            <p:cNvSpPr txBox="1"/>
            <p:nvPr/>
          </p:nvSpPr>
          <p:spPr>
            <a:xfrm>
              <a:off x="3039203" y="4961876"/>
              <a:ext cx="5748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-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5B4332F4-089C-42EC-87FD-BD6AD75FE2CA}"/>
                </a:ext>
              </a:extLst>
            </p:cNvPr>
            <p:cNvSpPr txBox="1"/>
            <p:nvPr/>
          </p:nvSpPr>
          <p:spPr>
            <a:xfrm>
              <a:off x="2469187" y="5496492"/>
              <a:ext cx="114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dirty="0"/>
                <a:t>vy</a:t>
              </a:r>
            </a:p>
          </p:txBody>
        </p:sp>
      </p:grpSp>
      <p:sp>
        <p:nvSpPr>
          <p:cNvPr id="67" name="Bogen 66">
            <a:extLst>
              <a:ext uri="{FF2B5EF4-FFF2-40B4-BE49-F238E27FC236}">
                <a16:creationId xmlns:a16="http://schemas.microsoft.com/office/drawing/2014/main" id="{A018B145-FFCE-4DED-B528-514F54AD809C}"/>
              </a:ext>
            </a:extLst>
          </p:cNvPr>
          <p:cNvSpPr/>
          <p:nvPr/>
        </p:nvSpPr>
        <p:spPr>
          <a:xfrm rot="14676193">
            <a:off x="5101991" y="3334119"/>
            <a:ext cx="913688" cy="1913484"/>
          </a:xfrm>
          <a:prstGeom prst="arc">
            <a:avLst>
              <a:gd name="adj1" fmla="val 17277185"/>
              <a:gd name="adj2" fmla="val 4093295"/>
            </a:avLst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C3C6CB0-7D75-403E-A1E5-9CF3E21A4539}"/>
              </a:ext>
            </a:extLst>
          </p:cNvPr>
          <p:cNvCxnSpPr>
            <a:stCxn id="79" idx="0"/>
            <a:endCxn id="79" idx="0"/>
          </p:cNvCxnSpPr>
          <p:nvPr/>
        </p:nvCxnSpPr>
        <p:spPr>
          <a:xfrm>
            <a:off x="6096000" y="553078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22294352-7A5C-4880-BB1C-82EC8388C688}"/>
              </a:ext>
            </a:extLst>
          </p:cNvPr>
          <p:cNvCxnSpPr>
            <a:cxnSpLocks/>
          </p:cNvCxnSpPr>
          <p:nvPr/>
        </p:nvCxnSpPr>
        <p:spPr>
          <a:xfrm>
            <a:off x="6095997" y="2133600"/>
            <a:ext cx="0" cy="3397188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3F5D3CA0-9DF5-4BDE-ADDE-E949B5D77BD1}"/>
              </a:ext>
            </a:extLst>
          </p:cNvPr>
          <p:cNvSpPr txBox="1"/>
          <p:nvPr/>
        </p:nvSpPr>
        <p:spPr>
          <a:xfrm>
            <a:off x="4507859" y="218094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relative_</a:t>
            </a:r>
            <a:r>
              <a:rPr lang="de-DE" i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vy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DCFE4C4F-0A6B-44B7-A4F5-E110654890FF}"/>
              </a:ext>
            </a:extLst>
          </p:cNvPr>
          <p:cNvSpPr txBox="1"/>
          <p:nvPr/>
        </p:nvSpPr>
        <p:spPr>
          <a:xfrm>
            <a:off x="6095995" y="324433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relative_</a:t>
            </a:r>
            <a:r>
              <a:rPr lang="de-DE" i="1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vx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9F45EE1-308E-4500-9624-7ED5916004A0}"/>
              </a:ext>
            </a:extLst>
          </p:cNvPr>
          <p:cNvSpPr txBox="1"/>
          <p:nvPr/>
        </p:nvSpPr>
        <p:spPr>
          <a:xfrm>
            <a:off x="2354426" y="3121812"/>
            <a:ext cx="9925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</a:t>
            </a:r>
          </a:p>
          <a:p>
            <a:r>
              <a:rPr lang="de-DE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velocity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4F6B061-3101-477E-929B-2B4BD1A4E6FC}"/>
                  </a:ext>
                </a:extLst>
              </p:cNvPr>
              <p:cNvSpPr txBox="1"/>
              <p:nvPr/>
            </p:nvSpPr>
            <p:spPr>
              <a:xfrm>
                <a:off x="7506668" y="2155913"/>
                <a:ext cx="2686313" cy="9212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𝑇𝑇𝐼𝑃𝐶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𝑟𝑒𝑙𝑎𝑡𝑖𝑣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𝑣𝑥</m:t>
                          </m:r>
                        </m:den>
                      </m:f>
                    </m:oMath>
                  </m:oMathPara>
                </a14:m>
                <a:endParaRPr lang="de-DE" b="0" dirty="0">
                  <a:latin typeface="Arial" panose="020B0604020202020204" pitchFamily="34" charset="0"/>
                </a:endParaRPr>
              </a:p>
              <a:p>
                <a:endParaRPr lang="de-DE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4F6B061-3101-477E-929B-2B4BD1A4E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668" y="2155913"/>
                <a:ext cx="2686313" cy="9212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rapezoid 78">
            <a:extLst>
              <a:ext uri="{FF2B5EF4-FFF2-40B4-BE49-F238E27FC236}">
                <a16:creationId xmlns:a16="http://schemas.microsoft.com/office/drawing/2014/main" id="{94A86873-FDA2-415A-9ED7-D65D4D0B3310}"/>
              </a:ext>
            </a:extLst>
          </p:cNvPr>
          <p:cNvSpPr/>
          <p:nvPr/>
        </p:nvSpPr>
        <p:spPr>
          <a:xfrm>
            <a:off x="4151790" y="5530788"/>
            <a:ext cx="3888419" cy="1020931"/>
          </a:xfrm>
          <a:prstGeom prst="trapezoid">
            <a:avLst>
              <a:gd name="adj" fmla="val 53461"/>
            </a:avLst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6B3E3AA8-28A1-431A-A6B8-9DA1BCF3A956}"/>
              </a:ext>
            </a:extLst>
          </p:cNvPr>
          <p:cNvGrpSpPr/>
          <p:nvPr/>
        </p:nvGrpSpPr>
        <p:grpSpPr>
          <a:xfrm>
            <a:off x="5930277" y="5552244"/>
            <a:ext cx="331435" cy="466076"/>
            <a:chOff x="5930281" y="5868140"/>
            <a:chExt cx="331435" cy="466076"/>
          </a:xfrm>
        </p:grpSpPr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1070F345-7B06-47AF-A51A-973279B331C7}"/>
                </a:ext>
              </a:extLst>
            </p:cNvPr>
            <p:cNvSpPr/>
            <p:nvPr/>
          </p:nvSpPr>
          <p:spPr>
            <a:xfrm>
              <a:off x="5930281" y="6041253"/>
              <a:ext cx="331435" cy="2929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lussdiagramm: Manuelle Verarbeitung 81">
              <a:extLst>
                <a:ext uri="{FF2B5EF4-FFF2-40B4-BE49-F238E27FC236}">
                  <a16:creationId xmlns:a16="http://schemas.microsoft.com/office/drawing/2014/main" id="{F9EF92E8-7BC2-4866-8262-A274E55C9E70}"/>
                </a:ext>
              </a:extLst>
            </p:cNvPr>
            <p:cNvSpPr/>
            <p:nvPr/>
          </p:nvSpPr>
          <p:spPr>
            <a:xfrm>
              <a:off x="5961353" y="5868140"/>
              <a:ext cx="269289" cy="173113"/>
            </a:xfrm>
            <a:prstGeom prst="flowChartManualOperation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3" name="Textfeld 82">
            <a:extLst>
              <a:ext uri="{FF2B5EF4-FFF2-40B4-BE49-F238E27FC236}">
                <a16:creationId xmlns:a16="http://schemas.microsoft.com/office/drawing/2014/main" id="{5F49E8CD-530A-46FB-A205-81F44F60A379}"/>
              </a:ext>
            </a:extLst>
          </p:cNvPr>
          <p:cNvSpPr txBox="1"/>
          <p:nvPr/>
        </p:nvSpPr>
        <p:spPr>
          <a:xfrm>
            <a:off x="5017488" y="3961148"/>
            <a:ext cx="10438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relative </a:t>
            </a:r>
          </a:p>
          <a:p>
            <a:pPr algn="r"/>
            <a:r>
              <a:rPr lang="de-DE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Heading</a:t>
            </a:r>
          </a:p>
        </p:txBody>
      </p:sp>
      <p:graphicFrame>
        <p:nvGraphicFramePr>
          <p:cNvPr id="84" name="Tabelle 5">
            <a:extLst>
              <a:ext uri="{FF2B5EF4-FFF2-40B4-BE49-F238E27FC236}">
                <a16:creationId xmlns:a16="http://schemas.microsoft.com/office/drawing/2014/main" id="{0AFB013E-2897-4B20-83F3-4D9C8BB19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250247"/>
              </p:ext>
            </p:extLst>
          </p:nvPr>
        </p:nvGraphicFramePr>
        <p:xfrm>
          <a:off x="7684132" y="3058160"/>
          <a:ext cx="289042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212">
                  <a:extLst>
                    <a:ext uri="{9D8B030D-6E8A-4147-A177-3AD203B41FA5}">
                      <a16:colId xmlns:a16="http://schemas.microsoft.com/office/drawing/2014/main" val="4233994175"/>
                    </a:ext>
                  </a:extLst>
                </a:gridCol>
                <a:gridCol w="1445212">
                  <a:extLst>
                    <a:ext uri="{9D8B030D-6E8A-4147-A177-3AD203B41FA5}">
                      <a16:colId xmlns:a16="http://schemas.microsoft.com/office/drawing/2014/main" val="3566098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Min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Max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716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TTIPC = -8s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TTIPC = 8s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95436"/>
                  </a:ext>
                </a:extLst>
              </a:tr>
            </a:tbl>
          </a:graphicData>
        </a:graphic>
      </p:graphicFrame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1DD52ED2-D1DF-4882-9C96-A2C812351907}"/>
              </a:ext>
            </a:extLst>
          </p:cNvPr>
          <p:cNvGrpSpPr/>
          <p:nvPr/>
        </p:nvGrpSpPr>
        <p:grpSpPr>
          <a:xfrm rot="21281098">
            <a:off x="418239" y="1394158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6" name="Ellipse 85">
              <a:extLst>
                <a:ext uri="{FF2B5EF4-FFF2-40B4-BE49-F238E27FC236}">
                  <a16:creationId xmlns:a16="http://schemas.microsoft.com/office/drawing/2014/main" id="{989E1C5A-794D-464F-AF19-F9B29B725DA8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ECD5DBCF-64B7-47CF-85C0-1EEEB8FB7665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88" name="Rechteck 87">
                <a:extLst>
                  <a:ext uri="{FF2B5EF4-FFF2-40B4-BE49-F238E27FC236}">
                    <a16:creationId xmlns:a16="http://schemas.microsoft.com/office/drawing/2014/main" id="{7B235C49-4B5B-4373-9CC2-E6D5DB785C40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BF06174C-F7CD-423F-AD8B-C7E189D59163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3D12D147-C552-434B-87D3-EB09219E373D}"/>
              </a:ext>
            </a:extLst>
          </p:cNvPr>
          <p:cNvGrpSpPr/>
          <p:nvPr/>
        </p:nvGrpSpPr>
        <p:grpSpPr>
          <a:xfrm rot="21281098">
            <a:off x="2399357" y="1846394"/>
            <a:ext cx="420872" cy="422085"/>
            <a:chOff x="1194882" y="2757964"/>
            <a:chExt cx="330848" cy="367961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B6E8476D-6884-4126-A2B5-834BA741289D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grpFill/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16B4AE13-E7CD-4105-92BC-938E275F026F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  <a:grpFill/>
          </p:grpSpPr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8B0D60AC-9678-4CF2-98FF-DDC81F3E2F87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grpFill/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B1B3798E-ED31-40A1-8E07-8C49412E3C4C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grpFill/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6940D68D-1516-440E-9B30-AB7C79B136E4}"/>
              </a:ext>
            </a:extLst>
          </p:cNvPr>
          <p:cNvGrpSpPr/>
          <p:nvPr/>
        </p:nvGrpSpPr>
        <p:grpSpPr>
          <a:xfrm rot="21281098">
            <a:off x="1052364" y="1958601"/>
            <a:ext cx="420872" cy="422085"/>
            <a:chOff x="1194882" y="2757964"/>
            <a:chExt cx="330848" cy="367961"/>
          </a:xfrm>
        </p:grpSpPr>
        <p:sp>
          <p:nvSpPr>
            <p:cNvPr id="96" name="Ellipse 95">
              <a:extLst>
                <a:ext uri="{FF2B5EF4-FFF2-40B4-BE49-F238E27FC236}">
                  <a16:creationId xmlns:a16="http://schemas.microsoft.com/office/drawing/2014/main" id="{AB882067-636B-4DE9-9F1F-23A86FF0832A}"/>
                </a:ext>
              </a:extLst>
            </p:cNvPr>
            <p:cNvSpPr/>
            <p:nvPr/>
          </p:nvSpPr>
          <p:spPr>
            <a:xfrm>
              <a:off x="1362976" y="2757964"/>
              <a:ext cx="162754" cy="36795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FE90FBF4-43E1-4625-936D-243EB8C2B15E}"/>
                </a:ext>
              </a:extLst>
            </p:cNvPr>
            <p:cNvGrpSpPr/>
            <p:nvPr/>
          </p:nvGrpSpPr>
          <p:grpSpPr>
            <a:xfrm>
              <a:off x="1194882" y="2757964"/>
              <a:ext cx="246800" cy="367961"/>
              <a:chOff x="633229" y="3017428"/>
              <a:chExt cx="114053" cy="256345"/>
            </a:xfrm>
          </p:grpSpPr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252F22B8-3C2B-426F-A00A-7CE7E4C42B5A}"/>
                  </a:ext>
                </a:extLst>
              </p:cNvPr>
              <p:cNvSpPr/>
              <p:nvPr/>
            </p:nvSpPr>
            <p:spPr>
              <a:xfrm>
                <a:off x="672070" y="3017428"/>
                <a:ext cx="75212" cy="25634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9" name="Ellipse 98">
                <a:extLst>
                  <a:ext uri="{FF2B5EF4-FFF2-40B4-BE49-F238E27FC236}">
                    <a16:creationId xmlns:a16="http://schemas.microsoft.com/office/drawing/2014/main" id="{7184AE1A-1813-4DA1-8BE2-7252140EE940}"/>
                  </a:ext>
                </a:extLst>
              </p:cNvPr>
              <p:cNvSpPr/>
              <p:nvPr/>
            </p:nvSpPr>
            <p:spPr>
              <a:xfrm>
                <a:off x="633229" y="3017430"/>
                <a:ext cx="75213" cy="256343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100" name="Trapezoid 99">
            <a:extLst>
              <a:ext uri="{FF2B5EF4-FFF2-40B4-BE49-F238E27FC236}">
                <a16:creationId xmlns:a16="http://schemas.microsoft.com/office/drawing/2014/main" id="{F5E85582-AD9E-4F1E-B0B1-C4EE7B3B5CBC}"/>
              </a:ext>
            </a:extLst>
          </p:cNvPr>
          <p:cNvSpPr/>
          <p:nvPr/>
        </p:nvSpPr>
        <p:spPr>
          <a:xfrm rot="2494879">
            <a:off x="330399" y="967233"/>
            <a:ext cx="846471" cy="382050"/>
          </a:xfrm>
          <a:prstGeom prst="trapezoid">
            <a:avLst>
              <a:gd name="adj" fmla="val 95011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rapezoid 100">
            <a:extLst>
              <a:ext uri="{FF2B5EF4-FFF2-40B4-BE49-F238E27FC236}">
                <a16:creationId xmlns:a16="http://schemas.microsoft.com/office/drawing/2014/main" id="{C000BCB5-8A0B-4BC5-937A-AA9144E060FF}"/>
              </a:ext>
            </a:extLst>
          </p:cNvPr>
          <p:cNvSpPr/>
          <p:nvPr/>
        </p:nvSpPr>
        <p:spPr>
          <a:xfrm rot="21295876">
            <a:off x="1565366" y="718800"/>
            <a:ext cx="985941" cy="425233"/>
          </a:xfrm>
          <a:prstGeom prst="trapezoid">
            <a:avLst>
              <a:gd name="adj" fmla="val 93585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rapezoid 101">
            <a:extLst>
              <a:ext uri="{FF2B5EF4-FFF2-40B4-BE49-F238E27FC236}">
                <a16:creationId xmlns:a16="http://schemas.microsoft.com/office/drawing/2014/main" id="{023AA6A0-FF27-46D9-91C5-16AA8C07C233}"/>
              </a:ext>
            </a:extLst>
          </p:cNvPr>
          <p:cNvSpPr/>
          <p:nvPr/>
        </p:nvSpPr>
        <p:spPr>
          <a:xfrm rot="10520580">
            <a:off x="931595" y="765966"/>
            <a:ext cx="1204084" cy="430894"/>
          </a:xfrm>
          <a:prstGeom prst="trapezoid">
            <a:avLst>
              <a:gd name="adj" fmla="val 948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rapezoid 102">
            <a:extLst>
              <a:ext uri="{FF2B5EF4-FFF2-40B4-BE49-F238E27FC236}">
                <a16:creationId xmlns:a16="http://schemas.microsoft.com/office/drawing/2014/main" id="{3FFE118E-DC26-4BFE-BF6A-040F6DE86779}"/>
              </a:ext>
            </a:extLst>
          </p:cNvPr>
          <p:cNvSpPr/>
          <p:nvPr/>
        </p:nvSpPr>
        <p:spPr>
          <a:xfrm rot="2494879">
            <a:off x="694947" y="1046481"/>
            <a:ext cx="750153" cy="555296"/>
          </a:xfrm>
          <a:prstGeom prst="trapezoid">
            <a:avLst>
              <a:gd name="adj" fmla="val 4244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rapezoid 103">
            <a:extLst>
              <a:ext uri="{FF2B5EF4-FFF2-40B4-BE49-F238E27FC236}">
                <a16:creationId xmlns:a16="http://schemas.microsoft.com/office/drawing/2014/main" id="{6429B2BB-F6C8-4E3F-8A2D-EE2FF3660ECC}"/>
              </a:ext>
            </a:extLst>
          </p:cNvPr>
          <p:cNvSpPr/>
          <p:nvPr/>
        </p:nvSpPr>
        <p:spPr>
          <a:xfrm rot="2494879">
            <a:off x="562920" y="925007"/>
            <a:ext cx="750153" cy="555296"/>
          </a:xfrm>
          <a:prstGeom prst="trapezoid">
            <a:avLst>
              <a:gd name="adj" fmla="val 1838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B020658B-4F63-413D-9F08-81E05B6160B2}"/>
              </a:ext>
            </a:extLst>
          </p:cNvPr>
          <p:cNvCxnSpPr>
            <a:cxnSpLocks/>
          </p:cNvCxnSpPr>
          <p:nvPr/>
        </p:nvCxnSpPr>
        <p:spPr>
          <a:xfrm flipH="1" flipV="1">
            <a:off x="919163" y="814300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9A8CF525-1526-4743-99BB-71B0BFFCAC36}"/>
              </a:ext>
            </a:extLst>
          </p:cNvPr>
          <p:cNvCxnSpPr>
            <a:cxnSpLocks/>
          </p:cNvCxnSpPr>
          <p:nvPr/>
        </p:nvCxnSpPr>
        <p:spPr>
          <a:xfrm flipH="1" flipV="1">
            <a:off x="2129150" y="706727"/>
            <a:ext cx="450551" cy="4013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r Verbinder 106">
            <a:extLst>
              <a:ext uri="{FF2B5EF4-FFF2-40B4-BE49-F238E27FC236}">
                <a16:creationId xmlns:a16="http://schemas.microsoft.com/office/drawing/2014/main" id="{A1954742-5BE5-4347-8ED4-94849CF579E1}"/>
              </a:ext>
            </a:extLst>
          </p:cNvPr>
          <p:cNvCxnSpPr>
            <a:cxnSpLocks/>
          </p:cNvCxnSpPr>
          <p:nvPr/>
        </p:nvCxnSpPr>
        <p:spPr>
          <a:xfrm flipH="1">
            <a:off x="473059" y="814300"/>
            <a:ext cx="446104" cy="3517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Gerader Verbinder 107">
            <a:extLst>
              <a:ext uri="{FF2B5EF4-FFF2-40B4-BE49-F238E27FC236}">
                <a16:creationId xmlns:a16="http://schemas.microsoft.com/office/drawing/2014/main" id="{E544FA65-7BCD-413D-B7BC-DB3FA32F38E3}"/>
              </a:ext>
            </a:extLst>
          </p:cNvPr>
          <p:cNvCxnSpPr>
            <a:cxnSpLocks/>
          </p:cNvCxnSpPr>
          <p:nvPr/>
        </p:nvCxnSpPr>
        <p:spPr>
          <a:xfrm flipV="1">
            <a:off x="303102" y="986952"/>
            <a:ext cx="402939" cy="330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Gerader Verbinder 108">
            <a:extLst>
              <a:ext uri="{FF2B5EF4-FFF2-40B4-BE49-F238E27FC236}">
                <a16:creationId xmlns:a16="http://schemas.microsoft.com/office/drawing/2014/main" id="{D6C58A4F-6296-4263-87ED-76AA8E86C953}"/>
              </a:ext>
            </a:extLst>
          </p:cNvPr>
          <p:cNvCxnSpPr>
            <a:cxnSpLocks/>
          </p:cNvCxnSpPr>
          <p:nvPr/>
        </p:nvCxnSpPr>
        <p:spPr>
          <a:xfrm flipV="1">
            <a:off x="917409" y="711315"/>
            <a:ext cx="1217942" cy="1003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rapezoid 109">
            <a:extLst>
              <a:ext uri="{FF2B5EF4-FFF2-40B4-BE49-F238E27FC236}">
                <a16:creationId xmlns:a16="http://schemas.microsoft.com/office/drawing/2014/main" id="{6EF7DCF4-7253-49AE-B456-AB8907B2710E}"/>
              </a:ext>
            </a:extLst>
          </p:cNvPr>
          <p:cNvSpPr/>
          <p:nvPr/>
        </p:nvSpPr>
        <p:spPr>
          <a:xfrm rot="2520030">
            <a:off x="703673" y="918949"/>
            <a:ext cx="284179" cy="411770"/>
          </a:xfrm>
          <a:prstGeom prst="trapezoid">
            <a:avLst>
              <a:gd name="adj" fmla="val 2007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Trapezoid 110">
            <a:extLst>
              <a:ext uri="{FF2B5EF4-FFF2-40B4-BE49-F238E27FC236}">
                <a16:creationId xmlns:a16="http://schemas.microsoft.com/office/drawing/2014/main" id="{69E7072F-15E2-49FE-97BD-EF1C0484C757}"/>
              </a:ext>
            </a:extLst>
          </p:cNvPr>
          <p:cNvSpPr/>
          <p:nvPr/>
        </p:nvSpPr>
        <p:spPr>
          <a:xfrm rot="2494879">
            <a:off x="303616" y="1586779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rapezoid 111">
            <a:extLst>
              <a:ext uri="{FF2B5EF4-FFF2-40B4-BE49-F238E27FC236}">
                <a16:creationId xmlns:a16="http://schemas.microsoft.com/office/drawing/2014/main" id="{D703C8C2-1A7D-49B2-ABC5-DC18C226B3B0}"/>
              </a:ext>
            </a:extLst>
          </p:cNvPr>
          <p:cNvSpPr/>
          <p:nvPr/>
        </p:nvSpPr>
        <p:spPr>
          <a:xfrm rot="13286551">
            <a:off x="64708" y="1368335"/>
            <a:ext cx="1148154" cy="301286"/>
          </a:xfrm>
          <a:prstGeom prst="trapezoid">
            <a:avLst>
              <a:gd name="adj" fmla="val 10531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38BF2E45-F318-41FB-BAFC-548699CE779D}"/>
              </a:ext>
            </a:extLst>
          </p:cNvPr>
          <p:cNvCxnSpPr>
            <a:cxnSpLocks/>
          </p:cNvCxnSpPr>
          <p:nvPr/>
        </p:nvCxnSpPr>
        <p:spPr>
          <a:xfrm>
            <a:off x="303102" y="1014995"/>
            <a:ext cx="40789" cy="446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r Verbinder 113">
            <a:extLst>
              <a:ext uri="{FF2B5EF4-FFF2-40B4-BE49-F238E27FC236}">
                <a16:creationId xmlns:a16="http://schemas.microsoft.com/office/drawing/2014/main" id="{D3C2EC7F-7747-405E-9430-A77FDFBE067C}"/>
              </a:ext>
            </a:extLst>
          </p:cNvPr>
          <p:cNvCxnSpPr>
            <a:cxnSpLocks/>
          </p:cNvCxnSpPr>
          <p:nvPr/>
        </p:nvCxnSpPr>
        <p:spPr>
          <a:xfrm flipH="1" flipV="1">
            <a:off x="303102" y="10149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B19B4FC1-371E-47B7-A7A1-29D3CF9488D9}"/>
              </a:ext>
            </a:extLst>
          </p:cNvPr>
          <p:cNvCxnSpPr>
            <a:cxnSpLocks/>
          </p:cNvCxnSpPr>
          <p:nvPr/>
        </p:nvCxnSpPr>
        <p:spPr>
          <a:xfrm flipH="1" flipV="1">
            <a:off x="343891" y="1461795"/>
            <a:ext cx="865611" cy="7719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uppieren 115">
            <a:extLst>
              <a:ext uri="{FF2B5EF4-FFF2-40B4-BE49-F238E27FC236}">
                <a16:creationId xmlns:a16="http://schemas.microsoft.com/office/drawing/2014/main" id="{43007B0F-CBF8-49B6-942F-80A4BE471059}"/>
              </a:ext>
            </a:extLst>
          </p:cNvPr>
          <p:cNvGrpSpPr/>
          <p:nvPr/>
        </p:nvGrpSpPr>
        <p:grpSpPr>
          <a:xfrm rot="21305333">
            <a:off x="1160645" y="1154578"/>
            <a:ext cx="1704510" cy="1003177"/>
            <a:chOff x="1171855" y="1154097"/>
            <a:chExt cx="1704510" cy="1003177"/>
          </a:xfrm>
        </p:grpSpPr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2097535D-8394-4228-94D0-0802D12990DF}"/>
                </a:ext>
              </a:extLst>
            </p:cNvPr>
            <p:cNvSpPr/>
            <p:nvPr/>
          </p:nvSpPr>
          <p:spPr>
            <a:xfrm>
              <a:off x="1171855" y="1713391"/>
              <a:ext cx="1704510" cy="4438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Trapezoid 117">
              <a:extLst>
                <a:ext uri="{FF2B5EF4-FFF2-40B4-BE49-F238E27FC236}">
                  <a16:creationId xmlns:a16="http://schemas.microsoft.com/office/drawing/2014/main" id="{1C0F0C48-7B1E-4AED-A15E-4BF31BFF4C19}"/>
                </a:ext>
              </a:extLst>
            </p:cNvPr>
            <p:cNvSpPr/>
            <p:nvPr/>
          </p:nvSpPr>
          <p:spPr>
            <a:xfrm>
              <a:off x="1171855" y="1154097"/>
              <a:ext cx="1704510" cy="559294"/>
            </a:xfrm>
            <a:prstGeom prst="trapezoid">
              <a:avLst>
                <a:gd name="adj" fmla="val 43662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Trapezoid 118">
              <a:extLst>
                <a:ext uri="{FF2B5EF4-FFF2-40B4-BE49-F238E27FC236}">
                  <a16:creationId xmlns:a16="http://schemas.microsoft.com/office/drawing/2014/main" id="{79FCCC30-6964-400C-9705-4EDE12AA5C0D}"/>
                </a:ext>
              </a:extLst>
            </p:cNvPr>
            <p:cNvSpPr/>
            <p:nvPr/>
          </p:nvSpPr>
          <p:spPr>
            <a:xfrm>
              <a:off x="1411546" y="1271726"/>
              <a:ext cx="1232514" cy="324036"/>
            </a:xfrm>
            <a:prstGeom prst="trapezoid">
              <a:avLst>
                <a:gd name="adj" fmla="val 43662"/>
              </a:avLst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1FAD6D21-EDF2-4689-AF95-B899909B2A4D}"/>
                </a:ext>
              </a:extLst>
            </p:cNvPr>
            <p:cNvSpPr/>
            <p:nvPr/>
          </p:nvSpPr>
          <p:spPr>
            <a:xfrm>
              <a:off x="1775535" y="1970843"/>
              <a:ext cx="497150" cy="11540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LR RB 2022</a:t>
              </a:r>
            </a:p>
          </p:txBody>
        </p:sp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4B16D662-79FC-47A8-B931-7CF63B2770DD}"/>
                </a:ext>
              </a:extLst>
            </p:cNvPr>
            <p:cNvSpPr/>
            <p:nvPr/>
          </p:nvSpPr>
          <p:spPr>
            <a:xfrm>
              <a:off x="1171856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8DE48458-CC66-4156-9307-6AB848812A16}"/>
                </a:ext>
              </a:extLst>
            </p:cNvPr>
            <p:cNvSpPr/>
            <p:nvPr/>
          </p:nvSpPr>
          <p:spPr>
            <a:xfrm>
              <a:off x="1171855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49CE2922-208A-49FF-A687-CE8D615854A7}"/>
                </a:ext>
              </a:extLst>
            </p:cNvPr>
            <p:cNvSpPr/>
            <p:nvPr/>
          </p:nvSpPr>
          <p:spPr>
            <a:xfrm>
              <a:off x="2734322" y="1935332"/>
              <a:ext cx="142043" cy="15092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77948488-6A48-4094-BF95-2DEC6C7CAE5F}"/>
                </a:ext>
              </a:extLst>
            </p:cNvPr>
            <p:cNvSpPr/>
            <p:nvPr/>
          </p:nvSpPr>
          <p:spPr>
            <a:xfrm>
              <a:off x="2734321" y="1784412"/>
              <a:ext cx="142043" cy="15092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77" name="Gerader Verbinder 176">
            <a:extLst>
              <a:ext uri="{FF2B5EF4-FFF2-40B4-BE49-F238E27FC236}">
                <a16:creationId xmlns:a16="http://schemas.microsoft.com/office/drawing/2014/main" id="{277DE458-0901-4A2F-9604-450C0F60FF56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2055840" y="2155913"/>
            <a:ext cx="4040160" cy="337487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r Verbinder 177">
            <a:extLst>
              <a:ext uri="{FF2B5EF4-FFF2-40B4-BE49-F238E27FC236}">
                <a16:creationId xmlns:a16="http://schemas.microsoft.com/office/drawing/2014/main" id="{9E9496B4-6FA3-440A-BC04-AC15D7328DF0}"/>
              </a:ext>
            </a:extLst>
          </p:cNvPr>
          <p:cNvCxnSpPr>
            <a:cxnSpLocks/>
          </p:cNvCxnSpPr>
          <p:nvPr/>
        </p:nvCxnSpPr>
        <p:spPr>
          <a:xfrm flipH="1">
            <a:off x="2055840" y="2133600"/>
            <a:ext cx="4040155" cy="22313"/>
          </a:xfrm>
          <a:prstGeom prst="line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feld 178">
            <a:extLst>
              <a:ext uri="{FF2B5EF4-FFF2-40B4-BE49-F238E27FC236}">
                <a16:creationId xmlns:a16="http://schemas.microsoft.com/office/drawing/2014/main" id="{0881AF3C-A77F-4376-B89E-48BB190094D2}"/>
              </a:ext>
            </a:extLst>
          </p:cNvPr>
          <p:cNvSpPr txBox="1"/>
          <p:nvPr/>
        </p:nvSpPr>
        <p:spPr>
          <a:xfrm>
            <a:off x="1" y="431291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</a:t>
            </a: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image plane crossing </a:t>
            </a:r>
            <a:b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time to collision </a:t>
            </a:r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for FVideo</a:t>
            </a:r>
          </a:p>
        </p:txBody>
      </p:sp>
      <p:sp>
        <p:nvSpPr>
          <p:cNvPr id="182" name="Textfeld 181">
            <a:extLst>
              <a:ext uri="{FF2B5EF4-FFF2-40B4-BE49-F238E27FC236}">
                <a16:creationId xmlns:a16="http://schemas.microsoft.com/office/drawing/2014/main" id="{79C22F19-CCA6-4A2B-BEF7-BE0C2862EB1F}"/>
              </a:ext>
            </a:extLst>
          </p:cNvPr>
          <p:cNvSpPr txBox="1"/>
          <p:nvPr/>
        </p:nvSpPr>
        <p:spPr>
          <a:xfrm>
            <a:off x="8237060" y="5406456"/>
            <a:ext cx="3494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Note</a:t>
            </a:r>
            <a:r>
              <a:rPr lang="en-US" dirty="0"/>
              <a:t>: those velocities are the relative velocities of the Ego to the Target vehicle</a:t>
            </a:r>
          </a:p>
        </p:txBody>
      </p:sp>
    </p:spTree>
    <p:extLst>
      <p:ext uri="{BB962C8B-B14F-4D97-AF65-F5344CB8AC3E}">
        <p14:creationId xmlns:p14="http://schemas.microsoft.com/office/powerpoint/2010/main" val="1433605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1E37264A-C233-7574-BE14-0661ECABBA90}"/>
              </a:ext>
            </a:extLst>
          </p:cNvPr>
          <p:cNvGrpSpPr/>
          <p:nvPr/>
        </p:nvGrpSpPr>
        <p:grpSpPr>
          <a:xfrm>
            <a:off x="7715974" y="664572"/>
            <a:ext cx="1410964" cy="5528855"/>
            <a:chOff x="4654668" y="588374"/>
            <a:chExt cx="1410964" cy="5528855"/>
          </a:xfrm>
        </p:grpSpPr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57C1B2D6-963C-4CCA-7C59-5853633A0683}"/>
                </a:ext>
              </a:extLst>
            </p:cNvPr>
            <p:cNvSpPr txBox="1"/>
            <p:nvPr/>
          </p:nvSpPr>
          <p:spPr>
            <a:xfrm>
              <a:off x="4654668" y="588374"/>
              <a:ext cx="14109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Left</a:t>
              </a:r>
            </a:p>
            <a:p>
              <a:r>
                <a:rPr lang="de-DE" b="1" dirty="0"/>
                <a:t>SIDE_LShape</a:t>
              </a:r>
            </a:p>
          </p:txBody>
        </p:sp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7E2E08A9-E465-178B-591A-1CF3065B572E}"/>
                </a:ext>
              </a:extLst>
            </p:cNvPr>
            <p:cNvGrpSpPr/>
            <p:nvPr/>
          </p:nvGrpSpPr>
          <p:grpSpPr>
            <a:xfrm>
              <a:off x="4763444" y="1540737"/>
              <a:ext cx="1191209" cy="4576492"/>
              <a:chOff x="4915933" y="1542425"/>
              <a:chExt cx="1191209" cy="4576492"/>
            </a:xfrm>
          </p:grpSpPr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51FDCDA1-662A-A3BA-6829-4A4E4106D773}"/>
                  </a:ext>
                </a:extLst>
              </p:cNvPr>
              <p:cNvSpPr/>
              <p:nvPr/>
            </p:nvSpPr>
            <p:spPr>
              <a:xfrm>
                <a:off x="5041191" y="5169592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4AD0AB62-A3AA-1082-70E9-F1A15C81AD76}"/>
                  </a:ext>
                </a:extLst>
              </p:cNvPr>
              <p:cNvSpPr/>
              <p:nvPr/>
            </p:nvSpPr>
            <p:spPr>
              <a:xfrm>
                <a:off x="5653966" y="5169592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09116326-1A40-E027-438B-789CDA11F3E3}"/>
                  </a:ext>
                </a:extLst>
              </p:cNvPr>
              <p:cNvSpPr/>
              <p:nvPr/>
            </p:nvSpPr>
            <p:spPr>
              <a:xfrm>
                <a:off x="5653966" y="5887142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9A92C3F0-F260-3D51-AC34-4FE5776EFA32}"/>
                  </a:ext>
                </a:extLst>
              </p:cNvPr>
              <p:cNvSpPr/>
              <p:nvPr/>
            </p:nvSpPr>
            <p:spPr>
              <a:xfrm>
                <a:off x="5041191" y="5887142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3A24C94E-1CAB-69EA-706D-202E285CC0E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76153" y="4967980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Gerader Verbinder 66">
                <a:extLst>
                  <a:ext uri="{FF2B5EF4-FFF2-40B4-BE49-F238E27FC236}">
                    <a16:creationId xmlns:a16="http://schemas.microsoft.com/office/drawing/2014/main" id="{43D36723-37A2-71DA-D1B2-9B5763D2BB9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376153" y="5687117"/>
                <a:ext cx="0" cy="5556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Multiplikationszeichen 67">
                <a:extLst>
                  <a:ext uri="{FF2B5EF4-FFF2-40B4-BE49-F238E27FC236}">
                    <a16:creationId xmlns:a16="http://schemas.microsoft.com/office/drawing/2014/main" id="{40F1C866-5155-A6DF-026E-849CB1267C27}"/>
                  </a:ext>
                </a:extLst>
              </p:cNvPr>
              <p:cNvSpPr/>
              <p:nvPr/>
            </p:nvSpPr>
            <p:spPr>
              <a:xfrm>
                <a:off x="5301541" y="5874442"/>
                <a:ext cx="149225" cy="180975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 dirty="0"/>
              </a:p>
            </p:txBody>
          </p:sp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7572A932-574C-8012-06BD-78B19188F4B7}"/>
                  </a:ext>
                </a:extLst>
              </p:cNvPr>
              <p:cNvSpPr/>
              <p:nvPr/>
            </p:nvSpPr>
            <p:spPr>
              <a:xfrm>
                <a:off x="5049959" y="5093392"/>
                <a:ext cx="612775" cy="10255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grpSp>
            <p:nvGrpSpPr>
              <p:cNvPr id="2" name="Gruppieren 1">
                <a:extLst>
                  <a:ext uri="{FF2B5EF4-FFF2-40B4-BE49-F238E27FC236}">
                    <a16:creationId xmlns:a16="http://schemas.microsoft.com/office/drawing/2014/main" id="{BDDA87CF-C1AF-AB16-8D9D-596C365DF593}"/>
                  </a:ext>
                </a:extLst>
              </p:cNvPr>
              <p:cNvGrpSpPr/>
              <p:nvPr/>
            </p:nvGrpSpPr>
            <p:grpSpPr>
              <a:xfrm rot="1800000">
                <a:off x="5032420" y="1542425"/>
                <a:ext cx="960437" cy="669925"/>
                <a:chOff x="2065382" y="2348277"/>
                <a:chExt cx="960437" cy="669925"/>
              </a:xfrm>
            </p:grpSpPr>
            <p:sp>
              <p:nvSpPr>
                <p:cNvPr id="77" name="Rechteck 76">
                  <a:extLst>
                    <a:ext uri="{FF2B5EF4-FFF2-40B4-BE49-F238E27FC236}">
                      <a16:creationId xmlns:a16="http://schemas.microsoft.com/office/drawing/2014/main" id="{9FD34958-A8C7-997A-709A-A3CBF1423CA1}"/>
                    </a:ext>
                  </a:extLst>
                </p:cNvPr>
                <p:cNvSpPr/>
                <p:nvPr/>
              </p:nvSpPr>
              <p:spPr>
                <a:xfrm rot="16200000">
                  <a:off x="2238420" y="2203021"/>
                  <a:ext cx="614362" cy="96043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78" name="Rechteck 77">
                  <a:extLst>
                    <a:ext uri="{FF2B5EF4-FFF2-40B4-BE49-F238E27FC236}">
                      <a16:creationId xmlns:a16="http://schemas.microsoft.com/office/drawing/2014/main" id="{64E66E5D-EC53-1192-FE33-AFE995F023B5}"/>
                    </a:ext>
                  </a:extLst>
                </p:cNvPr>
                <p:cNvSpPr/>
                <p:nvPr/>
              </p:nvSpPr>
              <p:spPr>
                <a:xfrm rot="16200000">
                  <a:off x="2181270" y="2917396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79" name="Rechteck 78">
                  <a:extLst>
                    <a:ext uri="{FF2B5EF4-FFF2-40B4-BE49-F238E27FC236}">
                      <a16:creationId xmlns:a16="http://schemas.microsoft.com/office/drawing/2014/main" id="{033B1FF6-363C-214A-31D6-F34003929726}"/>
                    </a:ext>
                  </a:extLst>
                </p:cNvPr>
                <p:cNvSpPr/>
                <p:nvPr/>
              </p:nvSpPr>
              <p:spPr>
                <a:xfrm rot="16200000">
                  <a:off x="2181270" y="2304621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80" name="Rechteck 79">
                  <a:extLst>
                    <a:ext uri="{FF2B5EF4-FFF2-40B4-BE49-F238E27FC236}">
                      <a16:creationId xmlns:a16="http://schemas.microsoft.com/office/drawing/2014/main" id="{5854845F-F8FD-1142-1439-5138808327CD}"/>
                    </a:ext>
                  </a:extLst>
                </p:cNvPr>
                <p:cNvSpPr/>
                <p:nvPr/>
              </p:nvSpPr>
              <p:spPr>
                <a:xfrm rot="16200000">
                  <a:off x="2852782" y="2304621"/>
                  <a:ext cx="55563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AF879D94-3F6C-4DBB-2BAB-4BC62790D463}"/>
                    </a:ext>
                  </a:extLst>
                </p:cNvPr>
                <p:cNvSpPr/>
                <p:nvPr/>
              </p:nvSpPr>
              <p:spPr>
                <a:xfrm rot="16200000">
                  <a:off x="2852782" y="2917396"/>
                  <a:ext cx="55563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cxnSp>
              <p:nvCxnSpPr>
                <p:cNvPr id="82" name="Gerader Verbinder 81">
                  <a:extLst>
                    <a:ext uri="{FF2B5EF4-FFF2-40B4-BE49-F238E27FC236}">
                      <a16:creationId xmlns:a16="http://schemas.microsoft.com/office/drawing/2014/main" id="{2E12DEBA-A1EA-B450-A00C-2E78AB8F47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209845" y="2404633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Gerader Verbinder 82">
                  <a:extLst>
                    <a:ext uri="{FF2B5EF4-FFF2-40B4-BE49-F238E27FC236}">
                      <a16:creationId xmlns:a16="http://schemas.microsoft.com/office/drawing/2014/main" id="{1594E521-FDB4-9DAD-3BB6-FFA643F6F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879770" y="2404633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Multiplikationszeichen 83">
                  <a:extLst>
                    <a:ext uri="{FF2B5EF4-FFF2-40B4-BE49-F238E27FC236}">
                      <a16:creationId xmlns:a16="http://schemas.microsoft.com/office/drawing/2014/main" id="{C4939FBA-750C-5C64-9F9B-D65E94D3FAA8}"/>
                    </a:ext>
                  </a:extLst>
                </p:cNvPr>
                <p:cNvSpPr/>
                <p:nvPr/>
              </p:nvSpPr>
              <p:spPr>
                <a:xfrm rot="16200000">
                  <a:off x="2805157" y="2598308"/>
                  <a:ext cx="150813" cy="169863"/>
                </a:xfrm>
                <a:prstGeom prst="mathMultiply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</p:grpSp>
          <p:cxnSp>
            <p:nvCxnSpPr>
              <p:cNvPr id="9" name="Gerader Verbinder 8">
                <a:extLst>
                  <a:ext uri="{FF2B5EF4-FFF2-40B4-BE49-F238E27FC236}">
                    <a16:creationId xmlns:a16="http://schemas.microsoft.com/office/drawing/2014/main" id="{E7A35F5E-676C-A4AD-2A18-736945B343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5933" y="1908605"/>
                <a:ext cx="886232" cy="489905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14A3D68C-2307-234B-0F41-A8CA98855AE3}"/>
                  </a:ext>
                </a:extLst>
              </p:cNvPr>
              <p:cNvCxnSpPr>
                <a:cxnSpLocks/>
                <a:stCxn id="76" idx="0"/>
                <a:endCxn id="77" idx="1"/>
              </p:cNvCxnSpPr>
              <p:nvPr/>
            </p:nvCxnSpPr>
            <p:spPr>
              <a:xfrm flipV="1">
                <a:off x="5356347" y="2143414"/>
                <a:ext cx="2702" cy="2949978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B7B34749-8216-03B0-E92E-8E4F1D25DD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75542" y="1841339"/>
                <a:ext cx="331600" cy="564306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2F8AD7A3-7CF2-BF62-20EC-3DDA96D67243}"/>
              </a:ext>
            </a:extLst>
          </p:cNvPr>
          <p:cNvGrpSpPr/>
          <p:nvPr/>
        </p:nvGrpSpPr>
        <p:grpSpPr>
          <a:xfrm>
            <a:off x="5543763" y="669137"/>
            <a:ext cx="1742785" cy="5526315"/>
            <a:chOff x="6563075" y="592602"/>
            <a:chExt cx="1742785" cy="5526315"/>
          </a:xfrm>
        </p:grpSpPr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F0D9A7C1-6A69-29CE-75EE-F13EC0E4D395}"/>
                </a:ext>
              </a:extLst>
            </p:cNvPr>
            <p:cNvSpPr txBox="1"/>
            <p:nvPr/>
          </p:nvSpPr>
          <p:spPr>
            <a:xfrm>
              <a:off x="6563075" y="592602"/>
              <a:ext cx="174278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Rear</a:t>
              </a:r>
            </a:p>
            <a:p>
              <a:r>
                <a:rPr lang="de-DE" b="1" dirty="0"/>
                <a:t>CLASSIC_LShape</a:t>
              </a:r>
            </a:p>
          </p:txBody>
        </p:sp>
        <p:grpSp>
          <p:nvGrpSpPr>
            <p:cNvPr id="92" name="Gruppieren 91">
              <a:extLst>
                <a:ext uri="{FF2B5EF4-FFF2-40B4-BE49-F238E27FC236}">
                  <a16:creationId xmlns:a16="http://schemas.microsoft.com/office/drawing/2014/main" id="{C3FAB815-2A4E-0AFA-BAB5-0444B0A094D7}"/>
                </a:ext>
              </a:extLst>
            </p:cNvPr>
            <p:cNvGrpSpPr/>
            <p:nvPr/>
          </p:nvGrpSpPr>
          <p:grpSpPr>
            <a:xfrm>
              <a:off x="6857761" y="1470572"/>
              <a:ext cx="1091586" cy="4648345"/>
              <a:chOff x="6771125" y="1514900"/>
              <a:chExt cx="1091586" cy="4648345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0E5F254-AC4D-08D6-F921-79FA5E9B5018}"/>
                  </a:ext>
                </a:extLst>
              </p:cNvPr>
              <p:cNvSpPr/>
              <p:nvPr/>
            </p:nvSpPr>
            <p:spPr>
              <a:xfrm>
                <a:off x="6771125" y="5213920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D0E0CD11-1FAE-59E8-DEEE-A2CDD1BC6B1F}"/>
                  </a:ext>
                </a:extLst>
              </p:cNvPr>
              <p:cNvSpPr/>
              <p:nvPr/>
            </p:nvSpPr>
            <p:spPr>
              <a:xfrm>
                <a:off x="7383900" y="5213920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2A7AE85C-D588-10C1-4C06-55B9F410D862}"/>
                  </a:ext>
                </a:extLst>
              </p:cNvPr>
              <p:cNvSpPr/>
              <p:nvPr/>
            </p:nvSpPr>
            <p:spPr>
              <a:xfrm>
                <a:off x="7383900" y="5931470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70C8E7DF-063B-B135-3ED2-9D650BC609AF}"/>
                  </a:ext>
                </a:extLst>
              </p:cNvPr>
              <p:cNvSpPr/>
              <p:nvPr/>
            </p:nvSpPr>
            <p:spPr>
              <a:xfrm>
                <a:off x="6771125" y="5931470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30" name="Gerader Verbinder 29">
                <a:extLst>
                  <a:ext uri="{FF2B5EF4-FFF2-40B4-BE49-F238E27FC236}">
                    <a16:creationId xmlns:a16="http://schemas.microsoft.com/office/drawing/2014/main" id="{FCFAB507-C432-C458-7A48-4CD0D4F55DF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087" y="5012308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AC655C61-5BA3-6A90-9033-AF193439431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7106087" y="5731445"/>
                <a:ext cx="0" cy="5556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Multiplikationszeichen 32">
                <a:extLst>
                  <a:ext uri="{FF2B5EF4-FFF2-40B4-BE49-F238E27FC236}">
                    <a16:creationId xmlns:a16="http://schemas.microsoft.com/office/drawing/2014/main" id="{D1CEADE1-F8B1-B893-DE4D-3E2066B280C1}"/>
                  </a:ext>
                </a:extLst>
              </p:cNvPr>
              <p:cNvSpPr/>
              <p:nvPr/>
            </p:nvSpPr>
            <p:spPr>
              <a:xfrm>
                <a:off x="7031475" y="5918770"/>
                <a:ext cx="149225" cy="180975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 dirty="0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11FCE5D1-61E3-207D-E9E7-AEF084407BD5}"/>
                  </a:ext>
                </a:extLst>
              </p:cNvPr>
              <p:cNvSpPr/>
              <p:nvPr/>
            </p:nvSpPr>
            <p:spPr>
              <a:xfrm>
                <a:off x="6799700" y="5137720"/>
                <a:ext cx="612775" cy="10255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grpSp>
            <p:nvGrpSpPr>
              <p:cNvPr id="35" name="Gruppieren 34">
                <a:extLst>
                  <a:ext uri="{FF2B5EF4-FFF2-40B4-BE49-F238E27FC236}">
                    <a16:creationId xmlns:a16="http://schemas.microsoft.com/office/drawing/2014/main" id="{7CCD4B1F-CA2E-C68A-C78B-80255F5626B2}"/>
                  </a:ext>
                </a:extLst>
              </p:cNvPr>
              <p:cNvGrpSpPr/>
              <p:nvPr/>
            </p:nvGrpSpPr>
            <p:grpSpPr>
              <a:xfrm rot="7200000">
                <a:off x="6867614" y="1660156"/>
                <a:ext cx="960437" cy="669925"/>
                <a:chOff x="2065382" y="2348277"/>
                <a:chExt cx="960437" cy="669925"/>
              </a:xfrm>
            </p:grpSpPr>
            <p:sp>
              <p:nvSpPr>
                <p:cNvPr id="37" name="Rechteck 36">
                  <a:extLst>
                    <a:ext uri="{FF2B5EF4-FFF2-40B4-BE49-F238E27FC236}">
                      <a16:creationId xmlns:a16="http://schemas.microsoft.com/office/drawing/2014/main" id="{EE07CF5C-4FD7-D781-1FC0-E7D140204A2A}"/>
                    </a:ext>
                  </a:extLst>
                </p:cNvPr>
                <p:cNvSpPr/>
                <p:nvPr/>
              </p:nvSpPr>
              <p:spPr>
                <a:xfrm rot="16200000">
                  <a:off x="2238420" y="2203021"/>
                  <a:ext cx="614362" cy="960437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1695DE9C-4601-519E-BBCF-1127E400AFCD}"/>
                    </a:ext>
                  </a:extLst>
                </p:cNvPr>
                <p:cNvSpPr/>
                <p:nvPr/>
              </p:nvSpPr>
              <p:spPr>
                <a:xfrm rot="16200000">
                  <a:off x="2181270" y="2917396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CC53C9C9-E781-6E5C-2DC2-A61B079C68F7}"/>
                    </a:ext>
                  </a:extLst>
                </p:cNvPr>
                <p:cNvSpPr/>
                <p:nvPr/>
              </p:nvSpPr>
              <p:spPr>
                <a:xfrm rot="16200000">
                  <a:off x="2181270" y="2304621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40" name="Rechteck 39">
                  <a:extLst>
                    <a:ext uri="{FF2B5EF4-FFF2-40B4-BE49-F238E27FC236}">
                      <a16:creationId xmlns:a16="http://schemas.microsoft.com/office/drawing/2014/main" id="{569051CE-0FDB-633C-0277-F30F580AA0F3}"/>
                    </a:ext>
                  </a:extLst>
                </p:cNvPr>
                <p:cNvSpPr/>
                <p:nvPr/>
              </p:nvSpPr>
              <p:spPr>
                <a:xfrm rot="16200000">
                  <a:off x="2852782" y="2304621"/>
                  <a:ext cx="55563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49" name="Rechteck 48">
                  <a:extLst>
                    <a:ext uri="{FF2B5EF4-FFF2-40B4-BE49-F238E27FC236}">
                      <a16:creationId xmlns:a16="http://schemas.microsoft.com/office/drawing/2014/main" id="{452EFF2C-11D5-3667-231C-A66813AEFEF9}"/>
                    </a:ext>
                  </a:extLst>
                </p:cNvPr>
                <p:cNvSpPr/>
                <p:nvPr/>
              </p:nvSpPr>
              <p:spPr>
                <a:xfrm rot="16200000">
                  <a:off x="2852782" y="2917396"/>
                  <a:ext cx="55563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cxnSp>
              <p:nvCxnSpPr>
                <p:cNvPr id="50" name="Gerader Verbinder 49">
                  <a:extLst>
                    <a:ext uri="{FF2B5EF4-FFF2-40B4-BE49-F238E27FC236}">
                      <a16:creationId xmlns:a16="http://schemas.microsoft.com/office/drawing/2014/main" id="{7F067A90-03F8-E7BD-5026-C238A7C735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209845" y="2404633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39D21E4F-6998-F5FC-EB8C-B6A85A1E0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2879770" y="2404633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Multiplikationszeichen 51">
                  <a:extLst>
                    <a:ext uri="{FF2B5EF4-FFF2-40B4-BE49-F238E27FC236}">
                      <a16:creationId xmlns:a16="http://schemas.microsoft.com/office/drawing/2014/main" id="{9B6614FC-24DD-AEF2-4E74-EDD387989ACF}"/>
                    </a:ext>
                  </a:extLst>
                </p:cNvPr>
                <p:cNvSpPr/>
                <p:nvPr/>
              </p:nvSpPr>
              <p:spPr>
                <a:xfrm rot="16200000">
                  <a:off x="2805157" y="2598308"/>
                  <a:ext cx="150813" cy="169863"/>
                </a:xfrm>
                <a:prstGeom prst="mathMultiply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</p:grpSp>
          <p:cxnSp>
            <p:nvCxnSpPr>
              <p:cNvPr id="54" name="Gerader Verbinder 53">
                <a:extLst>
                  <a:ext uri="{FF2B5EF4-FFF2-40B4-BE49-F238E27FC236}">
                    <a16:creationId xmlns:a16="http://schemas.microsoft.com/office/drawing/2014/main" id="{9FB9103A-5355-C83C-0396-497BADCC95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2953" y="2244234"/>
                <a:ext cx="562858" cy="322821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Gerader Verbinder 70">
                <a:extLst>
                  <a:ext uri="{FF2B5EF4-FFF2-40B4-BE49-F238E27FC236}">
                    <a16:creationId xmlns:a16="http://schemas.microsoft.com/office/drawing/2014/main" id="{BA85DA9C-2212-0296-5886-504F382947BB}"/>
                  </a:ext>
                </a:extLst>
              </p:cNvPr>
              <p:cNvCxnSpPr>
                <a:cxnSpLocks/>
                <a:stCxn id="34" idx="0"/>
                <a:endCxn id="37" idx="2"/>
              </p:cNvCxnSpPr>
              <p:nvPr/>
            </p:nvCxnSpPr>
            <p:spPr>
              <a:xfrm flipV="1">
                <a:off x="7106088" y="2411000"/>
                <a:ext cx="1635" cy="272672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Gerader Verbinder 73">
                <a:extLst>
                  <a:ext uri="{FF2B5EF4-FFF2-40B4-BE49-F238E27FC236}">
                    <a16:creationId xmlns:a16="http://schemas.microsoft.com/office/drawing/2014/main" id="{772F201C-A7C8-903C-FFBA-C0061140B4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51894" y="1722532"/>
                <a:ext cx="510817" cy="87009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9" name="Gruppieren 158">
            <a:extLst>
              <a:ext uri="{FF2B5EF4-FFF2-40B4-BE49-F238E27FC236}">
                <a16:creationId xmlns:a16="http://schemas.microsoft.com/office/drawing/2014/main" id="{B7A92C4F-2D58-3F85-5E59-553A8CF4624E}"/>
              </a:ext>
            </a:extLst>
          </p:cNvPr>
          <p:cNvGrpSpPr/>
          <p:nvPr/>
        </p:nvGrpSpPr>
        <p:grpSpPr>
          <a:xfrm>
            <a:off x="3921129" y="664572"/>
            <a:ext cx="990986" cy="5518359"/>
            <a:chOff x="4744426" y="677092"/>
            <a:chExt cx="990986" cy="5518359"/>
          </a:xfrm>
        </p:grpSpPr>
        <p:sp>
          <p:nvSpPr>
            <p:cNvPr id="98" name="Textfeld 97">
              <a:extLst>
                <a:ext uri="{FF2B5EF4-FFF2-40B4-BE49-F238E27FC236}">
                  <a16:creationId xmlns:a16="http://schemas.microsoft.com/office/drawing/2014/main" id="{FE6CC7B6-E060-9419-1DB7-C5A34E6FAABC}"/>
                </a:ext>
              </a:extLst>
            </p:cNvPr>
            <p:cNvSpPr txBox="1"/>
            <p:nvPr/>
          </p:nvSpPr>
          <p:spPr>
            <a:xfrm>
              <a:off x="4953754" y="677092"/>
              <a:ext cx="6126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Left</a:t>
              </a:r>
            </a:p>
            <a:p>
              <a:r>
                <a:rPr lang="de-DE" b="1" dirty="0"/>
                <a:t>SIDE</a:t>
              </a:r>
            </a:p>
          </p:txBody>
        </p:sp>
        <p:grpSp>
          <p:nvGrpSpPr>
            <p:cNvPr id="154" name="Gruppieren 153">
              <a:extLst>
                <a:ext uri="{FF2B5EF4-FFF2-40B4-BE49-F238E27FC236}">
                  <a16:creationId xmlns:a16="http://schemas.microsoft.com/office/drawing/2014/main" id="{6670F4B1-90A4-D0C5-5DCE-1C241BDDD3D9}"/>
                </a:ext>
              </a:extLst>
            </p:cNvPr>
            <p:cNvGrpSpPr/>
            <p:nvPr/>
          </p:nvGrpSpPr>
          <p:grpSpPr>
            <a:xfrm>
              <a:off x="4896497" y="5169926"/>
              <a:ext cx="669925" cy="1025525"/>
              <a:chOff x="4764371" y="5169925"/>
              <a:chExt cx="669925" cy="1025525"/>
            </a:xfrm>
          </p:grpSpPr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909EFB45-993F-9041-92C4-EF42331BC77D}"/>
                  </a:ext>
                </a:extLst>
              </p:cNvPr>
              <p:cNvSpPr/>
              <p:nvPr/>
            </p:nvSpPr>
            <p:spPr>
              <a:xfrm>
                <a:off x="4764371" y="5244102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3" name="Rechteck 102">
                <a:extLst>
                  <a:ext uri="{FF2B5EF4-FFF2-40B4-BE49-F238E27FC236}">
                    <a16:creationId xmlns:a16="http://schemas.microsoft.com/office/drawing/2014/main" id="{09542EF7-E4DA-6E6B-D2A2-822E75ED2A9C}"/>
                  </a:ext>
                </a:extLst>
              </p:cNvPr>
              <p:cNvSpPr/>
              <p:nvPr/>
            </p:nvSpPr>
            <p:spPr>
              <a:xfrm>
                <a:off x="5377146" y="5244102"/>
                <a:ext cx="57150" cy="15398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5" name="Rechteck 104">
                <a:extLst>
                  <a:ext uri="{FF2B5EF4-FFF2-40B4-BE49-F238E27FC236}">
                    <a16:creationId xmlns:a16="http://schemas.microsoft.com/office/drawing/2014/main" id="{901BC5FC-FDEE-D110-B11E-759E9FF6569B}"/>
                  </a:ext>
                </a:extLst>
              </p:cNvPr>
              <p:cNvSpPr/>
              <p:nvPr/>
            </p:nvSpPr>
            <p:spPr>
              <a:xfrm>
                <a:off x="5377146" y="5961652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E62ED70B-A36E-BAF4-1B7F-BE6F0CCEA57C}"/>
                  </a:ext>
                </a:extLst>
              </p:cNvPr>
              <p:cNvSpPr/>
              <p:nvPr/>
            </p:nvSpPr>
            <p:spPr>
              <a:xfrm>
                <a:off x="4764371" y="5961652"/>
                <a:ext cx="57150" cy="155575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95B5A38E-1192-5962-A1D6-74B63AD1AE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99333" y="5042490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3B344889-B5FC-ACC4-834E-4C5107E842D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5099333" y="5761627"/>
                <a:ext cx="0" cy="555625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Multiplikationszeichen 109">
                <a:extLst>
                  <a:ext uri="{FF2B5EF4-FFF2-40B4-BE49-F238E27FC236}">
                    <a16:creationId xmlns:a16="http://schemas.microsoft.com/office/drawing/2014/main" id="{7EF4C840-8FDA-FAB5-4851-E040E566D870}"/>
                  </a:ext>
                </a:extLst>
              </p:cNvPr>
              <p:cNvSpPr/>
              <p:nvPr/>
            </p:nvSpPr>
            <p:spPr>
              <a:xfrm>
                <a:off x="5024721" y="5948952"/>
                <a:ext cx="149225" cy="180975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 dirty="0"/>
              </a:p>
            </p:txBody>
          </p:sp>
          <p:sp>
            <p:nvSpPr>
              <p:cNvPr id="111" name="Rechteck 110">
                <a:extLst>
                  <a:ext uri="{FF2B5EF4-FFF2-40B4-BE49-F238E27FC236}">
                    <a16:creationId xmlns:a16="http://schemas.microsoft.com/office/drawing/2014/main" id="{59C40A71-7312-EEFA-6177-059C26237F05}"/>
                  </a:ext>
                </a:extLst>
              </p:cNvPr>
              <p:cNvSpPr/>
              <p:nvPr/>
            </p:nvSpPr>
            <p:spPr>
              <a:xfrm>
                <a:off x="4780677" y="5169925"/>
                <a:ext cx="612775" cy="1025525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 dirty="0"/>
              </a:p>
            </p:txBody>
          </p:sp>
        </p:grp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1C47D5C3-0EB5-7B57-7BAE-A1685830CF48}"/>
                </a:ext>
              </a:extLst>
            </p:cNvPr>
            <p:cNvGrpSpPr/>
            <p:nvPr/>
          </p:nvGrpSpPr>
          <p:grpSpPr>
            <a:xfrm>
              <a:off x="4757116" y="1592053"/>
              <a:ext cx="960437" cy="669925"/>
              <a:chOff x="2065382" y="2348277"/>
              <a:chExt cx="960437" cy="669925"/>
            </a:xfrm>
          </p:grpSpPr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023E838E-5E2F-4938-5406-844BE5846689}"/>
                  </a:ext>
                </a:extLst>
              </p:cNvPr>
              <p:cNvSpPr/>
              <p:nvPr/>
            </p:nvSpPr>
            <p:spPr>
              <a:xfrm rot="16200000">
                <a:off x="2238420" y="2203021"/>
                <a:ext cx="614362" cy="96043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5CCEB9CE-EEAF-2B5C-C7B8-F7C7750E2246}"/>
                  </a:ext>
                </a:extLst>
              </p:cNvPr>
              <p:cNvSpPr/>
              <p:nvPr/>
            </p:nvSpPr>
            <p:spPr>
              <a:xfrm rot="16200000">
                <a:off x="2181270" y="29173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D8DB5D9F-218E-21E0-A470-474F9BACE055}"/>
                  </a:ext>
                </a:extLst>
              </p:cNvPr>
              <p:cNvSpPr/>
              <p:nvPr/>
            </p:nvSpPr>
            <p:spPr>
              <a:xfrm rot="16200000">
                <a:off x="2181270" y="2304621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E4F9B5BE-3701-C5AB-1BE9-D67757D3645A}"/>
                  </a:ext>
                </a:extLst>
              </p:cNvPr>
              <p:cNvSpPr/>
              <p:nvPr/>
            </p:nvSpPr>
            <p:spPr>
              <a:xfrm rot="16200000">
                <a:off x="2852782" y="2304621"/>
                <a:ext cx="55563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2F86DCE2-8CEF-AB29-2E19-F673F9AED147}"/>
                  </a:ext>
                </a:extLst>
              </p:cNvPr>
              <p:cNvSpPr/>
              <p:nvPr/>
            </p:nvSpPr>
            <p:spPr>
              <a:xfrm rot="16200000">
                <a:off x="2852782" y="2917396"/>
                <a:ext cx="55563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27" name="Gerader Verbinder 126">
                <a:extLst>
                  <a:ext uri="{FF2B5EF4-FFF2-40B4-BE49-F238E27FC236}">
                    <a16:creationId xmlns:a16="http://schemas.microsoft.com/office/drawing/2014/main" id="{6C0A21B4-D96D-A7EE-B186-6C497F7B1F2E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209845" y="2404633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Gerader Verbinder 127">
                <a:extLst>
                  <a:ext uri="{FF2B5EF4-FFF2-40B4-BE49-F238E27FC236}">
                    <a16:creationId xmlns:a16="http://schemas.microsoft.com/office/drawing/2014/main" id="{DF6C5F1E-7E0B-430A-1523-9824607063C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879770" y="2404633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Multiplikationszeichen 128">
                <a:extLst>
                  <a:ext uri="{FF2B5EF4-FFF2-40B4-BE49-F238E27FC236}">
                    <a16:creationId xmlns:a16="http://schemas.microsoft.com/office/drawing/2014/main" id="{8E8786ED-2AFB-D070-CC24-0D52F3136F47}"/>
                  </a:ext>
                </a:extLst>
              </p:cNvPr>
              <p:cNvSpPr/>
              <p:nvPr/>
            </p:nvSpPr>
            <p:spPr>
              <a:xfrm rot="16200000">
                <a:off x="2805157" y="2598308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cxnSp>
          <p:nvCxnSpPr>
            <p:cNvPr id="119" name="Gerader Verbinder 118">
              <a:extLst>
                <a:ext uri="{FF2B5EF4-FFF2-40B4-BE49-F238E27FC236}">
                  <a16:creationId xmlns:a16="http://schemas.microsoft.com/office/drawing/2014/main" id="{11B8C49E-0FB5-43A7-9B48-FDDAFB53B6FD}"/>
                </a:ext>
              </a:extLst>
            </p:cNvPr>
            <p:cNvCxnSpPr>
              <a:cxnSpLocks/>
            </p:cNvCxnSpPr>
            <p:nvPr/>
          </p:nvCxnSpPr>
          <p:spPr>
            <a:xfrm>
              <a:off x="4744426" y="2240663"/>
              <a:ext cx="990986" cy="502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Gerader Verbinder 119">
              <a:extLst>
                <a:ext uri="{FF2B5EF4-FFF2-40B4-BE49-F238E27FC236}">
                  <a16:creationId xmlns:a16="http://schemas.microsoft.com/office/drawing/2014/main" id="{26294615-715A-6156-8E03-F76C308C5B87}"/>
                </a:ext>
              </a:extLst>
            </p:cNvPr>
            <p:cNvCxnSpPr>
              <a:cxnSpLocks/>
              <a:stCxn id="111" idx="0"/>
              <a:endCxn id="122" idx="1"/>
            </p:cNvCxnSpPr>
            <p:nvPr/>
          </p:nvCxnSpPr>
          <p:spPr>
            <a:xfrm flipV="1">
              <a:off x="5219191" y="2234197"/>
              <a:ext cx="18145" cy="293572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uppieren 159">
            <a:extLst>
              <a:ext uri="{FF2B5EF4-FFF2-40B4-BE49-F238E27FC236}">
                <a16:creationId xmlns:a16="http://schemas.microsoft.com/office/drawing/2014/main" id="{52C95839-A2E0-2A64-21C4-90AF15F324E2}"/>
              </a:ext>
            </a:extLst>
          </p:cNvPr>
          <p:cNvGrpSpPr/>
          <p:nvPr/>
        </p:nvGrpSpPr>
        <p:grpSpPr>
          <a:xfrm>
            <a:off x="2273612" y="674113"/>
            <a:ext cx="944489" cy="5519314"/>
            <a:chOff x="2519492" y="676138"/>
            <a:chExt cx="944489" cy="5519314"/>
          </a:xfrm>
        </p:grpSpPr>
        <p:sp>
          <p:nvSpPr>
            <p:cNvPr id="131" name="Textfeld 130">
              <a:extLst>
                <a:ext uri="{FF2B5EF4-FFF2-40B4-BE49-F238E27FC236}">
                  <a16:creationId xmlns:a16="http://schemas.microsoft.com/office/drawing/2014/main" id="{7ADE5695-63FC-53C2-BE73-887A297C0A98}"/>
                </a:ext>
              </a:extLst>
            </p:cNvPr>
            <p:cNvSpPr txBox="1"/>
            <p:nvPr/>
          </p:nvSpPr>
          <p:spPr>
            <a:xfrm>
              <a:off x="2519492" y="676138"/>
              <a:ext cx="9444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/>
                <a:t>Rear</a:t>
              </a:r>
            </a:p>
            <a:p>
              <a:r>
                <a:rPr lang="de-DE" b="1" dirty="0"/>
                <a:t>CLASSIC</a:t>
              </a: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74FE8E49-A031-9895-F73D-9B3A50D725AB}"/>
                </a:ext>
              </a:extLst>
            </p:cNvPr>
            <p:cNvSpPr/>
            <p:nvPr/>
          </p:nvSpPr>
          <p:spPr>
            <a:xfrm>
              <a:off x="2652812" y="5246127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5FB2D81A-BB93-29A1-EB67-FEEF8C27F9B7}"/>
                </a:ext>
              </a:extLst>
            </p:cNvPr>
            <p:cNvSpPr/>
            <p:nvPr/>
          </p:nvSpPr>
          <p:spPr>
            <a:xfrm>
              <a:off x="3265587" y="5246127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95283EB6-3DDD-AD4F-FAF9-219192D42C2B}"/>
                </a:ext>
              </a:extLst>
            </p:cNvPr>
            <p:cNvSpPr/>
            <p:nvPr/>
          </p:nvSpPr>
          <p:spPr>
            <a:xfrm>
              <a:off x="3265587" y="5963677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36" name="Rechteck 135">
              <a:extLst>
                <a:ext uri="{FF2B5EF4-FFF2-40B4-BE49-F238E27FC236}">
                  <a16:creationId xmlns:a16="http://schemas.microsoft.com/office/drawing/2014/main" id="{0A0A32E3-DD77-AA25-E92B-B01A8FD579A1}"/>
                </a:ext>
              </a:extLst>
            </p:cNvPr>
            <p:cNvSpPr/>
            <p:nvPr/>
          </p:nvSpPr>
          <p:spPr>
            <a:xfrm>
              <a:off x="2652812" y="5963677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137" name="Gerader Verbinder 136">
              <a:extLst>
                <a:ext uri="{FF2B5EF4-FFF2-40B4-BE49-F238E27FC236}">
                  <a16:creationId xmlns:a16="http://schemas.microsoft.com/office/drawing/2014/main" id="{A8039D87-787B-C934-A31E-43070C481E9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87774" y="5044515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Gerader Verbinder 137">
              <a:extLst>
                <a:ext uri="{FF2B5EF4-FFF2-40B4-BE49-F238E27FC236}">
                  <a16:creationId xmlns:a16="http://schemas.microsoft.com/office/drawing/2014/main" id="{BBD41C07-6EFE-3804-C5DF-90E7BD10C8D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87774" y="5763652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Multiplikationszeichen 138">
              <a:extLst>
                <a:ext uri="{FF2B5EF4-FFF2-40B4-BE49-F238E27FC236}">
                  <a16:creationId xmlns:a16="http://schemas.microsoft.com/office/drawing/2014/main" id="{289FC4EA-2661-69D8-D54C-80377902BF6E}"/>
                </a:ext>
              </a:extLst>
            </p:cNvPr>
            <p:cNvSpPr/>
            <p:nvPr/>
          </p:nvSpPr>
          <p:spPr>
            <a:xfrm>
              <a:off x="2913162" y="5950977"/>
              <a:ext cx="149225" cy="180975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140" name="Rechteck 139">
              <a:extLst>
                <a:ext uri="{FF2B5EF4-FFF2-40B4-BE49-F238E27FC236}">
                  <a16:creationId xmlns:a16="http://schemas.microsoft.com/office/drawing/2014/main" id="{F8C3825F-A534-BC23-3085-8A860A9A6643}"/>
                </a:ext>
              </a:extLst>
            </p:cNvPr>
            <p:cNvSpPr/>
            <p:nvPr/>
          </p:nvSpPr>
          <p:spPr>
            <a:xfrm>
              <a:off x="2681387" y="5169927"/>
              <a:ext cx="612775" cy="1025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141" name="Gruppieren 140">
              <a:extLst>
                <a:ext uri="{FF2B5EF4-FFF2-40B4-BE49-F238E27FC236}">
                  <a16:creationId xmlns:a16="http://schemas.microsoft.com/office/drawing/2014/main" id="{1C67E1EB-539A-D525-A026-CBEEBA98A641}"/>
                </a:ext>
              </a:extLst>
            </p:cNvPr>
            <p:cNvGrpSpPr/>
            <p:nvPr/>
          </p:nvGrpSpPr>
          <p:grpSpPr>
            <a:xfrm rot="5400000">
              <a:off x="2502396" y="1696179"/>
              <a:ext cx="960437" cy="669925"/>
              <a:chOff x="2065382" y="2348277"/>
              <a:chExt cx="960437" cy="669925"/>
            </a:xfrm>
          </p:grpSpPr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94FBD4F3-E1B0-50DC-A6B6-269F77A00959}"/>
                  </a:ext>
                </a:extLst>
              </p:cNvPr>
              <p:cNvSpPr/>
              <p:nvPr/>
            </p:nvSpPr>
            <p:spPr>
              <a:xfrm rot="16200000">
                <a:off x="2238420" y="2203021"/>
                <a:ext cx="614362" cy="96043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75BB70CC-DC8C-50F9-6BE8-DE0BCFA1D78D}"/>
                  </a:ext>
                </a:extLst>
              </p:cNvPr>
              <p:cNvSpPr/>
              <p:nvPr/>
            </p:nvSpPr>
            <p:spPr>
              <a:xfrm rot="16200000">
                <a:off x="2181270" y="29173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864591F9-E586-5C63-B94E-0345DFD7D38D}"/>
                  </a:ext>
                </a:extLst>
              </p:cNvPr>
              <p:cNvSpPr/>
              <p:nvPr/>
            </p:nvSpPr>
            <p:spPr>
              <a:xfrm rot="16200000">
                <a:off x="2181270" y="2304621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FC1443D8-59A6-0F72-C3F5-530AE11D273E}"/>
                  </a:ext>
                </a:extLst>
              </p:cNvPr>
              <p:cNvSpPr/>
              <p:nvPr/>
            </p:nvSpPr>
            <p:spPr>
              <a:xfrm rot="16200000">
                <a:off x="2852782" y="2304621"/>
                <a:ext cx="55563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A91B172B-9E82-5AF7-3AF8-543F622E13D3}"/>
                  </a:ext>
                </a:extLst>
              </p:cNvPr>
              <p:cNvSpPr/>
              <p:nvPr/>
            </p:nvSpPr>
            <p:spPr>
              <a:xfrm rot="16200000">
                <a:off x="2852782" y="2917396"/>
                <a:ext cx="55563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50" name="Gerader Verbinder 149">
                <a:extLst>
                  <a:ext uri="{FF2B5EF4-FFF2-40B4-BE49-F238E27FC236}">
                    <a16:creationId xmlns:a16="http://schemas.microsoft.com/office/drawing/2014/main" id="{0FC72958-D3CD-F411-E6AD-20E2F98D59E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209845" y="2404633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erader Verbinder 150">
                <a:extLst>
                  <a:ext uri="{FF2B5EF4-FFF2-40B4-BE49-F238E27FC236}">
                    <a16:creationId xmlns:a16="http://schemas.microsoft.com/office/drawing/2014/main" id="{F5682955-4EF5-6060-81FC-08B5E69444E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2879770" y="2404633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Multiplikationszeichen 151">
                <a:extLst>
                  <a:ext uri="{FF2B5EF4-FFF2-40B4-BE49-F238E27FC236}">
                    <a16:creationId xmlns:a16="http://schemas.microsoft.com/office/drawing/2014/main" id="{DBC325AC-2DC7-7212-569A-9C069DA172C0}"/>
                  </a:ext>
                </a:extLst>
              </p:cNvPr>
              <p:cNvSpPr/>
              <p:nvPr/>
            </p:nvSpPr>
            <p:spPr>
              <a:xfrm rot="16200000">
                <a:off x="2805157" y="2598308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cxnSp>
          <p:nvCxnSpPr>
            <p:cNvPr id="142" name="Gerader Verbinder 141">
              <a:extLst>
                <a:ext uri="{FF2B5EF4-FFF2-40B4-BE49-F238E27FC236}">
                  <a16:creationId xmlns:a16="http://schemas.microsoft.com/office/drawing/2014/main" id="{793878D3-24AA-0817-7C39-9C7B22FDFC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4443" y="2508565"/>
              <a:ext cx="634559" cy="12875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Gerader Verbinder 142">
              <a:extLst>
                <a:ext uri="{FF2B5EF4-FFF2-40B4-BE49-F238E27FC236}">
                  <a16:creationId xmlns:a16="http://schemas.microsoft.com/office/drawing/2014/main" id="{84416A04-FF00-93F1-67D5-255C9C0815FE}"/>
                </a:ext>
              </a:extLst>
            </p:cNvPr>
            <p:cNvCxnSpPr>
              <a:cxnSpLocks/>
              <a:stCxn id="140" idx="0"/>
              <a:endCxn id="145" idx="2"/>
            </p:cNvCxnSpPr>
            <p:nvPr/>
          </p:nvCxnSpPr>
          <p:spPr>
            <a:xfrm flipH="1" flipV="1">
              <a:off x="2982615" y="2511361"/>
              <a:ext cx="5160" cy="265856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Textfeld 160">
            <a:extLst>
              <a:ext uri="{FF2B5EF4-FFF2-40B4-BE49-F238E27FC236}">
                <a16:creationId xmlns:a16="http://schemas.microsoft.com/office/drawing/2014/main" id="{C46F94F2-9B56-3D85-E442-CC2A227F7739}"/>
              </a:ext>
            </a:extLst>
          </p:cNvPr>
          <p:cNvSpPr txBox="1"/>
          <p:nvPr/>
        </p:nvSpPr>
        <p:spPr>
          <a:xfrm>
            <a:off x="531217" y="675945"/>
            <a:ext cx="1679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Visible View:</a:t>
            </a:r>
          </a:p>
          <a:p>
            <a:r>
              <a:rPr lang="de-DE" b="1" dirty="0"/>
              <a:t>Classified View:</a:t>
            </a:r>
          </a:p>
        </p:txBody>
      </p:sp>
    </p:spTree>
    <p:extLst>
      <p:ext uri="{BB962C8B-B14F-4D97-AF65-F5344CB8AC3E}">
        <p14:creationId xmlns:p14="http://schemas.microsoft.com/office/powerpoint/2010/main" val="3109012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hteck 61">
            <a:extLst>
              <a:ext uri="{FF2B5EF4-FFF2-40B4-BE49-F238E27FC236}">
                <a16:creationId xmlns:a16="http://schemas.microsoft.com/office/drawing/2014/main" id="{51FDCDA1-662A-A3BA-6829-4A4E4106D773}"/>
              </a:ext>
            </a:extLst>
          </p:cNvPr>
          <p:cNvSpPr/>
          <p:nvPr/>
        </p:nvSpPr>
        <p:spPr>
          <a:xfrm>
            <a:off x="5864796" y="4912486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4AD0AB62-A3AA-1082-70E9-F1A15C81AD76}"/>
              </a:ext>
            </a:extLst>
          </p:cNvPr>
          <p:cNvSpPr/>
          <p:nvPr/>
        </p:nvSpPr>
        <p:spPr>
          <a:xfrm>
            <a:off x="6477571" y="4912486"/>
            <a:ext cx="57150" cy="1539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09116326-1A40-E027-438B-789CDA11F3E3}"/>
              </a:ext>
            </a:extLst>
          </p:cNvPr>
          <p:cNvSpPr/>
          <p:nvPr/>
        </p:nvSpPr>
        <p:spPr>
          <a:xfrm>
            <a:off x="6477571" y="5630036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9A92C3F0-F260-3D51-AC34-4FE5776EFA32}"/>
              </a:ext>
            </a:extLst>
          </p:cNvPr>
          <p:cNvSpPr/>
          <p:nvPr/>
        </p:nvSpPr>
        <p:spPr>
          <a:xfrm>
            <a:off x="5864796" y="5630036"/>
            <a:ext cx="57150" cy="1555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3A24C94E-1CAB-69EA-706D-202E285CC0E8}"/>
              </a:ext>
            </a:extLst>
          </p:cNvPr>
          <p:cNvCxnSpPr>
            <a:cxnSpLocks/>
          </p:cNvCxnSpPr>
          <p:nvPr/>
        </p:nvCxnSpPr>
        <p:spPr>
          <a:xfrm rot="16200000">
            <a:off x="6199758" y="4710874"/>
            <a:ext cx="0" cy="5572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43D36723-37A2-71DA-D1B2-9B5763D2BB92}"/>
              </a:ext>
            </a:extLst>
          </p:cNvPr>
          <p:cNvCxnSpPr>
            <a:cxnSpLocks/>
          </p:cNvCxnSpPr>
          <p:nvPr/>
        </p:nvCxnSpPr>
        <p:spPr>
          <a:xfrm rot="16200000">
            <a:off x="6199758" y="5430011"/>
            <a:ext cx="0" cy="55562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Multiplikationszeichen 67">
            <a:extLst>
              <a:ext uri="{FF2B5EF4-FFF2-40B4-BE49-F238E27FC236}">
                <a16:creationId xmlns:a16="http://schemas.microsoft.com/office/drawing/2014/main" id="{40F1C866-5155-A6DF-026E-849CB1267C27}"/>
              </a:ext>
            </a:extLst>
          </p:cNvPr>
          <p:cNvSpPr/>
          <p:nvPr/>
        </p:nvSpPr>
        <p:spPr>
          <a:xfrm>
            <a:off x="6125146" y="5617336"/>
            <a:ext cx="149225" cy="180975"/>
          </a:xfrm>
          <a:prstGeom prst="mathMultiply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AAB4A4-4CCF-8AE1-5025-A3A4E6BE37DD}"/>
              </a:ext>
            </a:extLst>
          </p:cNvPr>
          <p:cNvGrpSpPr/>
          <p:nvPr/>
        </p:nvGrpSpPr>
        <p:grpSpPr>
          <a:xfrm>
            <a:off x="8780490" y="4525399"/>
            <a:ext cx="669925" cy="960437"/>
            <a:chOff x="4524420" y="2041096"/>
            <a:chExt cx="669925" cy="9604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852E67D-B70F-A0AE-A1F0-8A8E08E2F81A}"/>
                </a:ext>
              </a:extLst>
            </p:cNvPr>
            <p:cNvSpPr/>
            <p:nvPr/>
          </p:nvSpPr>
          <p:spPr>
            <a:xfrm>
              <a:off x="4524420" y="21125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E5E453C-165E-C2A5-7E91-40B0987FD3A8}"/>
                </a:ext>
              </a:extLst>
            </p:cNvPr>
            <p:cNvSpPr/>
            <p:nvPr/>
          </p:nvSpPr>
          <p:spPr>
            <a:xfrm>
              <a:off x="5138782" y="2112533"/>
              <a:ext cx="55563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F7A02D7-561C-4FA6-0B1F-03C29C710225}"/>
                </a:ext>
              </a:extLst>
            </p:cNvPr>
            <p:cNvSpPr/>
            <p:nvPr/>
          </p:nvSpPr>
          <p:spPr>
            <a:xfrm>
              <a:off x="5138782" y="2784046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1AFD005-AE42-117D-7EF2-50B7420BF855}"/>
                </a:ext>
              </a:extLst>
            </p:cNvPr>
            <p:cNvSpPr/>
            <p:nvPr/>
          </p:nvSpPr>
          <p:spPr>
            <a:xfrm>
              <a:off x="4524420" y="278404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2EF2603-2463-FD2C-0061-F1D33B3191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859382" y="190615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3C4A3BDC-4A67-CFC1-D522-C28C4B789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859382" y="2577671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ultiplikationszeichen 18">
              <a:extLst>
                <a:ext uri="{FF2B5EF4-FFF2-40B4-BE49-F238E27FC236}">
                  <a16:creationId xmlns:a16="http://schemas.microsoft.com/office/drawing/2014/main" id="{8447CA1E-CF6B-2087-64AF-B2BCD6E27E6B}"/>
                </a:ext>
              </a:extLst>
            </p:cNvPr>
            <p:cNvSpPr/>
            <p:nvPr/>
          </p:nvSpPr>
          <p:spPr>
            <a:xfrm>
              <a:off x="4784770" y="2771346"/>
              <a:ext cx="150812" cy="169862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7F130E9F-5D4C-1ACC-282A-735408270ED8}"/>
                </a:ext>
              </a:extLst>
            </p:cNvPr>
            <p:cNvSpPr/>
            <p:nvPr/>
          </p:nvSpPr>
          <p:spPr>
            <a:xfrm>
              <a:off x="4552995" y="2041096"/>
              <a:ext cx="614362" cy="96043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C52197D-F216-DA10-0834-45C8151B010F}"/>
              </a:ext>
            </a:extLst>
          </p:cNvPr>
          <p:cNvGrpSpPr/>
          <p:nvPr/>
        </p:nvGrpSpPr>
        <p:grpSpPr>
          <a:xfrm>
            <a:off x="3508168" y="2191712"/>
            <a:ext cx="1053306" cy="1031875"/>
            <a:chOff x="5453901" y="1933146"/>
            <a:chExt cx="1053306" cy="1031875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AD5FF058-280A-BB0E-44CC-0976998C6839}"/>
                </a:ext>
              </a:extLst>
            </p:cNvPr>
            <p:cNvSpPr/>
            <p:nvPr/>
          </p:nvSpPr>
          <p:spPr>
            <a:xfrm rot="2700000">
              <a:off x="5972220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591F409-4F86-F4D5-F39C-B72469379359}"/>
                </a:ext>
              </a:extLst>
            </p:cNvPr>
            <p:cNvSpPr/>
            <p:nvPr/>
          </p:nvSpPr>
          <p:spPr>
            <a:xfrm rot="2700000">
              <a:off x="640560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2B9A377-EA5A-B42B-ABC8-F9F29A9F6C58}"/>
                </a:ext>
              </a:extLst>
            </p:cNvPr>
            <p:cNvSpPr/>
            <p:nvPr/>
          </p:nvSpPr>
          <p:spPr>
            <a:xfrm rot="2700000">
              <a:off x="5932532" y="2830083"/>
              <a:ext cx="55563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806DC355-280A-0868-E017-BF04AE0BA82F}"/>
                </a:ext>
              </a:extLst>
            </p:cNvPr>
            <p:cNvSpPr/>
            <p:nvPr/>
          </p:nvSpPr>
          <p:spPr>
            <a:xfrm rot="2700000">
              <a:off x="549755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30A1C2C1-1768-2CFF-E11A-D1A36D8FBC47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21828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E650D94B-726A-2BB3-382A-503839FD402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5743620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ultiplikationszeichen 25">
              <a:extLst>
                <a:ext uri="{FF2B5EF4-FFF2-40B4-BE49-F238E27FC236}">
                  <a16:creationId xmlns:a16="http://schemas.microsoft.com/office/drawing/2014/main" id="{C118B71B-4B3B-0C74-D254-459D5B9F3775}"/>
                </a:ext>
              </a:extLst>
            </p:cNvPr>
            <p:cNvSpPr/>
            <p:nvPr/>
          </p:nvSpPr>
          <p:spPr>
            <a:xfrm rot="2700000">
              <a:off x="5667420" y="2601483"/>
              <a:ext cx="150812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C10CAD79-7874-4736-4E47-F7E6B34A0A68}"/>
                </a:ext>
              </a:extLst>
            </p:cNvPr>
            <p:cNvSpPr/>
            <p:nvPr/>
          </p:nvSpPr>
          <p:spPr>
            <a:xfrm rot="2700000">
              <a:off x="56737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18300DAA-DFEB-7482-84BB-5ECF4A86304D}"/>
              </a:ext>
            </a:extLst>
          </p:cNvPr>
          <p:cNvGrpSpPr/>
          <p:nvPr/>
        </p:nvGrpSpPr>
        <p:grpSpPr>
          <a:xfrm>
            <a:off x="2985599" y="4526193"/>
            <a:ext cx="669925" cy="958850"/>
            <a:chOff x="9207545" y="2026808"/>
            <a:chExt cx="669925" cy="958850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93242363-0B77-D93D-437C-0BB00B5AB85A}"/>
                </a:ext>
              </a:extLst>
            </p:cNvPr>
            <p:cNvSpPr/>
            <p:nvPr/>
          </p:nvSpPr>
          <p:spPr>
            <a:xfrm rot="10800000">
              <a:off x="9820320" y="2769758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978E7189-4F8B-5372-D02A-959425577A35}"/>
                </a:ext>
              </a:extLst>
            </p:cNvPr>
            <p:cNvSpPr/>
            <p:nvPr/>
          </p:nvSpPr>
          <p:spPr>
            <a:xfrm rot="10800000">
              <a:off x="9207545" y="2769758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50DFED47-8C5D-A6B0-C5ED-7730F1AA16C4}"/>
                </a:ext>
              </a:extLst>
            </p:cNvPr>
            <p:cNvSpPr/>
            <p:nvPr/>
          </p:nvSpPr>
          <p:spPr>
            <a:xfrm rot="10800000">
              <a:off x="9207545" y="20998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7FA822F7-242D-9CF9-124B-C33DEE9A1E6C}"/>
                </a:ext>
              </a:extLst>
            </p:cNvPr>
            <p:cNvSpPr/>
            <p:nvPr/>
          </p:nvSpPr>
          <p:spPr>
            <a:xfrm rot="10800000">
              <a:off x="9820320" y="20998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7F9323DF-293E-A555-FCB2-F38CA605EB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542507" y="256338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7EA3374F-EFAB-297D-47F4-57F26DFA6F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542507" y="1893458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Multiplikationszeichen 46">
              <a:extLst>
                <a:ext uri="{FF2B5EF4-FFF2-40B4-BE49-F238E27FC236}">
                  <a16:creationId xmlns:a16="http://schemas.microsoft.com/office/drawing/2014/main" id="{5A99A159-B694-CC53-6021-27AFC0A94315}"/>
                </a:ext>
              </a:extLst>
            </p:cNvPr>
            <p:cNvSpPr/>
            <p:nvPr/>
          </p:nvSpPr>
          <p:spPr>
            <a:xfrm rot="10800000">
              <a:off x="9467895" y="2087133"/>
              <a:ext cx="149225" cy="168275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E966DE1D-D2A6-E5C3-C6EA-77A001FD0C21}"/>
                </a:ext>
              </a:extLst>
            </p:cNvPr>
            <p:cNvSpPr/>
            <p:nvPr/>
          </p:nvSpPr>
          <p:spPr>
            <a:xfrm rot="10800000">
              <a:off x="9236120" y="202680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7E5D931-D3A3-172F-E7C2-C3992DF2185D}"/>
              </a:ext>
            </a:extLst>
          </p:cNvPr>
          <p:cNvGrpSpPr/>
          <p:nvPr/>
        </p:nvGrpSpPr>
        <p:grpSpPr>
          <a:xfrm>
            <a:off x="7967801" y="2146543"/>
            <a:ext cx="1031875" cy="1052513"/>
            <a:chOff x="3253626" y="1922033"/>
            <a:chExt cx="1031875" cy="1052513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48795E1-CA04-E1F4-B821-4AB21CE15C5A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1EA1E3DD-F5D9-6546-FF33-D03E86E1DBAE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5AD9895E-4F5F-0EB3-6BF9-003FB565445E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70C54DF4-5180-43C5-DD24-386AE7DB2024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B7EC7A7-5CC6-1A4D-3355-6D8336FFC744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968D85A9-A29A-26B7-4884-C5E639BBFAD8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Multiplikationszeichen 60">
              <a:extLst>
                <a:ext uri="{FF2B5EF4-FFF2-40B4-BE49-F238E27FC236}">
                  <a16:creationId xmlns:a16="http://schemas.microsoft.com/office/drawing/2014/main" id="{E5AEDF98-9ADE-D69D-36D9-759002854F0F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7C7B4082-DB52-7B47-2409-4D7FB1C30BFD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76" name="Rechteck 75">
            <a:extLst>
              <a:ext uri="{FF2B5EF4-FFF2-40B4-BE49-F238E27FC236}">
                <a16:creationId xmlns:a16="http://schemas.microsoft.com/office/drawing/2014/main" id="{7572A932-574C-8012-06BD-78B19188F4B7}"/>
              </a:ext>
            </a:extLst>
          </p:cNvPr>
          <p:cNvSpPr/>
          <p:nvPr/>
        </p:nvSpPr>
        <p:spPr>
          <a:xfrm>
            <a:off x="5893371" y="4836286"/>
            <a:ext cx="612775" cy="102552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DDA87CF-C1AF-AB16-8D9D-596C365DF593}"/>
              </a:ext>
            </a:extLst>
          </p:cNvPr>
          <p:cNvGrpSpPr/>
          <p:nvPr/>
        </p:nvGrpSpPr>
        <p:grpSpPr>
          <a:xfrm>
            <a:off x="5694722" y="1294717"/>
            <a:ext cx="960437" cy="669925"/>
            <a:chOff x="2065382" y="2348277"/>
            <a:chExt cx="960437" cy="669925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9FD34958-A8C7-997A-709A-A3CBF1423CA1}"/>
                </a:ext>
              </a:extLst>
            </p:cNvPr>
            <p:cNvSpPr/>
            <p:nvPr/>
          </p:nvSpPr>
          <p:spPr>
            <a:xfrm rot="16200000">
              <a:off x="2238420" y="2203021"/>
              <a:ext cx="614362" cy="96043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64E66E5D-EC53-1192-FE33-AFE995F023B5}"/>
                </a:ext>
              </a:extLst>
            </p:cNvPr>
            <p:cNvSpPr/>
            <p:nvPr/>
          </p:nvSpPr>
          <p:spPr>
            <a:xfrm rot="16200000">
              <a:off x="2181270" y="29173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033B1FF6-363C-214A-31D6-F34003929726}"/>
                </a:ext>
              </a:extLst>
            </p:cNvPr>
            <p:cNvSpPr/>
            <p:nvPr/>
          </p:nvSpPr>
          <p:spPr>
            <a:xfrm rot="16200000">
              <a:off x="2181270" y="2304621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5854845F-F8FD-1142-1439-5138808327CD}"/>
                </a:ext>
              </a:extLst>
            </p:cNvPr>
            <p:cNvSpPr/>
            <p:nvPr/>
          </p:nvSpPr>
          <p:spPr>
            <a:xfrm rot="16200000">
              <a:off x="2852782" y="2304621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AF879D94-3F6C-4DBB-2BAB-4BC62790D463}"/>
                </a:ext>
              </a:extLst>
            </p:cNvPr>
            <p:cNvSpPr/>
            <p:nvPr/>
          </p:nvSpPr>
          <p:spPr>
            <a:xfrm rot="16200000">
              <a:off x="2852782" y="2917396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2E12DEBA-A1EA-B450-A00C-2E78AB8F477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209845" y="240463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1594E521-FDB4-9DAD-3BB6-FFA643F6FE8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79770" y="240463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Multiplikationszeichen 83">
              <a:extLst>
                <a:ext uri="{FF2B5EF4-FFF2-40B4-BE49-F238E27FC236}">
                  <a16:creationId xmlns:a16="http://schemas.microsoft.com/office/drawing/2014/main" id="{C4939FBA-750C-5C64-9F9B-D65E94D3FAA8}"/>
                </a:ext>
              </a:extLst>
            </p:cNvPr>
            <p:cNvSpPr/>
            <p:nvPr/>
          </p:nvSpPr>
          <p:spPr>
            <a:xfrm rot="16200000">
              <a:off x="2805157" y="2598308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AE093DD-CBFA-40EC-2B5F-E97D3E6E60D5}"/>
              </a:ext>
            </a:extLst>
          </p:cNvPr>
          <p:cNvCxnSpPr/>
          <p:nvPr/>
        </p:nvCxnSpPr>
        <p:spPr>
          <a:xfrm flipV="1">
            <a:off x="3910469" y="2613658"/>
            <a:ext cx="679609" cy="6481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7A35F5E-676C-A4AD-2A18-736945B343D2}"/>
              </a:ext>
            </a:extLst>
          </p:cNvPr>
          <p:cNvCxnSpPr>
            <a:cxnSpLocks/>
          </p:cNvCxnSpPr>
          <p:nvPr/>
        </p:nvCxnSpPr>
        <p:spPr>
          <a:xfrm flipV="1">
            <a:off x="5694722" y="1963849"/>
            <a:ext cx="960438" cy="811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59EF8E9-B008-8A55-67D6-4F6396C709EE}"/>
              </a:ext>
            </a:extLst>
          </p:cNvPr>
          <p:cNvCxnSpPr>
            <a:cxnSpLocks/>
          </p:cNvCxnSpPr>
          <p:nvPr/>
        </p:nvCxnSpPr>
        <p:spPr>
          <a:xfrm flipH="1" flipV="1">
            <a:off x="7958664" y="2588368"/>
            <a:ext cx="649823" cy="64813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8603175C-7B77-C1F1-18CC-7501E87D5B1B}"/>
              </a:ext>
            </a:extLst>
          </p:cNvPr>
          <p:cNvCxnSpPr>
            <a:cxnSpLocks/>
          </p:cNvCxnSpPr>
          <p:nvPr/>
        </p:nvCxnSpPr>
        <p:spPr>
          <a:xfrm flipV="1">
            <a:off x="3651168" y="4524682"/>
            <a:ext cx="11900" cy="9295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53EBDAD8-6B4B-9AD0-182F-41FA75F9F511}"/>
              </a:ext>
            </a:extLst>
          </p:cNvPr>
          <p:cNvCxnSpPr>
            <a:cxnSpLocks/>
          </p:cNvCxnSpPr>
          <p:nvPr/>
        </p:nvCxnSpPr>
        <p:spPr>
          <a:xfrm flipV="1">
            <a:off x="8772974" y="4540820"/>
            <a:ext cx="11900" cy="9295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AA65063-3421-0613-E41C-5E5D8AEF579B}"/>
              </a:ext>
            </a:extLst>
          </p:cNvPr>
          <p:cNvCxnSpPr>
            <a:cxnSpLocks/>
            <a:endCxn id="70" idx="3"/>
          </p:cNvCxnSpPr>
          <p:nvPr/>
        </p:nvCxnSpPr>
        <p:spPr>
          <a:xfrm flipH="1" flipV="1">
            <a:off x="4251073" y="2924298"/>
            <a:ext cx="1923868" cy="20813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B445770F-44E3-DEEE-D4DF-C934264D286F}"/>
              </a:ext>
            </a:extLst>
          </p:cNvPr>
          <p:cNvCxnSpPr>
            <a:cxnSpLocks/>
            <a:endCxn id="73" idx="1"/>
          </p:cNvCxnSpPr>
          <p:nvPr/>
        </p:nvCxnSpPr>
        <p:spPr>
          <a:xfrm flipH="1">
            <a:off x="3626949" y="4989479"/>
            <a:ext cx="2547992" cy="161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99037D33-933D-9786-DE13-11D6F260EFE2}"/>
              </a:ext>
            </a:extLst>
          </p:cNvPr>
          <p:cNvCxnSpPr>
            <a:cxnSpLocks/>
          </p:cNvCxnSpPr>
          <p:nvPr/>
        </p:nvCxnSpPr>
        <p:spPr>
          <a:xfrm flipH="1">
            <a:off x="6207985" y="4965610"/>
            <a:ext cx="2547992" cy="161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14A3D68C-2307-234B-0F41-A8CA98855AE3}"/>
              </a:ext>
            </a:extLst>
          </p:cNvPr>
          <p:cNvCxnSpPr>
            <a:cxnSpLocks/>
            <a:endCxn id="77" idx="1"/>
          </p:cNvCxnSpPr>
          <p:nvPr/>
        </p:nvCxnSpPr>
        <p:spPr>
          <a:xfrm flipV="1">
            <a:off x="6174941" y="1936861"/>
            <a:ext cx="1" cy="30526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80C4769-66A2-57C2-7E95-C5EEC7C7784C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6199132" y="2890242"/>
            <a:ext cx="2068752" cy="207536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F31B0957-0964-D20B-3572-91CFE7A60EE7}"/>
              </a:ext>
            </a:extLst>
          </p:cNvPr>
          <p:cNvSpPr txBox="1"/>
          <p:nvPr/>
        </p:nvSpPr>
        <p:spPr>
          <a:xfrm>
            <a:off x="4653937" y="1593362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edge_left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4A8E6DB-3512-3100-4EC5-A46DC4474DF5}"/>
              </a:ext>
            </a:extLst>
          </p:cNvPr>
          <p:cNvSpPr txBox="1"/>
          <p:nvPr/>
        </p:nvSpPr>
        <p:spPr>
          <a:xfrm>
            <a:off x="6665492" y="1587776"/>
            <a:ext cx="119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edge_right</a:t>
            </a:r>
          </a:p>
        </p:txBody>
      </p:sp>
      <p:sp>
        <p:nvSpPr>
          <p:cNvPr id="11" name="Multiplikationszeichen 10">
            <a:extLst>
              <a:ext uri="{FF2B5EF4-FFF2-40B4-BE49-F238E27FC236}">
                <a16:creationId xmlns:a16="http://schemas.microsoft.com/office/drawing/2014/main" id="{C54A05B0-5489-22DC-B2ED-A74B7A3674B4}"/>
              </a:ext>
            </a:extLst>
          </p:cNvPr>
          <p:cNvSpPr/>
          <p:nvPr/>
        </p:nvSpPr>
        <p:spPr>
          <a:xfrm>
            <a:off x="5577472" y="1860749"/>
            <a:ext cx="228670" cy="25112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Multiplikationszeichen 26">
            <a:extLst>
              <a:ext uri="{FF2B5EF4-FFF2-40B4-BE49-F238E27FC236}">
                <a16:creationId xmlns:a16="http://schemas.microsoft.com/office/drawing/2014/main" id="{DCE80F3E-4156-4495-57EC-9E295B8EB6F3}"/>
              </a:ext>
            </a:extLst>
          </p:cNvPr>
          <p:cNvSpPr/>
          <p:nvPr/>
        </p:nvSpPr>
        <p:spPr>
          <a:xfrm>
            <a:off x="6552920" y="1853168"/>
            <a:ext cx="228670" cy="25112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32711C7-3DD8-FBF0-DF8A-AC39BEAD4A81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Visible View: Side</a:t>
            </a:r>
          </a:p>
        </p:txBody>
      </p:sp>
    </p:spTree>
    <p:extLst>
      <p:ext uri="{BB962C8B-B14F-4D97-AF65-F5344CB8AC3E}">
        <p14:creationId xmlns:p14="http://schemas.microsoft.com/office/powerpoint/2010/main" val="2154388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AAB4A4-4CCF-8AE1-5025-A3A4E6BE37DD}"/>
              </a:ext>
            </a:extLst>
          </p:cNvPr>
          <p:cNvGrpSpPr/>
          <p:nvPr/>
        </p:nvGrpSpPr>
        <p:grpSpPr>
          <a:xfrm rot="1800000">
            <a:off x="8780490" y="4525400"/>
            <a:ext cx="669925" cy="960437"/>
            <a:chOff x="4524420" y="2041096"/>
            <a:chExt cx="669925" cy="9604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2852E67D-B70F-A0AE-A1F0-8A8E08E2F81A}"/>
                </a:ext>
              </a:extLst>
            </p:cNvPr>
            <p:cNvSpPr/>
            <p:nvPr/>
          </p:nvSpPr>
          <p:spPr>
            <a:xfrm>
              <a:off x="4524420" y="21125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E5E453C-165E-C2A5-7E91-40B0987FD3A8}"/>
                </a:ext>
              </a:extLst>
            </p:cNvPr>
            <p:cNvSpPr/>
            <p:nvPr/>
          </p:nvSpPr>
          <p:spPr>
            <a:xfrm>
              <a:off x="5138782" y="2112533"/>
              <a:ext cx="55563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7F7A02D7-561C-4FA6-0B1F-03C29C710225}"/>
                </a:ext>
              </a:extLst>
            </p:cNvPr>
            <p:cNvSpPr/>
            <p:nvPr/>
          </p:nvSpPr>
          <p:spPr>
            <a:xfrm>
              <a:off x="5138782" y="2784046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1AFD005-AE42-117D-7EF2-50B7420BF855}"/>
                </a:ext>
              </a:extLst>
            </p:cNvPr>
            <p:cNvSpPr/>
            <p:nvPr/>
          </p:nvSpPr>
          <p:spPr>
            <a:xfrm>
              <a:off x="4524420" y="278404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2EF2603-2463-FD2C-0061-F1D33B31915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859382" y="190615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3C4A3BDC-4A67-CFC1-D522-C28C4B78922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859382" y="2577671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Multiplikationszeichen 18">
              <a:extLst>
                <a:ext uri="{FF2B5EF4-FFF2-40B4-BE49-F238E27FC236}">
                  <a16:creationId xmlns:a16="http://schemas.microsoft.com/office/drawing/2014/main" id="{8447CA1E-CF6B-2087-64AF-B2BCD6E27E6B}"/>
                </a:ext>
              </a:extLst>
            </p:cNvPr>
            <p:cNvSpPr/>
            <p:nvPr/>
          </p:nvSpPr>
          <p:spPr>
            <a:xfrm>
              <a:off x="4784770" y="2771346"/>
              <a:ext cx="150812" cy="169862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9" name="Rechteck 68">
              <a:extLst>
                <a:ext uri="{FF2B5EF4-FFF2-40B4-BE49-F238E27FC236}">
                  <a16:creationId xmlns:a16="http://schemas.microsoft.com/office/drawing/2014/main" id="{7F130E9F-5D4C-1ACC-282A-735408270ED8}"/>
                </a:ext>
              </a:extLst>
            </p:cNvPr>
            <p:cNvSpPr/>
            <p:nvPr/>
          </p:nvSpPr>
          <p:spPr>
            <a:xfrm>
              <a:off x="4552995" y="2041096"/>
              <a:ext cx="614362" cy="96043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C52197D-F216-DA10-0834-45C8151B010F}"/>
              </a:ext>
            </a:extLst>
          </p:cNvPr>
          <p:cNvGrpSpPr/>
          <p:nvPr/>
        </p:nvGrpSpPr>
        <p:grpSpPr>
          <a:xfrm rot="1800000">
            <a:off x="3508168" y="2191713"/>
            <a:ext cx="1053306" cy="1031875"/>
            <a:chOff x="5453901" y="1933146"/>
            <a:chExt cx="1053306" cy="1031875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AD5FF058-280A-BB0E-44CC-0976998C6839}"/>
                </a:ext>
              </a:extLst>
            </p:cNvPr>
            <p:cNvSpPr/>
            <p:nvPr/>
          </p:nvSpPr>
          <p:spPr>
            <a:xfrm rot="2700000">
              <a:off x="5972220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4591F409-4F86-F4D5-F39C-B72469379359}"/>
                </a:ext>
              </a:extLst>
            </p:cNvPr>
            <p:cNvSpPr/>
            <p:nvPr/>
          </p:nvSpPr>
          <p:spPr>
            <a:xfrm rot="2700000">
              <a:off x="640560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2B9A377-EA5A-B42B-ABC8-F9F29A9F6C58}"/>
                </a:ext>
              </a:extLst>
            </p:cNvPr>
            <p:cNvSpPr/>
            <p:nvPr/>
          </p:nvSpPr>
          <p:spPr>
            <a:xfrm rot="2700000">
              <a:off x="5932532" y="2830083"/>
              <a:ext cx="55563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806DC355-280A-0868-E017-BF04AE0BA82F}"/>
                </a:ext>
              </a:extLst>
            </p:cNvPr>
            <p:cNvSpPr/>
            <p:nvPr/>
          </p:nvSpPr>
          <p:spPr>
            <a:xfrm rot="2700000">
              <a:off x="549755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30A1C2C1-1768-2CFF-E11A-D1A36D8FBC47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621828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E650D94B-726A-2BB3-382A-503839FD4026}"/>
                </a:ext>
              </a:extLst>
            </p:cNvPr>
            <p:cNvCxnSpPr>
              <a:cxnSpLocks/>
            </p:cNvCxnSpPr>
            <p:nvPr/>
          </p:nvCxnSpPr>
          <p:spPr>
            <a:xfrm rot="18900000">
              <a:off x="5743620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Multiplikationszeichen 25">
              <a:extLst>
                <a:ext uri="{FF2B5EF4-FFF2-40B4-BE49-F238E27FC236}">
                  <a16:creationId xmlns:a16="http://schemas.microsoft.com/office/drawing/2014/main" id="{C118B71B-4B3B-0C74-D254-459D5B9F3775}"/>
                </a:ext>
              </a:extLst>
            </p:cNvPr>
            <p:cNvSpPr/>
            <p:nvPr/>
          </p:nvSpPr>
          <p:spPr>
            <a:xfrm rot="2700000">
              <a:off x="5667420" y="2601483"/>
              <a:ext cx="150812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C10CAD79-7874-4736-4E47-F7E6B34A0A68}"/>
                </a:ext>
              </a:extLst>
            </p:cNvPr>
            <p:cNvSpPr/>
            <p:nvPr/>
          </p:nvSpPr>
          <p:spPr>
            <a:xfrm rot="2700000">
              <a:off x="56737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18300DAA-DFEB-7482-84BB-5ECF4A86304D}"/>
              </a:ext>
            </a:extLst>
          </p:cNvPr>
          <p:cNvGrpSpPr/>
          <p:nvPr/>
        </p:nvGrpSpPr>
        <p:grpSpPr>
          <a:xfrm rot="1800000">
            <a:off x="2985599" y="4526194"/>
            <a:ext cx="669925" cy="958850"/>
            <a:chOff x="9207545" y="2026808"/>
            <a:chExt cx="669925" cy="958850"/>
          </a:xfrm>
        </p:grpSpPr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93242363-0B77-D93D-437C-0BB00B5AB85A}"/>
                </a:ext>
              </a:extLst>
            </p:cNvPr>
            <p:cNvSpPr/>
            <p:nvPr/>
          </p:nvSpPr>
          <p:spPr>
            <a:xfrm rot="10800000">
              <a:off x="9820320" y="2769758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978E7189-4F8B-5372-D02A-959425577A35}"/>
                </a:ext>
              </a:extLst>
            </p:cNvPr>
            <p:cNvSpPr/>
            <p:nvPr/>
          </p:nvSpPr>
          <p:spPr>
            <a:xfrm rot="10800000">
              <a:off x="9207545" y="2769758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50DFED47-8C5D-A6B0-C5ED-7730F1AA16C4}"/>
                </a:ext>
              </a:extLst>
            </p:cNvPr>
            <p:cNvSpPr/>
            <p:nvPr/>
          </p:nvSpPr>
          <p:spPr>
            <a:xfrm rot="10800000">
              <a:off x="9207545" y="20998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44" name="Rechteck 43">
              <a:extLst>
                <a:ext uri="{FF2B5EF4-FFF2-40B4-BE49-F238E27FC236}">
                  <a16:creationId xmlns:a16="http://schemas.microsoft.com/office/drawing/2014/main" id="{7FA822F7-242D-9CF9-124B-C33DEE9A1E6C}"/>
                </a:ext>
              </a:extLst>
            </p:cNvPr>
            <p:cNvSpPr/>
            <p:nvPr/>
          </p:nvSpPr>
          <p:spPr>
            <a:xfrm rot="10800000">
              <a:off x="9820320" y="20998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7F9323DF-293E-A555-FCB2-F38CA605EB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542507" y="256338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7EA3374F-EFAB-297D-47F4-57F26DFA6FF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542507" y="1893458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Multiplikationszeichen 46">
              <a:extLst>
                <a:ext uri="{FF2B5EF4-FFF2-40B4-BE49-F238E27FC236}">
                  <a16:creationId xmlns:a16="http://schemas.microsoft.com/office/drawing/2014/main" id="{5A99A159-B694-CC53-6021-27AFC0A94315}"/>
                </a:ext>
              </a:extLst>
            </p:cNvPr>
            <p:cNvSpPr/>
            <p:nvPr/>
          </p:nvSpPr>
          <p:spPr>
            <a:xfrm rot="10800000">
              <a:off x="9467895" y="2087133"/>
              <a:ext cx="149225" cy="168275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E966DE1D-D2A6-E5C3-C6EA-77A001FD0C21}"/>
                </a:ext>
              </a:extLst>
            </p:cNvPr>
            <p:cNvSpPr/>
            <p:nvPr/>
          </p:nvSpPr>
          <p:spPr>
            <a:xfrm rot="10800000">
              <a:off x="9236120" y="202680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7E5D931-D3A3-172F-E7C2-C3992DF2185D}"/>
              </a:ext>
            </a:extLst>
          </p:cNvPr>
          <p:cNvGrpSpPr/>
          <p:nvPr/>
        </p:nvGrpSpPr>
        <p:grpSpPr>
          <a:xfrm rot="1800000">
            <a:off x="7967801" y="2146544"/>
            <a:ext cx="1031875" cy="1052513"/>
            <a:chOff x="3253626" y="1922033"/>
            <a:chExt cx="1031875" cy="1052513"/>
          </a:xfrm>
        </p:grpSpPr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948795E1-CA04-E1F4-B821-4AB21CE15C5A}"/>
                </a:ext>
              </a:extLst>
            </p:cNvPr>
            <p:cNvSpPr/>
            <p:nvPr/>
          </p:nvSpPr>
          <p:spPr>
            <a:xfrm rot="18900000">
              <a:off x="3287757" y="2355421"/>
              <a:ext cx="57150" cy="14605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1EA1E3DD-F5D9-6546-FF33-D03E86E1DBAE}"/>
                </a:ext>
              </a:extLst>
            </p:cNvPr>
            <p:cNvSpPr/>
            <p:nvPr/>
          </p:nvSpPr>
          <p:spPr>
            <a:xfrm rot="18900000">
              <a:off x="3721145" y="192203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5AD9895E-4F5F-0EB3-6BF9-003FB565445E}"/>
                </a:ext>
              </a:extLst>
            </p:cNvPr>
            <p:cNvSpPr/>
            <p:nvPr/>
          </p:nvSpPr>
          <p:spPr>
            <a:xfrm rot="18900000">
              <a:off x="4195807" y="23966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70C54DF4-5180-43C5-DD24-386AE7DB2024}"/>
                </a:ext>
              </a:extLst>
            </p:cNvPr>
            <p:cNvSpPr/>
            <p:nvPr/>
          </p:nvSpPr>
          <p:spPr>
            <a:xfrm rot="18900000">
              <a:off x="3762420" y="2830083"/>
              <a:ext cx="57150" cy="14446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8B7EC7A7-5CC6-1A4D-3355-6D8336FFC744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3532232" y="1933146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968D85A9-A29A-26B7-4884-C5E639BBFAD8}"/>
                </a:ext>
              </a:extLst>
            </p:cNvPr>
            <p:cNvCxnSpPr>
              <a:cxnSpLocks/>
            </p:cNvCxnSpPr>
            <p:nvPr/>
          </p:nvCxnSpPr>
          <p:spPr>
            <a:xfrm rot="13500000">
              <a:off x="4006895" y="2407808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Multiplikationszeichen 60">
              <a:extLst>
                <a:ext uri="{FF2B5EF4-FFF2-40B4-BE49-F238E27FC236}">
                  <a16:creationId xmlns:a16="http://schemas.microsoft.com/office/drawing/2014/main" id="{E5AEDF98-9ADE-D69D-36D9-759002854F0F}"/>
                </a:ext>
              </a:extLst>
            </p:cNvPr>
            <p:cNvSpPr/>
            <p:nvPr/>
          </p:nvSpPr>
          <p:spPr>
            <a:xfrm rot="18900000">
              <a:off x="3932282" y="2601483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7C7B4082-DB52-7B47-2409-4D7FB1C30BFD}"/>
                </a:ext>
              </a:extLst>
            </p:cNvPr>
            <p:cNvSpPr/>
            <p:nvPr/>
          </p:nvSpPr>
          <p:spPr>
            <a:xfrm rot="18900000">
              <a:off x="3463970" y="1969658"/>
              <a:ext cx="612775" cy="95885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8CD33D4-923D-D43C-71FC-678D8D48C3AE}"/>
              </a:ext>
            </a:extLst>
          </p:cNvPr>
          <p:cNvGrpSpPr/>
          <p:nvPr/>
        </p:nvGrpSpPr>
        <p:grpSpPr>
          <a:xfrm>
            <a:off x="5864796" y="4836287"/>
            <a:ext cx="669925" cy="1025525"/>
            <a:chOff x="4598059" y="5121512"/>
            <a:chExt cx="669925" cy="1025525"/>
          </a:xfrm>
        </p:grpSpPr>
        <p:sp>
          <p:nvSpPr>
            <p:cNvPr id="62" name="Rechteck 61">
              <a:extLst>
                <a:ext uri="{FF2B5EF4-FFF2-40B4-BE49-F238E27FC236}">
                  <a16:creationId xmlns:a16="http://schemas.microsoft.com/office/drawing/2014/main" id="{51FDCDA1-662A-A3BA-6829-4A4E4106D773}"/>
                </a:ext>
              </a:extLst>
            </p:cNvPr>
            <p:cNvSpPr/>
            <p:nvPr/>
          </p:nvSpPr>
          <p:spPr>
            <a:xfrm>
              <a:off x="4598059" y="5197712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3" name="Rechteck 62">
              <a:extLst>
                <a:ext uri="{FF2B5EF4-FFF2-40B4-BE49-F238E27FC236}">
                  <a16:creationId xmlns:a16="http://schemas.microsoft.com/office/drawing/2014/main" id="{4AD0AB62-A3AA-1082-70E9-F1A15C81AD76}"/>
                </a:ext>
              </a:extLst>
            </p:cNvPr>
            <p:cNvSpPr/>
            <p:nvPr/>
          </p:nvSpPr>
          <p:spPr>
            <a:xfrm>
              <a:off x="5210834" y="5197712"/>
              <a:ext cx="57150" cy="1539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09116326-1A40-E027-438B-789CDA11F3E3}"/>
                </a:ext>
              </a:extLst>
            </p:cNvPr>
            <p:cNvSpPr/>
            <p:nvPr/>
          </p:nvSpPr>
          <p:spPr>
            <a:xfrm>
              <a:off x="5210834" y="5915262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9A92C3F0-F260-3D51-AC34-4FE5776EFA32}"/>
                </a:ext>
              </a:extLst>
            </p:cNvPr>
            <p:cNvSpPr/>
            <p:nvPr/>
          </p:nvSpPr>
          <p:spPr>
            <a:xfrm>
              <a:off x="4598059" y="5915262"/>
              <a:ext cx="57150" cy="15557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3A24C94E-1CAB-69EA-706D-202E285CC0E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33021" y="4996100"/>
              <a:ext cx="0" cy="55721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43D36723-37A2-71DA-D1B2-9B5763D2BB9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4933021" y="5715237"/>
              <a:ext cx="0" cy="55562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Multiplikationszeichen 67">
              <a:extLst>
                <a:ext uri="{FF2B5EF4-FFF2-40B4-BE49-F238E27FC236}">
                  <a16:creationId xmlns:a16="http://schemas.microsoft.com/office/drawing/2014/main" id="{40F1C866-5155-A6DF-026E-849CB1267C27}"/>
                </a:ext>
              </a:extLst>
            </p:cNvPr>
            <p:cNvSpPr/>
            <p:nvPr/>
          </p:nvSpPr>
          <p:spPr>
            <a:xfrm>
              <a:off x="4858409" y="5902562"/>
              <a:ext cx="149225" cy="180975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 dirty="0"/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7572A932-574C-8012-06BD-78B19188F4B7}"/>
                </a:ext>
              </a:extLst>
            </p:cNvPr>
            <p:cNvSpPr/>
            <p:nvPr/>
          </p:nvSpPr>
          <p:spPr>
            <a:xfrm>
              <a:off x="4626634" y="5121512"/>
              <a:ext cx="612775" cy="1025525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DDA87CF-C1AF-AB16-8D9D-596C365DF593}"/>
              </a:ext>
            </a:extLst>
          </p:cNvPr>
          <p:cNvGrpSpPr/>
          <p:nvPr/>
        </p:nvGrpSpPr>
        <p:grpSpPr>
          <a:xfrm rot="1800000">
            <a:off x="5694722" y="1294718"/>
            <a:ext cx="960437" cy="669925"/>
            <a:chOff x="2065382" y="2348277"/>
            <a:chExt cx="960437" cy="669925"/>
          </a:xfrm>
        </p:grpSpPr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9FD34958-A8C7-997A-709A-A3CBF1423CA1}"/>
                </a:ext>
              </a:extLst>
            </p:cNvPr>
            <p:cNvSpPr/>
            <p:nvPr/>
          </p:nvSpPr>
          <p:spPr>
            <a:xfrm rot="16200000">
              <a:off x="2238420" y="2203021"/>
              <a:ext cx="614362" cy="960437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8" name="Rechteck 77">
              <a:extLst>
                <a:ext uri="{FF2B5EF4-FFF2-40B4-BE49-F238E27FC236}">
                  <a16:creationId xmlns:a16="http://schemas.microsoft.com/office/drawing/2014/main" id="{64E66E5D-EC53-1192-FE33-AFE995F023B5}"/>
                </a:ext>
              </a:extLst>
            </p:cNvPr>
            <p:cNvSpPr/>
            <p:nvPr/>
          </p:nvSpPr>
          <p:spPr>
            <a:xfrm rot="16200000">
              <a:off x="2181270" y="2917396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033B1FF6-363C-214A-31D6-F34003929726}"/>
                </a:ext>
              </a:extLst>
            </p:cNvPr>
            <p:cNvSpPr/>
            <p:nvPr/>
          </p:nvSpPr>
          <p:spPr>
            <a:xfrm rot="16200000">
              <a:off x="2181270" y="2304621"/>
              <a:ext cx="57150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5854845F-F8FD-1142-1439-5138808327CD}"/>
                </a:ext>
              </a:extLst>
            </p:cNvPr>
            <p:cNvSpPr/>
            <p:nvPr/>
          </p:nvSpPr>
          <p:spPr>
            <a:xfrm rot="16200000">
              <a:off x="2852782" y="2304621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AF879D94-3F6C-4DBB-2BAB-4BC62790D463}"/>
                </a:ext>
              </a:extLst>
            </p:cNvPr>
            <p:cNvSpPr/>
            <p:nvPr/>
          </p:nvSpPr>
          <p:spPr>
            <a:xfrm rot="16200000">
              <a:off x="2852782" y="2917396"/>
              <a:ext cx="55563" cy="144462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2E12DEBA-A1EA-B450-A00C-2E78AB8F477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209845" y="240463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1594E521-FDB4-9DAD-3BB6-FFA643F6FE89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879770" y="2404633"/>
              <a:ext cx="0" cy="55721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Multiplikationszeichen 83">
              <a:extLst>
                <a:ext uri="{FF2B5EF4-FFF2-40B4-BE49-F238E27FC236}">
                  <a16:creationId xmlns:a16="http://schemas.microsoft.com/office/drawing/2014/main" id="{C4939FBA-750C-5C64-9F9B-D65E94D3FAA8}"/>
                </a:ext>
              </a:extLst>
            </p:cNvPr>
            <p:cNvSpPr/>
            <p:nvPr/>
          </p:nvSpPr>
          <p:spPr>
            <a:xfrm rot="16200000">
              <a:off x="2805157" y="2598308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FAE093DD-CBFA-40EC-2B5F-E97D3E6E60D5}"/>
              </a:ext>
            </a:extLst>
          </p:cNvPr>
          <p:cNvCxnSpPr>
            <a:cxnSpLocks/>
          </p:cNvCxnSpPr>
          <p:nvPr/>
        </p:nvCxnSpPr>
        <p:spPr>
          <a:xfrm flipV="1">
            <a:off x="3645011" y="2886000"/>
            <a:ext cx="959284" cy="24870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7A35F5E-676C-A4AD-2A18-736945B343D2}"/>
              </a:ext>
            </a:extLst>
          </p:cNvPr>
          <p:cNvCxnSpPr>
            <a:cxnSpLocks/>
          </p:cNvCxnSpPr>
          <p:nvPr/>
        </p:nvCxnSpPr>
        <p:spPr>
          <a:xfrm>
            <a:off x="5578108" y="1651619"/>
            <a:ext cx="886232" cy="48990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959EF8E9-B008-8A55-67D6-4F6396C709EE}"/>
              </a:ext>
            </a:extLst>
          </p:cNvPr>
          <p:cNvCxnSpPr>
            <a:cxnSpLocks/>
          </p:cNvCxnSpPr>
          <p:nvPr/>
        </p:nvCxnSpPr>
        <p:spPr>
          <a:xfrm flipH="1" flipV="1">
            <a:off x="8052670" y="2277178"/>
            <a:ext cx="268120" cy="960088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8603175C-7B77-C1F1-18CC-7501E87D5B1B}"/>
              </a:ext>
            </a:extLst>
          </p:cNvPr>
          <p:cNvCxnSpPr>
            <a:cxnSpLocks/>
          </p:cNvCxnSpPr>
          <p:nvPr/>
        </p:nvCxnSpPr>
        <p:spPr>
          <a:xfrm flipV="1">
            <a:off x="3350937" y="4754904"/>
            <a:ext cx="479748" cy="81910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r Verbinder 89">
            <a:extLst>
              <a:ext uri="{FF2B5EF4-FFF2-40B4-BE49-F238E27FC236}">
                <a16:creationId xmlns:a16="http://schemas.microsoft.com/office/drawing/2014/main" id="{53EBDAD8-6B4B-9AD0-182F-41FA75F9F511}"/>
              </a:ext>
            </a:extLst>
          </p:cNvPr>
          <p:cNvCxnSpPr>
            <a:cxnSpLocks/>
          </p:cNvCxnSpPr>
          <p:nvPr/>
        </p:nvCxnSpPr>
        <p:spPr>
          <a:xfrm flipV="1">
            <a:off x="8609423" y="4426338"/>
            <a:ext cx="469489" cy="83099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9AA65063-3421-0613-E41C-5E5D8AEF579B}"/>
              </a:ext>
            </a:extLst>
          </p:cNvPr>
          <p:cNvCxnSpPr>
            <a:cxnSpLocks/>
            <a:endCxn id="70" idx="3"/>
          </p:cNvCxnSpPr>
          <p:nvPr/>
        </p:nvCxnSpPr>
        <p:spPr>
          <a:xfrm flipH="1" flipV="1">
            <a:off x="4113776" y="3003400"/>
            <a:ext cx="2061165" cy="200221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B445770F-44E3-DEEE-D4DF-C934264D286F}"/>
              </a:ext>
            </a:extLst>
          </p:cNvPr>
          <p:cNvCxnSpPr>
            <a:cxnSpLocks/>
            <a:endCxn id="73" idx="1"/>
          </p:cNvCxnSpPr>
          <p:nvPr/>
        </p:nvCxnSpPr>
        <p:spPr>
          <a:xfrm flipH="1">
            <a:off x="3585901" y="4989480"/>
            <a:ext cx="2589040" cy="16933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Gerader Verbinder 98">
            <a:extLst>
              <a:ext uri="{FF2B5EF4-FFF2-40B4-BE49-F238E27FC236}">
                <a16:creationId xmlns:a16="http://schemas.microsoft.com/office/drawing/2014/main" id="{99037D33-933D-9786-DE13-11D6F260EFE2}"/>
              </a:ext>
            </a:extLst>
          </p:cNvPr>
          <p:cNvCxnSpPr>
            <a:cxnSpLocks/>
          </p:cNvCxnSpPr>
          <p:nvPr/>
        </p:nvCxnSpPr>
        <p:spPr>
          <a:xfrm flipH="1">
            <a:off x="6207985" y="4965611"/>
            <a:ext cx="2547992" cy="1613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rader Verbinder 100">
            <a:extLst>
              <a:ext uri="{FF2B5EF4-FFF2-40B4-BE49-F238E27FC236}">
                <a16:creationId xmlns:a16="http://schemas.microsoft.com/office/drawing/2014/main" id="{14A3D68C-2307-234B-0F41-A8CA98855AE3}"/>
              </a:ext>
            </a:extLst>
          </p:cNvPr>
          <p:cNvCxnSpPr>
            <a:cxnSpLocks/>
            <a:endCxn id="77" idx="1"/>
          </p:cNvCxnSpPr>
          <p:nvPr/>
        </p:nvCxnSpPr>
        <p:spPr>
          <a:xfrm flipH="1" flipV="1">
            <a:off x="6021351" y="1895707"/>
            <a:ext cx="153590" cy="309377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Gerader Verbinder 103">
            <a:extLst>
              <a:ext uri="{FF2B5EF4-FFF2-40B4-BE49-F238E27FC236}">
                <a16:creationId xmlns:a16="http://schemas.microsoft.com/office/drawing/2014/main" id="{180C4769-66A2-57C2-7E95-C5EEC7C7784C}"/>
              </a:ext>
            </a:extLst>
          </p:cNvPr>
          <p:cNvCxnSpPr>
            <a:cxnSpLocks/>
            <a:endCxn id="75" idx="1"/>
          </p:cNvCxnSpPr>
          <p:nvPr/>
        </p:nvCxnSpPr>
        <p:spPr>
          <a:xfrm flipV="1">
            <a:off x="6199132" y="2753184"/>
            <a:ext cx="1988950" cy="22124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08CAC7F-7FE4-1683-1676-0232148E1695}"/>
              </a:ext>
            </a:extLst>
          </p:cNvPr>
          <p:cNvCxnSpPr>
            <a:cxnSpLocks/>
          </p:cNvCxnSpPr>
          <p:nvPr/>
        </p:nvCxnSpPr>
        <p:spPr>
          <a:xfrm flipH="1" flipV="1">
            <a:off x="4428533" y="2321079"/>
            <a:ext cx="165438" cy="578843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52F2363-615E-0105-D538-4DC2002E7382}"/>
              </a:ext>
            </a:extLst>
          </p:cNvPr>
          <p:cNvCxnSpPr>
            <a:cxnSpLocks/>
          </p:cNvCxnSpPr>
          <p:nvPr/>
        </p:nvCxnSpPr>
        <p:spPr>
          <a:xfrm flipH="1" flipV="1">
            <a:off x="3293075" y="4444456"/>
            <a:ext cx="556730" cy="31938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7B34749-8216-03B0-E92E-8E4F1D25DDB0}"/>
              </a:ext>
            </a:extLst>
          </p:cNvPr>
          <p:cNvCxnSpPr>
            <a:cxnSpLocks/>
          </p:cNvCxnSpPr>
          <p:nvPr/>
        </p:nvCxnSpPr>
        <p:spPr>
          <a:xfrm flipV="1">
            <a:off x="6422139" y="1586171"/>
            <a:ext cx="331600" cy="56430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79DCF6E-1EB2-C372-1AEA-CE60B5666EE0}"/>
              </a:ext>
            </a:extLst>
          </p:cNvPr>
          <p:cNvCxnSpPr>
            <a:cxnSpLocks/>
          </p:cNvCxnSpPr>
          <p:nvPr/>
        </p:nvCxnSpPr>
        <p:spPr>
          <a:xfrm flipH="1">
            <a:off x="8308176" y="3039391"/>
            <a:ext cx="602965" cy="16667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1306484-5A5F-73E3-F302-4CA365C02363}"/>
              </a:ext>
            </a:extLst>
          </p:cNvPr>
          <p:cNvCxnSpPr>
            <a:cxnSpLocks/>
          </p:cNvCxnSpPr>
          <p:nvPr/>
        </p:nvCxnSpPr>
        <p:spPr>
          <a:xfrm flipH="1" flipV="1">
            <a:off x="8579823" y="5257332"/>
            <a:ext cx="573999" cy="31598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feld 111">
            <a:extLst>
              <a:ext uri="{FF2B5EF4-FFF2-40B4-BE49-F238E27FC236}">
                <a16:creationId xmlns:a16="http://schemas.microsoft.com/office/drawing/2014/main" id="{6D27AB8C-CF81-3DE4-EB6A-B38F7E43A67A}"/>
              </a:ext>
            </a:extLst>
          </p:cNvPr>
          <p:cNvSpPr txBox="1"/>
          <p:nvPr/>
        </p:nvSpPr>
        <p:spPr>
          <a:xfrm>
            <a:off x="4628158" y="1276903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edge_left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521B45CB-8C98-0D11-5285-E5D5F2839104}"/>
              </a:ext>
            </a:extLst>
          </p:cNvPr>
          <p:cNvSpPr txBox="1"/>
          <p:nvPr/>
        </p:nvSpPr>
        <p:spPr>
          <a:xfrm>
            <a:off x="6088559" y="2154733"/>
            <a:ext cx="11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edge_mid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3D36B1D5-1B52-BCD5-18A5-34BF58DF4307}"/>
              </a:ext>
            </a:extLst>
          </p:cNvPr>
          <p:cNvSpPr txBox="1"/>
          <p:nvPr/>
        </p:nvSpPr>
        <p:spPr>
          <a:xfrm>
            <a:off x="6662366" y="1230222"/>
            <a:ext cx="1198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edge_right</a:t>
            </a:r>
          </a:p>
        </p:txBody>
      </p:sp>
      <p:sp>
        <p:nvSpPr>
          <p:cNvPr id="116" name="Multiplikationszeichen 115">
            <a:extLst>
              <a:ext uri="{FF2B5EF4-FFF2-40B4-BE49-F238E27FC236}">
                <a16:creationId xmlns:a16="http://schemas.microsoft.com/office/drawing/2014/main" id="{961A4684-77F7-66E9-4A39-7E4589885885}"/>
              </a:ext>
            </a:extLst>
          </p:cNvPr>
          <p:cNvSpPr/>
          <p:nvPr/>
        </p:nvSpPr>
        <p:spPr>
          <a:xfrm>
            <a:off x="5493615" y="1552907"/>
            <a:ext cx="228670" cy="25112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Multiplikationszeichen 116">
            <a:extLst>
              <a:ext uri="{FF2B5EF4-FFF2-40B4-BE49-F238E27FC236}">
                <a16:creationId xmlns:a16="http://schemas.microsoft.com/office/drawing/2014/main" id="{6B966254-0FE1-3004-73E2-BD0DB7524272}"/>
              </a:ext>
            </a:extLst>
          </p:cNvPr>
          <p:cNvSpPr/>
          <p:nvPr/>
        </p:nvSpPr>
        <p:spPr>
          <a:xfrm>
            <a:off x="6331024" y="2009341"/>
            <a:ext cx="228670" cy="25112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Multiplikationszeichen 117">
            <a:extLst>
              <a:ext uri="{FF2B5EF4-FFF2-40B4-BE49-F238E27FC236}">
                <a16:creationId xmlns:a16="http://schemas.microsoft.com/office/drawing/2014/main" id="{CAFDF16D-567F-22C7-F957-10CCE02C9BFD}"/>
              </a:ext>
            </a:extLst>
          </p:cNvPr>
          <p:cNvSpPr/>
          <p:nvPr/>
        </p:nvSpPr>
        <p:spPr>
          <a:xfrm>
            <a:off x="6644705" y="1501446"/>
            <a:ext cx="228670" cy="251126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B78FBE1-7588-6318-4E3B-9E17AD577DEB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Visible View: </a:t>
            </a:r>
            <a:r>
              <a:rPr lang="de-DE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Side_LShape</a:t>
            </a:r>
            <a:endParaRPr lang="de-DE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7737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6. Field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view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65057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39</a:t>
            </a:fld>
            <a:endParaRPr lang="en-US" noProof="1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6316839-EF1F-45E0-AF84-6E6BD59BDD3A}"/>
              </a:ext>
            </a:extLst>
          </p:cNvPr>
          <p:cNvCxnSpPr/>
          <p:nvPr/>
        </p:nvCxnSpPr>
        <p:spPr>
          <a:xfrm>
            <a:off x="1008126" y="4199380"/>
            <a:ext cx="402492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705FAA44-C3DE-4019-8696-9174EFDC88BD}"/>
              </a:ext>
            </a:extLst>
          </p:cNvPr>
          <p:cNvCxnSpPr>
            <a:cxnSpLocks/>
          </p:cNvCxnSpPr>
          <p:nvPr/>
        </p:nvCxnSpPr>
        <p:spPr>
          <a:xfrm flipV="1">
            <a:off x="2876547" y="1808925"/>
            <a:ext cx="0" cy="35716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ilkreis 45">
            <a:extLst>
              <a:ext uri="{FF2B5EF4-FFF2-40B4-BE49-F238E27FC236}">
                <a16:creationId xmlns:a16="http://schemas.microsoft.com/office/drawing/2014/main" id="{12DC3803-953E-4319-93AA-46337BCB1B04}"/>
              </a:ext>
            </a:extLst>
          </p:cNvPr>
          <p:cNvSpPr/>
          <p:nvPr/>
        </p:nvSpPr>
        <p:spPr>
          <a:xfrm rot="10800000">
            <a:off x="296418" y="611030"/>
            <a:ext cx="5158632" cy="4622619"/>
          </a:xfrm>
          <a:prstGeom prst="pie">
            <a:avLst>
              <a:gd name="adj1" fmla="val 21696"/>
              <a:gd name="adj2" fmla="val 10795383"/>
            </a:avLst>
          </a:prstGeom>
          <a:noFill/>
          <a:ln w="19050" cap="flat" cmpd="sng" algn="ctr">
            <a:solidFill>
              <a:srgbClr val="773D3E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2" name="Teilkreis 51">
            <a:extLst>
              <a:ext uri="{FF2B5EF4-FFF2-40B4-BE49-F238E27FC236}">
                <a16:creationId xmlns:a16="http://schemas.microsoft.com/office/drawing/2014/main" id="{89D4C7F2-30C3-466F-A9E4-CC038E1560F5}"/>
              </a:ext>
            </a:extLst>
          </p:cNvPr>
          <p:cNvSpPr/>
          <p:nvPr/>
        </p:nvSpPr>
        <p:spPr>
          <a:xfrm rot="10800000">
            <a:off x="1669031" y="1339728"/>
            <a:ext cx="3321918" cy="3202138"/>
          </a:xfrm>
          <a:prstGeom prst="pie">
            <a:avLst>
              <a:gd name="adj1" fmla="val 4486928"/>
              <a:gd name="adj2" fmla="val 11714653"/>
            </a:avLst>
          </a:prstGeom>
          <a:noFill/>
          <a:ln w="19050" cap="flat" cmpd="sng" algn="ctr">
            <a:solidFill>
              <a:srgbClr val="92D05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3" name="Teilkreis 52">
            <a:extLst>
              <a:ext uri="{FF2B5EF4-FFF2-40B4-BE49-F238E27FC236}">
                <a16:creationId xmlns:a16="http://schemas.microsoft.com/office/drawing/2014/main" id="{C23323E4-22BC-457A-8003-749F943C5AC0}"/>
              </a:ext>
            </a:extLst>
          </p:cNvPr>
          <p:cNvSpPr/>
          <p:nvPr/>
        </p:nvSpPr>
        <p:spPr>
          <a:xfrm rot="10800000">
            <a:off x="757277" y="1317860"/>
            <a:ext cx="3321918" cy="3202138"/>
          </a:xfrm>
          <a:prstGeom prst="pie">
            <a:avLst>
              <a:gd name="adj1" fmla="val 20678391"/>
              <a:gd name="adj2" fmla="val 6280404"/>
            </a:avLst>
          </a:prstGeom>
          <a:noFill/>
          <a:ln w="19050" cap="flat" cmpd="sng" algn="ctr">
            <a:solidFill>
              <a:srgbClr val="FFC00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54" name="Teilkreis 53">
            <a:extLst>
              <a:ext uri="{FF2B5EF4-FFF2-40B4-BE49-F238E27FC236}">
                <a16:creationId xmlns:a16="http://schemas.microsoft.com/office/drawing/2014/main" id="{E8CB7734-E8FC-44D8-BEA4-27F81D273B22}"/>
              </a:ext>
            </a:extLst>
          </p:cNvPr>
          <p:cNvSpPr/>
          <p:nvPr/>
        </p:nvSpPr>
        <p:spPr>
          <a:xfrm rot="10800000" flipV="1">
            <a:off x="757277" y="2896896"/>
            <a:ext cx="3321918" cy="3202138"/>
          </a:xfrm>
          <a:prstGeom prst="pie">
            <a:avLst>
              <a:gd name="adj1" fmla="val 20601899"/>
              <a:gd name="adj2" fmla="val 6280759"/>
            </a:avLst>
          </a:prstGeom>
          <a:noFill/>
          <a:ln w="19050" cap="flat" cmpd="sng" algn="ctr">
            <a:solidFill>
              <a:srgbClr val="00B0F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D70F182F-73CC-ACE9-9EE0-2F6D6DE595C3}"/>
              </a:ext>
            </a:extLst>
          </p:cNvPr>
          <p:cNvGrpSpPr/>
          <p:nvPr/>
        </p:nvGrpSpPr>
        <p:grpSpPr>
          <a:xfrm>
            <a:off x="2372056" y="2843488"/>
            <a:ext cx="1007353" cy="1733156"/>
            <a:chOff x="1995901" y="2343742"/>
            <a:chExt cx="1761288" cy="2345605"/>
          </a:xfrm>
        </p:grpSpPr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055FFA49-14DC-433B-801F-F2FB20601EDA}"/>
                </a:ext>
              </a:extLst>
            </p:cNvPr>
            <p:cNvSpPr/>
            <p:nvPr/>
          </p:nvSpPr>
          <p:spPr>
            <a:xfrm>
              <a:off x="2082306" y="2445842"/>
              <a:ext cx="1588478" cy="2138000"/>
            </a:xfrm>
            <a:prstGeom prst="rect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9B659FB1-8924-49A8-A935-D3A7067A165E}"/>
                </a:ext>
              </a:extLst>
            </p:cNvPr>
            <p:cNvSpPr/>
            <p:nvPr/>
          </p:nvSpPr>
          <p:spPr>
            <a:xfrm>
              <a:off x="2021393" y="2343742"/>
              <a:ext cx="123088" cy="211010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CF93848C-393B-4418-8DBC-2A9ECAA4903D}"/>
                </a:ext>
              </a:extLst>
            </p:cNvPr>
            <p:cNvSpPr/>
            <p:nvPr/>
          </p:nvSpPr>
          <p:spPr>
            <a:xfrm>
              <a:off x="3609240" y="2349742"/>
              <a:ext cx="123088" cy="211010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64A64E88-17F0-41FA-BE55-4869831B11CA}"/>
                </a:ext>
              </a:extLst>
            </p:cNvPr>
            <p:cNvSpPr/>
            <p:nvPr/>
          </p:nvSpPr>
          <p:spPr>
            <a:xfrm>
              <a:off x="2023366" y="4478337"/>
              <a:ext cx="123088" cy="211010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854BFA5B-C1AE-4748-9E62-9372847384EF}"/>
                </a:ext>
              </a:extLst>
            </p:cNvPr>
            <p:cNvSpPr/>
            <p:nvPr/>
          </p:nvSpPr>
          <p:spPr>
            <a:xfrm>
              <a:off x="3597200" y="4478337"/>
              <a:ext cx="123088" cy="211010"/>
            </a:xfrm>
            <a:prstGeom prst="rect">
              <a:avLst/>
            </a:prstGeom>
            <a:solidFill>
              <a:srgbClr val="7030A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3" name="Rechteck 42">
              <a:extLst>
                <a:ext uri="{FF2B5EF4-FFF2-40B4-BE49-F238E27FC236}">
                  <a16:creationId xmlns:a16="http://schemas.microsoft.com/office/drawing/2014/main" id="{7598DE2F-2180-4622-8D47-48688DD974C0}"/>
                </a:ext>
              </a:extLst>
            </p:cNvPr>
            <p:cNvSpPr/>
            <p:nvPr/>
          </p:nvSpPr>
          <p:spPr>
            <a:xfrm>
              <a:off x="2815001" y="2350304"/>
              <a:ext cx="123088" cy="211010"/>
            </a:xfrm>
            <a:prstGeom prst="rect">
              <a:avLst/>
            </a:prstGeom>
            <a:solidFill>
              <a:srgbClr val="773D3E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4" name="Multiplikationszeichen 43">
              <a:extLst>
                <a:ext uri="{FF2B5EF4-FFF2-40B4-BE49-F238E27FC236}">
                  <a16:creationId xmlns:a16="http://schemas.microsoft.com/office/drawing/2014/main" id="{FB06DDBF-45F0-4970-B092-FE387CA1087E}"/>
                </a:ext>
              </a:extLst>
            </p:cNvPr>
            <p:cNvSpPr/>
            <p:nvPr/>
          </p:nvSpPr>
          <p:spPr>
            <a:xfrm>
              <a:off x="2623276" y="3894962"/>
              <a:ext cx="506538" cy="567612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6C4E6BC5-1590-4303-AC61-DCD8D92A916B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V="1">
              <a:off x="1995901" y="2886725"/>
              <a:ext cx="171884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7DCC458-08F4-4960-B5B1-5CD1C55118D8}"/>
                </a:ext>
              </a:extLst>
            </p:cNvPr>
            <p:cNvSpPr/>
            <p:nvPr/>
          </p:nvSpPr>
          <p:spPr>
            <a:xfrm>
              <a:off x="3595701" y="4032595"/>
              <a:ext cx="161488" cy="29234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3F136C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A5A5FE6C-C856-4396-88E9-FD516B41A363}"/>
                </a:ext>
              </a:extLst>
            </p:cNvPr>
            <p:cNvSpPr/>
            <p:nvPr/>
          </p:nvSpPr>
          <p:spPr>
            <a:xfrm>
              <a:off x="2001433" y="4032595"/>
              <a:ext cx="161488" cy="29234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3F136C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94295A08-9D5B-4956-9407-0B9875BE582D}"/>
                </a:ext>
              </a:extLst>
            </p:cNvPr>
            <p:cNvSpPr/>
            <p:nvPr/>
          </p:nvSpPr>
          <p:spPr>
            <a:xfrm>
              <a:off x="3595510" y="2740552"/>
              <a:ext cx="161488" cy="29234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3F136C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A9C3E386-61A2-4A07-BBD3-CA22726D0D6E}"/>
                </a:ext>
              </a:extLst>
            </p:cNvPr>
            <p:cNvSpPr/>
            <p:nvPr/>
          </p:nvSpPr>
          <p:spPr>
            <a:xfrm>
              <a:off x="1995901" y="2740552"/>
              <a:ext cx="161488" cy="29234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rgbClr val="3F136C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6" name="Teilkreis 5">
            <a:extLst>
              <a:ext uri="{FF2B5EF4-FFF2-40B4-BE49-F238E27FC236}">
                <a16:creationId xmlns:a16="http://schemas.microsoft.com/office/drawing/2014/main" id="{4D9AB36E-F020-FFFC-D81F-3B2132139B4A}"/>
              </a:ext>
            </a:extLst>
          </p:cNvPr>
          <p:cNvSpPr/>
          <p:nvPr/>
        </p:nvSpPr>
        <p:spPr>
          <a:xfrm rot="15600000">
            <a:off x="1669030" y="2894265"/>
            <a:ext cx="3321918" cy="3202138"/>
          </a:xfrm>
          <a:prstGeom prst="pie">
            <a:avLst>
              <a:gd name="adj1" fmla="val 5111696"/>
              <a:gd name="adj2" fmla="val 12338044"/>
            </a:avLst>
          </a:prstGeom>
          <a:noFill/>
          <a:ln w="19050" cap="flat" cmpd="sng" algn="ctr">
            <a:solidFill>
              <a:srgbClr val="7030A0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C376EECA-F174-68FC-8F0D-5E965F24133D}"/>
              </a:ext>
            </a:extLst>
          </p:cNvPr>
          <p:cNvGraphicFramePr>
            <a:graphicFrameLocks noGrp="1"/>
          </p:cNvGraphicFramePr>
          <p:nvPr/>
        </p:nvGraphicFramePr>
        <p:xfrm>
          <a:off x="6207495" y="2316480"/>
          <a:ext cx="499124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4529">
                  <a:extLst>
                    <a:ext uri="{9D8B030D-6E8A-4147-A177-3AD203B41FA5}">
                      <a16:colId xmlns:a16="http://schemas.microsoft.com/office/drawing/2014/main" val="457866970"/>
                    </a:ext>
                  </a:extLst>
                </a:gridCol>
                <a:gridCol w="811763">
                  <a:extLst>
                    <a:ext uri="{9D8B030D-6E8A-4147-A177-3AD203B41FA5}">
                      <a16:colId xmlns:a16="http://schemas.microsoft.com/office/drawing/2014/main" val="4156478206"/>
                    </a:ext>
                  </a:extLst>
                </a:gridCol>
                <a:gridCol w="1914950">
                  <a:extLst>
                    <a:ext uri="{9D8B030D-6E8A-4147-A177-3AD203B41FA5}">
                      <a16:colId xmlns:a16="http://schemas.microsoft.com/office/drawing/2014/main" val="33789893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Sensor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err="1">
                          <a:solidFill>
                            <a:schemeClr val="tx1"/>
                          </a:solidFill>
                        </a:rPr>
                        <a:t>FoV</a:t>
                      </a:r>
                      <a:endParaRPr lang="de-DE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err="1">
                          <a:solidFill>
                            <a:schemeClr val="tx1"/>
                          </a:solidFill>
                        </a:rPr>
                        <a:t>Mounting</a:t>
                      </a:r>
                      <a:r>
                        <a:rPr lang="de-DE" b="0" dirty="0">
                          <a:solidFill>
                            <a:schemeClr val="tx1"/>
                          </a:solidFill>
                        </a:rPr>
                        <a:t> angle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213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773D3E"/>
                          </a:solidFill>
                          <a:effectLst/>
                          <a:uLnTx/>
                          <a:uFillTx/>
                        </a:rPr>
                        <a:t>Radar Front Center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773D3E"/>
                          </a:solidFill>
                          <a:effectLst/>
                          <a:uLnTx/>
                          <a:uFillTx/>
                        </a:rPr>
                        <a:t>+- 90°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692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kern="0" dirty="0">
                          <a:solidFill>
                            <a:srgbClr val="FFC000"/>
                          </a:solidFill>
                        </a:rPr>
                        <a:t>Radar Front Left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ern="0" dirty="0">
                          <a:solidFill>
                            <a:srgbClr val="FFC000"/>
                          </a:solidFill>
                        </a:rPr>
                        <a:t>+- 60°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45°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71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</a:rPr>
                        <a:t>Radar Front Right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92D050"/>
                          </a:solidFill>
                          <a:effectLst/>
                          <a:uLnTx/>
                          <a:uFillTx/>
                        </a:rPr>
                        <a:t>+- 60°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-45°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18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kern="0" dirty="0">
                          <a:solidFill>
                            <a:srgbClr val="00B0F0"/>
                          </a:solidFill>
                        </a:rPr>
                        <a:t>Radar Rear Left	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ern="0" dirty="0">
                          <a:solidFill>
                            <a:srgbClr val="00B0F0"/>
                          </a:solidFill>
                        </a:rPr>
                        <a:t>+- 60°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135°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392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</a:rPr>
                        <a:t>Radar Rear Right</a:t>
                      </a:r>
                      <a:endParaRPr lang="de-D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</a:rPr>
                        <a:t>+- 60°</a:t>
                      </a:r>
                      <a:endParaRPr lang="de-DE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-135°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412083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C83FAF40-1431-448B-33A7-9279F4521B43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Field </a:t>
            </a:r>
            <a:r>
              <a:rPr lang="de-DE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2800" u="sng" dirty="0">
                <a:latin typeface="Arial" panose="020B0604020202020204" pitchFamily="34" charset="0"/>
                <a:cs typeface="Arial" panose="020B0604020202020204" pitchFamily="34" charset="0"/>
              </a:rPr>
              <a:t> View</a:t>
            </a:r>
          </a:p>
        </p:txBody>
      </p:sp>
    </p:spTree>
    <p:extLst>
      <p:ext uri="{BB962C8B-B14F-4D97-AF65-F5344CB8AC3E}">
        <p14:creationId xmlns:p14="http://schemas.microsoft.com/office/powerpoint/2010/main" val="3279767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7. </a:t>
            </a:r>
            <a:r>
              <a:rPr lang="de-DE" dirty="0" err="1"/>
              <a:t>Roadobj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68223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Tabelle 64">
            <a:extLst>
              <a:ext uri="{FF2B5EF4-FFF2-40B4-BE49-F238E27FC236}">
                <a16:creationId xmlns:a16="http://schemas.microsoft.com/office/drawing/2014/main" id="{348D96A4-5B7F-F33A-6F5D-7C26DD80D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7518530"/>
              </p:ext>
            </p:extLst>
          </p:nvPr>
        </p:nvGraphicFramePr>
        <p:xfrm>
          <a:off x="146046" y="334152"/>
          <a:ext cx="11899908" cy="6189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966">
                  <a:extLst>
                    <a:ext uri="{9D8B030D-6E8A-4147-A177-3AD203B41FA5}">
                      <a16:colId xmlns:a16="http://schemas.microsoft.com/office/drawing/2014/main" val="3419930042"/>
                    </a:ext>
                  </a:extLst>
                </a:gridCol>
                <a:gridCol w="7301552">
                  <a:extLst>
                    <a:ext uri="{9D8B030D-6E8A-4147-A177-3AD203B41FA5}">
                      <a16:colId xmlns:a16="http://schemas.microsoft.com/office/drawing/2014/main" val="1145281504"/>
                    </a:ext>
                  </a:extLst>
                </a:gridCol>
                <a:gridCol w="2815390">
                  <a:extLst>
                    <a:ext uri="{9D8B030D-6E8A-4147-A177-3AD203B41FA5}">
                      <a16:colId xmlns:a16="http://schemas.microsoft.com/office/drawing/2014/main" val="1855173728"/>
                    </a:ext>
                  </a:extLst>
                </a:gridCol>
              </a:tblGrid>
              <a:tr h="11110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437339"/>
                  </a:ext>
                </a:extLst>
              </a:tr>
              <a:tr h="194310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8EE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943739"/>
                  </a:ext>
                </a:extLst>
              </a:tr>
              <a:tr h="105918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B9CA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CEDA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DB9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589404"/>
                  </a:ext>
                </a:extLst>
              </a:tr>
              <a:tr h="2076376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7ED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D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7754752"/>
                  </a:ext>
                </a:extLst>
              </a:tr>
            </a:tbl>
          </a:graphicData>
        </a:graphic>
      </p:graphicFrame>
      <p:sp>
        <p:nvSpPr>
          <p:cNvPr id="76" name="Rechteck 75">
            <a:extLst>
              <a:ext uri="{FF2B5EF4-FFF2-40B4-BE49-F238E27FC236}">
                <a16:creationId xmlns:a16="http://schemas.microsoft.com/office/drawing/2014/main" id="{6935D2CD-7D7A-41C7-B6A0-CB85E7FEF767}"/>
              </a:ext>
            </a:extLst>
          </p:cNvPr>
          <p:cNvSpPr/>
          <p:nvPr/>
        </p:nvSpPr>
        <p:spPr>
          <a:xfrm>
            <a:off x="1963035" y="4444836"/>
            <a:ext cx="7268278" cy="20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2DF85691-0ABD-40E7-85E7-058ED43C6EDD}"/>
              </a:ext>
            </a:extLst>
          </p:cNvPr>
          <p:cNvSpPr/>
          <p:nvPr/>
        </p:nvSpPr>
        <p:spPr>
          <a:xfrm>
            <a:off x="1969248" y="1429434"/>
            <a:ext cx="7266855" cy="1949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46F8D9FA-C6EC-4597-A295-0FCA765F69B4}"/>
              </a:ext>
            </a:extLst>
          </p:cNvPr>
          <p:cNvSpPr/>
          <p:nvPr/>
        </p:nvSpPr>
        <p:spPr>
          <a:xfrm>
            <a:off x="1964660" y="3376179"/>
            <a:ext cx="7271443" cy="1070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EB9BD5C8-90C1-4868-B075-E79114A90C09}"/>
              </a:ext>
            </a:extLst>
          </p:cNvPr>
          <p:cNvSpPr/>
          <p:nvPr/>
        </p:nvSpPr>
        <p:spPr>
          <a:xfrm>
            <a:off x="1961496" y="328201"/>
            <a:ext cx="7271443" cy="1102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77C12BD-6DC4-437E-BCD7-FBB1219C8AC8}"/>
              </a:ext>
            </a:extLst>
          </p:cNvPr>
          <p:cNvSpPr/>
          <p:nvPr/>
        </p:nvSpPr>
        <p:spPr>
          <a:xfrm>
            <a:off x="2152420" y="1600349"/>
            <a:ext cx="3160180" cy="16072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CM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24BD00C-7D16-4C45-A23B-1F3BE21484C6}"/>
              </a:ext>
            </a:extLst>
          </p:cNvPr>
          <p:cNvSpPr/>
          <p:nvPr/>
        </p:nvSpPr>
        <p:spPr>
          <a:xfrm>
            <a:off x="2157404" y="424531"/>
            <a:ext cx="6879630" cy="8340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RoadObj.can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82B0764-F7D1-4994-9BDF-2436F4BFC465}"/>
              </a:ext>
            </a:extLst>
          </p:cNvPr>
          <p:cNvSpPr/>
          <p:nvPr/>
        </p:nvSpPr>
        <p:spPr>
          <a:xfrm>
            <a:off x="152082" y="324141"/>
            <a:ext cx="1815744" cy="1102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Master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RoadObj.can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3DB7FF0-C852-45D2-81EE-FFC86773B6F5}"/>
              </a:ext>
            </a:extLst>
          </p:cNvPr>
          <p:cNvSpPr/>
          <p:nvPr/>
        </p:nvSpPr>
        <p:spPr>
          <a:xfrm>
            <a:off x="152077" y="1424681"/>
            <a:ext cx="1821780" cy="1956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Mapping Files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e.g. Map_CM.cin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BACB329F-ACCA-4A47-BDE2-B7B177C186AC}"/>
              </a:ext>
            </a:extLst>
          </p:cNvPr>
          <p:cNvSpPr/>
          <p:nvPr/>
        </p:nvSpPr>
        <p:spPr>
          <a:xfrm>
            <a:off x="4286421" y="3537332"/>
            <a:ext cx="2611819" cy="8202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calculate_radial_distance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calculate_radial_velocity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14E9C70-308E-4AC3-A0A3-D2A1BF38AA90}"/>
              </a:ext>
            </a:extLst>
          </p:cNvPr>
          <p:cNvSpPr/>
          <p:nvPr/>
        </p:nvSpPr>
        <p:spPr>
          <a:xfrm>
            <a:off x="152082" y="3378457"/>
            <a:ext cx="1820446" cy="10656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Calculation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RoadObj_calc.cin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A5A3E0A-4970-42E7-A4B4-E5FCBACEB3D8}"/>
              </a:ext>
            </a:extLst>
          </p:cNvPr>
          <p:cNvSpPr/>
          <p:nvPr/>
        </p:nvSpPr>
        <p:spPr>
          <a:xfrm>
            <a:off x="2147631" y="4627945"/>
            <a:ext cx="3164969" cy="17148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>
                <a:solidFill>
                  <a:schemeClr val="tx1"/>
                </a:solidFill>
              </a:rPr>
              <a:t>Radar Front Center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D0AA7AC-BA2B-4828-B95F-3BB80E7EDEB3}"/>
              </a:ext>
            </a:extLst>
          </p:cNvPr>
          <p:cNvSpPr/>
          <p:nvPr/>
        </p:nvSpPr>
        <p:spPr>
          <a:xfrm>
            <a:off x="5867272" y="4620720"/>
            <a:ext cx="3164970" cy="171487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dirty="0">
                <a:solidFill>
                  <a:schemeClr val="bg1">
                    <a:lumMod val="65000"/>
                  </a:schemeClr>
                </a:solidFill>
              </a:rPr>
              <a:t>Radar Front Left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7AEDDA59-8225-474B-A4B4-36A49E46180E}"/>
              </a:ext>
            </a:extLst>
          </p:cNvPr>
          <p:cNvSpPr/>
          <p:nvPr/>
        </p:nvSpPr>
        <p:spPr>
          <a:xfrm>
            <a:off x="152086" y="4442438"/>
            <a:ext cx="1817274" cy="20863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Injection Files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e.g. Inject_RFC.cin</a:t>
            </a:r>
          </a:p>
        </p:txBody>
      </p:sp>
      <p:cxnSp>
        <p:nvCxnSpPr>
          <p:cNvPr id="17" name="Verbinder: gewinkelt 16">
            <a:extLst>
              <a:ext uri="{FF2B5EF4-FFF2-40B4-BE49-F238E27FC236}">
                <a16:creationId xmlns:a16="http://schemas.microsoft.com/office/drawing/2014/main" id="{50826B48-DD4D-4ABA-A9D0-3A7557852779}"/>
              </a:ext>
            </a:extLst>
          </p:cNvPr>
          <p:cNvCxnSpPr>
            <a:cxnSpLocks/>
            <a:stCxn id="7" idx="2"/>
            <a:endCxn id="2" idx="0"/>
          </p:cNvCxnSpPr>
          <p:nvPr/>
        </p:nvCxnSpPr>
        <p:spPr>
          <a:xfrm rot="5400000">
            <a:off x="4493967" y="497096"/>
            <a:ext cx="341797" cy="1864709"/>
          </a:xfrm>
          <a:prstGeom prst="bentConnector3">
            <a:avLst>
              <a:gd name="adj1" fmla="val 5557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Verbinder: gewinkelt 26">
            <a:extLst>
              <a:ext uri="{FF2B5EF4-FFF2-40B4-BE49-F238E27FC236}">
                <a16:creationId xmlns:a16="http://schemas.microsoft.com/office/drawing/2014/main" id="{8704B49D-D3E0-4046-AA14-1CD8D1BC13F7}"/>
              </a:ext>
            </a:extLst>
          </p:cNvPr>
          <p:cNvCxnSpPr>
            <a:cxnSpLocks/>
            <a:stCxn id="145" idx="2"/>
            <a:endCxn id="13" idx="0"/>
          </p:cNvCxnSpPr>
          <p:nvPr/>
        </p:nvCxnSpPr>
        <p:spPr>
          <a:xfrm rot="5400000">
            <a:off x="6746736" y="3915385"/>
            <a:ext cx="1408356" cy="231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2B97FDCA-4FE6-44ED-A78E-933EDCD5D6CA}"/>
              </a:ext>
            </a:extLst>
          </p:cNvPr>
          <p:cNvCxnSpPr>
            <a:cxnSpLocks/>
            <a:stCxn id="7" idx="2"/>
            <a:endCxn id="13" idx="3"/>
          </p:cNvCxnSpPr>
          <p:nvPr/>
        </p:nvCxnSpPr>
        <p:spPr>
          <a:xfrm rot="16200000" flipH="1">
            <a:off x="5204926" y="1650844"/>
            <a:ext cx="4219608" cy="3435023"/>
          </a:xfrm>
          <a:prstGeom prst="bentConnector4">
            <a:avLst>
              <a:gd name="adj1" fmla="val 4489"/>
              <a:gd name="adj2" fmla="val 103556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Verbinder: gewinkelt 20">
            <a:extLst>
              <a:ext uri="{FF2B5EF4-FFF2-40B4-BE49-F238E27FC236}">
                <a16:creationId xmlns:a16="http://schemas.microsoft.com/office/drawing/2014/main" id="{0B919BA0-7EA0-498A-811F-A45F4D3BED37}"/>
              </a:ext>
            </a:extLst>
          </p:cNvPr>
          <p:cNvCxnSpPr>
            <a:cxnSpLocks/>
            <a:stCxn id="7" idx="2"/>
            <a:endCxn id="12" idx="1"/>
          </p:cNvCxnSpPr>
          <p:nvPr/>
        </p:nvCxnSpPr>
        <p:spPr>
          <a:xfrm rot="5400000">
            <a:off x="1759009" y="1647174"/>
            <a:ext cx="4226833" cy="3449588"/>
          </a:xfrm>
          <a:prstGeom prst="bentConnector4">
            <a:avLst>
              <a:gd name="adj1" fmla="val 4552"/>
              <a:gd name="adj2" fmla="val 1040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3B186501-FDEF-4CFE-A6BA-CD4D2F574D3C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rot="5400000">
            <a:off x="3021150" y="3916585"/>
            <a:ext cx="1420326" cy="23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2EA46392-CD3B-453D-8256-91DF5EAA9498}"/>
              </a:ext>
            </a:extLst>
          </p:cNvPr>
          <p:cNvSpPr/>
          <p:nvPr/>
        </p:nvSpPr>
        <p:spPr>
          <a:xfrm>
            <a:off x="11185218" y="321551"/>
            <a:ext cx="866764" cy="1105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1 file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4B30FFA-5D9F-43A4-B292-3F22AB47D17D}"/>
              </a:ext>
            </a:extLst>
          </p:cNvPr>
          <p:cNvSpPr/>
          <p:nvPr/>
        </p:nvSpPr>
        <p:spPr>
          <a:xfrm>
            <a:off x="11188382" y="1427038"/>
            <a:ext cx="863603" cy="195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1 file per Simulator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EDB91276-16D3-407D-925E-A4434DC3B45C}"/>
              </a:ext>
            </a:extLst>
          </p:cNvPr>
          <p:cNvSpPr/>
          <p:nvPr/>
        </p:nvSpPr>
        <p:spPr>
          <a:xfrm>
            <a:off x="11196090" y="3374038"/>
            <a:ext cx="862910" cy="1070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1 file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1B564D6-76AA-49BF-9BA9-E0934ED5F601}"/>
              </a:ext>
            </a:extLst>
          </p:cNvPr>
          <p:cNvSpPr/>
          <p:nvPr/>
        </p:nvSpPr>
        <p:spPr>
          <a:xfrm>
            <a:off x="11190611" y="4444133"/>
            <a:ext cx="863603" cy="20797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1 file </a:t>
            </a:r>
            <a:br>
              <a:rPr lang="en-US" sz="1100" b="1" dirty="0">
                <a:solidFill>
                  <a:schemeClr val="tx1"/>
                </a:solidFill>
              </a:rPr>
            </a:br>
            <a:r>
              <a:rPr lang="en-US" sz="1100" b="1" dirty="0">
                <a:solidFill>
                  <a:schemeClr val="tx1"/>
                </a:solidFill>
              </a:rPr>
              <a:t>per Sensor</a:t>
            </a:r>
          </a:p>
        </p:txBody>
      </p:sp>
      <p:cxnSp>
        <p:nvCxnSpPr>
          <p:cNvPr id="80" name="Verbinder: gewinkelt 79">
            <a:extLst>
              <a:ext uri="{FF2B5EF4-FFF2-40B4-BE49-F238E27FC236}">
                <a16:creationId xmlns:a16="http://schemas.microsoft.com/office/drawing/2014/main" id="{642C7ADE-8452-4B20-AD3F-2CF084F53C78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6636118" y="219653"/>
            <a:ext cx="341796" cy="2419594"/>
          </a:xfrm>
          <a:prstGeom prst="bentConnector3">
            <a:avLst>
              <a:gd name="adj1" fmla="val 55573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hteck 80">
            <a:extLst>
              <a:ext uri="{FF2B5EF4-FFF2-40B4-BE49-F238E27FC236}">
                <a16:creationId xmlns:a16="http://schemas.microsoft.com/office/drawing/2014/main" id="{64978785-44AC-4516-85E1-0077FA0B535F}"/>
              </a:ext>
            </a:extLst>
          </p:cNvPr>
          <p:cNvSpPr/>
          <p:nvPr/>
        </p:nvSpPr>
        <p:spPr>
          <a:xfrm>
            <a:off x="9226611" y="324141"/>
            <a:ext cx="1958607" cy="1105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Calls mapping and injection files (dependent on the chosen sensor and simulator) 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F52BC629-D4EC-4D94-85C3-14E270864AE2}"/>
              </a:ext>
            </a:extLst>
          </p:cNvPr>
          <p:cNvSpPr/>
          <p:nvPr/>
        </p:nvSpPr>
        <p:spPr>
          <a:xfrm>
            <a:off x="9229235" y="1424681"/>
            <a:ext cx="1963001" cy="19514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Reading of the object data for each sensor from the simulator and calculating further required data, depending on the chosen sensor model. Setting of Validity flags.</a:t>
            </a:r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72F0B99E-019B-4CF4-8610-E95A723CC6DF}"/>
              </a:ext>
            </a:extLst>
          </p:cNvPr>
          <p:cNvSpPr/>
          <p:nvPr/>
        </p:nvSpPr>
        <p:spPr>
          <a:xfrm>
            <a:off x="9228150" y="4441273"/>
            <a:ext cx="1962459" cy="20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Injecting data of the objects and locations depending on the chosen injection method</a:t>
            </a:r>
            <a:endParaRPr lang="en-US" sz="1100" u="sng" dirty="0">
              <a:solidFill>
                <a:schemeClr val="tx1"/>
              </a:solidFill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C4BEE164-74BF-4ACA-9AA8-0E49558EE0C8}"/>
              </a:ext>
            </a:extLst>
          </p:cNvPr>
          <p:cNvSpPr/>
          <p:nvPr/>
        </p:nvSpPr>
        <p:spPr>
          <a:xfrm>
            <a:off x="9226613" y="3373589"/>
            <a:ext cx="1969471" cy="10705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Generic functions globally used for calculating necessary object and location data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BD8364D9-F875-4EE3-BA33-928AABBE7B85}"/>
              </a:ext>
            </a:extLst>
          </p:cNvPr>
          <p:cNvSpPr/>
          <p:nvPr/>
        </p:nvSpPr>
        <p:spPr>
          <a:xfrm>
            <a:off x="3156327" y="2815807"/>
            <a:ext cx="1026027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Starmodel</a:t>
            </a:r>
          </a:p>
        </p:txBody>
      </p:sp>
      <p:sp>
        <p:nvSpPr>
          <p:cNvPr id="108" name="Rechteck 107">
            <a:extLst>
              <a:ext uri="{FF2B5EF4-FFF2-40B4-BE49-F238E27FC236}">
                <a16:creationId xmlns:a16="http://schemas.microsoft.com/office/drawing/2014/main" id="{78AA5D4E-D726-4B8C-BA48-BC0DBB5324B6}"/>
              </a:ext>
            </a:extLst>
          </p:cNvPr>
          <p:cNvSpPr/>
          <p:nvPr/>
        </p:nvSpPr>
        <p:spPr>
          <a:xfrm>
            <a:off x="2255978" y="1908512"/>
            <a:ext cx="516474" cy="255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RFC</a:t>
            </a: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87D9C476-9DF7-4EAA-917A-5123215FD6D7}"/>
              </a:ext>
            </a:extLst>
          </p:cNvPr>
          <p:cNvSpPr/>
          <p:nvPr/>
        </p:nvSpPr>
        <p:spPr>
          <a:xfrm>
            <a:off x="2957351" y="1908921"/>
            <a:ext cx="516474" cy="2555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VFC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2E58BE35-2962-499B-BB1A-42DEAE58348C}"/>
              </a:ext>
            </a:extLst>
          </p:cNvPr>
          <p:cNvSpPr/>
          <p:nvPr/>
        </p:nvSpPr>
        <p:spPr>
          <a:xfrm>
            <a:off x="3661383" y="1903645"/>
            <a:ext cx="516474" cy="2497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1" name="Rechteck 130">
            <a:extLst>
              <a:ext uri="{FF2B5EF4-FFF2-40B4-BE49-F238E27FC236}">
                <a16:creationId xmlns:a16="http://schemas.microsoft.com/office/drawing/2014/main" id="{8C6796CF-6504-4236-BEA8-8BC6F92C51C5}"/>
              </a:ext>
            </a:extLst>
          </p:cNvPr>
          <p:cNvSpPr/>
          <p:nvPr/>
        </p:nvSpPr>
        <p:spPr>
          <a:xfrm>
            <a:off x="2208532" y="5457981"/>
            <a:ext cx="1420299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Bus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5E22A54F-D116-4F71-9635-2B83DBF15291}"/>
              </a:ext>
            </a:extLst>
          </p:cNvPr>
          <p:cNvSpPr/>
          <p:nvPr/>
        </p:nvSpPr>
        <p:spPr>
          <a:xfrm>
            <a:off x="3822268" y="5469138"/>
            <a:ext cx="1420299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XCP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2F8099D9-FDFF-4143-A1B9-54179A48ED89}"/>
              </a:ext>
            </a:extLst>
          </p:cNvPr>
          <p:cNvSpPr/>
          <p:nvPr/>
        </p:nvSpPr>
        <p:spPr>
          <a:xfrm>
            <a:off x="3821421" y="4972177"/>
            <a:ext cx="1420299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Location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BC48A259-CA8F-48C0-B59F-E460194013C2}"/>
              </a:ext>
            </a:extLst>
          </p:cNvPr>
          <p:cNvSpPr/>
          <p:nvPr/>
        </p:nvSpPr>
        <p:spPr>
          <a:xfrm>
            <a:off x="2208532" y="4967722"/>
            <a:ext cx="1420299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Object</a:t>
            </a:r>
          </a:p>
        </p:txBody>
      </p: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6A0A4437-2574-4C4A-AC06-4CE8D3669B1F}"/>
              </a:ext>
            </a:extLst>
          </p:cNvPr>
          <p:cNvCxnSpPr>
            <a:cxnSpLocks/>
            <a:stCxn id="94" idx="2"/>
            <a:endCxn id="132" idx="0"/>
          </p:cNvCxnSpPr>
          <p:nvPr/>
        </p:nvCxnSpPr>
        <p:spPr>
          <a:xfrm rot="16200000" flipH="1">
            <a:off x="3608948" y="4545667"/>
            <a:ext cx="233205" cy="161373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Verbinder: gewinkelt 97">
            <a:extLst>
              <a:ext uri="{FF2B5EF4-FFF2-40B4-BE49-F238E27FC236}">
                <a16:creationId xmlns:a16="http://schemas.microsoft.com/office/drawing/2014/main" id="{DDAB13FB-59EF-43ED-9BF2-7FAED69B7C99}"/>
              </a:ext>
            </a:extLst>
          </p:cNvPr>
          <p:cNvCxnSpPr>
            <a:cxnSpLocks/>
            <a:stCxn id="93" idx="2"/>
            <a:endCxn id="131" idx="0"/>
          </p:cNvCxnSpPr>
          <p:nvPr/>
        </p:nvCxnSpPr>
        <p:spPr>
          <a:xfrm rot="5400000">
            <a:off x="3616331" y="4542740"/>
            <a:ext cx="217593" cy="161288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hteck 127">
            <a:extLst>
              <a:ext uri="{FF2B5EF4-FFF2-40B4-BE49-F238E27FC236}">
                <a16:creationId xmlns:a16="http://schemas.microsoft.com/office/drawing/2014/main" id="{CAFCF091-5AC9-4BE1-9230-B834400A3AC3}"/>
              </a:ext>
            </a:extLst>
          </p:cNvPr>
          <p:cNvSpPr/>
          <p:nvPr/>
        </p:nvSpPr>
        <p:spPr>
          <a:xfrm>
            <a:off x="5937992" y="5457981"/>
            <a:ext cx="1420299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Bus</a:t>
            </a:r>
          </a:p>
        </p:txBody>
      </p:sp>
      <p:sp>
        <p:nvSpPr>
          <p:cNvPr id="129" name="Rechteck 128">
            <a:extLst>
              <a:ext uri="{FF2B5EF4-FFF2-40B4-BE49-F238E27FC236}">
                <a16:creationId xmlns:a16="http://schemas.microsoft.com/office/drawing/2014/main" id="{A811845A-6D8A-4A9E-925A-FD0516AE18BD}"/>
              </a:ext>
            </a:extLst>
          </p:cNvPr>
          <p:cNvSpPr/>
          <p:nvPr/>
        </p:nvSpPr>
        <p:spPr>
          <a:xfrm>
            <a:off x="7551728" y="5469138"/>
            <a:ext cx="1420299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XCP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7D2BAD80-7408-4923-B4EA-5EF8D4AA216D}"/>
              </a:ext>
            </a:extLst>
          </p:cNvPr>
          <p:cNvSpPr/>
          <p:nvPr/>
        </p:nvSpPr>
        <p:spPr>
          <a:xfrm>
            <a:off x="7550881" y="4972177"/>
            <a:ext cx="1420299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Location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27F9E2F3-0DC6-4769-BCD0-216E9D85FC30}"/>
              </a:ext>
            </a:extLst>
          </p:cNvPr>
          <p:cNvSpPr/>
          <p:nvPr/>
        </p:nvSpPr>
        <p:spPr>
          <a:xfrm>
            <a:off x="5937992" y="4967722"/>
            <a:ext cx="1420299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Object</a:t>
            </a:r>
          </a:p>
        </p:txBody>
      </p:sp>
      <p:cxnSp>
        <p:nvCxnSpPr>
          <p:cNvPr id="135" name="Verbinder: gewinkelt 134">
            <a:extLst>
              <a:ext uri="{FF2B5EF4-FFF2-40B4-BE49-F238E27FC236}">
                <a16:creationId xmlns:a16="http://schemas.microsoft.com/office/drawing/2014/main" id="{8FD34077-A2A3-43E7-9CD0-1DDC993497A9}"/>
              </a:ext>
            </a:extLst>
          </p:cNvPr>
          <p:cNvCxnSpPr>
            <a:cxnSpLocks/>
            <a:stCxn id="134" idx="2"/>
            <a:endCxn id="129" idx="0"/>
          </p:cNvCxnSpPr>
          <p:nvPr/>
        </p:nvCxnSpPr>
        <p:spPr>
          <a:xfrm rot="16200000" flipH="1">
            <a:off x="7338408" y="4545667"/>
            <a:ext cx="233205" cy="161373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Verbinder: gewinkelt 135">
            <a:extLst>
              <a:ext uri="{FF2B5EF4-FFF2-40B4-BE49-F238E27FC236}">
                <a16:creationId xmlns:a16="http://schemas.microsoft.com/office/drawing/2014/main" id="{C84FECAF-99C4-42BA-B585-2DA8742BFADD}"/>
              </a:ext>
            </a:extLst>
          </p:cNvPr>
          <p:cNvCxnSpPr>
            <a:cxnSpLocks/>
            <a:stCxn id="133" idx="2"/>
            <a:endCxn id="128" idx="0"/>
          </p:cNvCxnSpPr>
          <p:nvPr/>
        </p:nvCxnSpPr>
        <p:spPr>
          <a:xfrm rot="5400000">
            <a:off x="7345791" y="4542740"/>
            <a:ext cx="217593" cy="161288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chteck 146">
            <a:extLst>
              <a:ext uri="{FF2B5EF4-FFF2-40B4-BE49-F238E27FC236}">
                <a16:creationId xmlns:a16="http://schemas.microsoft.com/office/drawing/2014/main" id="{7A210B24-17F2-43BB-B337-CE7C1BDFCBDA}"/>
              </a:ext>
            </a:extLst>
          </p:cNvPr>
          <p:cNvSpPr/>
          <p:nvPr/>
        </p:nvSpPr>
        <p:spPr>
          <a:xfrm>
            <a:off x="2255977" y="2359786"/>
            <a:ext cx="1921879" cy="2559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CAPL sim Arrays</a:t>
            </a:r>
          </a:p>
        </p:txBody>
      </p:sp>
      <p:cxnSp>
        <p:nvCxnSpPr>
          <p:cNvPr id="148" name="Verbinder: gewinkelt 147">
            <a:extLst>
              <a:ext uri="{FF2B5EF4-FFF2-40B4-BE49-F238E27FC236}">
                <a16:creationId xmlns:a16="http://schemas.microsoft.com/office/drawing/2014/main" id="{4E98591C-98D0-425A-854F-83A04EFDEDF2}"/>
              </a:ext>
            </a:extLst>
          </p:cNvPr>
          <p:cNvCxnSpPr>
            <a:cxnSpLocks/>
            <a:stCxn id="108" idx="2"/>
            <a:endCxn id="147" idx="0"/>
          </p:cNvCxnSpPr>
          <p:nvPr/>
        </p:nvCxnSpPr>
        <p:spPr>
          <a:xfrm rot="16200000" flipH="1">
            <a:off x="2767919" y="1910788"/>
            <a:ext cx="195294" cy="702702"/>
          </a:xfrm>
          <a:prstGeom prst="bentConnector3">
            <a:avLst>
              <a:gd name="adj1" fmla="val 487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Verbinder: gewinkelt 149">
            <a:extLst>
              <a:ext uri="{FF2B5EF4-FFF2-40B4-BE49-F238E27FC236}">
                <a16:creationId xmlns:a16="http://schemas.microsoft.com/office/drawing/2014/main" id="{96F5850E-2C1E-4C7A-A0BC-B04D8F4B2CF0}"/>
              </a:ext>
            </a:extLst>
          </p:cNvPr>
          <p:cNvCxnSpPr>
            <a:cxnSpLocks/>
            <a:stCxn id="109" idx="2"/>
            <a:endCxn id="147" idx="0"/>
          </p:cNvCxnSpPr>
          <p:nvPr/>
        </p:nvCxnSpPr>
        <p:spPr>
          <a:xfrm rot="16200000" flipH="1">
            <a:off x="3118598" y="2261466"/>
            <a:ext cx="195309" cy="132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Verbinder: gewinkelt 150">
            <a:extLst>
              <a:ext uri="{FF2B5EF4-FFF2-40B4-BE49-F238E27FC236}">
                <a16:creationId xmlns:a16="http://schemas.microsoft.com/office/drawing/2014/main" id="{D38E8599-A867-4AF2-A2CC-F407E9575B90}"/>
              </a:ext>
            </a:extLst>
          </p:cNvPr>
          <p:cNvCxnSpPr>
            <a:cxnSpLocks/>
            <a:stCxn id="114" idx="2"/>
            <a:endCxn id="147" idx="0"/>
          </p:cNvCxnSpPr>
          <p:nvPr/>
        </p:nvCxnSpPr>
        <p:spPr>
          <a:xfrm rot="5400000">
            <a:off x="3465089" y="1905255"/>
            <a:ext cx="206360" cy="702703"/>
          </a:xfrm>
          <a:prstGeom prst="bentConnector3">
            <a:avLst>
              <a:gd name="adj1" fmla="val 541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86ACC709-C8B2-451A-96E5-005ACF2A105E}"/>
              </a:ext>
            </a:extLst>
          </p:cNvPr>
          <p:cNvSpPr/>
          <p:nvPr/>
        </p:nvSpPr>
        <p:spPr>
          <a:xfrm>
            <a:off x="2255978" y="2815903"/>
            <a:ext cx="807878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1obj1loc</a:t>
            </a:r>
          </a:p>
        </p:txBody>
      </p: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35CD5DBF-50F9-42F3-B808-B7AAB46BA658}"/>
              </a:ext>
            </a:extLst>
          </p:cNvPr>
          <p:cNvCxnSpPr>
            <a:cxnSpLocks/>
            <a:stCxn id="147" idx="2"/>
            <a:endCxn id="111" idx="0"/>
          </p:cNvCxnSpPr>
          <p:nvPr/>
        </p:nvCxnSpPr>
        <p:spPr>
          <a:xfrm rot="5400000">
            <a:off x="2838349" y="2437334"/>
            <a:ext cx="200137" cy="55700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Verbinder: gewinkelt 138">
            <a:extLst>
              <a:ext uri="{FF2B5EF4-FFF2-40B4-BE49-F238E27FC236}">
                <a16:creationId xmlns:a16="http://schemas.microsoft.com/office/drawing/2014/main" id="{56A82CAE-544A-444E-BD58-8A576A82BB86}"/>
              </a:ext>
            </a:extLst>
          </p:cNvPr>
          <p:cNvCxnSpPr>
            <a:cxnSpLocks/>
            <a:stCxn id="147" idx="2"/>
            <a:endCxn id="92" idx="0"/>
          </p:cNvCxnSpPr>
          <p:nvPr/>
        </p:nvCxnSpPr>
        <p:spPr>
          <a:xfrm rot="16200000" flipH="1">
            <a:off x="3343109" y="2489574"/>
            <a:ext cx="200041" cy="45242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hteck 144">
            <a:extLst>
              <a:ext uri="{FF2B5EF4-FFF2-40B4-BE49-F238E27FC236}">
                <a16:creationId xmlns:a16="http://schemas.microsoft.com/office/drawing/2014/main" id="{9D623F24-261B-4A8F-85C0-D8F1DDDA0521}"/>
              </a:ext>
            </a:extLst>
          </p:cNvPr>
          <p:cNvSpPr/>
          <p:nvPr/>
        </p:nvSpPr>
        <p:spPr>
          <a:xfrm>
            <a:off x="5871900" y="1605094"/>
            <a:ext cx="3160342" cy="16072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sz="1600" b="1" dirty="0">
                <a:solidFill>
                  <a:schemeClr val="bg1">
                    <a:lumMod val="65000"/>
                  </a:schemeClr>
                </a:solidFill>
              </a:rPr>
              <a:t>Classe</a:t>
            </a:r>
          </a:p>
        </p:txBody>
      </p:sp>
      <p:sp>
        <p:nvSpPr>
          <p:cNvPr id="160" name="Rechteck 159">
            <a:extLst>
              <a:ext uri="{FF2B5EF4-FFF2-40B4-BE49-F238E27FC236}">
                <a16:creationId xmlns:a16="http://schemas.microsoft.com/office/drawing/2014/main" id="{402EF73A-2201-4C74-9EA2-E62BD8CED55F}"/>
              </a:ext>
            </a:extLst>
          </p:cNvPr>
          <p:cNvSpPr/>
          <p:nvPr/>
        </p:nvSpPr>
        <p:spPr>
          <a:xfrm>
            <a:off x="6872064" y="2814635"/>
            <a:ext cx="1026027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Starmodel</a:t>
            </a:r>
          </a:p>
        </p:txBody>
      </p:sp>
      <p:sp>
        <p:nvSpPr>
          <p:cNvPr id="161" name="Rechteck 160">
            <a:extLst>
              <a:ext uri="{FF2B5EF4-FFF2-40B4-BE49-F238E27FC236}">
                <a16:creationId xmlns:a16="http://schemas.microsoft.com/office/drawing/2014/main" id="{434A11AC-B11E-48E3-A0B8-512DECDECA75}"/>
              </a:ext>
            </a:extLst>
          </p:cNvPr>
          <p:cNvSpPr/>
          <p:nvPr/>
        </p:nvSpPr>
        <p:spPr>
          <a:xfrm>
            <a:off x="5971715" y="1907340"/>
            <a:ext cx="516474" cy="25598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RFC</a:t>
            </a:r>
          </a:p>
        </p:txBody>
      </p:sp>
      <p:sp>
        <p:nvSpPr>
          <p:cNvPr id="162" name="Rechteck 161">
            <a:extLst>
              <a:ext uri="{FF2B5EF4-FFF2-40B4-BE49-F238E27FC236}">
                <a16:creationId xmlns:a16="http://schemas.microsoft.com/office/drawing/2014/main" id="{22B6A347-CA0D-449D-B101-122BF500E700}"/>
              </a:ext>
            </a:extLst>
          </p:cNvPr>
          <p:cNvSpPr/>
          <p:nvPr/>
        </p:nvSpPr>
        <p:spPr>
          <a:xfrm>
            <a:off x="6673088" y="1907749"/>
            <a:ext cx="516474" cy="25555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VFC</a:t>
            </a:r>
          </a:p>
        </p:txBody>
      </p:sp>
      <p:sp>
        <p:nvSpPr>
          <p:cNvPr id="163" name="Rechteck 162">
            <a:extLst>
              <a:ext uri="{FF2B5EF4-FFF2-40B4-BE49-F238E27FC236}">
                <a16:creationId xmlns:a16="http://schemas.microsoft.com/office/drawing/2014/main" id="{C1442DF8-87A3-4A53-8F7B-084E567D8AD4}"/>
              </a:ext>
            </a:extLst>
          </p:cNvPr>
          <p:cNvSpPr/>
          <p:nvPr/>
        </p:nvSpPr>
        <p:spPr>
          <a:xfrm>
            <a:off x="7377120" y="1902473"/>
            <a:ext cx="516474" cy="24978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64" name="Rechteck 163">
            <a:extLst>
              <a:ext uri="{FF2B5EF4-FFF2-40B4-BE49-F238E27FC236}">
                <a16:creationId xmlns:a16="http://schemas.microsoft.com/office/drawing/2014/main" id="{F44A5954-C42A-428B-98A1-18C3DFFFF5A1}"/>
              </a:ext>
            </a:extLst>
          </p:cNvPr>
          <p:cNvSpPr/>
          <p:nvPr/>
        </p:nvSpPr>
        <p:spPr>
          <a:xfrm>
            <a:off x="5971714" y="2358614"/>
            <a:ext cx="1921879" cy="25598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CAPL sim Arrays</a:t>
            </a:r>
          </a:p>
        </p:txBody>
      </p:sp>
      <p:cxnSp>
        <p:nvCxnSpPr>
          <p:cNvPr id="165" name="Verbinder: gewinkelt 164">
            <a:extLst>
              <a:ext uri="{FF2B5EF4-FFF2-40B4-BE49-F238E27FC236}">
                <a16:creationId xmlns:a16="http://schemas.microsoft.com/office/drawing/2014/main" id="{02F9C6CD-5B96-4253-B5CC-465BBF1E416A}"/>
              </a:ext>
            </a:extLst>
          </p:cNvPr>
          <p:cNvCxnSpPr>
            <a:cxnSpLocks/>
            <a:stCxn id="161" idx="2"/>
            <a:endCxn id="164" idx="0"/>
          </p:cNvCxnSpPr>
          <p:nvPr/>
        </p:nvCxnSpPr>
        <p:spPr>
          <a:xfrm rot="16200000" flipH="1">
            <a:off x="6483656" y="1909616"/>
            <a:ext cx="195294" cy="702702"/>
          </a:xfrm>
          <a:prstGeom prst="bentConnector3">
            <a:avLst>
              <a:gd name="adj1" fmla="val 47861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Verbinder: gewinkelt 165">
            <a:extLst>
              <a:ext uri="{FF2B5EF4-FFF2-40B4-BE49-F238E27FC236}">
                <a16:creationId xmlns:a16="http://schemas.microsoft.com/office/drawing/2014/main" id="{F5777C16-2C7E-4472-AD9F-77946C26E15E}"/>
              </a:ext>
            </a:extLst>
          </p:cNvPr>
          <p:cNvCxnSpPr>
            <a:cxnSpLocks/>
            <a:stCxn id="162" idx="2"/>
            <a:endCxn id="164" idx="0"/>
          </p:cNvCxnSpPr>
          <p:nvPr/>
        </p:nvCxnSpPr>
        <p:spPr>
          <a:xfrm rot="16200000" flipH="1">
            <a:off x="6834335" y="2260294"/>
            <a:ext cx="195309" cy="1329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Verbinder: gewinkelt 166">
            <a:extLst>
              <a:ext uri="{FF2B5EF4-FFF2-40B4-BE49-F238E27FC236}">
                <a16:creationId xmlns:a16="http://schemas.microsoft.com/office/drawing/2014/main" id="{A1A3415D-6A23-42CA-9304-A36931FCBBAD}"/>
              </a:ext>
            </a:extLst>
          </p:cNvPr>
          <p:cNvCxnSpPr>
            <a:cxnSpLocks/>
            <a:stCxn id="163" idx="2"/>
            <a:endCxn id="164" idx="0"/>
          </p:cNvCxnSpPr>
          <p:nvPr/>
        </p:nvCxnSpPr>
        <p:spPr>
          <a:xfrm rot="5400000">
            <a:off x="7180826" y="1904083"/>
            <a:ext cx="206360" cy="70270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Rechteck 167">
            <a:extLst>
              <a:ext uri="{FF2B5EF4-FFF2-40B4-BE49-F238E27FC236}">
                <a16:creationId xmlns:a16="http://schemas.microsoft.com/office/drawing/2014/main" id="{DBF973BF-0427-4C57-8CC4-55CCC3FCC0CE}"/>
              </a:ext>
            </a:extLst>
          </p:cNvPr>
          <p:cNvSpPr/>
          <p:nvPr/>
        </p:nvSpPr>
        <p:spPr>
          <a:xfrm>
            <a:off x="5971715" y="2814731"/>
            <a:ext cx="807878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bg1">
                    <a:lumMod val="65000"/>
                  </a:schemeClr>
                </a:solidFill>
              </a:rPr>
              <a:t>1obj1loc</a:t>
            </a:r>
          </a:p>
        </p:txBody>
      </p:sp>
      <p:cxnSp>
        <p:nvCxnSpPr>
          <p:cNvPr id="169" name="Verbinder: gewinkelt 168">
            <a:extLst>
              <a:ext uri="{FF2B5EF4-FFF2-40B4-BE49-F238E27FC236}">
                <a16:creationId xmlns:a16="http://schemas.microsoft.com/office/drawing/2014/main" id="{9AB0B71D-EC04-4DD0-B84B-3B64A42D49A4}"/>
              </a:ext>
            </a:extLst>
          </p:cNvPr>
          <p:cNvCxnSpPr>
            <a:cxnSpLocks/>
            <a:stCxn id="164" idx="2"/>
            <a:endCxn id="168" idx="0"/>
          </p:cNvCxnSpPr>
          <p:nvPr/>
        </p:nvCxnSpPr>
        <p:spPr>
          <a:xfrm rot="5400000">
            <a:off x="6554086" y="2436162"/>
            <a:ext cx="200137" cy="55700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Verbinder: gewinkelt 169">
            <a:extLst>
              <a:ext uri="{FF2B5EF4-FFF2-40B4-BE49-F238E27FC236}">
                <a16:creationId xmlns:a16="http://schemas.microsoft.com/office/drawing/2014/main" id="{1DDF8B98-645A-4E51-996D-41D07A84FECF}"/>
              </a:ext>
            </a:extLst>
          </p:cNvPr>
          <p:cNvCxnSpPr>
            <a:cxnSpLocks/>
            <a:stCxn id="164" idx="2"/>
            <a:endCxn id="160" idx="0"/>
          </p:cNvCxnSpPr>
          <p:nvPr/>
        </p:nvCxnSpPr>
        <p:spPr>
          <a:xfrm rot="16200000" flipH="1">
            <a:off x="7058846" y="2488402"/>
            <a:ext cx="200041" cy="452424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Verbinder: gewinkelt 105">
            <a:extLst>
              <a:ext uri="{FF2B5EF4-FFF2-40B4-BE49-F238E27FC236}">
                <a16:creationId xmlns:a16="http://schemas.microsoft.com/office/drawing/2014/main" id="{0C716819-364E-4BA0-9A45-3C52F91A6575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 flipH="1">
            <a:off x="4286421" y="2403984"/>
            <a:ext cx="1026179" cy="1543478"/>
          </a:xfrm>
          <a:prstGeom prst="bentConnector5">
            <a:avLst>
              <a:gd name="adj1" fmla="val -22277"/>
              <a:gd name="adj2" fmla="val 62858"/>
              <a:gd name="adj3" fmla="val 122277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Verbinder: gewinkelt 170">
            <a:extLst>
              <a:ext uri="{FF2B5EF4-FFF2-40B4-BE49-F238E27FC236}">
                <a16:creationId xmlns:a16="http://schemas.microsoft.com/office/drawing/2014/main" id="{502DF56E-98B0-462F-8C84-534D5C90D313}"/>
              </a:ext>
            </a:extLst>
          </p:cNvPr>
          <p:cNvCxnSpPr>
            <a:cxnSpLocks/>
            <a:stCxn id="145" idx="1"/>
            <a:endCxn id="10" idx="3"/>
          </p:cNvCxnSpPr>
          <p:nvPr/>
        </p:nvCxnSpPr>
        <p:spPr>
          <a:xfrm rot="10800000" flipH="1" flipV="1">
            <a:off x="5871900" y="2408728"/>
            <a:ext cx="1026340" cy="1538733"/>
          </a:xfrm>
          <a:prstGeom prst="bentConnector5">
            <a:avLst>
              <a:gd name="adj1" fmla="val -22273"/>
              <a:gd name="adj2" fmla="val 63374"/>
              <a:gd name="adj3" fmla="val 122273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Rechteck 201">
            <a:extLst>
              <a:ext uri="{FF2B5EF4-FFF2-40B4-BE49-F238E27FC236}">
                <a16:creationId xmlns:a16="http://schemas.microsoft.com/office/drawing/2014/main" id="{439564FA-591F-4003-AACB-9A94C7225D9C}"/>
              </a:ext>
            </a:extLst>
          </p:cNvPr>
          <p:cNvSpPr/>
          <p:nvPr/>
        </p:nvSpPr>
        <p:spPr>
          <a:xfrm>
            <a:off x="4382758" y="1903645"/>
            <a:ext cx="729425" cy="7121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Validity Flags</a:t>
            </a:r>
          </a:p>
        </p:txBody>
      </p:sp>
      <p:cxnSp>
        <p:nvCxnSpPr>
          <p:cNvPr id="206" name="Verbinder: gewinkelt 205">
            <a:extLst>
              <a:ext uri="{FF2B5EF4-FFF2-40B4-BE49-F238E27FC236}">
                <a16:creationId xmlns:a16="http://schemas.microsoft.com/office/drawing/2014/main" id="{83E55F7E-951E-403F-9DFC-BFA0DD1539E3}"/>
              </a:ext>
            </a:extLst>
          </p:cNvPr>
          <p:cNvCxnSpPr>
            <a:cxnSpLocks/>
            <a:stCxn id="108" idx="2"/>
            <a:endCxn id="202" idx="1"/>
          </p:cNvCxnSpPr>
          <p:nvPr/>
        </p:nvCxnSpPr>
        <p:spPr>
          <a:xfrm rot="16200000" flipH="1">
            <a:off x="3400879" y="1277827"/>
            <a:ext cx="95214" cy="186854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hteck 213">
            <a:extLst>
              <a:ext uri="{FF2B5EF4-FFF2-40B4-BE49-F238E27FC236}">
                <a16:creationId xmlns:a16="http://schemas.microsoft.com/office/drawing/2014/main" id="{1AA64717-3B29-4666-8352-58DC5411524C}"/>
              </a:ext>
            </a:extLst>
          </p:cNvPr>
          <p:cNvSpPr/>
          <p:nvPr/>
        </p:nvSpPr>
        <p:spPr>
          <a:xfrm>
            <a:off x="8098204" y="1902698"/>
            <a:ext cx="729425" cy="71212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Validity Flags</a:t>
            </a:r>
          </a:p>
        </p:txBody>
      </p:sp>
      <p:cxnSp>
        <p:nvCxnSpPr>
          <p:cNvPr id="226" name="Verbinder: gewinkelt 225">
            <a:extLst>
              <a:ext uri="{FF2B5EF4-FFF2-40B4-BE49-F238E27FC236}">
                <a16:creationId xmlns:a16="http://schemas.microsoft.com/office/drawing/2014/main" id="{4740CE6B-BF0E-436C-90D2-2FBF3354AE33}"/>
              </a:ext>
            </a:extLst>
          </p:cNvPr>
          <p:cNvCxnSpPr>
            <a:cxnSpLocks/>
            <a:stCxn id="163" idx="2"/>
            <a:endCxn id="214" idx="1"/>
          </p:cNvCxnSpPr>
          <p:nvPr/>
        </p:nvCxnSpPr>
        <p:spPr>
          <a:xfrm rot="16200000" flipH="1">
            <a:off x="7813528" y="1974082"/>
            <a:ext cx="106505" cy="462847"/>
          </a:xfrm>
          <a:prstGeom prst="bentConnector2">
            <a:avLst/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hteck 72">
            <a:extLst>
              <a:ext uri="{FF2B5EF4-FFF2-40B4-BE49-F238E27FC236}">
                <a16:creationId xmlns:a16="http://schemas.microsoft.com/office/drawing/2014/main" id="{816FC22A-E500-469B-A0A5-E516F2151D18}"/>
              </a:ext>
            </a:extLst>
          </p:cNvPr>
          <p:cNvSpPr/>
          <p:nvPr/>
        </p:nvSpPr>
        <p:spPr>
          <a:xfrm>
            <a:off x="2208532" y="5937438"/>
            <a:ext cx="3033188" cy="268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Delete Target</a:t>
            </a: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B52126E0-95AE-4612-856E-A90252340D31}"/>
              </a:ext>
            </a:extLst>
          </p:cNvPr>
          <p:cNvSpPr/>
          <p:nvPr/>
        </p:nvSpPr>
        <p:spPr>
          <a:xfrm>
            <a:off x="5937991" y="5935182"/>
            <a:ext cx="3033189" cy="26821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bg1">
                    <a:lumMod val="65000"/>
                  </a:schemeClr>
                </a:solidFill>
              </a:rPr>
              <a:t>Delete Target</a:t>
            </a:r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768A78B7-2DA9-8554-A663-A5350D5C5EDF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 rot="16200000" flipH="1">
            <a:off x="4884583" y="2055545"/>
            <a:ext cx="1413101" cy="3717247"/>
          </a:xfrm>
          <a:prstGeom prst="bentConnector3">
            <a:avLst>
              <a:gd name="adj1" fmla="val 87364"/>
            </a:avLst>
          </a:prstGeom>
          <a:ln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feld 44">
            <a:extLst>
              <a:ext uri="{FF2B5EF4-FFF2-40B4-BE49-F238E27FC236}">
                <a16:creationId xmlns:a16="http://schemas.microsoft.com/office/drawing/2014/main" id="{A9157148-F285-C0F9-FDA0-CFEBAA1E1EA8}"/>
              </a:ext>
            </a:extLst>
          </p:cNvPr>
          <p:cNvSpPr txBox="1"/>
          <p:nvPr/>
        </p:nvSpPr>
        <p:spPr>
          <a:xfrm>
            <a:off x="4426561" y="1210303"/>
            <a:ext cx="97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Function call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6BF1429-21A0-D89E-80B0-7BEDB6F02800}"/>
              </a:ext>
            </a:extLst>
          </p:cNvPr>
          <p:cNvSpPr txBox="1"/>
          <p:nvPr/>
        </p:nvSpPr>
        <p:spPr>
          <a:xfrm>
            <a:off x="2642322" y="3160257"/>
            <a:ext cx="1146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Calculated data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DC3053D1-D7D7-4354-9FAD-D3455873C3C9}"/>
              </a:ext>
            </a:extLst>
          </p:cNvPr>
          <p:cNvSpPr txBox="1"/>
          <p:nvPr/>
        </p:nvSpPr>
        <p:spPr>
          <a:xfrm>
            <a:off x="5794213" y="1209338"/>
            <a:ext cx="9736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Function call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1184CDD-BB5A-23F5-9958-3813E3B9C722}"/>
              </a:ext>
            </a:extLst>
          </p:cNvPr>
          <p:cNvSpPr txBox="1"/>
          <p:nvPr/>
        </p:nvSpPr>
        <p:spPr>
          <a:xfrm>
            <a:off x="7430401" y="3163419"/>
            <a:ext cx="1146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Calculated data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8F6C1E2-BE05-B9BA-8430-8169AEBA95B7}"/>
              </a:ext>
            </a:extLst>
          </p:cNvPr>
          <p:cNvSpPr txBox="1"/>
          <p:nvPr/>
        </p:nvSpPr>
        <p:spPr>
          <a:xfrm>
            <a:off x="4194113" y="3146414"/>
            <a:ext cx="13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Function call</a:t>
            </a:r>
            <a:br>
              <a:rPr lang="en-US" sz="1200" dirty="0"/>
            </a:br>
            <a:r>
              <a:rPr lang="en-US" sz="1200" dirty="0"/>
              <a:t>and receiving data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D36F859-C2CA-369D-F28F-5D40BC4F45BA}"/>
              </a:ext>
            </a:extLst>
          </p:cNvPr>
          <p:cNvSpPr txBox="1"/>
          <p:nvPr/>
        </p:nvSpPr>
        <p:spPr>
          <a:xfrm>
            <a:off x="5659033" y="3144463"/>
            <a:ext cx="1327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Function call</a:t>
            </a:r>
            <a:br>
              <a:rPr lang="en-US" sz="120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and receiving data</a:t>
            </a:r>
          </a:p>
        </p:txBody>
      </p:sp>
    </p:spTree>
    <p:extLst>
      <p:ext uri="{BB962C8B-B14F-4D97-AF65-F5344CB8AC3E}">
        <p14:creationId xmlns:p14="http://schemas.microsoft.com/office/powerpoint/2010/main" val="4800501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8. Object shifting </a:t>
            </a:r>
            <a:br>
              <a:rPr lang="de-DE" dirty="0"/>
            </a:br>
            <a:r>
              <a:rPr lang="de-DE" dirty="0"/>
              <a:t>and </a:t>
            </a:r>
            <a:r>
              <a:rPr lang="de-DE" dirty="0" err="1"/>
              <a:t>Validity</a:t>
            </a:r>
            <a:r>
              <a:rPr lang="de-DE" dirty="0"/>
              <a:t> </a:t>
            </a:r>
            <a:r>
              <a:rPr lang="de-DE" dirty="0" err="1"/>
              <a:t>sending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96318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43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Required system behavior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88CED6-0558-45A5-B23E-BF04D9E4C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19" y="1233489"/>
            <a:ext cx="5828082" cy="4391021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18F3AE9-C1B7-4EFC-9D8A-55E47E105614}"/>
              </a:ext>
            </a:extLst>
          </p:cNvPr>
          <p:cNvSpPr txBox="1"/>
          <p:nvPr/>
        </p:nvSpPr>
        <p:spPr>
          <a:xfrm>
            <a:off x="6318209" y="1233489"/>
            <a:ext cx="5577372" cy="502216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OD is expecting Solution B1 which includes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Sending messages only for valid objects</a:t>
            </a:r>
            <a:r>
              <a:rPr lang="en-US" sz="1600" kern="0" dirty="0">
                <a:solidFill>
                  <a:srgbClr val="000000"/>
                </a:solidFill>
              </a:rPr>
              <a:t>. The </a:t>
            </a:r>
            <a:br>
              <a:rPr lang="en-US" sz="1600" kern="0" dirty="0">
                <a:solidFill>
                  <a:srgbClr val="000000"/>
                </a:solidFill>
              </a:rPr>
            </a:br>
            <a:r>
              <a:rPr lang="en-US" sz="1600" kern="0" dirty="0">
                <a:solidFill>
                  <a:srgbClr val="000000"/>
                </a:solidFill>
              </a:rPr>
              <a:t>other frames shall not be transmitted.</a:t>
            </a:r>
            <a:br>
              <a:rPr lang="en-US" sz="1600" kern="0" dirty="0">
                <a:solidFill>
                  <a:srgbClr val="000000"/>
                </a:solidFill>
              </a:rPr>
            </a:br>
            <a:r>
              <a:rPr lang="en-US" sz="1600" b="1" kern="0" dirty="0">
                <a:solidFill>
                  <a:srgbClr val="000000"/>
                </a:solidFill>
              </a:rPr>
              <a:t>-&gt; validity sending</a:t>
            </a:r>
            <a:br>
              <a:rPr lang="en-US" sz="1600" b="1" kern="0" dirty="0">
                <a:solidFill>
                  <a:srgbClr val="000000"/>
                </a:solidFill>
              </a:rPr>
            </a:br>
            <a:endParaRPr lang="de-DE" sz="1600" b="1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The valid objects must be sent by means of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successive messages. </a:t>
            </a:r>
            <a:r>
              <a:rPr lang="en-US" sz="1600" kern="0" dirty="0">
                <a:solidFill>
                  <a:srgbClr val="000000"/>
                </a:solidFill>
              </a:rPr>
              <a:t>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 holes between objects 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(as in B2) are allowed.</a:t>
            </a:r>
            <a:br>
              <a:rPr lang="de-DE" sz="1600" kern="0" dirty="0">
                <a:solidFill>
                  <a:srgbClr val="000000"/>
                </a:solidFill>
              </a:rPr>
            </a:br>
            <a:r>
              <a:rPr lang="de-DE" sz="1600" b="1" kern="0" dirty="0">
                <a:solidFill>
                  <a:srgbClr val="000000"/>
                </a:solidFill>
              </a:rPr>
              <a:t>-&gt; object shifting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de-DE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u="sng" kern="0" dirty="0">
                <a:solidFill>
                  <a:srgbClr val="000000"/>
                </a:solidFill>
              </a:rPr>
              <a:t>Validity sending</a:t>
            </a:r>
            <a:r>
              <a:rPr lang="de-DE" sz="1600" u="sng" kern="0" dirty="0">
                <a:solidFill>
                  <a:srgbClr val="000000"/>
                </a:solidFill>
              </a:rPr>
              <a:t>: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0" dirty="0">
                <a:solidFill>
                  <a:srgbClr val="000000"/>
                </a:solidFill>
              </a:rPr>
              <a:t>Setting of the validity flags (done in Classe cycle, 5ms)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0" dirty="0">
                <a:solidFill>
                  <a:srgbClr val="000000"/>
                </a:solidFill>
              </a:rPr>
              <a:t>Sending dependent of the validity flags (via extra timers)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 sz="1600" u="sng" kern="0" dirty="0">
                <a:solidFill>
                  <a:srgbClr val="000000"/>
                </a:solidFill>
              </a:rPr>
              <a:t>Object shifting:</a:t>
            </a:r>
            <a:r>
              <a:rPr lang="en-US" sz="1600" kern="0" dirty="0">
                <a:solidFill>
                  <a:srgbClr val="000000"/>
                </a:solidFill>
              </a:rPr>
              <a:t> (done when deleting an object)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0" dirty="0">
                <a:solidFill>
                  <a:srgbClr val="000000"/>
                </a:solidFill>
              </a:rPr>
              <a:t>Finding a hole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0" dirty="0">
                <a:solidFill>
                  <a:srgbClr val="000000"/>
                </a:solidFill>
              </a:rPr>
              <a:t>Planning which objects must be moved </a:t>
            </a:r>
            <a:endParaRPr lang="de-DE" sz="1600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1600" kern="0" dirty="0">
                <a:solidFill>
                  <a:srgbClr val="000000"/>
                </a:solidFill>
              </a:rPr>
              <a:t>Shifting of the objects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F3C3816-9BF2-4430-9E60-EFA61DBC6A62}"/>
              </a:ext>
            </a:extLst>
          </p:cNvPr>
          <p:cNvSpPr txBox="1"/>
          <p:nvPr/>
        </p:nvSpPr>
        <p:spPr>
          <a:xfrm>
            <a:off x="296419" y="5757055"/>
            <a:ext cx="5799581" cy="2928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800" dirty="0">
                <a:hlinkClick r:id="rId3"/>
              </a:rPr>
              <a:t>[</a:t>
            </a:r>
            <a:r>
              <a:rPr lang="de-DE" sz="800" dirty="0" err="1">
                <a:hlinkClick r:id="rId3"/>
              </a:rPr>
              <a:t>Approved</a:t>
            </a:r>
            <a:r>
              <a:rPr lang="de-DE" sz="800" dirty="0">
                <a:hlinkClick r:id="rId3"/>
              </a:rPr>
              <a:t>] DDD - L3 interface CAN </a:t>
            </a:r>
            <a:r>
              <a:rPr lang="de-DE" sz="800" dirty="0" err="1">
                <a:hlinkClick r:id="rId3"/>
              </a:rPr>
              <a:t>message</a:t>
            </a:r>
            <a:r>
              <a:rPr lang="de-DE" sz="800" dirty="0">
                <a:hlinkClick r:id="rId3"/>
              </a:rPr>
              <a:t> </a:t>
            </a:r>
            <a:r>
              <a:rPr lang="de-DE" sz="800" dirty="0" err="1">
                <a:hlinkClick r:id="rId3"/>
              </a:rPr>
              <a:t>transfer</a:t>
            </a:r>
            <a:r>
              <a:rPr lang="de-DE" sz="800" dirty="0">
                <a:hlinkClick r:id="rId3"/>
              </a:rPr>
              <a:t> </a:t>
            </a:r>
            <a:r>
              <a:rPr lang="de-DE" sz="800" dirty="0" err="1">
                <a:hlinkClick r:id="rId3"/>
              </a:rPr>
              <a:t>strategy</a:t>
            </a:r>
            <a:r>
              <a:rPr lang="de-DE" sz="800" dirty="0">
                <a:hlinkClick r:id="rId3"/>
              </a:rPr>
              <a:t> for </a:t>
            </a:r>
            <a:r>
              <a:rPr lang="de-DE" sz="800" dirty="0" err="1">
                <a:hlinkClick r:id="rId3"/>
              </a:rPr>
              <a:t>sensor</a:t>
            </a:r>
            <a:r>
              <a:rPr lang="de-DE" sz="800" dirty="0">
                <a:hlinkClick r:id="rId3"/>
              </a:rPr>
              <a:t> </a:t>
            </a:r>
            <a:r>
              <a:rPr lang="de-DE" sz="800" dirty="0" err="1">
                <a:hlinkClick r:id="rId3"/>
              </a:rPr>
              <a:t>data</a:t>
            </a:r>
            <a:r>
              <a:rPr lang="de-DE" sz="800" dirty="0">
                <a:hlinkClick r:id="rId3"/>
              </a:rPr>
              <a:t> - </a:t>
            </a:r>
            <a:r>
              <a:rPr lang="de-DE" sz="800" dirty="0" err="1">
                <a:hlinkClick r:id="rId3"/>
              </a:rPr>
              <a:t>OneDriving</a:t>
            </a:r>
            <a:r>
              <a:rPr lang="de-DE" sz="800" dirty="0">
                <a:hlinkClick r:id="rId3"/>
              </a:rPr>
              <a:t> - </a:t>
            </a:r>
            <a:r>
              <a:rPr lang="de-DE" sz="800" dirty="0" err="1">
                <a:hlinkClick r:id="rId3"/>
              </a:rPr>
              <a:t>Docupedia</a:t>
            </a:r>
            <a:r>
              <a:rPr lang="de-DE" sz="800" dirty="0">
                <a:hlinkClick r:id="rId3"/>
              </a:rPr>
              <a:t> (bosch.com)</a:t>
            </a:r>
            <a:endParaRPr kumimoji="0" lang="de-DE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82180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elle 14">
            <a:extLst>
              <a:ext uri="{FF2B5EF4-FFF2-40B4-BE49-F238E27FC236}">
                <a16:creationId xmlns:a16="http://schemas.microsoft.com/office/drawing/2014/main" id="{A8B1E34B-8D10-4E8C-AF0B-A8BEA4F18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190600"/>
              </p:ext>
            </p:extLst>
          </p:nvPr>
        </p:nvGraphicFramePr>
        <p:xfrm>
          <a:off x="437992" y="669661"/>
          <a:ext cx="11316015" cy="55649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72005">
                  <a:extLst>
                    <a:ext uri="{9D8B030D-6E8A-4147-A177-3AD203B41FA5}">
                      <a16:colId xmlns:a16="http://schemas.microsoft.com/office/drawing/2014/main" val="228814077"/>
                    </a:ext>
                  </a:extLst>
                </a:gridCol>
                <a:gridCol w="3772005">
                  <a:extLst>
                    <a:ext uri="{9D8B030D-6E8A-4147-A177-3AD203B41FA5}">
                      <a16:colId xmlns:a16="http://schemas.microsoft.com/office/drawing/2014/main" val="983416308"/>
                    </a:ext>
                  </a:extLst>
                </a:gridCol>
                <a:gridCol w="3772005">
                  <a:extLst>
                    <a:ext uri="{9D8B030D-6E8A-4147-A177-3AD203B41FA5}">
                      <a16:colId xmlns:a16="http://schemas.microsoft.com/office/drawing/2014/main" val="2620535495"/>
                    </a:ext>
                  </a:extLst>
                </a:gridCol>
              </a:tblGrid>
              <a:tr h="1035253">
                <a:tc>
                  <a:txBody>
                    <a:bodyPr/>
                    <a:lstStyle/>
                    <a:p>
                      <a:pPr algn="ctr"/>
                      <a:r>
                        <a:rPr lang="en-US" b="1" u="none" noProof="0" dirty="0"/>
                        <a:t>On/Off Button is inactive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u="none" noProof="0" dirty="0"/>
                        <a:t>On/Off Button is active</a:t>
                      </a:r>
                    </a:p>
                    <a:p>
                      <a:pPr algn="ctr"/>
                      <a:endParaRPr lang="en-US" b="1" u="sng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714599"/>
                  </a:ext>
                </a:extLst>
              </a:tr>
              <a:tr h="855406">
                <a:tc rowSpan="3">
                  <a:txBody>
                    <a:bodyPr/>
                    <a:lstStyle/>
                    <a:p>
                      <a:pPr marL="285750" marR="0" lvl="0" indent="-28575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noProof="0" dirty="0"/>
                        <a:t>If the button is inactive the validity flags are generally set to 1 -&gt; All objects on all sensors are being sent</a:t>
                      </a:r>
                    </a:p>
                    <a:p>
                      <a:pPr marL="285750" marR="0" lvl="0" indent="-28575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noProof="0" dirty="0" err="1"/>
                        <a:t>DACore</a:t>
                      </a:r>
                      <a:r>
                        <a:rPr lang="en-US" sz="1600" noProof="0" dirty="0"/>
                        <a:t> Object Array</a:t>
                      </a:r>
                    </a:p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noProof="0" dirty="0"/>
                    </a:p>
                    <a:p>
                      <a:endParaRPr lang="en-US" noProof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285750" marR="0" lvl="0" indent="-28575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noProof="0" dirty="0"/>
                        <a:t>If the button is active the validity flags are set depending on the chosen sensors for each object</a:t>
                      </a:r>
                    </a:p>
                    <a:p>
                      <a:pPr marL="285750" marR="0" lvl="0" indent="-28575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noProof="0" dirty="0"/>
                        <a:t>Solutions B1/B2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682648"/>
                  </a:ext>
                </a:extLst>
              </a:tr>
              <a:tr h="1144475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</a:rPr>
                        <a:t>Choosing on which sensors the object shall be sent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32500"/>
                  </a:ext>
                </a:extLst>
              </a:tr>
              <a:tr h="1455373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u="sng" noProof="0" dirty="0"/>
                        <a:t>Sensor is set to active for this obj OR VehicleModel is in FDX mode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For each object, the validity flags are set to 1 for every chosen sensor (here: FRadar, all in FDX mode)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 err="1"/>
                        <a:t>Hdr</a:t>
                      </a:r>
                      <a:r>
                        <a:rPr lang="en-US" sz="1600" noProof="0" dirty="0"/>
                        <a:t> messages are set to 1 as long as in Classe or FDX mode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All messages with the ID &gt; 8 have their validity flags set to 0 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(only 0-8 objects are supported)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u="sng" noProof="0" dirty="0"/>
                        <a:t>Sensor is set to inactive for this obj </a:t>
                      </a:r>
                    </a:p>
                    <a:p>
                      <a:pPr marL="285750" marR="0" lvl="0" indent="-28575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noProof="0" dirty="0"/>
                        <a:t>If a sensor is set to off, then the validity flag for this object on this sensor is set to 0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5449393"/>
                  </a:ext>
                </a:extLst>
              </a:tr>
            </a:tbl>
          </a:graphicData>
        </a:graphic>
      </p:graphicFrame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44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0" y="14644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Validity sending – Setting of the validity flags (every Classe cycle)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86A0BB2-71D5-415F-B4BC-8DE7AD09C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72" y="982296"/>
            <a:ext cx="689850" cy="68385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3F7B45A-F6ED-4D76-BDC4-5164B470A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585" y="994294"/>
            <a:ext cx="689849" cy="67185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43C4ED5-95C3-4759-B6FE-652F0705C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460" y="2887774"/>
            <a:ext cx="3985959" cy="78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49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45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Validity sending – Sending dependent of the validity flags</a:t>
            </a:r>
          </a:p>
        </p:txBody>
      </p:sp>
      <p:graphicFrame>
        <p:nvGraphicFramePr>
          <p:cNvPr id="3" name="Tabelle 4">
            <a:extLst>
              <a:ext uri="{FF2B5EF4-FFF2-40B4-BE49-F238E27FC236}">
                <a16:creationId xmlns:a16="http://schemas.microsoft.com/office/drawing/2014/main" id="{2F76EA89-844A-4A9F-ADEA-C84C577FE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101228"/>
              </p:ext>
            </p:extLst>
          </p:nvPr>
        </p:nvGraphicFramePr>
        <p:xfrm>
          <a:off x="437993" y="1197567"/>
          <a:ext cx="11316015" cy="39966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6787">
                  <a:extLst>
                    <a:ext uri="{9D8B030D-6E8A-4147-A177-3AD203B41FA5}">
                      <a16:colId xmlns:a16="http://schemas.microsoft.com/office/drawing/2014/main" val="4272433852"/>
                    </a:ext>
                  </a:extLst>
                </a:gridCol>
                <a:gridCol w="5967223">
                  <a:extLst>
                    <a:ext uri="{9D8B030D-6E8A-4147-A177-3AD203B41FA5}">
                      <a16:colId xmlns:a16="http://schemas.microsoft.com/office/drawing/2014/main" val="1943492111"/>
                    </a:ext>
                  </a:extLst>
                </a:gridCol>
                <a:gridCol w="3772005">
                  <a:extLst>
                    <a:ext uri="{9D8B030D-6E8A-4147-A177-3AD203B41FA5}">
                      <a16:colId xmlns:a16="http://schemas.microsoft.com/office/drawing/2014/main" val="2579430633"/>
                    </a:ext>
                  </a:extLst>
                </a:gridCol>
              </a:tblGrid>
              <a:tr h="395259">
                <a:tc gridSpan="3"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Each sensor has its own validity timer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3818"/>
                  </a:ext>
                </a:extLst>
              </a:tr>
              <a:tr h="846403">
                <a:tc rowSpan="4">
                  <a:txBody>
                    <a:bodyPr/>
                    <a:lstStyle/>
                    <a:p>
                      <a:pPr algn="l"/>
                      <a:endParaRPr lang="en-US" sz="1600" noProof="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“on timer”-function for validity flags is called every 66ms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>
                          <a:solidFill>
                            <a:schemeClr val="tx1"/>
                          </a:solidFill>
                        </a:rPr>
                        <a:t>Those 66ms are set in the </a:t>
                      </a:r>
                      <a:r>
                        <a:rPr lang="en-US" sz="1600" noProof="0" dirty="0" err="1">
                          <a:solidFill>
                            <a:schemeClr val="tx1"/>
                          </a:solidFill>
                        </a:rPr>
                        <a:t>SystemVariable</a:t>
                      </a:r>
                      <a:r>
                        <a:rPr lang="en-US" sz="1600" noProof="0" dirty="0">
                          <a:solidFill>
                            <a:schemeClr val="tx1"/>
                          </a:solidFill>
                        </a:rPr>
                        <a:t> @ValidityFlags::RoadObj::validityTimer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518209"/>
                  </a:ext>
                </a:extLst>
              </a:tr>
              <a:tr h="377558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1" noProof="0" dirty="0"/>
                        <a:t>To what state is the VehicleModel set?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28975"/>
                  </a:ext>
                </a:extLst>
              </a:tr>
              <a:tr h="392254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sng" noProof="0" dirty="0"/>
                        <a:t>VehicleModel is set to Classe/FDX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Messages are being sent according to their validity flags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sng" noProof="0" dirty="0"/>
                        <a:t>VehicleModel is set to off/init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No message is being sent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570379"/>
                  </a:ext>
                </a:extLst>
              </a:tr>
              <a:tr h="126492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Sending is done by setting the ON_OFF SysVar of the specific message to 1 (for example VFC_Object00A_ON_OFF for the first video object)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Validity flags are either set to 1 or 0 which defines if the ON_OFF is 1 (sending the message) or 0 (not sending the message)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Each time the “on timer”-function is called and the ON_OFFs are set to the values of the validity flags, the ones set to 1 are being sent on the bus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7EC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718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08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46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Object shifting – Finding a hole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21F64F2-CBD3-401C-B414-C2AF35EC91EF}"/>
              </a:ext>
            </a:extLst>
          </p:cNvPr>
          <p:cNvSpPr txBox="1"/>
          <p:nvPr/>
        </p:nvSpPr>
        <p:spPr>
          <a:xfrm>
            <a:off x="437992" y="4791425"/>
            <a:ext cx="11316015" cy="146422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Example: Initial situation is [0 1 1 1] 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</a:rPr>
              <a:t>-&gt; ☓ see next slide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</a:rPr>
              <a:t>-&gt; ◢ In either case we want to fill the first hole found with an object coming behind, which is why in case a hole is already found nothing is done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-&gt; </a:t>
            </a:r>
            <a:r>
              <a:rPr lang="en-US" sz="1400" u="none" noProof="0" dirty="0"/>
              <a:t>● </a:t>
            </a: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Finds the hole on the first position, but it doesn't realize the 1 on the second position is going to be shifted which will leave a hole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-&gt; </a:t>
            </a:r>
            <a:r>
              <a:rPr lang="en-US" sz="1400" u="none" noProof="0" dirty="0"/>
              <a:t>◾</a:t>
            </a: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Checks for already planned objects, which are counted as a 0 -&gt; so switching to [1 1 1 0] is possible in one cycle</a:t>
            </a:r>
          </a:p>
        </p:txBody>
      </p:sp>
      <p:graphicFrame>
        <p:nvGraphicFramePr>
          <p:cNvPr id="6" name="Tabelle 6">
            <a:extLst>
              <a:ext uri="{FF2B5EF4-FFF2-40B4-BE49-F238E27FC236}">
                <a16:creationId xmlns:a16="http://schemas.microsoft.com/office/drawing/2014/main" id="{5577BAC7-4425-4EDB-9284-07EA89C25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003000"/>
              </p:ext>
            </p:extLst>
          </p:nvPr>
        </p:nvGraphicFramePr>
        <p:xfrm>
          <a:off x="437993" y="1180733"/>
          <a:ext cx="11316014" cy="3383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14081">
                  <a:extLst>
                    <a:ext uri="{9D8B030D-6E8A-4147-A177-3AD203B41FA5}">
                      <a16:colId xmlns:a16="http://schemas.microsoft.com/office/drawing/2014/main" val="39533017"/>
                    </a:ext>
                  </a:extLst>
                </a:gridCol>
                <a:gridCol w="1271275">
                  <a:extLst>
                    <a:ext uri="{9D8B030D-6E8A-4147-A177-3AD203B41FA5}">
                      <a16:colId xmlns:a16="http://schemas.microsoft.com/office/drawing/2014/main" val="1844015112"/>
                    </a:ext>
                  </a:extLst>
                </a:gridCol>
                <a:gridCol w="2613433">
                  <a:extLst>
                    <a:ext uri="{9D8B030D-6E8A-4147-A177-3AD203B41FA5}">
                      <a16:colId xmlns:a16="http://schemas.microsoft.com/office/drawing/2014/main" val="3772085941"/>
                    </a:ext>
                  </a:extLst>
                </a:gridCol>
                <a:gridCol w="3394110">
                  <a:extLst>
                    <a:ext uri="{9D8B030D-6E8A-4147-A177-3AD203B41FA5}">
                      <a16:colId xmlns:a16="http://schemas.microsoft.com/office/drawing/2014/main" val="818847802"/>
                    </a:ext>
                  </a:extLst>
                </a:gridCol>
                <a:gridCol w="2923115">
                  <a:extLst>
                    <a:ext uri="{9D8B030D-6E8A-4147-A177-3AD203B41FA5}">
                      <a16:colId xmlns:a16="http://schemas.microsoft.com/office/drawing/2014/main" val="395827579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b="1" noProof="0" dirty="0"/>
                        <a:t>Loop through objects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08426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0" dirty="0">
                          <a:solidFill>
                            <a:srgbClr val="000000"/>
                          </a:solidFill>
                        </a:rPr>
                        <a:t>☓ </a:t>
                      </a:r>
                      <a:r>
                        <a:rPr lang="en-US" sz="1800" kern="0" dirty="0">
                          <a:solidFill>
                            <a:srgbClr val="000000"/>
                          </a:solidFill>
                        </a:rPr>
                        <a:t>Planning the shifting of objects</a:t>
                      </a:r>
                      <a:endParaRPr kumimoji="0" lang="en-US" sz="18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042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b="1" noProof="0" dirty="0"/>
                        <a:t>Already found a hole?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655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sz="1600" noProof="0" dirty="0"/>
                        <a:t>Yes (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</a:rPr>
                        <a:t>◢)</a:t>
                      </a: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noProof="0" dirty="0"/>
                        <a:t>No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126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b="1" noProof="0" dirty="0"/>
                        <a:t>Check activated sensors for that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9704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600" u="sng" noProof="0" dirty="0"/>
                        <a:t>All sensors deactivated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hole found (●)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 u="sng" noProof="0" dirty="0"/>
                        <a:t>At least 1 sensor activated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object found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064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noProof="0" dirty="0"/>
                        <a:t>Check if object is already planned for shifting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9569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noProof="0" dirty="0"/>
                        <a:t>Already planned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object counts as hole found (</a:t>
                      </a:r>
                      <a:r>
                        <a:rPr lang="en-US" sz="1600" u="none" noProof="0" dirty="0"/>
                        <a:t>◾)</a:t>
                      </a: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sng" noProof="0" dirty="0"/>
                        <a:t>Not planned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-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7591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521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47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Object shifting – Planning of shifting an object</a:t>
            </a:r>
          </a:p>
        </p:txBody>
      </p:sp>
      <p:graphicFrame>
        <p:nvGraphicFramePr>
          <p:cNvPr id="8" name="Tabelle 6">
            <a:extLst>
              <a:ext uri="{FF2B5EF4-FFF2-40B4-BE49-F238E27FC236}">
                <a16:creationId xmlns:a16="http://schemas.microsoft.com/office/drawing/2014/main" id="{CBBA757D-4767-4CE0-9F56-2E3F6A7932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78381"/>
              </p:ext>
            </p:extLst>
          </p:nvPr>
        </p:nvGraphicFramePr>
        <p:xfrm>
          <a:off x="437993" y="1095300"/>
          <a:ext cx="11316014" cy="3870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14081">
                  <a:extLst>
                    <a:ext uri="{9D8B030D-6E8A-4147-A177-3AD203B41FA5}">
                      <a16:colId xmlns:a16="http://schemas.microsoft.com/office/drawing/2014/main" val="39533017"/>
                    </a:ext>
                  </a:extLst>
                </a:gridCol>
                <a:gridCol w="1271275">
                  <a:extLst>
                    <a:ext uri="{9D8B030D-6E8A-4147-A177-3AD203B41FA5}">
                      <a16:colId xmlns:a16="http://schemas.microsoft.com/office/drawing/2014/main" val="1844015112"/>
                    </a:ext>
                  </a:extLst>
                </a:gridCol>
                <a:gridCol w="2613433">
                  <a:extLst>
                    <a:ext uri="{9D8B030D-6E8A-4147-A177-3AD203B41FA5}">
                      <a16:colId xmlns:a16="http://schemas.microsoft.com/office/drawing/2014/main" val="3772085941"/>
                    </a:ext>
                  </a:extLst>
                </a:gridCol>
                <a:gridCol w="1769930">
                  <a:extLst>
                    <a:ext uri="{9D8B030D-6E8A-4147-A177-3AD203B41FA5}">
                      <a16:colId xmlns:a16="http://schemas.microsoft.com/office/drawing/2014/main" val="818847802"/>
                    </a:ext>
                  </a:extLst>
                </a:gridCol>
                <a:gridCol w="4547295">
                  <a:extLst>
                    <a:ext uri="{9D8B030D-6E8A-4147-A177-3AD203B41FA5}">
                      <a16:colId xmlns:a16="http://schemas.microsoft.com/office/drawing/2014/main" val="395827579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r>
                        <a:rPr lang="en-US" b="1" noProof="0" dirty="0"/>
                        <a:t>Loop through objects using shiftCounter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808426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endParaRPr lang="en-US" sz="1600" noProof="0" dirty="0"/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noProof="0" dirty="0"/>
                        <a:t>shiftCounter++</a:t>
                      </a:r>
                      <a:endParaRPr kumimoji="0" lang="en-US" sz="1600" b="0" i="0" u="none" strike="noStrike" kern="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40420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b="1" noProof="0" dirty="0"/>
                        <a:t>Already found a hole?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7655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sz="1600" noProof="0" dirty="0"/>
                        <a:t>No (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</a:rPr>
                        <a:t>◢)</a:t>
                      </a: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600" noProof="0" dirty="0"/>
                        <a:t>Yes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1264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b="1" noProof="0" dirty="0"/>
                        <a:t>Check activated sensors for that object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97045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600" u="sng" noProof="0" dirty="0"/>
                        <a:t>All sensors deactivated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-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600" u="sng" noProof="0" dirty="0"/>
                        <a:t>At least 1 sensor activated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object found and shifting is necessary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064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noProof="0" dirty="0"/>
                        <a:t>Check if object is already planned for shifting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95697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sng" noProof="0" dirty="0"/>
                        <a:t>Already planned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-</a:t>
                      </a:r>
                      <a:r>
                        <a:rPr lang="en-US" sz="1600" u="none" noProof="0" dirty="0"/>
                        <a:t> (●)</a:t>
                      </a: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u="sng" noProof="0" dirty="0"/>
                        <a:t>Not planned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Plan this object for shifting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u="none" noProof="0" dirty="0"/>
                        <a:t>Set shiftCounter to the position after the found hole </a:t>
                      </a:r>
                      <a:r>
                        <a:rPr lang="en-US" sz="1600" noProof="0" dirty="0"/>
                        <a:t>(</a:t>
                      </a:r>
                      <a:r>
                        <a:rPr lang="en-US" sz="1600" u="none" noProof="0" dirty="0"/>
                        <a:t>◾)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7591391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37F7A18C-E027-43C6-896F-53B310E7672E}"/>
              </a:ext>
            </a:extLst>
          </p:cNvPr>
          <p:cNvSpPr txBox="1"/>
          <p:nvPr/>
        </p:nvSpPr>
        <p:spPr>
          <a:xfrm>
            <a:off x="437992" y="5068622"/>
            <a:ext cx="11316015" cy="97773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>
                <a:solidFill>
                  <a:srgbClr val="000000"/>
                </a:solidFill>
              </a:rPr>
              <a:t>-&gt; ◢ Only if a hole is found we must shift an object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-&gt; </a:t>
            </a:r>
            <a:r>
              <a:rPr lang="en-US" sz="1400" u="none" noProof="0" dirty="0"/>
              <a:t>● </a:t>
            </a:r>
            <a:r>
              <a:rPr lang="en-US" sz="1400" u="none" kern="0" dirty="0">
                <a:solidFill>
                  <a:srgbClr val="000000"/>
                </a:solidFill>
              </a:rPr>
              <a:t>If the object is already </a:t>
            </a:r>
            <a:r>
              <a:rPr lang="en-US" sz="1400" kern="0" dirty="0">
                <a:solidFill>
                  <a:srgbClr val="000000"/>
                </a:solidFill>
              </a:rPr>
              <a:t>planned, we can skip it</a:t>
            </a:r>
            <a:endParaRPr kumimoji="0" lang="en-US" sz="1400" b="0" i="0" u="none" strike="noStrike" kern="0" cap="none" spc="0" normalizeH="0" baseline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-&gt; </a:t>
            </a:r>
            <a:r>
              <a:rPr lang="en-US" sz="1400" u="none" noProof="0" dirty="0"/>
              <a:t>◾</a:t>
            </a: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Setting back the shiftCounter when an object is planned is necessary in case two </a:t>
            </a:r>
            <a:r>
              <a:rPr lang="en-US" sz="1400" kern="0" dirty="0">
                <a:solidFill>
                  <a:srgbClr val="000000"/>
                </a:solidFill>
              </a:rPr>
              <a:t>empty Objects build a hole. For example [1 0 0 1 1] </a:t>
            </a:r>
            <a:br>
              <a:rPr lang="en-US" sz="1400" kern="0" dirty="0">
                <a:solidFill>
                  <a:srgbClr val="000000"/>
                </a:solidFill>
              </a:rPr>
            </a:br>
            <a:r>
              <a:rPr lang="en-US" sz="1400" kern="0" dirty="0">
                <a:solidFill>
                  <a:srgbClr val="000000"/>
                </a:solidFill>
              </a:rPr>
              <a:t>        After the first planning it would look like this: [1 1 0 0 1] - which is why we must start the planning process again at the third position</a:t>
            </a:r>
          </a:p>
        </p:txBody>
      </p:sp>
    </p:spTree>
    <p:extLst>
      <p:ext uri="{BB962C8B-B14F-4D97-AF65-F5344CB8AC3E}">
        <p14:creationId xmlns:p14="http://schemas.microsoft.com/office/powerpoint/2010/main" val="39118163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48</a:t>
            </a:fld>
            <a:endParaRPr lang="en-US" noProof="1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25A09E5-EAD9-4075-90B3-0B9EA03DC91C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Object shifting – Shifting of the objects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D8A6ADDD-F7B8-4E08-AD3E-B9238DA35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769919"/>
              </p:ext>
            </p:extLst>
          </p:nvPr>
        </p:nvGraphicFramePr>
        <p:xfrm>
          <a:off x="437991" y="1912175"/>
          <a:ext cx="11316016" cy="20946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2747">
                  <a:extLst>
                    <a:ext uri="{9D8B030D-6E8A-4147-A177-3AD203B41FA5}">
                      <a16:colId xmlns:a16="http://schemas.microsoft.com/office/drawing/2014/main" val="4272433852"/>
                    </a:ext>
                  </a:extLst>
                </a:gridCol>
                <a:gridCol w="1472339">
                  <a:extLst>
                    <a:ext uri="{9D8B030D-6E8A-4147-A177-3AD203B41FA5}">
                      <a16:colId xmlns:a16="http://schemas.microsoft.com/office/drawing/2014/main" val="1943492111"/>
                    </a:ext>
                  </a:extLst>
                </a:gridCol>
                <a:gridCol w="8270930">
                  <a:extLst>
                    <a:ext uri="{9D8B030D-6E8A-4147-A177-3AD203B41FA5}">
                      <a16:colId xmlns:a16="http://schemas.microsoft.com/office/drawing/2014/main" val="4216699280"/>
                    </a:ext>
                  </a:extLst>
                </a:gridCol>
              </a:tblGrid>
              <a:tr h="331105">
                <a:tc gridSpan="3">
                  <a:txBody>
                    <a:bodyPr/>
                    <a:lstStyle/>
                    <a:p>
                      <a:pPr algn="l"/>
                      <a:r>
                        <a:rPr lang="en-US" b="1" noProof="0" dirty="0"/>
                        <a:t>Check is shifting is necessary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3818"/>
                  </a:ext>
                </a:extLst>
              </a:tr>
              <a:tr h="303513">
                <a:tc rowSpan="3"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noProof="0" dirty="0">
                          <a:solidFill>
                            <a:schemeClr val="tx1"/>
                          </a:solidFill>
                        </a:rPr>
                        <a:t>No</a:t>
                      </a:r>
                      <a:r>
                        <a:rPr lang="en-US" sz="1600" noProof="0" dirty="0"/>
                        <a:t>(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</a:rPr>
                        <a:t>◢)</a:t>
                      </a:r>
                      <a:endParaRPr lang="en-US" sz="1600" noProof="0" dirty="0"/>
                    </a:p>
                    <a:p>
                      <a:pPr algn="l"/>
                      <a:endParaRPr lang="en-US" sz="1600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noProof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518209"/>
                  </a:ext>
                </a:extLst>
              </a:tr>
              <a:tr h="331105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b="1" noProof="0" dirty="0"/>
                        <a:t>Loop through the planned objects that must be shifted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328975"/>
                  </a:ext>
                </a:extLst>
              </a:tr>
              <a:tr h="1027882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600" noProof="0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Copy the object into the chosen hole and insert it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Delete the original object (</a:t>
                      </a:r>
                      <a:r>
                        <a:rPr lang="en-US" sz="1600" u="none" noProof="0" dirty="0"/>
                        <a:t>●</a:t>
                      </a:r>
                      <a:r>
                        <a:rPr lang="en-US" sz="1600" kern="0" dirty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sz="1600" noProof="0" dirty="0"/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noProof="0" dirty="0"/>
                        <a:t>Remove this object from the list of planned objects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09570379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6EF92C95-AE8A-46CE-8C31-1D9AC77DA807}"/>
              </a:ext>
            </a:extLst>
          </p:cNvPr>
          <p:cNvSpPr txBox="1"/>
          <p:nvPr/>
        </p:nvSpPr>
        <p:spPr>
          <a:xfrm>
            <a:off x="437992" y="4320252"/>
            <a:ext cx="11316015" cy="180371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400" kern="0" dirty="0">
                <a:solidFill>
                  <a:srgbClr val="000000"/>
                </a:solidFill>
              </a:rPr>
              <a:t>-&gt; ◢ If no shifting is necessary, we save computation time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kumimoji="0" lang="en-US" sz="14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-&gt; </a:t>
            </a:r>
            <a:r>
              <a:rPr lang="en-US" sz="1400" u="none" noProof="0" dirty="0"/>
              <a:t>● </a:t>
            </a:r>
            <a:r>
              <a:rPr lang="en-US" sz="1400" kern="0" dirty="0">
                <a:solidFill>
                  <a:srgbClr val="000000"/>
                </a:solidFill>
              </a:rPr>
              <a:t>Setting the Classe array and all the signals of the bus messages of this object to 0</a:t>
            </a: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endParaRPr lang="en-US" sz="1400" u="none" kern="0" noProof="0" dirty="0">
              <a:solidFill>
                <a:srgbClr val="000000"/>
              </a:solidFill>
            </a:endParaRPr>
          </a:p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1400" b="1" u="sng" kern="0" dirty="0">
                <a:solidFill>
                  <a:srgbClr val="000000"/>
                </a:solidFill>
              </a:rPr>
              <a:t>NOTE: </a:t>
            </a:r>
            <a: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  <a:t>if we have for example [0 1 1 1] the logic is doing the following steps: [0 1 1 1]  -&gt; [1 0 1 1] </a:t>
            </a:r>
            <a:r>
              <a:rPr lang="en-US" sz="1400" dirty="0">
                <a:solidFill>
                  <a:srgbClr val="172B4D"/>
                </a:solidFill>
                <a:latin typeface="-apple-system"/>
              </a:rPr>
              <a:t>-&gt; </a:t>
            </a:r>
            <a: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  <a:t>[1 1 0 1] </a:t>
            </a:r>
            <a:r>
              <a:rPr lang="en-US" sz="1400" dirty="0">
                <a:solidFill>
                  <a:srgbClr val="172B4D"/>
                </a:solidFill>
                <a:latin typeface="-apple-system"/>
              </a:rPr>
              <a:t>-&gt; </a:t>
            </a:r>
            <a: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  <a:t>[1 1 1 0]</a:t>
            </a:r>
            <a:br>
              <a:rPr lang="en-US" sz="1400" b="0" i="0" kern="0" dirty="0">
                <a:solidFill>
                  <a:srgbClr val="000000"/>
                </a:solidFill>
                <a:effectLst/>
                <a:latin typeface="-apple-system"/>
              </a:rPr>
            </a:br>
            <a: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  <a:t>This can lead to problems with the current VT TCs, because they are deleting objects in order. So, the first object is deleted as first. </a:t>
            </a:r>
            <a:b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</a:br>
            <a:r>
              <a:rPr lang="en-US" sz="1400" b="0" i="0" dirty="0">
                <a:solidFill>
                  <a:srgbClr val="172B4D"/>
                </a:solidFill>
                <a:effectLst/>
                <a:latin typeface="-apple-system"/>
              </a:rPr>
              <a:t>This will trigger the shifting with a questionable outcome.</a:t>
            </a:r>
          </a:p>
        </p:txBody>
      </p:sp>
    </p:spTree>
    <p:extLst>
      <p:ext uri="{BB962C8B-B14F-4D97-AF65-F5344CB8AC3E}">
        <p14:creationId xmlns:p14="http://schemas.microsoft.com/office/powerpoint/2010/main" val="23234762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99C85B-8EA7-4B9A-B745-79E401DF05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9. </a:t>
            </a:r>
            <a:r>
              <a:rPr lang="en-US" dirty="0"/>
              <a:t>Reading object data when sending </a:t>
            </a:r>
            <a:r>
              <a:rPr lang="en-US" dirty="0" err="1"/>
              <a:t>ByteArray</a:t>
            </a:r>
            <a:r>
              <a:rPr lang="en-US" dirty="0"/>
              <a:t> directly from the RoadObj DLL via </a:t>
            </a:r>
            <a:r>
              <a:rPr lang="en-US" dirty="0" err="1"/>
              <a:t>CanTP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862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AEF70DA-C105-8308-FC58-F9C2B0B8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50</a:t>
            </a:fld>
            <a:endParaRPr lang="en-US" noProof="1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D9AB51E-0AB3-7B3B-1957-20F4FA8E91E1}"/>
              </a:ext>
            </a:extLst>
          </p:cNvPr>
          <p:cNvSpPr/>
          <p:nvPr/>
        </p:nvSpPr>
        <p:spPr>
          <a:xfrm>
            <a:off x="1461796" y="1101012"/>
            <a:ext cx="1380931" cy="92684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CarMaker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4EC565-8F7E-655C-9A3A-C131A3E8F86C}"/>
              </a:ext>
            </a:extLst>
          </p:cNvPr>
          <p:cNvSpPr/>
          <p:nvPr/>
        </p:nvSpPr>
        <p:spPr>
          <a:xfrm>
            <a:off x="1461795" y="2335763"/>
            <a:ext cx="1380931" cy="92684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CANoe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C4828D7-DF84-93CD-3F5A-8983D6900E4E}"/>
              </a:ext>
            </a:extLst>
          </p:cNvPr>
          <p:cNvSpPr/>
          <p:nvPr/>
        </p:nvSpPr>
        <p:spPr>
          <a:xfrm>
            <a:off x="4783495" y="1718388"/>
            <a:ext cx="1380932" cy="92684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RoadObj DLL</a:t>
            </a:r>
          </a:p>
        </p:txBody>
      </p:sp>
      <p:cxnSp>
        <p:nvCxnSpPr>
          <p:cNvPr id="7" name="Verbinder: gewinkelt 6">
            <a:extLst>
              <a:ext uri="{FF2B5EF4-FFF2-40B4-BE49-F238E27FC236}">
                <a16:creationId xmlns:a16="http://schemas.microsoft.com/office/drawing/2014/main" id="{FA1B59F6-6172-FB59-37F7-7B922953DDC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2842727" y="1564433"/>
            <a:ext cx="1940768" cy="617376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6E21BC34-F169-356A-E5E1-BD006F4981A5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2842726" y="2181809"/>
            <a:ext cx="1940769" cy="617375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6AEA29DF-97C0-3E67-7B8E-3F1AA0AE6194}"/>
              </a:ext>
            </a:extLst>
          </p:cNvPr>
          <p:cNvSpPr/>
          <p:nvPr/>
        </p:nvSpPr>
        <p:spPr>
          <a:xfrm>
            <a:off x="8105195" y="1718388"/>
            <a:ext cx="1380931" cy="926841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CAN TP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056B54C-E079-2FC8-5CC8-87099D59B6FA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6164427" y="2181809"/>
            <a:ext cx="19407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2B03DCB3-AEF4-0735-72BA-CBB29BD93228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 flipV="1">
            <a:off x="2152262" y="2181804"/>
            <a:ext cx="4982553" cy="1080799"/>
          </a:xfrm>
          <a:prstGeom prst="bentConnector4">
            <a:avLst>
              <a:gd name="adj1" fmla="val 0"/>
              <a:gd name="adj2" fmla="val 238561"/>
            </a:avLst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F69B99F4-1B9B-880D-C1EF-815266827EAB}"/>
              </a:ext>
            </a:extLst>
          </p:cNvPr>
          <p:cNvSpPr txBox="1"/>
          <p:nvPr/>
        </p:nvSpPr>
        <p:spPr>
          <a:xfrm>
            <a:off x="6604521" y="1873125"/>
            <a:ext cx="1060579" cy="30868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ByteArray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FE1CEE6-CE3C-0AED-7289-FD8E11548A3B}"/>
              </a:ext>
            </a:extLst>
          </p:cNvPr>
          <p:cNvSpPr txBox="1"/>
          <p:nvPr/>
        </p:nvSpPr>
        <p:spPr>
          <a:xfrm>
            <a:off x="2527045" y="3979506"/>
            <a:ext cx="4340286" cy="73400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To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read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values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set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these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de-DE" sz="1200" u="sng" kern="0" dirty="0" err="1">
                <a:solidFill>
                  <a:srgbClr val="000000"/>
                </a:solidFill>
                <a:latin typeface="+mn-lt"/>
              </a:rPr>
              <a:t>SysVars</a:t>
            </a:r>
            <a:r>
              <a:rPr lang="de-DE" sz="1200" u="sng" kern="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200" dirty="0" err="1">
                <a:effectLst/>
                <a:latin typeface="+mn-lt"/>
              </a:rPr>
              <a:t>CAN_RadarXX_RXX_Object</a:t>
            </a:r>
            <a:r>
              <a:rPr lang="de-DE" sz="1200" dirty="0">
                <a:effectLst/>
                <a:latin typeface="+mn-lt"/>
              </a:rPr>
              <a:t>::</a:t>
            </a:r>
            <a:r>
              <a:rPr lang="de-DE" sz="1200" dirty="0" err="1">
                <a:effectLst/>
                <a:latin typeface="+mn-lt"/>
              </a:rPr>
              <a:t>TP_enable_loopback_reading</a:t>
            </a:r>
            <a:r>
              <a:rPr lang="de-DE" sz="1200" dirty="0">
                <a:effectLst/>
                <a:latin typeface="+mn-lt"/>
              </a:rPr>
              <a:t> = 1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RXX_Object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_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ObjY.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Read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 = 1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E67EBF0-0E61-DBBC-AC36-C6ED7B6989F6}"/>
              </a:ext>
            </a:extLst>
          </p:cNvPr>
          <p:cNvSpPr txBox="1"/>
          <p:nvPr/>
        </p:nvSpPr>
        <p:spPr>
          <a:xfrm>
            <a:off x="1" y="431291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Reading Object Data from </a:t>
            </a:r>
            <a:r>
              <a:rPr 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ByteArray</a:t>
            </a: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5869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"/>
  <p:tag name="SAXMLCOMPANYNAME" val="bosch"/>
  <p:tag name="SAXCONVERSION" val="1"/>
  <p:tag name="SAXMLCOMPANYNAME_PREVIOUS" val="bosch"/>
  <p:tag name="MLTEMPLATEVERSION_PREVIOUS" val="1.0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52779E17-DA50-4443-9CCA-C57129DBFB53}" vid="{CBD1DA7C-47F9-4AE4-B1E4-E762B597D2F3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ILMBoschDocument" ma:contentTypeID="0x01010079C2150534271841997CA4BF28B151E90100307EA83ED42A584099D189C52F07585A" ma:contentTypeVersion="30" ma:contentTypeDescription="Bosch Document Content Type for ILM" ma:contentTypeScope="" ma:versionID="46680fb55f2b448e4d697b4aac1c2ef6">
  <xsd:schema xmlns:xsd="http://www.w3.org/2001/XMLSchema" xmlns:xs="http://www.w3.org/2001/XMLSchema" xmlns:p="http://schemas.microsoft.com/office/2006/metadata/properties" xmlns:ns1="http://schemas.microsoft.com/sharepoint/v3" xmlns:ns2="4c1bb3ec-31fb-4a5a-ac42-aa8cd4516000" xmlns:ns3="bca0bc44-19d1-4824-98a4-321de56310bf" xmlns:ns4="http://schemas.microsoft.com/sharepoint/v4" targetNamespace="http://schemas.microsoft.com/office/2006/metadata/properties" ma:root="true" ma:fieldsID="8e307836bdc0b590fde6f31324e6d042" ns1:_="" ns2:_="" ns3:_="" ns4:_="">
    <xsd:import namespace="http://schemas.microsoft.com/sharepoint/v3"/>
    <xsd:import namespace="4c1bb3ec-31fb-4a5a-ac42-aa8cd4516000"/>
    <xsd:import namespace="bca0bc44-19d1-4824-98a4-321de56310bf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CSC"/>
                <xsd:element ref="ns2:ASC"/>
                <xsd:element ref="ns2:ISC"/>
                <xsd:element ref="ns2:ArchivingPeriod"/>
                <xsd:element ref="ns2:Safeguarding"/>
                <xsd:element ref="ns2:Historicalrelevance"/>
                <xsd:element ref="ns3:OriginalSubject" minOccurs="0"/>
                <xsd:element ref="ns3:From1" minOccurs="0"/>
                <xsd:element ref="ns3:Cc" minOccurs="0"/>
                <xsd:element ref="ns3:Bcc" minOccurs="0"/>
                <xsd:element ref="ns3:Conversation-Topic" minOccurs="0"/>
                <xsd:element ref="ns3:Date1" minOccurs="0"/>
                <xsd:element ref="ns3:Reply-To" minOccurs="0"/>
                <xsd:element ref="ns3:To" minOccurs="0"/>
                <xsd:element ref="ns3:Received" minOccurs="0"/>
                <xsd:element ref="ns3:Attachment" minOccurs="0"/>
                <xsd:element ref="ns3:Sensitivity" minOccurs="0"/>
                <xsd:element ref="ns3:Importance" minOccurs="0"/>
                <xsd:element ref="ns3:In-Reply-To" minOccurs="0"/>
                <xsd:element ref="ns3:References" minOccurs="0"/>
                <xsd:element ref="ns3:Conversation-Index" minOccurs="0"/>
                <xsd:element ref="ns3:MailPreviewData" minOccurs="0"/>
                <xsd:element ref="ns2:MessageClass" minOccurs="0"/>
                <xsd:element ref="ns3:Message-ID" minOccurs="0"/>
                <xsd:element ref="ns2:IlmBasedOn" minOccurs="0"/>
                <xsd:element ref="ns2:LockedStatus" minOccurs="0"/>
                <xsd:element ref="ns2:LockedBy" minOccurs="0"/>
                <xsd:element ref="ns2:ILMItemType" minOccurs="0"/>
                <xsd:element ref="ns2:ILMCreationRevision" minOccurs="0"/>
                <xsd:element ref="ns2:Revisions" minOccurs="0"/>
                <xsd:element ref="ns4:IconOverlay" minOccurs="0"/>
                <xsd:element ref="ns1:_vti_ItemDeclaredRecord" minOccurs="0"/>
                <xsd:element ref="ns1:_vti_ItemHoldRecord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vti_ItemDeclaredRecord" ma:index="42" nillable="true" ma:displayName="Declared Record" ma:hidden="true" ma:internalName="_vti_ItemDeclaredRecord" ma:readOnly="true">
      <xsd:simpleType>
        <xsd:restriction base="dms:DateTime"/>
      </xsd:simpleType>
    </xsd:element>
    <xsd:element name="_vti_ItemHoldRecordStatus" ma:index="43" nillable="true" ma:displayName="Hold and Record Status" ma:decimals="0" ma:description="" ma:hidden="true" ma:indexed="true" ma:internalName="_vti_ItemHoldRecordStatu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bb3ec-31fb-4a5a-ac42-aa8cd45160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CSC" ma:index="11" ma:displayName="C-SC" ma:default="1" ma:description="Security Class for Confidentiality." ma:format="Dropdown" ma:indexed="true" ma:internalName="C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SC" ma:index="12" ma:displayName="A-SC" ma:default="1" ma:description="Security Class for Availability" ma:format="Dropdown" ma:indexed="true" ma:internalName="A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ISC" ma:index="13" ma:displayName="I-SC" ma:default="1" ma:description="Security Class for Integrity" ma:format="Dropdown" ma:internalName="ISC" ma:readOnly="false">
      <xsd:simpleType>
        <xsd:restriction base="dms:Choice">
          <xsd:enumeration value="0"/>
          <xsd:enumeration value="1"/>
          <xsd:enumeration value="2"/>
          <xsd:enumeration value="3"/>
        </xsd:restriction>
      </xsd:simpleType>
    </xsd:element>
    <xsd:element name="ArchivingPeriod" ma:index="14" ma:displayName="Archiving Period (in years)" ma:default="35" ma:description="File will be deleted from the archive after end of the archiving" ma:format="Dropdown" ma:indexed="true" ma:internalName="ArchivingPeriod" ma:readOnly="false">
      <xsd:simpleType>
        <xsd:union memberTypes="dms:Text">
          <xsd:simpleType>
            <xsd:restriction base="dms:Choice">
              <xsd:enumeration value="1"/>
              <xsd:enumeration value="3"/>
              <xsd:enumeration value="6"/>
              <xsd:enumeration value="10"/>
              <xsd:enumeration value="15"/>
              <xsd:enumeration value="35"/>
              <xsd:enumeration value="Delete when archiving"/>
              <xsd:enumeration value="infinite"/>
            </xsd:restriction>
          </xsd:simpleType>
        </xsd:union>
      </xsd:simpleType>
    </xsd:element>
    <xsd:element name="Safeguarding" ma:index="15" ma:displayName="Safeguarding" ma:default="No" ma:description="Special safeguarding requirements" ma:format="Dropdown" ma:internalName="Safeguarding" ma:readOnly="false">
      <xsd:simpleType>
        <xsd:restriction base="dms:Choice">
          <xsd:enumeration value="Yes"/>
          <xsd:enumeration value="No"/>
        </xsd:restriction>
      </xsd:simpleType>
    </xsd:element>
    <xsd:element name="Historicalrelevance" ma:index="16" ma:displayName="Historical relevance" ma:default="No" ma:description="Handover to C/CCH" ma:format="Dropdown" ma:internalName="Historicalrelevance" ma:readOnly="false">
      <xsd:simpleType>
        <xsd:restriction base="dms:Choice">
          <xsd:enumeration value="Yes"/>
          <xsd:enumeration value="No"/>
        </xsd:restriction>
      </xsd:simpleType>
    </xsd:element>
    <xsd:element name="MessageClass" ma:index="33" nillable="true" ma:displayName="MessageClass" ma:hidden="true" ma:internalName="MessageClass">
      <xsd:simpleType>
        <xsd:restriction base="dms:Text">
          <xsd:maxLength value="255"/>
        </xsd:restriction>
      </xsd:simpleType>
    </xsd:element>
    <xsd:element name="IlmBasedOn" ma:index="35" nillable="true" ma:displayName="Based on" ma:internalName="IlmBasedOn" ma:readOnly="true">
      <xsd:simpleType>
        <xsd:restriction base="dms:Text"/>
      </xsd:simpleType>
    </xsd:element>
    <xsd:element name="LockedStatus" ma:index="36" nillable="true" ma:displayName="Locked Status" ma:default="Unlocked" ma:internalName="LockedStatus" ma:readOnly="true">
      <xsd:simpleType>
        <xsd:restriction base="dms:Text"/>
      </xsd:simpleType>
    </xsd:element>
    <xsd:element name="LockedBy" ma:index="37" nillable="true" ma:displayName="Locked By" ma:internalName="Locked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LMItemType" ma:index="38" nillable="true" ma:displayName="ILMItemType" ma:default="ConceptualItem" ma:indexed="true" ma:internalName="ILMItemType" ma:readOnly="true">
      <xsd:simpleType>
        <xsd:restriction base="dms:Text"/>
      </xsd:simpleType>
    </xsd:element>
    <xsd:element name="ILMCreationRevision" ma:index="39" nillable="true" ma:displayName="Creating Revision" ma:internalName="ILMCreationRevision" ma:readOnly="true">
      <xsd:simpleType>
        <xsd:restriction base="dms:Boolean"/>
      </xsd:simpleType>
    </xsd:element>
    <xsd:element name="Revisions" ma:index="40" nillable="true" ma:displayName="Revision set" ma:internalName="Revision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a0bc44-19d1-4824-98a4-321de56310bf" elementFormDefault="qualified">
    <xsd:import namespace="http://schemas.microsoft.com/office/2006/documentManagement/types"/>
    <xsd:import namespace="http://schemas.microsoft.com/office/infopath/2007/PartnerControls"/>
    <xsd:element name="OriginalSubject" ma:index="17" nillable="true" ma:displayName="OriginalSubject" ma:internalName="OriginalSubject">
      <xsd:simpleType>
        <xsd:restriction base="dms:Text">
          <xsd:maxLength value="255"/>
        </xsd:restriction>
      </xsd:simpleType>
    </xsd:element>
    <xsd:element name="From1" ma:index="18" nillable="true" ma:displayName="From" ma:internalName="From1">
      <xsd:simpleType>
        <xsd:restriction base="dms:Text">
          <xsd:maxLength value="255"/>
        </xsd:restriction>
      </xsd:simpleType>
    </xsd:element>
    <xsd:element name="Cc" ma:index="19" nillable="true" ma:displayName="Cc" ma:internalName="Cc">
      <xsd:simpleType>
        <xsd:restriction base="dms:Note">
          <xsd:maxLength value="255"/>
        </xsd:restriction>
      </xsd:simpleType>
    </xsd:element>
    <xsd:element name="Bcc" ma:index="20" nillable="true" ma:displayName="Bcc" ma:internalName="Bcc">
      <xsd:simpleType>
        <xsd:restriction base="dms:Note">
          <xsd:maxLength value="255"/>
        </xsd:restriction>
      </xsd:simpleType>
    </xsd:element>
    <xsd:element name="Conversation-Topic" ma:index="21" nillable="true" ma:displayName="Conversation-Topic" ma:internalName="Conversation_x002d_Topic">
      <xsd:simpleType>
        <xsd:restriction base="dms:Text">
          <xsd:maxLength value="255"/>
        </xsd:restriction>
      </xsd:simpleType>
    </xsd:element>
    <xsd:element name="Date1" ma:index="22" nillable="true" ma:displayName="Date" ma:format="DateOnly" ma:internalName="Date1">
      <xsd:simpleType>
        <xsd:restriction base="dms:DateTime"/>
      </xsd:simpleType>
    </xsd:element>
    <xsd:element name="Reply-To" ma:index="23" nillable="true" ma:displayName="Reply-To" ma:internalName="Reply_x002d_To">
      <xsd:simpleType>
        <xsd:restriction base="dms:Text">
          <xsd:maxLength value="255"/>
        </xsd:restriction>
      </xsd:simpleType>
    </xsd:element>
    <xsd:element name="To" ma:index="24" nillable="true" ma:displayName="To" ma:internalName="To">
      <xsd:simpleType>
        <xsd:restriction base="dms:Note">
          <xsd:maxLength value="255"/>
        </xsd:restriction>
      </xsd:simpleType>
    </xsd:element>
    <xsd:element name="Received" ma:index="25" nillable="true" ma:displayName="Received" ma:internalName="Received">
      <xsd:simpleType>
        <xsd:restriction base="dms:Text">
          <xsd:maxLength value="255"/>
        </xsd:restriction>
      </xsd:simpleType>
    </xsd:element>
    <xsd:element name="Attachment" ma:index="26" nillable="true" ma:displayName="Attachment" ma:default="1" ma:internalName="Attachment">
      <xsd:simpleType>
        <xsd:restriction base="dms:Boolean"/>
      </xsd:simpleType>
    </xsd:element>
    <xsd:element name="Sensitivity" ma:index="27" nillable="true" ma:displayName="Sensitivity" ma:internalName="Sensitivity">
      <xsd:simpleType>
        <xsd:restriction base="dms:Text">
          <xsd:maxLength value="255"/>
        </xsd:restriction>
      </xsd:simpleType>
    </xsd:element>
    <xsd:element name="Importance" ma:index="28" nillable="true" ma:displayName="Importance" ma:internalName="Importance">
      <xsd:simpleType>
        <xsd:restriction base="dms:Text">
          <xsd:maxLength value="255"/>
        </xsd:restriction>
      </xsd:simpleType>
    </xsd:element>
    <xsd:element name="In-Reply-To" ma:index="29" nillable="true" ma:displayName="In-Reply-To" ma:internalName="In_x002d_Reply_x002d_To">
      <xsd:simpleType>
        <xsd:restriction base="dms:Text">
          <xsd:maxLength value="255"/>
        </xsd:restriction>
      </xsd:simpleType>
    </xsd:element>
    <xsd:element name="References" ma:index="30" nillable="true" ma:displayName="References" ma:internalName="References">
      <xsd:simpleType>
        <xsd:restriction base="dms:Text">
          <xsd:maxLength value="255"/>
        </xsd:restriction>
      </xsd:simpleType>
    </xsd:element>
    <xsd:element name="Conversation-Index" ma:index="31" nillable="true" ma:displayName="Conversation-Index" ma:hidden="true" ma:internalName="Conversation_x002d_Index">
      <xsd:simpleType>
        <xsd:restriction base="dms:Text">
          <xsd:maxLength value="255"/>
        </xsd:restriction>
      </xsd:simpleType>
    </xsd:element>
    <xsd:element name="MailPreviewData" ma:index="32" nillable="true" ma:displayName="MailPreviewData" ma:hidden="true" ma:internalName="MailPreviewData">
      <xsd:simpleType>
        <xsd:restriction base="dms:Note"/>
      </xsd:simpleType>
    </xsd:element>
    <xsd:element name="Message-ID" ma:index="34" nillable="true" ma:displayName="Message-ID" ma:hidden="true" ma:internalName="Message_x002d_ID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41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versation-Topic xmlns="bca0bc44-19d1-4824-98a4-321de56310bf" xsi:nil="true"/>
    <Received xmlns="bca0bc44-19d1-4824-98a4-321de56310bf" xsi:nil="true"/>
    <Importance xmlns="bca0bc44-19d1-4824-98a4-321de56310bf" xsi:nil="true"/>
    <ISC xmlns="4c1bb3ec-31fb-4a5a-ac42-aa8cd4516000">3</ISC>
    <Conversation-Index xmlns="bca0bc44-19d1-4824-98a4-321de56310bf" xsi:nil="true"/>
    <Bcc xmlns="bca0bc44-19d1-4824-98a4-321de56310bf" xsi:nil="true"/>
    <Sensitivity xmlns="bca0bc44-19d1-4824-98a4-321de56310bf" xsi:nil="true"/>
    <IconOverlay xmlns="http://schemas.microsoft.com/sharepoint/v4" xsi:nil="true"/>
    <Safeguarding xmlns="4c1bb3ec-31fb-4a5a-ac42-aa8cd4516000">No</Safeguarding>
    <To xmlns="bca0bc44-19d1-4824-98a4-321de56310bf" xsi:nil="true"/>
    <Reply-To xmlns="bca0bc44-19d1-4824-98a4-321de56310bf" xsi:nil="true"/>
    <In-Reply-To xmlns="bca0bc44-19d1-4824-98a4-321de56310bf" xsi:nil="true"/>
    <MailPreviewData xmlns="bca0bc44-19d1-4824-98a4-321de56310bf" xsi:nil="true"/>
    <MessageClass xmlns="4c1bb3ec-31fb-4a5a-ac42-aa8cd4516000" xsi:nil="true"/>
    <Date1 xmlns="bca0bc44-19d1-4824-98a4-321de56310bf" xsi:nil="true"/>
    <Attachment xmlns="bca0bc44-19d1-4824-98a4-321de56310bf">true</Attachment>
    <References xmlns="bca0bc44-19d1-4824-98a4-321de56310bf" xsi:nil="true"/>
    <ArchivingPeriod xmlns="4c1bb3ec-31fb-4a5a-ac42-aa8cd4516000">35</ArchivingPeriod>
    <ASC xmlns="4c1bb3ec-31fb-4a5a-ac42-aa8cd4516000">2</ASC>
    <Cc xmlns="bca0bc44-19d1-4824-98a4-321de56310bf" xsi:nil="true"/>
    <Message-ID xmlns="bca0bc44-19d1-4824-98a4-321de56310bf" xsi:nil="true"/>
    <Historicalrelevance xmlns="4c1bb3ec-31fb-4a5a-ac42-aa8cd4516000">No</Historicalrelevance>
    <OriginalSubject xmlns="bca0bc44-19d1-4824-98a4-321de56310bf" xsi:nil="true"/>
    <CSC xmlns="4c1bb3ec-31fb-4a5a-ac42-aa8cd4516000">2</CSC>
    <From1 xmlns="bca0bc44-19d1-4824-98a4-321de56310bf" xsi:nil="true"/>
    <Revisions xmlns="4c1bb3ec-31fb-4a5a-ac42-aa8cd4516000">
      <Url xsi:nil="true"/>
      <Description xsi:nil="true"/>
    </Revisions>
    <LockedStatus xmlns="4c1bb3ec-31fb-4a5a-ac42-aa8cd4516000">Unlocked</LockedStatus>
    <_vti_ItemHoldRecordStatus xmlns="http://schemas.microsoft.com/sharepoint/v3" xsi:nil="true"/>
    <_vti_ItemDeclaredRecord xmlns="http://schemas.microsoft.com/sharepoint/v3" xsi:nil="true"/>
    <_dlc_DocId xmlns="4c1bb3ec-31fb-4a5a-ac42-aa8cd4516000">P12S144287-699374571-4181</_dlc_DocId>
    <_dlc_DocIdUrl xmlns="4c1bb3ec-31fb-4a5a-ac42-aa8cd4516000">
      <Url>https://sites.inside-share2.bosch.com/sites/144287/_layouts/15/DocIdRedir.aspx?ID=P12S144287-699374571-4181</Url>
      <Description>P12S144287-699374571-4181</Description>
    </_dlc_DocIdUrl>
    <ILMItemType xmlns="4c1bb3ec-31fb-4a5a-ac42-aa8cd4516000">ConceptualItem</ILMItemType>
    <LockedBy xmlns="4c1bb3ec-31fb-4a5a-ac42-aa8cd4516000">
      <UserInfo>
        <DisplayName/>
        <AccountId xsi:nil="true"/>
        <AccountType/>
      </UserInfo>
    </LockedBy>
    <ILMCreationRevision xmlns="4c1bb3ec-31fb-4a5a-ac42-aa8cd4516000">false</ILMCreationRevision>
    <IlmBasedOn xmlns="4c1bb3ec-31fb-4a5a-ac42-aa8cd4516000" xsi:nil="true"/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6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XC-DX/EDI2</OrgInhalt>
      <Wert>XC-DX/EDI2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2022. Alle Rechte vorbehalten, auch bzgl. jeder Verfügung, Verwertung, Reproduktion, Bearbeitung, Weitergabe sowie für den Fall von Schutzrechtsanmeldungen.</OrgInhalt>
      <Wert>© Robert Bosch GmbH 2022.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18.02.2022</OrgInhalt>
      <Wert>18.02.2022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Cross-Domain Computing Solutions</OrgInhalt>
      <Wert>Cross-Domain Computing 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488ADB33-F615-4DA3-A5E5-621971C60A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c1bb3ec-31fb-4a5a-ac42-aa8cd4516000"/>
    <ds:schemaRef ds:uri="bca0bc44-19d1-4824-98a4-321de56310bf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D75C32-321C-42A1-A33F-C90BE62E2E8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bca0bc44-19d1-4824-98a4-321de56310bf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sharepoint/v4"/>
    <ds:schemaRef ds:uri="http://purl.org/dc/terms/"/>
    <ds:schemaRef ds:uri="http://schemas.openxmlformats.org/package/2006/metadata/core-properties"/>
    <ds:schemaRef ds:uri="4c1bb3ec-31fb-4a5a-ac42-aa8cd4516000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07C1F3-6EEE-449B-9B9C-8FCCF2F10769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0217FDE-38C6-42B6-A9F4-53BF86FE0352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D0252559-44F8-474C-B66D-E357B88E32C2}">
  <ds:schemaRefs/>
</ds:datastoreItem>
</file>

<file path=customXml/itemProps6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3324</Words>
  <Application>Microsoft Office PowerPoint</Application>
  <PresentationFormat>Breitbild</PresentationFormat>
  <Paragraphs>662</Paragraphs>
  <Slides>50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50</vt:i4>
      </vt:variant>
    </vt:vector>
  </HeadingPairs>
  <TitlesOfParts>
    <vt:vector size="57" baseType="lpstr">
      <vt:lpstr>-apple-system</vt:lpstr>
      <vt:lpstr>Arial</vt:lpstr>
      <vt:lpstr>Bosch Office Sans</vt:lpstr>
      <vt:lpstr>Calibri</vt:lpstr>
      <vt:lpstr>Cambria Math</vt:lpstr>
      <vt:lpstr>Wingdings 3</vt:lpstr>
      <vt:lpstr>Bosch NG</vt:lpstr>
      <vt:lpstr>System Design objects</vt:lpstr>
      <vt:lpstr>PowerPoint-Präsentation</vt:lpstr>
      <vt:lpstr>1. Naming conventions</vt:lpstr>
      <vt:lpstr>PowerPoint-Präsentation</vt:lpstr>
      <vt:lpstr>PowerPoint-Präsentation</vt:lpstr>
      <vt:lpstr>2. Coordinate Systems</vt:lpstr>
      <vt:lpstr>PowerPoint-Präsentation</vt:lpstr>
      <vt:lpstr>PowerPoint-Präsentation</vt:lpstr>
      <vt:lpstr>PowerPoint-Präsentation</vt:lpstr>
      <vt:lpstr>3. CAPL dll</vt:lpstr>
      <vt:lpstr>PowerPoint-Präsentation</vt:lpstr>
      <vt:lpstr>3.1 rotation dll</vt:lpstr>
      <vt:lpstr>PowerPoint-Präsentation</vt:lpstr>
      <vt:lpstr>3.2 Object calc dll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4. Fradar signals</vt:lpstr>
      <vt:lpstr>PowerPoint-Präsentation</vt:lpstr>
      <vt:lpstr>PowerPoint-Präsentation</vt:lpstr>
      <vt:lpstr>PowerPoint-Präsentation</vt:lpstr>
      <vt:lpstr>5. FVideo signals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6. Field of view</vt:lpstr>
      <vt:lpstr>PowerPoint-Präsentation</vt:lpstr>
      <vt:lpstr>7. Roadobj architecture</vt:lpstr>
      <vt:lpstr>PowerPoint-Präsentation</vt:lpstr>
      <vt:lpstr>8. Object shifting  and Validity sending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9. Reading object data when sending ByteArray directly from the RoadObj DLL via CanTP</vt:lpstr>
      <vt:lpstr>PowerPoint-Präsentation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 PSA CDPO R11</dc:title>
  <dc:creator>Herrera Rafael (XC-DX/EDF2)</dc:creator>
  <cp:lastModifiedBy>Walter Robin (XC-AS/EDI2)</cp:lastModifiedBy>
  <cp:revision>332</cp:revision>
  <dcterms:created xsi:type="dcterms:W3CDTF">2022-02-18T11:02:55Z</dcterms:created>
  <dcterms:modified xsi:type="dcterms:W3CDTF">2025-03-03T08:51:16Z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  <property fmtid="{D5CDD505-2E9C-101B-9397-08002B2CF9AE}" pid="8" name="ContentTypeId">
    <vt:lpwstr>0x01010079C2150534271841997CA4BF28B151E90100307EA83ED42A584099D189C52F07585A</vt:lpwstr>
  </property>
  <property fmtid="{D5CDD505-2E9C-101B-9397-08002B2CF9AE}" pid="9" name="ecm_ItemDeleteBlockHolders">
    <vt:lpwstr/>
  </property>
  <property fmtid="{D5CDD505-2E9C-101B-9397-08002B2CF9AE}" pid="10" name="ecm_RecordRestrictions">
    <vt:lpwstr/>
  </property>
  <property fmtid="{D5CDD505-2E9C-101B-9397-08002B2CF9AE}" pid="11" name="ecm_ItemLockHolders">
    <vt:lpwstr/>
  </property>
  <property fmtid="{D5CDD505-2E9C-101B-9397-08002B2CF9AE}" pid="12" name="_dlc_DocIdItemGuid">
    <vt:lpwstr>905797a4-9edb-4cac-ba0e-b0a0bdc26ba2</vt:lpwstr>
  </property>
  <property fmtid="{D5CDD505-2E9C-101B-9397-08002B2CF9AE}" pid="13" name="ILMRevision">
    <vt:lpwstr/>
  </property>
  <property fmtid="{D5CDD505-2E9C-101B-9397-08002B2CF9AE}" pid="14" name="ConceptualVersion">
    <vt:lpwstr/>
  </property>
  <property fmtid="{D5CDD505-2E9C-101B-9397-08002B2CF9AE}" pid="15" name="ConceptualVersionTreeview">
    <vt:lpwstr/>
  </property>
  <property fmtid="{D5CDD505-2E9C-101B-9397-08002B2CF9AE}" pid="16" name="ILMComments">
    <vt:lpwstr/>
  </property>
  <property fmtid="{D5CDD505-2E9C-101B-9397-08002B2CF9AE}" pid="17" name="ILMExternalReference">
    <vt:lpwstr/>
  </property>
  <property fmtid="{D5CDD505-2E9C-101B-9397-08002B2CF9AE}" pid="18" name="DocIdOfLinkItem">
    <vt:lpwstr/>
  </property>
</Properties>
</file>