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7"/>
  </p:sldMasterIdLst>
  <p:notesMasterIdLst>
    <p:notesMasterId r:id="rId16"/>
  </p:notesMasterIdLst>
  <p:sldIdLst>
    <p:sldId id="270" r:id="rId8"/>
    <p:sldId id="257" r:id="rId9"/>
    <p:sldId id="259" r:id="rId10"/>
    <p:sldId id="271" r:id="rId11"/>
    <p:sldId id="272" r:id="rId12"/>
    <p:sldId id="274" r:id="rId13"/>
    <p:sldId id="275" r:id="rId14"/>
    <p:sldId id="276" r:id="rId15"/>
  </p:sldIdLst>
  <p:sldSz cx="12192000" cy="6858000"/>
  <p:notesSz cx="6858000" cy="9144000"/>
  <p:custDataLst>
    <p:tags r:id="rId17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569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9138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37081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8277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284689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741627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3198565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655502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04.05.2022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1pPr>
    <a:lvl2pPr marL="50813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2pPr>
    <a:lvl3pPr marL="1016264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3pPr>
    <a:lvl4pPr marL="1524396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4pPr>
    <a:lvl5pPr marL="2032528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5pPr>
    <a:lvl6pPr marL="254066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6pPr>
    <a:lvl7pPr marL="304879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7pPr>
    <a:lvl8pPr marL="3556925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8pPr>
    <a:lvl9pPr marL="4065057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enutzerdefinierte 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Kap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Kapitel­überschrift hinzufügen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„Zitat hinzufügen”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zi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Fazit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88083" y="1440370"/>
            <a:ext cx="11615361" cy="4633191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10250966" y="287939"/>
            <a:ext cx="1880544" cy="864357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88083" y="288074"/>
            <a:ext cx="11615361" cy="8642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87597" y="1440370"/>
            <a:ext cx="11615361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Inhalt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05882" y="1440369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3584" userDrawn="1">
          <p15:clr>
            <a:srgbClr val="FBAE40"/>
          </p15:clr>
        </p15:guide>
        <p15:guide id="9" pos="409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8402431" y="1440369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45257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3" userDrawn="1">
          <p15:clr>
            <a:srgbClr val="FBAE40"/>
          </p15:clr>
        </p15:guide>
        <p15:guide id="9" pos="2736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795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16834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28145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9108536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1944" userDrawn="1">
          <p15:clr>
            <a:srgbClr val="FBAE40"/>
          </p15:clr>
        </p15:guide>
        <p15:guide id="9" pos="2033" userDrawn="1">
          <p15:clr>
            <a:srgbClr val="FBAE40"/>
          </p15:clr>
        </p15:guide>
        <p15:guide id="10" pos="3797" userDrawn="1">
          <p15:clr>
            <a:srgbClr val="FBAE40"/>
          </p15:clr>
        </p15:guide>
        <p15:guide id="11" pos="3884" userDrawn="1">
          <p15:clr>
            <a:srgbClr val="FBAE40"/>
          </p15:clr>
        </p15:guide>
        <p15:guide id="12" pos="5648" userDrawn="1">
          <p15:clr>
            <a:srgbClr val="FBAE40"/>
          </p15:clr>
        </p15:guide>
        <p15:guide id="13" pos="573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Inhalt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505882" y="1440369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6505882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3584" userDrawn="1">
          <p15:clr>
            <a:srgbClr val="FBAE40"/>
          </p15:clr>
        </p15:guide>
        <p15:guide id="11" pos="409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4345257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8402431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4345257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8402431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8" userDrawn="1">
          <p15:clr>
            <a:srgbClr val="FBAE40"/>
          </p15:clr>
        </p15:guide>
        <p15:guide id="9" pos="2731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orient="horz" pos="2323" userDrawn="1">
          <p15:clr>
            <a:srgbClr val="FBAE40"/>
          </p15:clr>
        </p15:guide>
        <p15:guide id="13" orient="horz" pos="241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228934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9110636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228934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9110636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6169785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6169785" y="3828985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1944" userDrawn="1">
          <p15:clr>
            <a:srgbClr val="FBAE40"/>
          </p15:clr>
        </p15:guide>
        <p15:guide id="11" pos="2034" userDrawn="1">
          <p15:clr>
            <a:srgbClr val="FBAE40"/>
          </p15:clr>
        </p15:guide>
        <p15:guide id="12" pos="3797" userDrawn="1">
          <p15:clr>
            <a:srgbClr val="FBAE40"/>
          </p15:clr>
        </p15:guide>
        <p15:guide id="13" pos="3887" userDrawn="1">
          <p15:clr>
            <a:srgbClr val="FBAE40"/>
          </p15:clr>
        </p15:guide>
        <p15:guide id="14" pos="5648" userDrawn="1">
          <p15:clr>
            <a:srgbClr val="FBAE40"/>
          </p15:clr>
        </p15:guide>
        <p15:guide id="15" pos="573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ollbild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Abschluss­worte hinzufügen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83" y="720185"/>
            <a:ext cx="11615361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83" y="1440370"/>
            <a:ext cx="11615361" cy="46331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659180" y="6272591"/>
            <a:ext cx="10172821" cy="119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Cross-Domain Computing Solutions | XC-DX/EDI2 | 18.02.2022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2022.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660191" y="6273613"/>
            <a:ext cx="10174944" cy="1200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Design </a:t>
            </a:r>
            <a:r>
              <a:rPr lang="hu-HU" dirty="0" err="1"/>
              <a:t>Traffic</a:t>
            </a:r>
            <a:r>
              <a:rPr lang="hu-HU" dirty="0"/>
              <a:t> </a:t>
            </a:r>
            <a:r>
              <a:rPr lang="hu-HU" dirty="0" err="1"/>
              <a:t>Signs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76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Table of contents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296419" y="890009"/>
            <a:ext cx="10028712" cy="41623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kern="0" dirty="0" err="1">
                <a:solidFill>
                  <a:srgbClr val="000000"/>
                </a:solidFill>
              </a:rPr>
              <a:t>Concept</a:t>
            </a: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kern="0" dirty="0">
                <a:solidFill>
                  <a:srgbClr val="000000"/>
                </a:solidFill>
              </a:rPr>
              <a:t>Panel design and </a:t>
            </a:r>
            <a:r>
              <a:rPr lang="hu-HU" kern="0" dirty="0" err="1">
                <a:solidFill>
                  <a:srgbClr val="000000"/>
                </a:solidFill>
              </a:rPr>
              <a:t>data</a:t>
            </a:r>
            <a:r>
              <a:rPr lang="hu-HU" kern="0" dirty="0">
                <a:solidFill>
                  <a:srgbClr val="000000"/>
                </a:solidFill>
              </a:rPr>
              <a:t> flow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hu-HU" kern="0" dirty="0" err="1">
                <a:solidFill>
                  <a:srgbClr val="000000"/>
                </a:solidFill>
              </a:rPr>
              <a:t>Final</a:t>
            </a:r>
            <a:r>
              <a:rPr lang="hu-HU" kern="0" dirty="0">
                <a:solidFill>
                  <a:srgbClr val="000000"/>
                </a:solidFill>
              </a:rPr>
              <a:t> panel design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21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2A3F51C-B96F-417D-9BDF-7D661CF1D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02" y="1156677"/>
            <a:ext cx="11933036" cy="4258710"/>
          </a:xfrm>
          <a:prstGeom prst="rect">
            <a:avLst/>
          </a:prstGeom>
        </p:spPr>
      </p:pic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3FE4D743-599D-4BE8-BEBA-AC480B9226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083" y="288074"/>
            <a:ext cx="11615361" cy="432111"/>
          </a:xfrm>
        </p:spPr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Concept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73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Panel design and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flow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B6905-DE3B-428E-9189-53AC6D658F14}"/>
              </a:ext>
            </a:extLst>
          </p:cNvPr>
          <p:cNvSpPr/>
          <p:nvPr/>
        </p:nvSpPr>
        <p:spPr>
          <a:xfrm>
            <a:off x="2821354" y="962613"/>
            <a:ext cx="6064739" cy="45706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TS Panel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543E08-D137-4AFF-9A9F-CDD51FCF920A}"/>
              </a:ext>
            </a:extLst>
          </p:cNvPr>
          <p:cNvSpPr/>
          <p:nvPr/>
        </p:nvSpPr>
        <p:spPr>
          <a:xfrm>
            <a:off x="2930770" y="1324707"/>
            <a:ext cx="2196123" cy="220784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</a:t>
            </a:r>
            <a:endParaRPr kumimoji="0" lang="hu-HU" sz="1100" b="1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ID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type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SL unit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location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Addition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TS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Time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condition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Lane ID of TS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8C8E3-4B54-4E82-9EA1-F44D992B67AF}"/>
              </a:ext>
            </a:extLst>
          </p:cNvPr>
          <p:cNvSpPr/>
          <p:nvPr/>
        </p:nvSpPr>
        <p:spPr>
          <a:xfrm>
            <a:off x="2930769" y="3593760"/>
            <a:ext cx="2196123" cy="87664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settings</a:t>
            </a:r>
            <a:endParaRPr kumimoji="0" lang="hu-HU" sz="1100" b="1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simulated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distance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current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time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C4B472-0F83-48DD-BBC5-1A3F1638696F}"/>
              </a:ext>
            </a:extLst>
          </p:cNvPr>
          <p:cNvSpPr/>
          <p:nvPr/>
        </p:nvSpPr>
        <p:spPr>
          <a:xfrm>
            <a:off x="2930769" y="4516636"/>
            <a:ext cx="2196123" cy="87664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state</a:t>
            </a:r>
            <a:endParaRPr lang="hu-HU" sz="11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ON/OFF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insert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/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delete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objects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source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(video / map)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F2EB6-5D00-481B-A909-671D073DE86D}"/>
              </a:ext>
            </a:extLst>
          </p:cNvPr>
          <p:cNvSpPr/>
          <p:nvPr/>
        </p:nvSpPr>
        <p:spPr>
          <a:xfrm>
            <a:off x="5232401" y="1324707"/>
            <a:ext cx="945661" cy="122701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Selected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(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visual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representation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 of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to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)</a:t>
            </a:r>
            <a:endParaRPr kumimoji="0" lang="en-US" sz="11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35533B-49C3-40D2-801E-AF98B6CEB36C}"/>
              </a:ext>
            </a:extLst>
          </p:cNvPr>
          <p:cNvSpPr/>
          <p:nvPr/>
        </p:nvSpPr>
        <p:spPr>
          <a:xfrm>
            <a:off x="6293340" y="1324707"/>
            <a:ext cx="2477475" cy="244621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</a:t>
            </a:r>
            <a:endParaRPr lang="hu-HU" sz="11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pictures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,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read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only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information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of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already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displayed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content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can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be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disabled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C00ABE-95DF-4EAD-AB72-17694A885D85}"/>
              </a:ext>
            </a:extLst>
          </p:cNvPr>
          <p:cNvSpPr/>
          <p:nvPr/>
        </p:nvSpPr>
        <p:spPr>
          <a:xfrm>
            <a:off x="6574692" y="3832128"/>
            <a:ext cx="2196123" cy="87664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Vehicle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position</a:t>
            </a:r>
            <a:endParaRPr kumimoji="0" lang="hu-HU" sz="1100" b="1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lane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of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vehicle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vehicle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position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9DAAD3-8CC7-4FCF-A203-666C4356EE6D}"/>
              </a:ext>
            </a:extLst>
          </p:cNvPr>
          <p:cNvSpPr/>
          <p:nvPr/>
        </p:nvSpPr>
        <p:spPr>
          <a:xfrm>
            <a:off x="216878" y="1934306"/>
            <a:ext cx="1547445" cy="61741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CLOE :: R</a:t>
            </a:r>
            <a:r>
              <a:rPr lang="hu-HU" sz="1100" b="1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oad</a:t>
            </a:r>
            <a:r>
              <a:rPr lang="hu-HU" sz="1100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1100" b="1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signs</a:t>
            </a:r>
            <a:endParaRPr lang="hu-HU" sz="11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via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FDX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protocol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simulation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source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: video</a:t>
            </a:r>
            <a:endParaRPr kumimoji="0" lang="en-US" sz="6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2583F8-7A6E-4FCE-9733-DC842837E9D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764323" y="2243014"/>
            <a:ext cx="1166446" cy="0"/>
          </a:xfrm>
          <a:prstGeom prst="straightConnector1">
            <a:avLst/>
          </a:prstGeom>
          <a:ln w="12700">
            <a:solidFill>
              <a:srgbClr val="0088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61F8C16-CA25-4103-BB18-6652B7583CFF}"/>
              </a:ext>
            </a:extLst>
          </p:cNvPr>
          <p:cNvSpPr/>
          <p:nvPr/>
        </p:nvSpPr>
        <p:spPr>
          <a:xfrm>
            <a:off x="9370646" y="1996835"/>
            <a:ext cx="2375877" cy="2269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Internal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data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structure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to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store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endParaRPr lang="hu-HU" sz="11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(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max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32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ID [1 .. 32]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static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road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compared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to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vehicle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position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type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SL unit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location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Addition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TS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Time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condition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Lane ID of TS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distance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simulation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source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942CFB-5D83-40A4-856D-207AE3A74FCA}"/>
              </a:ext>
            </a:extLst>
          </p:cNvPr>
          <p:cNvCxnSpPr>
            <a:cxnSpLocks/>
          </p:cNvCxnSpPr>
          <p:nvPr/>
        </p:nvCxnSpPr>
        <p:spPr>
          <a:xfrm>
            <a:off x="9628553" y="731908"/>
            <a:ext cx="0" cy="1264927"/>
          </a:xfrm>
          <a:prstGeom prst="straightConnector1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51A1316-8D11-4D31-9B31-9FDFFFAE48B1}"/>
              </a:ext>
            </a:extLst>
          </p:cNvPr>
          <p:cNvSpPr/>
          <p:nvPr/>
        </p:nvSpPr>
        <p:spPr>
          <a:xfrm>
            <a:off x="222740" y="1172891"/>
            <a:ext cx="1547445" cy="61741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User</a:t>
            </a:r>
            <a:endParaRPr kumimoji="0" lang="en-US" sz="900" b="1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E529D0-6669-4DFC-8B07-DE084F80CA64}"/>
              </a:ext>
            </a:extLst>
          </p:cNvPr>
          <p:cNvCxnSpPr>
            <a:cxnSpLocks/>
          </p:cNvCxnSpPr>
          <p:nvPr/>
        </p:nvCxnSpPr>
        <p:spPr>
          <a:xfrm>
            <a:off x="1764323" y="1481599"/>
            <a:ext cx="1166446" cy="0"/>
          </a:xfrm>
          <a:prstGeom prst="straightConnector1">
            <a:avLst/>
          </a:prstGeom>
          <a:ln w="127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7457E4-F2C8-4D5A-B861-6365E50DFDA4}"/>
              </a:ext>
            </a:extLst>
          </p:cNvPr>
          <p:cNvCxnSpPr>
            <a:cxnSpLocks/>
          </p:cNvCxnSpPr>
          <p:nvPr/>
        </p:nvCxnSpPr>
        <p:spPr>
          <a:xfrm>
            <a:off x="5060461" y="731908"/>
            <a:ext cx="0" cy="599179"/>
          </a:xfrm>
          <a:prstGeom prst="straightConnector1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7B59A3-521E-45B7-8934-715D61FB9021}"/>
              </a:ext>
            </a:extLst>
          </p:cNvPr>
          <p:cNvCxnSpPr>
            <a:cxnSpLocks/>
          </p:cNvCxnSpPr>
          <p:nvPr/>
        </p:nvCxnSpPr>
        <p:spPr>
          <a:xfrm flipH="1">
            <a:off x="5060461" y="731908"/>
            <a:ext cx="4568092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89D1338-CECB-4F69-A70A-864BD39160EA}"/>
              </a:ext>
            </a:extLst>
          </p:cNvPr>
          <p:cNvCxnSpPr>
            <a:cxnSpLocks/>
          </p:cNvCxnSpPr>
          <p:nvPr/>
        </p:nvCxnSpPr>
        <p:spPr>
          <a:xfrm flipV="1">
            <a:off x="9784861" y="4265889"/>
            <a:ext cx="1" cy="1533126"/>
          </a:xfrm>
          <a:prstGeom prst="straightConnector1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97D5669-8154-4414-9F30-ECDB440A7BEA}"/>
              </a:ext>
            </a:extLst>
          </p:cNvPr>
          <p:cNvCxnSpPr>
            <a:cxnSpLocks/>
          </p:cNvCxnSpPr>
          <p:nvPr/>
        </p:nvCxnSpPr>
        <p:spPr>
          <a:xfrm flipH="1">
            <a:off x="5603631" y="5799015"/>
            <a:ext cx="4181231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63C7EA-704F-4E56-AACF-0FBE01A24739}"/>
              </a:ext>
            </a:extLst>
          </p:cNvPr>
          <p:cNvCxnSpPr>
            <a:cxnSpLocks/>
          </p:cNvCxnSpPr>
          <p:nvPr/>
        </p:nvCxnSpPr>
        <p:spPr>
          <a:xfrm>
            <a:off x="5609495" y="4039896"/>
            <a:ext cx="0" cy="1755361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25CD686-47DB-4EB4-A395-5A7DC90351BC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770815" y="3131362"/>
            <a:ext cx="59983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DF2133B-0F12-41C3-98AB-915FB80CA388}"/>
              </a:ext>
            </a:extLst>
          </p:cNvPr>
          <p:cNvCxnSpPr>
            <a:cxnSpLocks/>
          </p:cNvCxnSpPr>
          <p:nvPr/>
        </p:nvCxnSpPr>
        <p:spPr>
          <a:xfrm>
            <a:off x="4911970" y="2407062"/>
            <a:ext cx="42593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B90DDE7-0869-4672-BAFF-69E0ED432703}"/>
              </a:ext>
            </a:extLst>
          </p:cNvPr>
          <p:cNvCxnSpPr>
            <a:cxnSpLocks/>
          </p:cNvCxnSpPr>
          <p:nvPr/>
        </p:nvCxnSpPr>
        <p:spPr>
          <a:xfrm>
            <a:off x="2347546" y="4024849"/>
            <a:ext cx="583223" cy="0"/>
          </a:xfrm>
          <a:prstGeom prst="straightConnector1">
            <a:avLst/>
          </a:prstGeom>
          <a:ln w="127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94E91FB-C456-4623-A95F-7E290A8BF801}"/>
              </a:ext>
            </a:extLst>
          </p:cNvPr>
          <p:cNvCxnSpPr>
            <a:cxnSpLocks/>
          </p:cNvCxnSpPr>
          <p:nvPr/>
        </p:nvCxnSpPr>
        <p:spPr>
          <a:xfrm>
            <a:off x="2347546" y="1481599"/>
            <a:ext cx="0" cy="3435977"/>
          </a:xfrm>
          <a:prstGeom prst="line">
            <a:avLst/>
          </a:prstGeom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FDDA164-5D5E-44D4-AB02-F3ED0B51CC9D}"/>
              </a:ext>
            </a:extLst>
          </p:cNvPr>
          <p:cNvCxnSpPr>
            <a:cxnSpLocks/>
          </p:cNvCxnSpPr>
          <p:nvPr/>
        </p:nvCxnSpPr>
        <p:spPr>
          <a:xfrm>
            <a:off x="2347546" y="4917576"/>
            <a:ext cx="583223" cy="0"/>
          </a:xfrm>
          <a:prstGeom prst="straightConnector1">
            <a:avLst/>
          </a:prstGeom>
          <a:ln w="127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3EE7C61-73CE-4A07-8C97-A2671A0DA058}"/>
              </a:ext>
            </a:extLst>
          </p:cNvPr>
          <p:cNvSpPr/>
          <p:nvPr/>
        </p:nvSpPr>
        <p:spPr>
          <a:xfrm>
            <a:off x="9996856" y="4524743"/>
            <a:ext cx="1547445" cy="617416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Vehicle</a:t>
            </a:r>
            <a:r>
              <a:rPr lang="hu-HU" sz="1100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1100" b="1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Model</a:t>
            </a:r>
            <a:r>
              <a:rPr lang="hu-HU" sz="1100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1100" b="1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data</a:t>
            </a:r>
            <a:r>
              <a:rPr lang="hu-HU" sz="1100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1100" b="1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structure</a:t>
            </a:r>
            <a:endParaRPr kumimoji="0" lang="en-US" sz="900" b="1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ED61B87-7957-455C-AE89-AE8456D522CC}"/>
              </a:ext>
            </a:extLst>
          </p:cNvPr>
          <p:cNvCxnSpPr>
            <a:cxnSpLocks/>
          </p:cNvCxnSpPr>
          <p:nvPr/>
        </p:nvCxnSpPr>
        <p:spPr>
          <a:xfrm flipH="1">
            <a:off x="8770815" y="4635821"/>
            <a:ext cx="1226042" cy="0"/>
          </a:xfrm>
          <a:prstGeom prst="straightConnector1">
            <a:avLst/>
          </a:prstGeom>
          <a:ln w="12700">
            <a:solidFill>
              <a:srgbClr val="CC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D319FE8-07F8-4C7E-A10A-263666F61879}"/>
              </a:ext>
            </a:extLst>
          </p:cNvPr>
          <p:cNvCxnSpPr>
            <a:cxnSpLocks/>
          </p:cNvCxnSpPr>
          <p:nvPr/>
        </p:nvCxnSpPr>
        <p:spPr>
          <a:xfrm flipH="1">
            <a:off x="5131778" y="4047711"/>
            <a:ext cx="468921" cy="0"/>
          </a:xfrm>
          <a:prstGeom prst="straightConnector1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7A9B102-F5A4-48FB-9BEB-5CBD066403B1}"/>
              </a:ext>
            </a:extLst>
          </p:cNvPr>
          <p:cNvCxnSpPr>
            <a:cxnSpLocks/>
          </p:cNvCxnSpPr>
          <p:nvPr/>
        </p:nvCxnSpPr>
        <p:spPr>
          <a:xfrm flipH="1">
            <a:off x="5134708" y="4926573"/>
            <a:ext cx="468921" cy="0"/>
          </a:xfrm>
          <a:prstGeom prst="straightConnector1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773E43FF-3710-4066-AD44-ADDB718CACB6}"/>
              </a:ext>
            </a:extLst>
          </p:cNvPr>
          <p:cNvSpPr/>
          <p:nvPr/>
        </p:nvSpPr>
        <p:spPr>
          <a:xfrm>
            <a:off x="10198716" y="493648"/>
            <a:ext cx="1547445" cy="6174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Customer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/ Bosch COM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protocols</a:t>
            </a:r>
            <a:endParaRPr kumimoji="0" lang="en-US" sz="900" b="1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F7061DE-810D-4A97-899F-94C14637029B}"/>
              </a:ext>
            </a:extLst>
          </p:cNvPr>
          <p:cNvCxnSpPr>
            <a:cxnSpLocks/>
            <a:endCxn id="81" idx="2"/>
          </p:cNvCxnSpPr>
          <p:nvPr/>
        </p:nvCxnSpPr>
        <p:spPr>
          <a:xfrm flipV="1">
            <a:off x="10972439" y="1111064"/>
            <a:ext cx="0" cy="885771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C316B3E-7B65-4E22-AB32-0252FD34B6B9}"/>
              </a:ext>
            </a:extLst>
          </p:cNvPr>
          <p:cNvCxnSpPr>
            <a:cxnSpLocks/>
          </p:cNvCxnSpPr>
          <p:nvPr/>
        </p:nvCxnSpPr>
        <p:spPr>
          <a:xfrm>
            <a:off x="2164862" y="5037014"/>
            <a:ext cx="765907" cy="0"/>
          </a:xfrm>
          <a:prstGeom prst="straightConnector1">
            <a:avLst/>
          </a:prstGeom>
          <a:ln w="12700">
            <a:solidFill>
              <a:srgbClr val="0088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33F9AD9-CD6A-469F-85BE-D6D1016401D7}"/>
              </a:ext>
            </a:extLst>
          </p:cNvPr>
          <p:cNvCxnSpPr>
            <a:cxnSpLocks/>
          </p:cNvCxnSpPr>
          <p:nvPr/>
        </p:nvCxnSpPr>
        <p:spPr>
          <a:xfrm>
            <a:off x="2171701" y="2243014"/>
            <a:ext cx="0" cy="2794000"/>
          </a:xfrm>
          <a:prstGeom prst="line">
            <a:avLst/>
          </a:prstGeom>
          <a:ln w="12700">
            <a:solidFill>
              <a:srgbClr val="0088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04274F5-62ED-4D10-996F-C932F38FDFAD}"/>
              </a:ext>
            </a:extLst>
          </p:cNvPr>
          <p:cNvCxnSpPr>
            <a:cxnSpLocks/>
          </p:cNvCxnSpPr>
          <p:nvPr/>
        </p:nvCxnSpPr>
        <p:spPr>
          <a:xfrm>
            <a:off x="8770816" y="4005574"/>
            <a:ext cx="599830" cy="0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83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Final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panel design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D89A4-7E7F-4FFD-BF82-09B83F83F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98" y="720185"/>
            <a:ext cx="7591817" cy="546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2E1FE40-AB9A-4987-86DC-5D0F63E4AD08}"/>
              </a:ext>
            </a:extLst>
          </p:cNvPr>
          <p:cNvSpPr/>
          <p:nvPr/>
        </p:nvSpPr>
        <p:spPr>
          <a:xfrm>
            <a:off x="2946416" y="1618954"/>
            <a:ext cx="6396201" cy="3531386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000" b="1" kern="0" dirty="0" err="1">
                <a:ln w="0"/>
                <a:latin typeface="Bosch Office Sans"/>
              </a:rPr>
              <a:t>Calculation</a:t>
            </a:r>
            <a:endParaRPr lang="hu-HU" sz="1000" b="1" kern="0" dirty="0">
              <a:ln w="0"/>
              <a:latin typeface="Bosch Office Sans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FDX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flow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9DAAD3-8CC7-4FCF-A203-666C4356EE6D}"/>
              </a:ext>
            </a:extLst>
          </p:cNvPr>
          <p:cNvSpPr/>
          <p:nvPr/>
        </p:nvSpPr>
        <p:spPr>
          <a:xfrm>
            <a:off x="3094896" y="1864818"/>
            <a:ext cx="2790094" cy="161614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100" b="1" kern="0" dirty="0">
                <a:ln w="0"/>
                <a:latin typeface="Bosch Office Sans"/>
              </a:rPr>
              <a:t>Input :: </a:t>
            </a:r>
            <a:r>
              <a:rPr kumimoji="0" lang="hu-HU" sz="1100" b="1" i="0" u="none" strike="noStrike" kern="0" normalizeH="0" baseline="0" noProof="0" dirty="0">
                <a:ln w="0"/>
                <a:uLnTx/>
                <a:uFillTx/>
                <a:latin typeface="Bosch Office Sans"/>
                <a:ea typeface="+mn-ea"/>
                <a:cs typeface="+mn-cs"/>
              </a:rPr>
              <a:t>CLOE :: R</a:t>
            </a:r>
            <a:r>
              <a:rPr lang="hu-HU" sz="1100" b="1" kern="0" dirty="0" err="1">
                <a:ln w="0"/>
                <a:latin typeface="Bosch Office Sans"/>
              </a:rPr>
              <a:t>oad</a:t>
            </a:r>
            <a:r>
              <a:rPr lang="hu-HU" sz="1100" b="1" kern="0" dirty="0">
                <a:ln w="0"/>
                <a:latin typeface="Bosch Office Sans"/>
              </a:rPr>
              <a:t> </a:t>
            </a:r>
            <a:r>
              <a:rPr lang="hu-HU" sz="1100" b="1" kern="0" dirty="0" err="1">
                <a:ln w="0"/>
                <a:latin typeface="Bosch Office Sans"/>
              </a:rPr>
              <a:t>signs</a:t>
            </a:r>
            <a:endParaRPr lang="hu-HU" sz="1100" b="1" kern="0" dirty="0">
              <a:ln w="0"/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b="1" kern="0" dirty="0" err="1">
                <a:ln w="0"/>
                <a:latin typeface="Bosch Office Sans"/>
              </a:rPr>
              <a:t>message</a:t>
            </a:r>
            <a:r>
              <a:rPr lang="hu-HU" sz="900" b="1" kern="0" dirty="0">
                <a:ln w="0"/>
                <a:latin typeface="Bosch Office Sans"/>
              </a:rPr>
              <a:t>_</a:t>
            </a:r>
            <a:r>
              <a:rPr lang="en-US" sz="900" b="1" kern="0" dirty="0" err="1">
                <a:ln w="0"/>
                <a:latin typeface="Bosch Office Sans"/>
              </a:rPr>
              <a:t>FDX_in_HIL_specific_TS</a:t>
            </a:r>
            <a:r>
              <a:rPr lang="hu-HU" sz="900" b="1" kern="0" dirty="0">
                <a:ln w="0"/>
                <a:latin typeface="Bosch Office Sans"/>
              </a:rPr>
              <a:t> :: [0..31] ::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 err="1">
                <a:ln w="0"/>
                <a:latin typeface="Bosch Office Sans"/>
              </a:rPr>
              <a:t>FDX_in_TS_additional_sign</a:t>
            </a:r>
            <a:endParaRPr lang="hu-HU" sz="900" kern="0" dirty="0">
              <a:ln w="0"/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 err="1">
                <a:ln w="0"/>
                <a:latin typeface="Bosch Office Sans"/>
              </a:rPr>
              <a:t>FDX_in_TS_lane_id_of_traffic_sign</a:t>
            </a:r>
            <a:endParaRPr lang="hu-HU" sz="900" kern="0" dirty="0">
              <a:ln w="0"/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 err="1">
                <a:ln w="0"/>
                <a:latin typeface="Bosch Office Sans"/>
              </a:rPr>
              <a:t>FDX_in_TS_sign_offset</a:t>
            </a:r>
            <a:endParaRPr lang="hu-HU" sz="900" kern="0" dirty="0">
              <a:ln w="0"/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 err="1">
                <a:ln w="0"/>
                <a:latin typeface="Bosch Office Sans"/>
              </a:rPr>
              <a:t>FDX_in_TS_sign_type</a:t>
            </a:r>
            <a:endParaRPr lang="hu-HU" sz="900" kern="0" dirty="0">
              <a:ln w="0"/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 err="1">
                <a:ln w="0"/>
                <a:latin typeface="Bosch Office Sans"/>
              </a:rPr>
              <a:t>FDX_in_TS_sign_location</a:t>
            </a:r>
            <a:endParaRPr lang="hu-HU" sz="900" kern="0" dirty="0">
              <a:ln w="0"/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 err="1">
                <a:ln w="0"/>
                <a:latin typeface="Bosch Office Sans"/>
              </a:rPr>
              <a:t>FDX_in_TS_simulation_source</a:t>
            </a:r>
            <a:endParaRPr lang="hu-HU" sz="900" kern="0" dirty="0">
              <a:ln w="0"/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 err="1">
                <a:ln w="0"/>
                <a:latin typeface="Bosch Office Sans"/>
              </a:rPr>
              <a:t>FDX_in_TS_time_condition</a:t>
            </a:r>
            <a:endParaRPr lang="hu-HU" sz="900" kern="0" dirty="0">
              <a:ln w="0"/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 err="1">
                <a:ln w="0"/>
                <a:latin typeface="Bosch Office Sans"/>
              </a:rPr>
              <a:t>FDX_in_TS_traffic_sign_id</a:t>
            </a:r>
            <a:endParaRPr lang="hu-HU" sz="900" kern="0" dirty="0">
              <a:ln w="0"/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hu-HU" sz="800" kern="0" dirty="0">
              <a:ln w="0"/>
              <a:latin typeface="Bosch Office San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5EC22E-5081-48E4-A1E3-2210365EC52E}"/>
              </a:ext>
            </a:extLst>
          </p:cNvPr>
          <p:cNvSpPr/>
          <p:nvPr/>
        </p:nvSpPr>
        <p:spPr>
          <a:xfrm>
            <a:off x="6682153" y="2598616"/>
            <a:ext cx="2375877" cy="2269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Output ::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Internal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data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structure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to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store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endParaRPr lang="hu-HU" sz="11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(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max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32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ID [1 .. 32]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strike="sngStrike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TS </a:t>
            </a:r>
            <a:r>
              <a:rPr lang="hu-HU" sz="900" strike="sngStrike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static</a:t>
            </a:r>
            <a:r>
              <a:rPr lang="hu-HU" sz="900" strike="sngStrike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strike="sngStrike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r>
              <a:rPr lang="hu-HU" sz="900" strike="sngStrike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strike="sngStrike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on</a:t>
            </a:r>
            <a:r>
              <a:rPr lang="hu-HU" sz="900" strike="sngStrike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strike="sngStrike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road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not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used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compared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to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vehicle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position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type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SL unit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location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Addition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TS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Time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condition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Lane ID of TS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distance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=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uLnTx/>
                <a:uFillTx/>
                <a:latin typeface="Bosch Office Sans"/>
                <a:ea typeface="+mn-ea"/>
                <a:cs typeface="+mn-cs"/>
              </a:rPr>
              <a:t>defined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uLnTx/>
                <a:uFillTx/>
                <a:latin typeface="Bosch Office Sans"/>
                <a:ea typeface="+mn-ea"/>
                <a:cs typeface="+mn-cs"/>
              </a:rPr>
              <a:t>by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uLnTx/>
                <a:uFillTx/>
                <a:latin typeface="Bosch Office Sans"/>
                <a:ea typeface="+mn-ea"/>
                <a:cs typeface="+mn-cs"/>
              </a:rPr>
              <a:t> RBS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simulation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source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protocol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= 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uLnTx/>
                <a:uFillTx/>
                <a:latin typeface="Bosch Office Sans"/>
                <a:ea typeface="+mn-ea"/>
                <a:cs typeface="+mn-cs"/>
              </a:rPr>
              <a:t>FDX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56A9711B-09DD-4647-91D2-1144D2574C87}"/>
              </a:ext>
            </a:extLst>
          </p:cNvPr>
          <p:cNvSpPr/>
          <p:nvPr/>
        </p:nvSpPr>
        <p:spPr>
          <a:xfrm>
            <a:off x="719024" y="1875068"/>
            <a:ext cx="1570891" cy="808072"/>
          </a:xfrm>
          <a:prstGeom prst="diamond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hu-HU" sz="900" dirty="0" err="1">
                <a:solidFill>
                  <a:srgbClr val="000000"/>
                </a:solidFill>
                <a:latin typeface="+mj-lt"/>
              </a:rPr>
              <a:t>Simulation</a:t>
            </a:r>
            <a:r>
              <a:rPr lang="hu-HU" sz="900" dirty="0">
                <a:solidFill>
                  <a:srgbClr val="000000"/>
                </a:solidFill>
                <a:latin typeface="+mj-lt"/>
              </a:rPr>
              <a:t> = FDX </a:t>
            </a:r>
            <a:r>
              <a:rPr lang="hu-HU" sz="900" dirty="0" err="1">
                <a:solidFill>
                  <a:srgbClr val="000000"/>
                </a:solidFill>
                <a:latin typeface="+mj-lt"/>
              </a:rPr>
              <a:t>or</a:t>
            </a:r>
            <a:r>
              <a:rPr lang="hu-HU" sz="900" dirty="0">
                <a:solidFill>
                  <a:srgbClr val="000000"/>
                </a:solidFill>
                <a:latin typeface="+mj-lt"/>
              </a:rPr>
              <a:t> CLASSE</a:t>
            </a:r>
            <a:endParaRPr lang="en-US" sz="500" kern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69744-B425-43DC-857C-8B6CFDDA9549}"/>
              </a:ext>
            </a:extLst>
          </p:cNvPr>
          <p:cNvSpPr txBox="1"/>
          <p:nvPr/>
        </p:nvSpPr>
        <p:spPr>
          <a:xfrm>
            <a:off x="272458" y="1944189"/>
            <a:ext cx="562708" cy="3025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5ms </a:t>
            </a:r>
            <a:r>
              <a:rPr kumimoji="0" lang="hu-H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cycle</a:t>
            </a:r>
            <a:r>
              <a:rPr kumimoji="0" lang="hu-H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begin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421C11-8775-4D7E-837E-0DF42D07E276}"/>
              </a:ext>
            </a:extLst>
          </p:cNvPr>
          <p:cNvCxnSpPr>
            <a:cxnSpLocks/>
          </p:cNvCxnSpPr>
          <p:nvPr/>
        </p:nvCxnSpPr>
        <p:spPr>
          <a:xfrm>
            <a:off x="327165" y="2280162"/>
            <a:ext cx="38403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81B8CB1-21C6-4865-A587-5C5EC0C8F3C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89915" y="2279104"/>
            <a:ext cx="6606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1DC04FE-6447-4B71-B658-9FB4132FB48A}"/>
              </a:ext>
            </a:extLst>
          </p:cNvPr>
          <p:cNvSpPr txBox="1"/>
          <p:nvPr/>
        </p:nvSpPr>
        <p:spPr>
          <a:xfrm>
            <a:off x="2498872" y="2058258"/>
            <a:ext cx="407768" cy="1884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FDX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47679D-50F4-478E-9770-F06E29A03798}"/>
              </a:ext>
            </a:extLst>
          </p:cNvPr>
          <p:cNvCxnSpPr>
            <a:cxnSpLocks/>
          </p:cNvCxnSpPr>
          <p:nvPr/>
        </p:nvCxnSpPr>
        <p:spPr>
          <a:xfrm flipV="1">
            <a:off x="1510336" y="2692932"/>
            <a:ext cx="0" cy="76819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iamond 41">
            <a:extLst>
              <a:ext uri="{FF2B5EF4-FFF2-40B4-BE49-F238E27FC236}">
                <a16:creationId xmlns:a16="http://schemas.microsoft.com/office/drawing/2014/main" id="{F495BAF1-BC67-4704-843B-C20A3636A427}"/>
              </a:ext>
            </a:extLst>
          </p:cNvPr>
          <p:cNvSpPr/>
          <p:nvPr/>
        </p:nvSpPr>
        <p:spPr>
          <a:xfrm>
            <a:off x="3298099" y="3810653"/>
            <a:ext cx="1344245" cy="667563"/>
          </a:xfrm>
          <a:prstGeom prst="diamond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hu-HU" sz="900" dirty="0" err="1">
                <a:solidFill>
                  <a:srgbClr val="000000"/>
                </a:solidFill>
                <a:latin typeface="+mj-lt"/>
              </a:rPr>
              <a:t>Traffic</a:t>
            </a:r>
            <a:r>
              <a:rPr lang="hu-HU" sz="900" dirty="0">
                <a:solidFill>
                  <a:srgbClr val="000000"/>
                </a:solidFill>
                <a:latin typeface="+mj-lt"/>
              </a:rPr>
              <a:t> </a:t>
            </a:r>
            <a:r>
              <a:rPr lang="hu-HU" sz="900" dirty="0" err="1">
                <a:solidFill>
                  <a:srgbClr val="000000"/>
                </a:solidFill>
                <a:latin typeface="+mj-lt"/>
              </a:rPr>
              <a:t>sign</a:t>
            </a:r>
            <a:r>
              <a:rPr lang="hu-HU" sz="900" dirty="0">
                <a:solidFill>
                  <a:srgbClr val="000000"/>
                </a:solidFill>
                <a:latin typeface="+mj-lt"/>
              </a:rPr>
              <a:t> ID is </a:t>
            </a:r>
            <a:r>
              <a:rPr lang="hu-HU" sz="900" dirty="0" err="1">
                <a:solidFill>
                  <a:srgbClr val="000000"/>
                </a:solidFill>
                <a:latin typeface="+mj-lt"/>
              </a:rPr>
              <a:t>valid</a:t>
            </a:r>
            <a:endParaRPr lang="en-US" sz="500" kern="0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3D5313-6316-4684-912D-F146FECE4F52}"/>
              </a:ext>
            </a:extLst>
          </p:cNvPr>
          <p:cNvCxnSpPr>
            <a:cxnSpLocks/>
          </p:cNvCxnSpPr>
          <p:nvPr/>
        </p:nvCxnSpPr>
        <p:spPr>
          <a:xfrm>
            <a:off x="4642344" y="4151805"/>
            <a:ext cx="2039809" cy="63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7326985-3EE0-402B-ACE1-B46D51A0EBE5}"/>
              </a:ext>
            </a:extLst>
          </p:cNvPr>
          <p:cNvCxnSpPr>
            <a:cxnSpLocks/>
          </p:cNvCxnSpPr>
          <p:nvPr/>
        </p:nvCxnSpPr>
        <p:spPr>
          <a:xfrm flipV="1">
            <a:off x="3973833" y="4478217"/>
            <a:ext cx="0" cy="13005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9D3A730-71D1-47FE-820A-D6D385248062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3094896" y="4144435"/>
            <a:ext cx="203203" cy="7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4BA5188-0530-47B2-9A32-9194C90B2B19}"/>
              </a:ext>
            </a:extLst>
          </p:cNvPr>
          <p:cNvCxnSpPr>
            <a:cxnSpLocks/>
          </p:cNvCxnSpPr>
          <p:nvPr/>
        </p:nvCxnSpPr>
        <p:spPr>
          <a:xfrm flipV="1">
            <a:off x="3094896" y="4144435"/>
            <a:ext cx="1" cy="46383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02D2066-951D-4A00-92B3-0EDD476C75E7}"/>
              </a:ext>
            </a:extLst>
          </p:cNvPr>
          <p:cNvCxnSpPr>
            <a:cxnSpLocks/>
          </p:cNvCxnSpPr>
          <p:nvPr/>
        </p:nvCxnSpPr>
        <p:spPr>
          <a:xfrm flipH="1">
            <a:off x="3099483" y="4609688"/>
            <a:ext cx="870738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4AE44CF-4F07-4C6C-9444-935DC4013629}"/>
              </a:ext>
            </a:extLst>
          </p:cNvPr>
          <p:cNvSpPr txBox="1"/>
          <p:nvPr/>
        </p:nvSpPr>
        <p:spPr>
          <a:xfrm>
            <a:off x="3399246" y="4646914"/>
            <a:ext cx="437342" cy="1884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0 .. 31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B01270D-61AF-4911-A499-FDF7C6EB15CD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3970221" y="3490223"/>
            <a:ext cx="1" cy="320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79E5EA2-FDD4-40F9-9ADE-62FB5F26DDEE}"/>
              </a:ext>
            </a:extLst>
          </p:cNvPr>
          <p:cNvSpPr txBox="1"/>
          <p:nvPr/>
        </p:nvSpPr>
        <p:spPr>
          <a:xfrm>
            <a:off x="4818508" y="3969701"/>
            <a:ext cx="298536" cy="1884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valid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C13F41B-3981-4726-B935-1BF29EA09603}"/>
              </a:ext>
            </a:extLst>
          </p:cNvPr>
          <p:cNvSpPr txBox="1"/>
          <p:nvPr/>
        </p:nvSpPr>
        <p:spPr>
          <a:xfrm>
            <a:off x="296419" y="772957"/>
            <a:ext cx="3478412" cy="3881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Store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traffic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sign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info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from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CLOE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47252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CLASSE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flow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D3C53E-A06F-4674-AE2A-4469AEA8E3ED}"/>
              </a:ext>
            </a:extLst>
          </p:cNvPr>
          <p:cNvSpPr/>
          <p:nvPr/>
        </p:nvSpPr>
        <p:spPr>
          <a:xfrm>
            <a:off x="950833" y="1627174"/>
            <a:ext cx="2037315" cy="321013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TS Panel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3424E4-C558-42C1-BC55-0A707FA4CB34}"/>
              </a:ext>
            </a:extLst>
          </p:cNvPr>
          <p:cNvSpPr/>
          <p:nvPr/>
        </p:nvSpPr>
        <p:spPr>
          <a:xfrm>
            <a:off x="1031874" y="2015299"/>
            <a:ext cx="1234829" cy="138072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</a:t>
            </a:r>
            <a:endParaRPr kumimoji="0" lang="hu-HU" sz="1100" b="1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ID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type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SL unit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location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Addition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TS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Time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condition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Lane ID of TS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CB1875-8B1B-45C2-BB29-C478994A8FDD}"/>
              </a:ext>
            </a:extLst>
          </p:cNvPr>
          <p:cNvSpPr/>
          <p:nvPr/>
        </p:nvSpPr>
        <p:spPr>
          <a:xfrm>
            <a:off x="1023193" y="3465576"/>
            <a:ext cx="1601060" cy="56675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settings</a:t>
            </a:r>
            <a:endParaRPr kumimoji="0" lang="hu-HU" sz="1100" b="1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simulated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distance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current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time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5B7858-520A-49C0-B183-BB76CF7FBBDA}"/>
              </a:ext>
            </a:extLst>
          </p:cNvPr>
          <p:cNvSpPr/>
          <p:nvPr/>
        </p:nvSpPr>
        <p:spPr>
          <a:xfrm>
            <a:off x="1023193" y="4101878"/>
            <a:ext cx="1905863" cy="67159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state</a:t>
            </a:r>
            <a:endParaRPr lang="hu-HU" sz="11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ON/OFF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insert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/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delete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objects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source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(video / map)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587483-11E6-4B04-B18A-EC241A94E14D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2988148" y="3155086"/>
            <a:ext cx="1624915" cy="88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BFCC5D0-B8CD-4E24-A06F-7BE54B95D874}"/>
              </a:ext>
            </a:extLst>
          </p:cNvPr>
          <p:cNvSpPr/>
          <p:nvPr/>
        </p:nvSpPr>
        <p:spPr>
          <a:xfrm>
            <a:off x="4613063" y="2020559"/>
            <a:ext cx="3882259" cy="22690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Internal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data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structure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to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store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endParaRPr lang="hu-HU" sz="11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(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max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32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ID [1 .. 32]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static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road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strike="sngStrike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TS </a:t>
            </a:r>
            <a:r>
              <a:rPr lang="hu-HU" sz="900" strike="sngStrike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r>
              <a:rPr lang="hu-HU" sz="900" strike="sngStrike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strike="sngStrike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compared</a:t>
            </a:r>
            <a:r>
              <a:rPr lang="hu-HU" sz="900" strike="sngStrike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strike="sngStrike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to</a:t>
            </a:r>
            <a:r>
              <a:rPr lang="hu-HU" sz="900" strike="sngStrike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strike="sngStrike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vehicle</a:t>
            </a:r>
            <a:r>
              <a:rPr lang="hu-HU" sz="900" strike="sngStrike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strike="sngStrike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position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(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filled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during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5ms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cycle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period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type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SL unit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location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Addition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TS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Time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condition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Lane ID of TS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distance</a:t>
            </a:r>
            <a:endParaRPr kumimoji="0" lang="hu-HU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simulation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source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simulation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900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protocol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= </a:t>
            </a: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uLnTx/>
                <a:uFillTx/>
                <a:latin typeface="Bosch Office Sans"/>
                <a:ea typeface="+mn-ea"/>
                <a:cs typeface="+mn-cs"/>
              </a:rPr>
              <a:t>CLASSE</a:t>
            </a: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AFDCC0-149E-4032-8CC0-745307763FBB}"/>
              </a:ext>
            </a:extLst>
          </p:cNvPr>
          <p:cNvSpPr txBox="1"/>
          <p:nvPr/>
        </p:nvSpPr>
        <p:spPr>
          <a:xfrm>
            <a:off x="3176859" y="2990718"/>
            <a:ext cx="1247493" cy="1643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800" kern="0" dirty="0" err="1">
                <a:solidFill>
                  <a:srgbClr val="000000"/>
                </a:solidFill>
              </a:rPr>
              <a:t>Insert</a:t>
            </a:r>
            <a:r>
              <a:rPr lang="hu-HU" sz="800" kern="0" dirty="0">
                <a:solidFill>
                  <a:srgbClr val="000000"/>
                </a:solidFill>
              </a:rPr>
              <a:t> / </a:t>
            </a:r>
            <a:r>
              <a:rPr lang="hu-HU" sz="800" kern="0" dirty="0" err="1">
                <a:solidFill>
                  <a:srgbClr val="000000"/>
                </a:solidFill>
              </a:rPr>
              <a:t>Delete</a:t>
            </a:r>
            <a:r>
              <a:rPr lang="hu-HU" sz="800" kern="0" dirty="0">
                <a:solidFill>
                  <a:srgbClr val="000000"/>
                </a:solidFill>
              </a:rPr>
              <a:t> / </a:t>
            </a:r>
            <a:r>
              <a:rPr lang="hu-HU" sz="800" kern="0" dirty="0" err="1">
                <a:solidFill>
                  <a:srgbClr val="000000"/>
                </a:solidFill>
              </a:rPr>
              <a:t>Clear</a:t>
            </a:r>
            <a:r>
              <a:rPr lang="hu-HU" sz="800" kern="0" dirty="0">
                <a:solidFill>
                  <a:srgbClr val="000000"/>
                </a:solidFill>
              </a:rPr>
              <a:t> </a:t>
            </a:r>
            <a:r>
              <a:rPr lang="hu-HU" sz="800" kern="0" dirty="0" err="1">
                <a:solidFill>
                  <a:srgbClr val="000000"/>
                </a:solidFill>
              </a:rPr>
              <a:t>All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5A79C4-D41D-411B-97F1-A1C2ACEDA34D}"/>
              </a:ext>
            </a:extLst>
          </p:cNvPr>
          <p:cNvSpPr txBox="1"/>
          <p:nvPr/>
        </p:nvSpPr>
        <p:spPr>
          <a:xfrm>
            <a:off x="296419" y="772957"/>
            <a:ext cx="3478412" cy="3881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Store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traffic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sign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info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from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Panel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145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2E1FE40-AB9A-4987-86DC-5D0F63E4AD08}"/>
              </a:ext>
            </a:extLst>
          </p:cNvPr>
          <p:cNvSpPr/>
          <p:nvPr/>
        </p:nvSpPr>
        <p:spPr>
          <a:xfrm>
            <a:off x="2970377" y="1728368"/>
            <a:ext cx="6533647" cy="3289105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000" b="1" kern="0" dirty="0" err="1">
                <a:ln w="0"/>
                <a:latin typeface="Bosch Office Sans"/>
              </a:rPr>
              <a:t>Calculation</a:t>
            </a:r>
            <a:endParaRPr lang="hu-HU" sz="1000" b="1" kern="0" dirty="0">
              <a:ln w="0"/>
              <a:latin typeface="Bosch Office Sans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CLASSE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flow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5EC22E-5081-48E4-A1E3-2210365EC52E}"/>
              </a:ext>
            </a:extLst>
          </p:cNvPr>
          <p:cNvSpPr/>
          <p:nvPr/>
        </p:nvSpPr>
        <p:spPr>
          <a:xfrm>
            <a:off x="3157942" y="2100043"/>
            <a:ext cx="2375877" cy="1031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Input ::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Internal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data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structure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to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store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endParaRPr lang="hu-HU" sz="11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(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max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32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- TS ID [1 .. 32]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-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static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on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road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56A9711B-09DD-4647-91D2-1144D2574C87}"/>
              </a:ext>
            </a:extLst>
          </p:cNvPr>
          <p:cNvSpPr/>
          <p:nvPr/>
        </p:nvSpPr>
        <p:spPr>
          <a:xfrm>
            <a:off x="742985" y="1984483"/>
            <a:ext cx="1570891" cy="808072"/>
          </a:xfrm>
          <a:prstGeom prst="diamond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hu-HU" sz="900" dirty="0" err="1">
                <a:solidFill>
                  <a:srgbClr val="000000"/>
                </a:solidFill>
                <a:latin typeface="+mj-lt"/>
              </a:rPr>
              <a:t>Simulation</a:t>
            </a:r>
            <a:r>
              <a:rPr lang="hu-HU" sz="900" dirty="0">
                <a:solidFill>
                  <a:srgbClr val="000000"/>
                </a:solidFill>
                <a:latin typeface="+mj-lt"/>
              </a:rPr>
              <a:t> = FDX </a:t>
            </a:r>
            <a:r>
              <a:rPr lang="hu-HU" sz="900" dirty="0" err="1">
                <a:solidFill>
                  <a:srgbClr val="000000"/>
                </a:solidFill>
                <a:latin typeface="+mj-lt"/>
              </a:rPr>
              <a:t>or</a:t>
            </a:r>
            <a:r>
              <a:rPr lang="hu-HU" sz="900" dirty="0">
                <a:solidFill>
                  <a:srgbClr val="000000"/>
                </a:solidFill>
                <a:latin typeface="+mj-lt"/>
              </a:rPr>
              <a:t> CLASSE</a:t>
            </a:r>
            <a:endParaRPr lang="en-US" sz="500" kern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69744-B425-43DC-857C-8B6CFDDA9549}"/>
              </a:ext>
            </a:extLst>
          </p:cNvPr>
          <p:cNvSpPr txBox="1"/>
          <p:nvPr/>
        </p:nvSpPr>
        <p:spPr>
          <a:xfrm>
            <a:off x="296419" y="2053604"/>
            <a:ext cx="562708" cy="3025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5ms </a:t>
            </a:r>
            <a:r>
              <a:rPr kumimoji="0" lang="hu-H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cycle</a:t>
            </a:r>
            <a:r>
              <a:rPr kumimoji="0" lang="hu-H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begin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421C11-8775-4D7E-837E-0DF42D07E276}"/>
              </a:ext>
            </a:extLst>
          </p:cNvPr>
          <p:cNvCxnSpPr>
            <a:cxnSpLocks/>
          </p:cNvCxnSpPr>
          <p:nvPr/>
        </p:nvCxnSpPr>
        <p:spPr>
          <a:xfrm>
            <a:off x="351126" y="2389577"/>
            <a:ext cx="38403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81B8CB1-21C6-4865-A587-5C5EC0C8F3C0}"/>
              </a:ext>
            </a:extLst>
          </p:cNvPr>
          <p:cNvCxnSpPr>
            <a:cxnSpLocks/>
          </p:cNvCxnSpPr>
          <p:nvPr/>
        </p:nvCxnSpPr>
        <p:spPr>
          <a:xfrm>
            <a:off x="1534297" y="3567556"/>
            <a:ext cx="14360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1DC04FE-6447-4B71-B658-9FB4132FB48A}"/>
              </a:ext>
            </a:extLst>
          </p:cNvPr>
          <p:cNvSpPr txBox="1"/>
          <p:nvPr/>
        </p:nvSpPr>
        <p:spPr>
          <a:xfrm>
            <a:off x="1589814" y="3092199"/>
            <a:ext cx="536497" cy="1884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CLASSE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47679D-50F4-478E-9770-F06E29A03798}"/>
              </a:ext>
            </a:extLst>
          </p:cNvPr>
          <p:cNvCxnSpPr>
            <a:cxnSpLocks/>
          </p:cNvCxnSpPr>
          <p:nvPr/>
        </p:nvCxnSpPr>
        <p:spPr>
          <a:xfrm flipV="1">
            <a:off x="1534297" y="2802347"/>
            <a:ext cx="0" cy="76819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EA090E-9390-4FFB-8F66-BBE380EFDCF9}"/>
              </a:ext>
            </a:extLst>
          </p:cNvPr>
          <p:cNvCxnSpPr>
            <a:cxnSpLocks/>
          </p:cNvCxnSpPr>
          <p:nvPr/>
        </p:nvCxnSpPr>
        <p:spPr>
          <a:xfrm flipH="1">
            <a:off x="2327561" y="2389577"/>
            <a:ext cx="41616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iamond 30">
            <a:extLst>
              <a:ext uri="{FF2B5EF4-FFF2-40B4-BE49-F238E27FC236}">
                <a16:creationId xmlns:a16="http://schemas.microsoft.com/office/drawing/2014/main" id="{DB0620D4-A86C-4065-B59D-81E296FF36BA}"/>
              </a:ext>
            </a:extLst>
          </p:cNvPr>
          <p:cNvSpPr/>
          <p:nvPr/>
        </p:nvSpPr>
        <p:spPr>
          <a:xfrm>
            <a:off x="3691822" y="3810633"/>
            <a:ext cx="1344245" cy="667563"/>
          </a:xfrm>
          <a:prstGeom prst="diamond">
            <a:avLst/>
          </a:prstGeom>
          <a:noFill/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hu-HU" sz="900" dirty="0" err="1">
                <a:solidFill>
                  <a:srgbClr val="000000"/>
                </a:solidFill>
                <a:latin typeface="+mj-lt"/>
              </a:rPr>
              <a:t>Traffic</a:t>
            </a:r>
            <a:r>
              <a:rPr lang="hu-HU" sz="900" dirty="0">
                <a:solidFill>
                  <a:srgbClr val="000000"/>
                </a:solidFill>
                <a:latin typeface="+mj-lt"/>
              </a:rPr>
              <a:t> </a:t>
            </a:r>
            <a:r>
              <a:rPr lang="hu-HU" sz="900" dirty="0" err="1">
                <a:solidFill>
                  <a:srgbClr val="000000"/>
                </a:solidFill>
                <a:latin typeface="+mj-lt"/>
              </a:rPr>
              <a:t>sign</a:t>
            </a:r>
            <a:r>
              <a:rPr lang="hu-HU" sz="900" dirty="0">
                <a:solidFill>
                  <a:srgbClr val="000000"/>
                </a:solidFill>
                <a:latin typeface="+mj-lt"/>
              </a:rPr>
              <a:t> ID is </a:t>
            </a:r>
            <a:r>
              <a:rPr lang="hu-HU" sz="900" dirty="0" err="1">
                <a:solidFill>
                  <a:srgbClr val="000000"/>
                </a:solidFill>
                <a:latin typeface="+mj-lt"/>
              </a:rPr>
              <a:t>valid</a:t>
            </a:r>
            <a:endParaRPr lang="en-US" sz="500" kern="0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989CBD-4D0E-4548-9824-30A2DF0DED07}"/>
              </a:ext>
            </a:extLst>
          </p:cNvPr>
          <p:cNvCxnSpPr>
            <a:cxnSpLocks/>
          </p:cNvCxnSpPr>
          <p:nvPr/>
        </p:nvCxnSpPr>
        <p:spPr>
          <a:xfrm>
            <a:off x="5036067" y="4151785"/>
            <a:ext cx="1805876" cy="63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F57A09C-739E-4355-B368-69857E807F3E}"/>
              </a:ext>
            </a:extLst>
          </p:cNvPr>
          <p:cNvCxnSpPr>
            <a:cxnSpLocks/>
          </p:cNvCxnSpPr>
          <p:nvPr/>
        </p:nvCxnSpPr>
        <p:spPr>
          <a:xfrm flipV="1">
            <a:off x="4367556" y="4478197"/>
            <a:ext cx="0" cy="13005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10A3CB5-1E5D-4528-AF8B-D957A47CAC4B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3488619" y="4144415"/>
            <a:ext cx="203203" cy="7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5D483D7-9A0C-417B-8A65-5078120EF2F5}"/>
              </a:ext>
            </a:extLst>
          </p:cNvPr>
          <p:cNvCxnSpPr>
            <a:cxnSpLocks/>
          </p:cNvCxnSpPr>
          <p:nvPr/>
        </p:nvCxnSpPr>
        <p:spPr>
          <a:xfrm flipV="1">
            <a:off x="3488619" y="4144415"/>
            <a:ext cx="1" cy="46383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5CDD705-849C-49AC-839F-16F0D7FCA3D0}"/>
              </a:ext>
            </a:extLst>
          </p:cNvPr>
          <p:cNvCxnSpPr>
            <a:cxnSpLocks/>
          </p:cNvCxnSpPr>
          <p:nvPr/>
        </p:nvCxnSpPr>
        <p:spPr>
          <a:xfrm flipH="1">
            <a:off x="3493206" y="4609668"/>
            <a:ext cx="870738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D99509-53DF-4AE8-91BF-88F5546784BE}"/>
              </a:ext>
            </a:extLst>
          </p:cNvPr>
          <p:cNvSpPr txBox="1"/>
          <p:nvPr/>
        </p:nvSpPr>
        <p:spPr>
          <a:xfrm>
            <a:off x="3792969" y="4646894"/>
            <a:ext cx="437342" cy="1884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0 .. 31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959D96-03BB-4E70-8DE0-DDCFB9E566F7}"/>
              </a:ext>
            </a:extLst>
          </p:cNvPr>
          <p:cNvSpPr txBox="1"/>
          <p:nvPr/>
        </p:nvSpPr>
        <p:spPr>
          <a:xfrm>
            <a:off x="5212231" y="3969681"/>
            <a:ext cx="298536" cy="1884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valid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9620796-FB3C-4D5C-AF9B-E1F2E89E6AE9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4363945" y="3246916"/>
            <a:ext cx="0" cy="5637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996D7A4-1517-4D8F-98AC-4BD7BDE3CB98}"/>
              </a:ext>
            </a:extLst>
          </p:cNvPr>
          <p:cNvSpPr/>
          <p:nvPr/>
        </p:nvSpPr>
        <p:spPr>
          <a:xfrm>
            <a:off x="6841943" y="3544523"/>
            <a:ext cx="2375877" cy="844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Output ::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Internal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data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structure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to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store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simulated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Traffic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endParaRPr lang="hu-HU" sz="1100" b="1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(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max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 32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signs</a:t>
            </a: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)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- TS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offset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compared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to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vehicle</a:t>
            </a:r>
            <a:r>
              <a:rPr lang="hu-HU" sz="900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900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position</a:t>
            </a:r>
            <a:endParaRPr lang="hu-HU" sz="900" kern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sch Office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E80D87-18FA-4659-9301-5D2FD9A9C8DB}"/>
              </a:ext>
            </a:extLst>
          </p:cNvPr>
          <p:cNvSpPr txBox="1"/>
          <p:nvPr/>
        </p:nvSpPr>
        <p:spPr>
          <a:xfrm>
            <a:off x="296418" y="772957"/>
            <a:ext cx="4330289" cy="3881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Calculate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Vehicle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speed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and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road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sign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offsets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31D228-1283-426B-B282-E55BC1B50A04}"/>
              </a:ext>
            </a:extLst>
          </p:cNvPr>
          <p:cNvSpPr/>
          <p:nvPr/>
        </p:nvSpPr>
        <p:spPr>
          <a:xfrm>
            <a:off x="5638365" y="2443314"/>
            <a:ext cx="1754990" cy="503855"/>
          </a:xfrm>
          <a:prstGeom prst="rect">
            <a:avLst/>
          </a:prstGeom>
          <a:solidFill>
            <a:srgbClr val="CC9900"/>
          </a:solidFill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100" b="1" i="0" u="none" strike="noStrike" kern="0" normalizeH="0" baseline="0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Input :: </a:t>
            </a:r>
            <a:r>
              <a:rPr kumimoji="0" lang="hu-HU" sz="1100" b="1" i="0" u="none" strike="noStrike" kern="0" normalizeH="0" baseline="0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osch Office Sans"/>
                <a:ea typeface="+mn-ea"/>
                <a:cs typeface="+mn-cs"/>
              </a:rPr>
              <a:t>Vehicle</a:t>
            </a:r>
            <a:r>
              <a:rPr lang="hu-HU" sz="1100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1100" b="1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Model</a:t>
            </a:r>
            <a:r>
              <a:rPr lang="hu-HU" sz="1100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:: </a:t>
            </a:r>
            <a:r>
              <a:rPr lang="hu-HU" sz="1100" b="1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vehicle</a:t>
            </a:r>
            <a:r>
              <a:rPr lang="hu-HU" sz="1100" b="1" kern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 </a:t>
            </a:r>
            <a:r>
              <a:rPr lang="hu-HU" sz="1100" b="1" kern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sch Office Sans"/>
              </a:rPr>
              <a:t>speed</a:t>
            </a:r>
            <a:endParaRPr kumimoji="0" lang="en-US" sz="900" b="1" i="0" u="none" strike="noStrike" kern="0" normalizeH="0" baseline="0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8ED8E4-F501-450C-AC0A-F49C149B1F10}"/>
              </a:ext>
            </a:extLst>
          </p:cNvPr>
          <p:cNvSpPr/>
          <p:nvPr/>
        </p:nvSpPr>
        <p:spPr>
          <a:xfrm>
            <a:off x="3055820" y="1991558"/>
            <a:ext cx="4431319" cy="1255358"/>
          </a:xfrm>
          <a:prstGeom prst="rect">
            <a:avLst/>
          </a:prstGeom>
          <a:noFill/>
          <a:ln w="9525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hu-HU" sz="1000" b="1" kern="0" dirty="0">
              <a:ln w="0"/>
              <a:latin typeface="Bosch 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356438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  <p:tag name="SAXCONVERSION" val="1"/>
</p:tagLst>
</file>

<file path=ppt/theme/theme1.xml><?xml version="1.0" encoding="utf-8"?>
<a:theme xmlns:a="http://schemas.openxmlformats.org/drawingml/2006/main" name="Bosch NG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52779E17-DA50-4443-9CCA-C57129DBFB53}" vid="{CBD1DA7C-47F9-4AE4-B1E4-E762B597D2F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XC-DX/EDI2</OrgInhalt>
      <Wert>XC-DX/EDI2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2022. Alle Rechte vorbehalten, auch bzgl. jeder Verfügung, Verwertung, Reproduktion, Bearbeitung, Weitergabe sowie für den Fall von Schutzrechtsanmeldungen.</OrgInhalt>
      <Wert>© Robert Bosch GmbH 2022.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18.02.2022</OrgInhalt>
      <Wert>18.02.2022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Cross-Domain Computing Solutions</OrgInhalt>
      <Wert>Cross-Domain Computing 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ILMBoschDocument" ma:contentTypeID="0x01010079C2150534271841997CA4BF28B151E90100307EA83ED42A584099D189C52F07585A" ma:contentTypeVersion="30" ma:contentTypeDescription="Bosch Document Content Type for ILM" ma:contentTypeScope="" ma:versionID="46680fb55f2b448e4d697b4aac1c2ef6">
  <xsd:schema xmlns:xsd="http://www.w3.org/2001/XMLSchema" xmlns:xs="http://www.w3.org/2001/XMLSchema" xmlns:p="http://schemas.microsoft.com/office/2006/metadata/properties" xmlns:ns1="http://schemas.microsoft.com/sharepoint/v3" xmlns:ns2="4c1bb3ec-31fb-4a5a-ac42-aa8cd4516000" xmlns:ns3="bca0bc44-19d1-4824-98a4-321de56310bf" xmlns:ns4="http://schemas.microsoft.com/sharepoint/v4" targetNamespace="http://schemas.microsoft.com/office/2006/metadata/properties" ma:root="true" ma:fieldsID="8e307836bdc0b590fde6f31324e6d042" ns1:_="" ns2:_="" ns3:_="" ns4:_="">
    <xsd:import namespace="http://schemas.microsoft.com/sharepoint/v3"/>
    <xsd:import namespace="4c1bb3ec-31fb-4a5a-ac42-aa8cd4516000"/>
    <xsd:import namespace="bca0bc44-19d1-4824-98a4-321de56310b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CSC"/>
                <xsd:element ref="ns2:ASC"/>
                <xsd:element ref="ns2:ISC"/>
                <xsd:element ref="ns2:ArchivingPeriod"/>
                <xsd:element ref="ns2:Safeguarding"/>
                <xsd:element ref="ns2:Historicalrelevance"/>
                <xsd:element ref="ns3:OriginalSubject" minOccurs="0"/>
                <xsd:element ref="ns3:From1" minOccurs="0"/>
                <xsd:element ref="ns3:Cc" minOccurs="0"/>
                <xsd:element ref="ns3:Bcc" minOccurs="0"/>
                <xsd:element ref="ns3:Conversation-Topic" minOccurs="0"/>
                <xsd:element ref="ns3:Date1" minOccurs="0"/>
                <xsd:element ref="ns3:Reply-To" minOccurs="0"/>
                <xsd:element ref="ns3:To" minOccurs="0"/>
                <xsd:element ref="ns3:Received" minOccurs="0"/>
                <xsd:element ref="ns3:Attachment" minOccurs="0"/>
                <xsd:element ref="ns3:Sensitivity" minOccurs="0"/>
                <xsd:element ref="ns3:Importance" minOccurs="0"/>
                <xsd:element ref="ns3:In-Reply-To" minOccurs="0"/>
                <xsd:element ref="ns3:References" minOccurs="0"/>
                <xsd:element ref="ns3:Conversation-Index" minOccurs="0"/>
                <xsd:element ref="ns3:MailPreviewData" minOccurs="0"/>
                <xsd:element ref="ns2:MessageClass" minOccurs="0"/>
                <xsd:element ref="ns3:Message-ID" minOccurs="0"/>
                <xsd:element ref="ns2:IlmBasedOn" minOccurs="0"/>
                <xsd:element ref="ns2:LockedStatus" minOccurs="0"/>
                <xsd:element ref="ns2:LockedBy" minOccurs="0"/>
                <xsd:element ref="ns2:ILMItemType" minOccurs="0"/>
                <xsd:element ref="ns2:ILMCreationRevision" minOccurs="0"/>
                <xsd:element ref="ns2:Revisions" minOccurs="0"/>
                <xsd:element ref="ns4:IconOverlay" minOccurs="0"/>
                <xsd:element ref="ns1:_vti_ItemDeclaredRecord" minOccurs="0"/>
                <xsd:element ref="ns1:_vti_ItemHoldRecord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42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43" nillable="true" ma:displayName="Hold and Record Status" ma:decimals="0" ma:description="" ma:hidden="true" ma:indexed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bb3ec-31fb-4a5a-ac42-aa8cd45160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CSC" ma:index="11" ma:displayName="C-SC" ma:default="1" ma:description="Security Class for Confidentiality." ma:format="Dropdown" ma:indexed="true" ma:internalName="C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SC" ma:index="12" ma:displayName="A-SC" ma:default="1" ma:description="Security Class for Availability" ma:format="Dropdown" ma:indexed="true" ma:internalName="A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ISC" ma:index="13" ma:displayName="I-SC" ma:default="1" ma:description="Security Class for Integrity" ma:format="Dropdown" ma:internalName="I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rchivingPeriod" ma:index="14" ma:displayName="Archiving Period (in years)" ma:default="35" ma:description="File will be deleted from the archive after end of the archiving" ma:format="Dropdown" ma:indexed="true" ma:internalName="ArchivingPeriod" ma:readOnly="false">
      <xsd:simpleType>
        <xsd:union memberTypes="dms:Text">
          <xsd:simpleType>
            <xsd:restriction base="dms:Choice">
              <xsd:enumeration value="1"/>
              <xsd:enumeration value="3"/>
              <xsd:enumeration value="6"/>
              <xsd:enumeration value="10"/>
              <xsd:enumeration value="15"/>
              <xsd:enumeration value="35"/>
              <xsd:enumeration value="Delete when archiving"/>
              <xsd:enumeration value="infinite"/>
            </xsd:restriction>
          </xsd:simpleType>
        </xsd:union>
      </xsd:simpleType>
    </xsd:element>
    <xsd:element name="Safeguarding" ma:index="15" ma:displayName="Safeguarding" ma:default="No" ma:description="Special safeguarding requirements" ma:format="Dropdown" ma:internalName="Safeguarding" ma:readOnly="false">
      <xsd:simpleType>
        <xsd:restriction base="dms:Choice">
          <xsd:enumeration value="Yes"/>
          <xsd:enumeration value="No"/>
        </xsd:restriction>
      </xsd:simpleType>
    </xsd:element>
    <xsd:element name="Historicalrelevance" ma:index="16" ma:displayName="Historical relevance" ma:default="No" ma:description="Handover to C/CCH" ma:format="Dropdown" ma:internalName="Historicalrelevance" ma:readOnly="false">
      <xsd:simpleType>
        <xsd:restriction base="dms:Choice">
          <xsd:enumeration value="Yes"/>
          <xsd:enumeration value="No"/>
        </xsd:restriction>
      </xsd:simpleType>
    </xsd:element>
    <xsd:element name="MessageClass" ma:index="33" nillable="true" ma:displayName="MessageClass" ma:hidden="true" ma:internalName="MessageClass">
      <xsd:simpleType>
        <xsd:restriction base="dms:Text">
          <xsd:maxLength value="255"/>
        </xsd:restriction>
      </xsd:simpleType>
    </xsd:element>
    <xsd:element name="IlmBasedOn" ma:index="35" nillable="true" ma:displayName="Based on" ma:internalName="IlmBasedOn" ma:readOnly="true">
      <xsd:simpleType>
        <xsd:restriction base="dms:Text"/>
      </xsd:simpleType>
    </xsd:element>
    <xsd:element name="LockedStatus" ma:index="36" nillable="true" ma:displayName="Locked Status" ma:default="Unlocked" ma:internalName="LockedStatus" ma:readOnly="true">
      <xsd:simpleType>
        <xsd:restriction base="dms:Text"/>
      </xsd:simpleType>
    </xsd:element>
    <xsd:element name="LockedBy" ma:index="37" nillable="true" ma:displayName="Locked By" ma:internalName="Locked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LMItemType" ma:index="38" nillable="true" ma:displayName="ILMItemType" ma:default="ConceptualItem" ma:indexed="true" ma:internalName="ILMItemType" ma:readOnly="true">
      <xsd:simpleType>
        <xsd:restriction base="dms:Text"/>
      </xsd:simpleType>
    </xsd:element>
    <xsd:element name="ILMCreationRevision" ma:index="39" nillable="true" ma:displayName="Creating Revision" ma:internalName="ILMCreationRevision" ma:readOnly="true">
      <xsd:simpleType>
        <xsd:restriction base="dms:Boolean"/>
      </xsd:simpleType>
    </xsd:element>
    <xsd:element name="Revisions" ma:index="40" nillable="true" ma:displayName="Revision set" ma:internalName="Revision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0bc44-19d1-4824-98a4-321de56310bf" elementFormDefault="qualified">
    <xsd:import namespace="http://schemas.microsoft.com/office/2006/documentManagement/types"/>
    <xsd:import namespace="http://schemas.microsoft.com/office/infopath/2007/PartnerControls"/>
    <xsd:element name="OriginalSubject" ma:index="17" nillable="true" ma:displayName="OriginalSubject" ma:internalName="OriginalSubject">
      <xsd:simpleType>
        <xsd:restriction base="dms:Text">
          <xsd:maxLength value="255"/>
        </xsd:restriction>
      </xsd:simpleType>
    </xsd:element>
    <xsd:element name="From1" ma:index="18" nillable="true" ma:displayName="From" ma:internalName="From1">
      <xsd:simpleType>
        <xsd:restriction base="dms:Text">
          <xsd:maxLength value="255"/>
        </xsd:restriction>
      </xsd:simpleType>
    </xsd:element>
    <xsd:element name="Cc" ma:index="19" nillable="true" ma:displayName="Cc" ma:internalName="Cc">
      <xsd:simpleType>
        <xsd:restriction base="dms:Note">
          <xsd:maxLength value="255"/>
        </xsd:restriction>
      </xsd:simpleType>
    </xsd:element>
    <xsd:element name="Bcc" ma:index="20" nillable="true" ma:displayName="Bcc" ma:internalName="Bcc">
      <xsd:simpleType>
        <xsd:restriction base="dms:Note">
          <xsd:maxLength value="255"/>
        </xsd:restriction>
      </xsd:simpleType>
    </xsd:element>
    <xsd:element name="Conversation-Topic" ma:index="21" nillable="true" ma:displayName="Conversation-Topic" ma:internalName="Conversation_x002d_Topic">
      <xsd:simpleType>
        <xsd:restriction base="dms:Text">
          <xsd:maxLength value="255"/>
        </xsd:restriction>
      </xsd:simpleType>
    </xsd:element>
    <xsd:element name="Date1" ma:index="22" nillable="true" ma:displayName="Date" ma:format="DateOnly" ma:internalName="Date1">
      <xsd:simpleType>
        <xsd:restriction base="dms:DateTime"/>
      </xsd:simpleType>
    </xsd:element>
    <xsd:element name="Reply-To" ma:index="23" nillable="true" ma:displayName="Reply-To" ma:internalName="Reply_x002d_To">
      <xsd:simpleType>
        <xsd:restriction base="dms:Text">
          <xsd:maxLength value="255"/>
        </xsd:restriction>
      </xsd:simpleType>
    </xsd:element>
    <xsd:element name="To" ma:index="24" nillable="true" ma:displayName="To" ma:internalName="To">
      <xsd:simpleType>
        <xsd:restriction base="dms:Note">
          <xsd:maxLength value="255"/>
        </xsd:restriction>
      </xsd:simpleType>
    </xsd:element>
    <xsd:element name="Received" ma:index="25" nillable="true" ma:displayName="Received" ma:internalName="Received">
      <xsd:simpleType>
        <xsd:restriction base="dms:Text">
          <xsd:maxLength value="255"/>
        </xsd:restriction>
      </xsd:simpleType>
    </xsd:element>
    <xsd:element name="Attachment" ma:index="26" nillable="true" ma:displayName="Attachment" ma:default="1" ma:internalName="Attachment">
      <xsd:simpleType>
        <xsd:restriction base="dms:Boolean"/>
      </xsd:simpleType>
    </xsd:element>
    <xsd:element name="Sensitivity" ma:index="27" nillable="true" ma:displayName="Sensitivity" ma:internalName="Sensitivity">
      <xsd:simpleType>
        <xsd:restriction base="dms:Text">
          <xsd:maxLength value="255"/>
        </xsd:restriction>
      </xsd:simpleType>
    </xsd:element>
    <xsd:element name="Importance" ma:index="28" nillable="true" ma:displayName="Importance" ma:internalName="Importance">
      <xsd:simpleType>
        <xsd:restriction base="dms:Text">
          <xsd:maxLength value="255"/>
        </xsd:restriction>
      </xsd:simpleType>
    </xsd:element>
    <xsd:element name="In-Reply-To" ma:index="29" nillable="true" ma:displayName="In-Reply-To" ma:internalName="In_x002d_Reply_x002d_To">
      <xsd:simpleType>
        <xsd:restriction base="dms:Text">
          <xsd:maxLength value="255"/>
        </xsd:restriction>
      </xsd:simpleType>
    </xsd:element>
    <xsd:element name="References" ma:index="30" nillable="true" ma:displayName="References" ma:internalName="References">
      <xsd:simpleType>
        <xsd:restriction base="dms:Text">
          <xsd:maxLength value="255"/>
        </xsd:restriction>
      </xsd:simpleType>
    </xsd:element>
    <xsd:element name="Conversation-Index" ma:index="31" nillable="true" ma:displayName="Conversation-Index" ma:hidden="true" ma:internalName="Conversation_x002d_Index">
      <xsd:simpleType>
        <xsd:restriction base="dms:Text">
          <xsd:maxLength value="255"/>
        </xsd:restriction>
      </xsd:simpleType>
    </xsd:element>
    <xsd:element name="MailPreviewData" ma:index="32" nillable="true" ma:displayName="MailPreviewData" ma:hidden="true" ma:internalName="MailPreviewData">
      <xsd:simpleType>
        <xsd:restriction base="dms:Note"/>
      </xsd:simpleType>
    </xsd:element>
    <xsd:element name="Message-ID" ma:index="34" nillable="true" ma:displayName="Message-ID" ma:hidden="true" ma:internalName="Message_x002d_I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4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versation-Topic xmlns="bca0bc44-19d1-4824-98a4-321de56310bf" xsi:nil="true"/>
    <Received xmlns="bca0bc44-19d1-4824-98a4-321de56310bf" xsi:nil="true"/>
    <Importance xmlns="bca0bc44-19d1-4824-98a4-321de56310bf" xsi:nil="true"/>
    <ISC xmlns="4c1bb3ec-31fb-4a5a-ac42-aa8cd4516000">3</ISC>
    <Conversation-Index xmlns="bca0bc44-19d1-4824-98a4-321de56310bf" xsi:nil="true"/>
    <Bcc xmlns="bca0bc44-19d1-4824-98a4-321de56310bf" xsi:nil="true"/>
    <Sensitivity xmlns="bca0bc44-19d1-4824-98a4-321de56310bf" xsi:nil="true"/>
    <IconOverlay xmlns="http://schemas.microsoft.com/sharepoint/v4" xsi:nil="true"/>
    <Safeguarding xmlns="4c1bb3ec-31fb-4a5a-ac42-aa8cd4516000">No</Safeguarding>
    <To xmlns="bca0bc44-19d1-4824-98a4-321de56310bf" xsi:nil="true"/>
    <Reply-To xmlns="bca0bc44-19d1-4824-98a4-321de56310bf" xsi:nil="true"/>
    <In-Reply-To xmlns="bca0bc44-19d1-4824-98a4-321de56310bf" xsi:nil="true"/>
    <MailPreviewData xmlns="bca0bc44-19d1-4824-98a4-321de56310bf" xsi:nil="true"/>
    <MessageClass xmlns="4c1bb3ec-31fb-4a5a-ac42-aa8cd4516000" xsi:nil="true"/>
    <Date1 xmlns="bca0bc44-19d1-4824-98a4-321de56310bf" xsi:nil="true"/>
    <Attachment xmlns="bca0bc44-19d1-4824-98a4-321de56310bf">true</Attachment>
    <References xmlns="bca0bc44-19d1-4824-98a4-321de56310bf" xsi:nil="true"/>
    <ArchivingPeriod xmlns="4c1bb3ec-31fb-4a5a-ac42-aa8cd4516000">35</ArchivingPeriod>
    <ASC xmlns="4c1bb3ec-31fb-4a5a-ac42-aa8cd4516000">2</ASC>
    <Cc xmlns="bca0bc44-19d1-4824-98a4-321de56310bf" xsi:nil="true"/>
    <Message-ID xmlns="bca0bc44-19d1-4824-98a4-321de56310bf" xsi:nil="true"/>
    <Historicalrelevance xmlns="4c1bb3ec-31fb-4a5a-ac42-aa8cd4516000">No</Historicalrelevance>
    <OriginalSubject xmlns="bca0bc44-19d1-4824-98a4-321de56310bf" xsi:nil="true"/>
    <CSC xmlns="4c1bb3ec-31fb-4a5a-ac42-aa8cd4516000">2</CSC>
    <From1 xmlns="bca0bc44-19d1-4824-98a4-321de56310bf" xsi:nil="true"/>
    <Revisions xmlns="4c1bb3ec-31fb-4a5a-ac42-aa8cd4516000">
      <Url xsi:nil="true"/>
      <Description xsi:nil="true"/>
    </Revisions>
    <LockedStatus xmlns="4c1bb3ec-31fb-4a5a-ac42-aa8cd4516000">Unlocked</LockedStatus>
    <_vti_ItemHoldRecordStatus xmlns="http://schemas.microsoft.com/sharepoint/v3" xsi:nil="true"/>
    <_vti_ItemDeclaredRecord xmlns="http://schemas.microsoft.com/sharepoint/v3" xsi:nil="true"/>
    <_dlc_DocId xmlns="4c1bb3ec-31fb-4a5a-ac42-aa8cd4516000">P12S144287-699374571-4181</_dlc_DocId>
    <_dlc_DocIdUrl xmlns="4c1bb3ec-31fb-4a5a-ac42-aa8cd4516000">
      <Url>https://sites.inside-share2.bosch.com/sites/144287/_layouts/15/DocIdRedir.aspx?ID=P12S144287-699374571-4181</Url>
      <Description>P12S144287-699374571-4181</Description>
    </_dlc_DocIdUrl>
    <ILMItemType xmlns="4c1bb3ec-31fb-4a5a-ac42-aa8cd4516000">ConceptualItem</ILMItemType>
    <LockedBy xmlns="4c1bb3ec-31fb-4a5a-ac42-aa8cd4516000">
      <UserInfo>
        <DisplayName/>
        <AccountId xsi:nil="true"/>
        <AccountType/>
      </UserInfo>
    </LockedBy>
    <ILMCreationRevision xmlns="4c1bb3ec-31fb-4a5a-ac42-aa8cd4516000">false</ILMCreationRevision>
    <IlmBasedOn xmlns="4c1bb3ec-31fb-4a5a-ac42-aa8cd4516000" xsi:nil="true"/>
  </documentManagement>
</p:propertie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B0217FDE-38C6-42B6-A9F4-53BF86FE03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252559-44F8-474C-B66D-E357B88E32C2}">
  <ds:schemaRefs/>
</ds:datastoreItem>
</file>

<file path=customXml/itemProps4.xml><?xml version="1.0" encoding="utf-8"?>
<ds:datastoreItem xmlns:ds="http://schemas.openxmlformats.org/officeDocument/2006/customXml" ds:itemID="{2A07C1F3-6EEE-449B-9B9C-8FCCF2F10769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488ADB33-F615-4DA3-A5E5-621971C60A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c1bb3ec-31fb-4a5a-ac42-aa8cd4516000"/>
    <ds:schemaRef ds:uri="bca0bc44-19d1-4824-98a4-321de56310b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BDD75C32-321C-42A1-A33F-C90BE62E2E82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bca0bc44-19d1-4824-98a4-321de56310bf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sharepoint/v4"/>
    <ds:schemaRef ds:uri="http://purl.org/dc/terms/"/>
    <ds:schemaRef ds:uri="http://schemas.openxmlformats.org/package/2006/metadata/core-properties"/>
    <ds:schemaRef ds:uri="4c1bb3ec-31fb-4a5a-ac42-aa8cd451600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723</Words>
  <Application>Microsoft Office PowerPoint</Application>
  <PresentationFormat>Widescreen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Bosch Office Sans</vt:lpstr>
      <vt:lpstr>Calibri</vt:lpstr>
      <vt:lpstr>Wingdings 3</vt:lpstr>
      <vt:lpstr>Bosch NG</vt:lpstr>
      <vt:lpstr>System Design Traffic Signs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 PSA CDPO R11</dc:title>
  <dc:creator>Herrera Rafael (XC-DX/EDF2)</dc:creator>
  <cp:lastModifiedBy>Horvath Bela (XC-DX/EET1-Bp)</cp:lastModifiedBy>
  <cp:revision>271</cp:revision>
  <dcterms:created xsi:type="dcterms:W3CDTF">2022-02-18T11:02:55Z</dcterms:created>
  <dcterms:modified xsi:type="dcterms:W3CDTF">2022-05-09T15:22:30Z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0x01010079C2150534271841997CA4BF28B151E90100307EA83ED42A584099D189C52F07585A</vt:lpwstr>
  </property>
  <property fmtid="{D5CDD505-2E9C-101B-9397-08002B2CF9AE}" pid="9" name="ecm_ItemDeleteBlockHolders">
    <vt:lpwstr/>
  </property>
  <property fmtid="{D5CDD505-2E9C-101B-9397-08002B2CF9AE}" pid="10" name="ecm_RecordRestrictions">
    <vt:lpwstr/>
  </property>
  <property fmtid="{D5CDD505-2E9C-101B-9397-08002B2CF9AE}" pid="11" name="ecm_ItemLockHolders">
    <vt:lpwstr/>
  </property>
  <property fmtid="{D5CDD505-2E9C-101B-9397-08002B2CF9AE}" pid="12" name="_dlc_DocIdItemGuid">
    <vt:lpwstr>905797a4-9edb-4cac-ba0e-b0a0bdc26ba2</vt:lpwstr>
  </property>
  <property fmtid="{D5CDD505-2E9C-101B-9397-08002B2CF9AE}" pid="13" name="ILMRevision">
    <vt:lpwstr/>
  </property>
  <property fmtid="{D5CDD505-2E9C-101B-9397-08002B2CF9AE}" pid="14" name="ConceptualVersion">
    <vt:lpwstr/>
  </property>
  <property fmtid="{D5CDD505-2E9C-101B-9397-08002B2CF9AE}" pid="15" name="ConceptualVersionTreeview">
    <vt:lpwstr/>
  </property>
  <property fmtid="{D5CDD505-2E9C-101B-9397-08002B2CF9AE}" pid="16" name="ILMComments">
    <vt:lpwstr/>
  </property>
  <property fmtid="{D5CDD505-2E9C-101B-9397-08002B2CF9AE}" pid="17" name="ILMExternalReference">
    <vt:lpwstr/>
  </property>
  <property fmtid="{D5CDD505-2E9C-101B-9397-08002B2CF9AE}" pid="18" name="DocIdOfLinkItem">
    <vt:lpwstr/>
  </property>
</Properties>
</file>