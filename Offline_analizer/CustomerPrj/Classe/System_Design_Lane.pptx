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7"/>
  </p:sldMasterIdLst>
  <p:notesMasterIdLst>
    <p:notesMasterId r:id="rId19"/>
  </p:notesMasterIdLst>
  <p:sldIdLst>
    <p:sldId id="270" r:id="rId8"/>
    <p:sldId id="257" r:id="rId9"/>
    <p:sldId id="272" r:id="rId10"/>
    <p:sldId id="271" r:id="rId11"/>
    <p:sldId id="273" r:id="rId12"/>
    <p:sldId id="274" r:id="rId13"/>
    <p:sldId id="275" r:id="rId14"/>
    <p:sldId id="276" r:id="rId15"/>
    <p:sldId id="279" r:id="rId16"/>
    <p:sldId id="280" r:id="rId17"/>
    <p:sldId id="278" r:id="rId18"/>
  </p:sldIdLst>
  <p:sldSz cx="12192000" cy="6858000"/>
  <p:notesSz cx="6858000" cy="9144000"/>
  <p:custDataLst>
    <p:tags r:id="rId20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569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91387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37081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8277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284689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741627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3198565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655502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FF9900"/>
    <a:srgbClr val="00CC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10.10.2022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1pPr>
    <a:lvl2pPr marL="508132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2pPr>
    <a:lvl3pPr marL="1016264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3pPr>
    <a:lvl4pPr marL="1524396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4pPr>
    <a:lvl5pPr marL="2032528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5pPr>
    <a:lvl6pPr marL="2540660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6pPr>
    <a:lvl7pPr marL="3048792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7pPr>
    <a:lvl8pPr marL="3556925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8pPr>
    <a:lvl9pPr marL="4065057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enutzerdefinierte 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Kap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Kapitel­überschrift hinzufügen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288073"/>
            <a:ext cx="10975176" cy="5785488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„Zitat hinzufügen”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2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zi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288073"/>
            <a:ext cx="10975176" cy="5785488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Fazit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88083" y="1440370"/>
            <a:ext cx="11615361" cy="4633191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10250966" y="287939"/>
            <a:ext cx="1880544" cy="864357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2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88083" y="288074"/>
            <a:ext cx="11615361" cy="8642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87597" y="1440370"/>
            <a:ext cx="11615361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Inhalt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5401563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05882" y="1440369"/>
            <a:ext cx="5401563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3584" userDrawn="1">
          <p15:clr>
            <a:srgbClr val="FBAE40"/>
          </p15:clr>
        </p15:guide>
        <p15:guide id="9" pos="409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8402431" y="1440369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45257" y="1440370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2373" userDrawn="1">
          <p15:clr>
            <a:srgbClr val="FBAE40"/>
          </p15:clr>
        </p15:guide>
        <p15:guide id="9" pos="2736" userDrawn="1">
          <p15:clr>
            <a:srgbClr val="FBAE40"/>
          </p15:clr>
        </p15:guide>
        <p15:guide id="10" pos="4928" userDrawn="1">
          <p15:clr>
            <a:srgbClr val="FBAE40"/>
          </p15:clr>
        </p15:guide>
        <p15:guide id="11" pos="52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7950" y="1439702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168340" y="1439702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228145" y="1439703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9108536" y="1439703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1944" userDrawn="1">
          <p15:clr>
            <a:srgbClr val="FBAE40"/>
          </p15:clr>
        </p15:guide>
        <p15:guide id="9" pos="2033" userDrawn="1">
          <p15:clr>
            <a:srgbClr val="FBAE40"/>
          </p15:clr>
        </p15:guide>
        <p15:guide id="10" pos="3797" userDrawn="1">
          <p15:clr>
            <a:srgbClr val="FBAE40"/>
          </p15:clr>
        </p15:guide>
        <p15:guide id="11" pos="3884" userDrawn="1">
          <p15:clr>
            <a:srgbClr val="FBAE40"/>
          </p15:clr>
        </p15:guide>
        <p15:guide id="12" pos="5648" userDrawn="1">
          <p15:clr>
            <a:srgbClr val="FBAE40"/>
          </p15:clr>
        </p15:guide>
        <p15:guide id="13" pos="573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Inhalt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11615361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11615361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505882" y="1440369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6505882" y="3828986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  <p15:guide id="10" pos="3584" userDrawn="1">
          <p15:clr>
            <a:srgbClr val="FBAE40"/>
          </p15:clr>
        </p15:guide>
        <p15:guide id="11" pos="409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4345257" y="1440369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8402431" y="1440369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4345257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8402431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2378" userDrawn="1">
          <p15:clr>
            <a:srgbClr val="FBAE40"/>
          </p15:clr>
        </p15:guide>
        <p15:guide id="9" pos="2731" userDrawn="1">
          <p15:clr>
            <a:srgbClr val="FBAE40"/>
          </p15:clr>
        </p15:guide>
        <p15:guide id="10" pos="4928" userDrawn="1">
          <p15:clr>
            <a:srgbClr val="FBAE40"/>
          </p15:clr>
        </p15:guide>
        <p15:guide id="11" pos="5292" userDrawn="1">
          <p15:clr>
            <a:srgbClr val="FBAE40"/>
          </p15:clr>
        </p15:guide>
        <p15:guide id="12" orient="horz" pos="2323" userDrawn="1">
          <p15:clr>
            <a:srgbClr val="FBAE40"/>
          </p15:clr>
        </p15:guide>
        <p15:guide id="13" orient="horz" pos="241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228934" y="1440369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9110636" y="1440369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228934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9110636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6169785" y="1440370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6169785" y="3828985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  <p15:guide id="10" pos="1944" userDrawn="1">
          <p15:clr>
            <a:srgbClr val="FBAE40"/>
          </p15:clr>
        </p15:guide>
        <p15:guide id="11" pos="2034" userDrawn="1">
          <p15:clr>
            <a:srgbClr val="FBAE40"/>
          </p15:clr>
        </p15:guide>
        <p15:guide id="12" pos="3797" userDrawn="1">
          <p15:clr>
            <a:srgbClr val="FBAE40"/>
          </p15:clr>
        </p15:guide>
        <p15:guide id="13" pos="3887" userDrawn="1">
          <p15:clr>
            <a:srgbClr val="FBAE40"/>
          </p15:clr>
        </p15:guide>
        <p15:guide id="14" pos="5648" userDrawn="1">
          <p15:clr>
            <a:srgbClr val="FBAE40"/>
          </p15:clr>
        </p15:guide>
        <p15:guide id="15" pos="573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ollbild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Abschluss­worte hinzufügen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83" y="720185"/>
            <a:ext cx="11615361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83" y="1440370"/>
            <a:ext cx="11615361" cy="46331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659180" y="6272591"/>
            <a:ext cx="10172821" cy="119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Cross-Domain Computing Solutions | XC-DX/EDI2 | 18.02.2022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2022.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660191" y="6273613"/>
            <a:ext cx="10174944" cy="1200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Design </a:t>
            </a:r>
            <a:r>
              <a:rPr lang="hu-HU" dirty="0"/>
              <a:t>Lane </a:t>
            </a:r>
            <a:r>
              <a:rPr lang="hu-HU" dirty="0" err="1"/>
              <a:t>simulation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76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Table of contents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7" name="ZoneTexte 6"/>
          <p:cNvSpPr txBox="1"/>
          <p:nvPr/>
        </p:nvSpPr>
        <p:spPr>
          <a:xfrm>
            <a:off x="296419" y="890009"/>
            <a:ext cx="10028712" cy="41623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kern="0" dirty="0">
                <a:solidFill>
                  <a:srgbClr val="000000"/>
                </a:solidFill>
              </a:rPr>
              <a:t>Panel design 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kern="0" dirty="0">
                <a:solidFill>
                  <a:srgbClr val="000000"/>
                </a:solidFill>
              </a:rPr>
              <a:t>Panel design and </a:t>
            </a:r>
            <a:r>
              <a:rPr lang="hu-HU" kern="0" dirty="0" err="1">
                <a:solidFill>
                  <a:srgbClr val="000000"/>
                </a:solidFill>
              </a:rPr>
              <a:t>data</a:t>
            </a:r>
            <a:r>
              <a:rPr lang="hu-HU" kern="0" dirty="0">
                <a:solidFill>
                  <a:srgbClr val="000000"/>
                </a:solidFill>
              </a:rPr>
              <a:t> flow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kern="0" dirty="0" err="1">
                <a:solidFill>
                  <a:srgbClr val="000000"/>
                </a:solidFill>
              </a:rPr>
              <a:t>Concept</a:t>
            </a: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kern="0" dirty="0" err="1">
                <a:solidFill>
                  <a:srgbClr val="000000"/>
                </a:solidFill>
              </a:rPr>
              <a:t>Curvature</a:t>
            </a:r>
            <a:r>
              <a:rPr lang="hu-HU" kern="0" dirty="0">
                <a:solidFill>
                  <a:srgbClr val="000000"/>
                </a:solidFill>
              </a:rPr>
              <a:t> (arc)</a:t>
            </a:r>
            <a:endParaRPr lang="hu-HU" kern="0" dirty="0"/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dirty="0" err="1"/>
              <a:t>Curvature</a:t>
            </a:r>
            <a:r>
              <a:rPr lang="hu-HU" dirty="0"/>
              <a:t> </a:t>
            </a:r>
            <a:r>
              <a:rPr lang="hu-HU" dirty="0" err="1"/>
              <a:t>calculation</a:t>
            </a:r>
            <a:r>
              <a:rPr lang="hu-HU" dirty="0"/>
              <a:t> (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point-based</a:t>
            </a:r>
            <a:r>
              <a:rPr lang="hu-HU" dirty="0"/>
              <a:t> </a:t>
            </a:r>
            <a:r>
              <a:rPr lang="hu-HU" dirty="0" err="1"/>
              <a:t>representation</a:t>
            </a:r>
            <a:r>
              <a:rPr lang="hu-HU" dirty="0"/>
              <a:t>; arc)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dirty="0" err="1"/>
              <a:t>Curvature</a:t>
            </a:r>
            <a:r>
              <a:rPr lang="hu-HU" dirty="0"/>
              <a:t> </a:t>
            </a:r>
            <a:r>
              <a:rPr lang="hu-HU" dirty="0" err="1"/>
              <a:t>calculation</a:t>
            </a:r>
            <a:r>
              <a:rPr lang="hu-HU" dirty="0"/>
              <a:t> (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point-based</a:t>
            </a:r>
            <a:r>
              <a:rPr lang="hu-HU" dirty="0"/>
              <a:t> </a:t>
            </a:r>
            <a:r>
              <a:rPr lang="hu-HU" dirty="0" err="1"/>
              <a:t>representation</a:t>
            </a:r>
            <a:r>
              <a:rPr lang="hu-HU" dirty="0"/>
              <a:t>; </a:t>
            </a:r>
            <a:r>
              <a:rPr lang="hu-HU" dirty="0" err="1"/>
              <a:t>clothoid</a:t>
            </a:r>
            <a:r>
              <a:rPr lang="hu-HU" dirty="0"/>
              <a:t>)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kern="0" dirty="0"/>
              <a:t>Lane </a:t>
            </a:r>
            <a:r>
              <a:rPr lang="hu-HU" kern="0" dirty="0" err="1"/>
              <a:t>departure</a:t>
            </a:r>
            <a:r>
              <a:rPr lang="hu-HU" kern="0" dirty="0"/>
              <a:t> </a:t>
            </a:r>
            <a:r>
              <a:rPr lang="hu-HU" kern="0" dirty="0" err="1"/>
              <a:t>simulation</a:t>
            </a:r>
            <a:r>
              <a:rPr lang="hu-HU" kern="0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ED0007"/>
                </a:solidFill>
              </a:rPr>
              <a:t>TBD</a:t>
            </a:r>
            <a:r>
              <a:rPr lang="en-US" dirty="0"/>
              <a:t>)</a:t>
            </a:r>
            <a:endParaRPr lang="hu-HU" dirty="0"/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kern="0" dirty="0" err="1"/>
              <a:t>Road</a:t>
            </a:r>
            <a:r>
              <a:rPr lang="hu-HU" kern="0" dirty="0"/>
              <a:t> </a:t>
            </a:r>
            <a:r>
              <a:rPr lang="hu-HU" kern="0" dirty="0" err="1"/>
              <a:t>scenarios</a:t>
            </a:r>
            <a:r>
              <a:rPr lang="hu-HU" kern="0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ED0007"/>
                </a:solidFill>
              </a:rPr>
              <a:t>TBD</a:t>
            </a:r>
            <a:r>
              <a:rPr lang="en-US" dirty="0"/>
              <a:t>)</a:t>
            </a:r>
            <a:endParaRPr lang="hu-HU" kern="0" dirty="0"/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21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Panel design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D89A4-7E7F-4FFD-BF82-09B83F83F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7258" y="1204042"/>
            <a:ext cx="9317008" cy="444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0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Panel design and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flow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B6905-DE3B-428E-9189-53AC6D658F14}"/>
              </a:ext>
            </a:extLst>
          </p:cNvPr>
          <p:cNvSpPr/>
          <p:nvPr/>
        </p:nvSpPr>
        <p:spPr>
          <a:xfrm>
            <a:off x="2821355" y="962614"/>
            <a:ext cx="5681784" cy="287059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Lane Panel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543E08-D137-4AFF-9A9F-CDD51FCF920A}"/>
              </a:ext>
            </a:extLst>
          </p:cNvPr>
          <p:cNvSpPr/>
          <p:nvPr/>
        </p:nvSpPr>
        <p:spPr>
          <a:xfrm>
            <a:off x="2930770" y="1324707"/>
            <a:ext cx="2792407" cy="133420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Lane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segment</a:t>
            </a:r>
            <a:endParaRPr kumimoji="0" lang="hu-HU" sz="11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Segment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/Line ID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Lan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e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width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Road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edge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offset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Raised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edge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offset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Line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type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Activaton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using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switches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) of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segments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(L, R, LL, RR, etc.)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8C8E3-4B54-4E82-9EA1-F44D992B67AF}"/>
              </a:ext>
            </a:extLst>
          </p:cNvPr>
          <p:cNvSpPr/>
          <p:nvPr/>
        </p:nvSpPr>
        <p:spPr>
          <a:xfrm>
            <a:off x="2927006" y="2766604"/>
            <a:ext cx="2787520" cy="87664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Vehicle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lang="hu-HU" sz="11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m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otion</a:t>
            </a:r>
            <a:endParaRPr kumimoji="0" lang="hu-HU" sz="11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Heading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direction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Left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,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Right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)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Heading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angle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deg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)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Wheel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activation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duration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35533B-49C3-40D2-801E-AF98B6CEB36C}"/>
              </a:ext>
            </a:extLst>
          </p:cNvPr>
          <p:cNvSpPr/>
          <p:nvPr/>
        </p:nvSpPr>
        <p:spPr>
          <a:xfrm>
            <a:off x="5873263" y="1333364"/>
            <a:ext cx="2477475" cy="204529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Road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secnarios</a:t>
            </a:r>
            <a:endParaRPr lang="hu-HU" sz="11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list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of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pre-defined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road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scenarios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:</a:t>
            </a:r>
          </a:p>
          <a:p>
            <a:pPr marL="628388" lvl="1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straight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default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)</a:t>
            </a:r>
          </a:p>
          <a:p>
            <a:pPr marL="628388" lvl="1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curve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1 (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simple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curvature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without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curvature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change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, r1)</a:t>
            </a:r>
          </a:p>
          <a:p>
            <a:pPr marL="628388" lvl="1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curve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2 (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simple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curvature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without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curvature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change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, r2)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628388" lvl="1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curve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3 (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curvature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with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curvature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change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)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Length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of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road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read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only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)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Position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road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read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only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9DAAD3-8CC7-4FCF-A203-666C4356EE6D}"/>
              </a:ext>
            </a:extLst>
          </p:cNvPr>
          <p:cNvSpPr/>
          <p:nvPr/>
        </p:nvSpPr>
        <p:spPr>
          <a:xfrm>
            <a:off x="216878" y="1934306"/>
            <a:ext cx="1547445" cy="61741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CLOE ::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Lines</a:t>
            </a:r>
            <a:endParaRPr lang="hu-HU" sz="11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via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FDX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protocol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simulation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source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: video</a:t>
            </a:r>
            <a:endParaRPr kumimoji="0" lang="en-US" sz="6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2583F8-7A6E-4FCE-9733-DC842837E9DF}"/>
              </a:ext>
            </a:extLst>
          </p:cNvPr>
          <p:cNvCxnSpPr>
            <a:cxnSpLocks/>
          </p:cNvCxnSpPr>
          <p:nvPr/>
        </p:nvCxnSpPr>
        <p:spPr>
          <a:xfrm>
            <a:off x="2171701" y="2243014"/>
            <a:ext cx="759068" cy="0"/>
          </a:xfrm>
          <a:prstGeom prst="straightConnector1">
            <a:avLst/>
          </a:prstGeom>
          <a:ln w="12700">
            <a:solidFill>
              <a:srgbClr val="00884A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61F8C16-CA25-4103-BB18-6652B7583CFF}"/>
              </a:ext>
            </a:extLst>
          </p:cNvPr>
          <p:cNvSpPr/>
          <p:nvPr/>
        </p:nvSpPr>
        <p:spPr>
          <a:xfrm>
            <a:off x="9370646" y="2780606"/>
            <a:ext cx="2375877" cy="2269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Internal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data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structure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to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store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Lane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segments</a:t>
            </a:r>
            <a:endParaRPr lang="hu-HU" sz="11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(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max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8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segments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Segment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/Line ID [1 .. 8]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Line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type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hu-HU" sz="900" kern="0" dirty="0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Line </a:t>
            </a:r>
            <a:r>
              <a:rPr lang="hu-HU" sz="900" kern="0" dirty="0" err="1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Relation</a:t>
            </a:r>
            <a:r>
              <a:rPr lang="hu-HU" sz="900" kern="0" dirty="0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</a:t>
            </a:r>
            <a:r>
              <a:rPr lang="hu-HU" sz="900" kern="0" dirty="0" err="1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right</a:t>
            </a:r>
            <a:r>
              <a:rPr lang="hu-HU" sz="900" kern="0" dirty="0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, </a:t>
            </a:r>
            <a:r>
              <a:rPr lang="hu-HU" sz="900" kern="0" dirty="0" err="1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left</a:t>
            </a:r>
            <a:r>
              <a:rPr lang="hu-HU" sz="900" kern="0" dirty="0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, </a:t>
            </a:r>
            <a:r>
              <a:rPr lang="hu-HU" sz="900" kern="0" dirty="0" err="1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etc</a:t>
            </a:r>
            <a:r>
              <a:rPr lang="hu-HU" sz="900" kern="0" dirty="0">
                <a:ln w="0"/>
                <a:solidFill>
                  <a:schemeClr val="bg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…)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Line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Distance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Line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Curvature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(1/m)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Line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Curvature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Change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(1/m*m)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hu-HU" sz="900" i="0" u="none" strike="noStrike" kern="0" normalizeH="0" baseline="0" noProof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Line </a:t>
            </a:r>
            <a:r>
              <a:rPr kumimoji="0" lang="hu-HU" sz="900" i="0" u="none" strike="noStrike" kern="0" normalizeH="0" baseline="0" noProof="0" dirty="0" err="1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Distance</a:t>
            </a:r>
            <a:r>
              <a:rPr kumimoji="0" lang="hu-HU" sz="900" i="0" u="none" strike="noStrike" kern="0" normalizeH="0" baseline="0" noProof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x Start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Line </a:t>
            </a:r>
            <a:r>
              <a:rPr kumimoji="0" lang="hu-HU" sz="900" i="0" u="none" strike="noStrike" kern="0" normalizeH="0" baseline="0" noProof="0" dirty="0" err="1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Distance</a:t>
            </a:r>
            <a:r>
              <a:rPr kumimoji="0" lang="hu-HU" sz="900" i="0" u="none" strike="noStrike" kern="0" normalizeH="0" baseline="0" noProof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x End</a:t>
            </a:r>
            <a:endParaRPr kumimoji="0" lang="en-US" sz="900" i="0" u="none" strike="noStrike" kern="0" normalizeH="0" baseline="0" noProof="0" dirty="0">
              <a:ln w="0"/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942CFB-5D83-40A4-856D-207AE3A74FCA}"/>
              </a:ext>
            </a:extLst>
          </p:cNvPr>
          <p:cNvCxnSpPr>
            <a:cxnSpLocks/>
          </p:cNvCxnSpPr>
          <p:nvPr/>
        </p:nvCxnSpPr>
        <p:spPr>
          <a:xfrm>
            <a:off x="8503139" y="3220476"/>
            <a:ext cx="867507" cy="0"/>
          </a:xfrm>
          <a:prstGeom prst="straightConnector1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51A1316-8D11-4D31-9B31-9FDFFFAE48B1}"/>
              </a:ext>
            </a:extLst>
          </p:cNvPr>
          <p:cNvSpPr/>
          <p:nvPr/>
        </p:nvSpPr>
        <p:spPr>
          <a:xfrm>
            <a:off x="222740" y="1172891"/>
            <a:ext cx="1547445" cy="61741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User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E529D0-6669-4DFC-8B07-DE084F80CA64}"/>
              </a:ext>
            </a:extLst>
          </p:cNvPr>
          <p:cNvCxnSpPr>
            <a:cxnSpLocks/>
          </p:cNvCxnSpPr>
          <p:nvPr/>
        </p:nvCxnSpPr>
        <p:spPr>
          <a:xfrm>
            <a:off x="1764323" y="1481599"/>
            <a:ext cx="1166446" cy="0"/>
          </a:xfrm>
          <a:prstGeom prst="straightConnector1">
            <a:avLst/>
          </a:prstGeom>
          <a:ln w="127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DF2133B-0F12-41C3-98AB-915FB80CA388}"/>
              </a:ext>
            </a:extLst>
          </p:cNvPr>
          <p:cNvCxnSpPr>
            <a:cxnSpLocks/>
          </p:cNvCxnSpPr>
          <p:nvPr/>
        </p:nvCxnSpPr>
        <p:spPr>
          <a:xfrm>
            <a:off x="4911970" y="2407062"/>
            <a:ext cx="425938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B90DDE7-0869-4672-BAFF-69E0ED432703}"/>
              </a:ext>
            </a:extLst>
          </p:cNvPr>
          <p:cNvCxnSpPr>
            <a:cxnSpLocks/>
          </p:cNvCxnSpPr>
          <p:nvPr/>
        </p:nvCxnSpPr>
        <p:spPr>
          <a:xfrm>
            <a:off x="2347546" y="2938511"/>
            <a:ext cx="583223" cy="0"/>
          </a:xfrm>
          <a:prstGeom prst="straightConnector1">
            <a:avLst/>
          </a:prstGeom>
          <a:ln w="127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94E91FB-C456-4623-A95F-7E290A8BF801}"/>
              </a:ext>
            </a:extLst>
          </p:cNvPr>
          <p:cNvCxnSpPr>
            <a:cxnSpLocks/>
          </p:cNvCxnSpPr>
          <p:nvPr/>
        </p:nvCxnSpPr>
        <p:spPr>
          <a:xfrm>
            <a:off x="2347546" y="1481599"/>
            <a:ext cx="0" cy="2685358"/>
          </a:xfrm>
          <a:prstGeom prst="line">
            <a:avLst/>
          </a:prstGeom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FDDA164-5D5E-44D4-AB02-F3ED0B51CC9D}"/>
              </a:ext>
            </a:extLst>
          </p:cNvPr>
          <p:cNvCxnSpPr>
            <a:cxnSpLocks/>
          </p:cNvCxnSpPr>
          <p:nvPr/>
        </p:nvCxnSpPr>
        <p:spPr>
          <a:xfrm flipV="1">
            <a:off x="6838462" y="3378659"/>
            <a:ext cx="0" cy="778327"/>
          </a:xfrm>
          <a:prstGeom prst="straightConnector1">
            <a:avLst/>
          </a:prstGeom>
          <a:ln w="127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F3EE7C61-73CE-4A07-8C97-A2671A0DA058}"/>
              </a:ext>
            </a:extLst>
          </p:cNvPr>
          <p:cNvSpPr/>
          <p:nvPr/>
        </p:nvSpPr>
        <p:spPr>
          <a:xfrm>
            <a:off x="9996856" y="5308514"/>
            <a:ext cx="1547445" cy="61741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Vehicle</a:t>
            </a:r>
            <a:r>
              <a:rPr lang="hu-HU" sz="11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11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Model</a:t>
            </a:r>
            <a:r>
              <a:rPr lang="hu-HU" sz="11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11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data</a:t>
            </a:r>
            <a:r>
              <a:rPr lang="hu-HU" sz="11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11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structure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ED61B87-7957-455C-AE89-AE8456D522CC}"/>
              </a:ext>
            </a:extLst>
          </p:cNvPr>
          <p:cNvCxnSpPr>
            <a:cxnSpLocks/>
          </p:cNvCxnSpPr>
          <p:nvPr/>
        </p:nvCxnSpPr>
        <p:spPr>
          <a:xfrm flipV="1">
            <a:off x="8245231" y="3378660"/>
            <a:ext cx="0" cy="2238562"/>
          </a:xfrm>
          <a:prstGeom prst="straightConnector1">
            <a:avLst/>
          </a:prstGeom>
          <a:ln w="12700">
            <a:solidFill>
              <a:srgbClr val="CC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773E43FF-3710-4066-AD44-ADDB718CACB6}"/>
              </a:ext>
            </a:extLst>
          </p:cNvPr>
          <p:cNvSpPr/>
          <p:nvPr/>
        </p:nvSpPr>
        <p:spPr>
          <a:xfrm>
            <a:off x="9784861" y="426163"/>
            <a:ext cx="1547445" cy="6174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Customer</a:t>
            </a: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/ Bosch COM </a:t>
            </a: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protocols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F7061DE-810D-4A97-899F-94C14637029B}"/>
              </a:ext>
            </a:extLst>
          </p:cNvPr>
          <p:cNvCxnSpPr>
            <a:cxnSpLocks/>
          </p:cNvCxnSpPr>
          <p:nvPr/>
        </p:nvCxnSpPr>
        <p:spPr>
          <a:xfrm flipV="1">
            <a:off x="10533900" y="1038714"/>
            <a:ext cx="0" cy="510168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C316B3E-7B65-4E22-AB32-0252FD34B6B9}"/>
              </a:ext>
            </a:extLst>
          </p:cNvPr>
          <p:cNvCxnSpPr>
            <a:cxnSpLocks/>
          </p:cNvCxnSpPr>
          <p:nvPr/>
        </p:nvCxnSpPr>
        <p:spPr>
          <a:xfrm>
            <a:off x="2164862" y="4314569"/>
            <a:ext cx="7205784" cy="0"/>
          </a:xfrm>
          <a:prstGeom prst="straightConnector1">
            <a:avLst/>
          </a:prstGeom>
          <a:ln w="12700">
            <a:solidFill>
              <a:srgbClr val="0088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33F9AD9-CD6A-469F-85BE-D6D1016401D7}"/>
              </a:ext>
            </a:extLst>
          </p:cNvPr>
          <p:cNvCxnSpPr>
            <a:cxnSpLocks/>
          </p:cNvCxnSpPr>
          <p:nvPr/>
        </p:nvCxnSpPr>
        <p:spPr>
          <a:xfrm flipH="1">
            <a:off x="2164862" y="2243014"/>
            <a:ext cx="6840" cy="2071555"/>
          </a:xfrm>
          <a:prstGeom prst="line">
            <a:avLst/>
          </a:prstGeom>
          <a:ln w="12700">
            <a:solidFill>
              <a:srgbClr val="0088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9F198D9-43A2-4BC2-92B7-0DF4A180E074}"/>
              </a:ext>
            </a:extLst>
          </p:cNvPr>
          <p:cNvCxnSpPr>
            <a:cxnSpLocks/>
          </p:cNvCxnSpPr>
          <p:nvPr/>
        </p:nvCxnSpPr>
        <p:spPr>
          <a:xfrm flipV="1">
            <a:off x="2347546" y="4156986"/>
            <a:ext cx="4490916" cy="9971"/>
          </a:xfrm>
          <a:prstGeom prst="line">
            <a:avLst/>
          </a:prstGeom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E81CEE2-8FF9-4ED9-B3DE-64B0E90ED6EE}"/>
              </a:ext>
            </a:extLst>
          </p:cNvPr>
          <p:cNvCxnSpPr>
            <a:cxnSpLocks/>
          </p:cNvCxnSpPr>
          <p:nvPr/>
        </p:nvCxnSpPr>
        <p:spPr>
          <a:xfrm flipH="1">
            <a:off x="8245231" y="5622087"/>
            <a:ext cx="1746739" cy="0"/>
          </a:xfrm>
          <a:prstGeom prst="line">
            <a:avLst/>
          </a:prstGeom>
          <a:ln w="12700"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BCD02F-7AB1-49A2-A959-8A25C1942832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1764323" y="2243014"/>
            <a:ext cx="400540" cy="0"/>
          </a:xfrm>
          <a:prstGeom prst="line">
            <a:avLst/>
          </a:prstGeom>
          <a:ln w="12700">
            <a:solidFill>
              <a:srgbClr val="0088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D531E3AB-0991-4759-9BA8-41696DD14E10}"/>
              </a:ext>
            </a:extLst>
          </p:cNvPr>
          <p:cNvSpPr/>
          <p:nvPr/>
        </p:nvSpPr>
        <p:spPr>
          <a:xfrm>
            <a:off x="9617057" y="1556973"/>
            <a:ext cx="1833685" cy="78987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sng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Representation</a:t>
            </a:r>
            <a:r>
              <a:rPr kumimoji="0" lang="hu-HU" sz="1100" i="0" u="sng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= 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Curvature</a:t>
            </a:r>
            <a:r>
              <a:rPr lang="hu-HU" sz="11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-</a:t>
            </a:r>
            <a:r>
              <a:rPr lang="hu-HU" sz="11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based</a:t>
            </a:r>
            <a:endParaRPr lang="hu-HU" sz="11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OR</a:t>
            </a:r>
            <a:br>
              <a:rPr lang="hu-HU" sz="11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</a:br>
            <a:r>
              <a:rPr lang="hu-HU" sz="11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Point-based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F20F16-E7A4-49E2-B6A1-E614DCF6122E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10533899" y="2346844"/>
            <a:ext cx="1" cy="410260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83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Concept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827B15-F28E-4FEE-9D76-4F3F43D45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00622" y="1160400"/>
            <a:ext cx="590632" cy="143847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87FBC3-3387-479E-93CD-CC6364C6E5F2}"/>
              </a:ext>
            </a:extLst>
          </p:cNvPr>
          <p:cNvCxnSpPr>
            <a:cxnSpLocks/>
          </p:cNvCxnSpPr>
          <p:nvPr/>
        </p:nvCxnSpPr>
        <p:spPr>
          <a:xfrm>
            <a:off x="2415176" y="1873777"/>
            <a:ext cx="246162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8F17AD9-C1E4-4311-A7A3-53E0677597DB}"/>
              </a:ext>
            </a:extLst>
          </p:cNvPr>
          <p:cNvSpPr txBox="1"/>
          <p:nvPr/>
        </p:nvSpPr>
        <p:spPr>
          <a:xfrm>
            <a:off x="3512467" y="2226137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Heading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angle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C9FEAB-458F-47FA-8F43-80DE8C2C5A24}"/>
              </a:ext>
            </a:extLst>
          </p:cNvPr>
          <p:cNvCxnSpPr>
            <a:cxnSpLocks/>
          </p:cNvCxnSpPr>
          <p:nvPr/>
        </p:nvCxnSpPr>
        <p:spPr>
          <a:xfrm flipV="1">
            <a:off x="2415176" y="1306284"/>
            <a:ext cx="2268791" cy="55532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011CE6-4FD1-427D-8878-817357EA4C77}"/>
              </a:ext>
            </a:extLst>
          </p:cNvPr>
          <p:cNvCxnSpPr>
            <a:cxnSpLocks/>
          </p:cNvCxnSpPr>
          <p:nvPr/>
        </p:nvCxnSpPr>
        <p:spPr>
          <a:xfrm>
            <a:off x="2415176" y="1885944"/>
            <a:ext cx="1703564" cy="812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635AE1-7D59-49CF-B17B-D91AF244A2C6}"/>
              </a:ext>
            </a:extLst>
          </p:cNvPr>
          <p:cNvCxnSpPr>
            <a:cxnSpLocks/>
          </p:cNvCxnSpPr>
          <p:nvPr/>
        </p:nvCxnSpPr>
        <p:spPr>
          <a:xfrm flipV="1">
            <a:off x="2418286" y="1924100"/>
            <a:ext cx="3767910" cy="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72033F8E-0C70-4E5F-8210-A6E2D6DCD8A5}"/>
              </a:ext>
            </a:extLst>
          </p:cNvPr>
          <p:cNvSpPr/>
          <p:nvPr/>
        </p:nvSpPr>
        <p:spPr>
          <a:xfrm>
            <a:off x="3645988" y="1924775"/>
            <a:ext cx="5029104" cy="4280756"/>
          </a:xfrm>
          <a:prstGeom prst="arc">
            <a:avLst>
              <a:gd name="adj1" fmla="val 16200000"/>
              <a:gd name="adj2" fmla="val 19896641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23B79-F069-4494-86A5-260F6E35EC85}"/>
              </a:ext>
            </a:extLst>
          </p:cNvPr>
          <p:cNvSpPr txBox="1"/>
          <p:nvPr/>
        </p:nvSpPr>
        <p:spPr>
          <a:xfrm>
            <a:off x="3826596" y="1513263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Heading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angle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85A72-D155-4453-8FA7-F5F8814A52BB}"/>
              </a:ext>
            </a:extLst>
          </p:cNvPr>
          <p:cNvSpPr txBox="1"/>
          <p:nvPr/>
        </p:nvSpPr>
        <p:spPr>
          <a:xfrm>
            <a:off x="7143953" y="1816196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Road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curvature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A4C7A3-089C-4D0F-8F45-3F1F6ABF2870}"/>
              </a:ext>
            </a:extLst>
          </p:cNvPr>
          <p:cNvCxnSpPr>
            <a:cxnSpLocks/>
          </p:cNvCxnSpPr>
          <p:nvPr/>
        </p:nvCxnSpPr>
        <p:spPr>
          <a:xfrm>
            <a:off x="8282288" y="2906927"/>
            <a:ext cx="479157" cy="56405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8C4C4F87-E2E4-4AB9-ABDE-83A0BB8B130C}"/>
              </a:ext>
            </a:extLst>
          </p:cNvPr>
          <p:cNvSpPr/>
          <p:nvPr/>
        </p:nvSpPr>
        <p:spPr>
          <a:xfrm>
            <a:off x="3645987" y="1031511"/>
            <a:ext cx="5367383" cy="4280756"/>
          </a:xfrm>
          <a:prstGeom prst="arc">
            <a:avLst>
              <a:gd name="adj1" fmla="val 16200000"/>
              <a:gd name="adj2" fmla="val 20157104"/>
            </a:avLst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6D17B7-E686-4B20-805C-AC17004B6F78}"/>
              </a:ext>
            </a:extLst>
          </p:cNvPr>
          <p:cNvCxnSpPr/>
          <p:nvPr/>
        </p:nvCxnSpPr>
        <p:spPr>
          <a:xfrm flipH="1">
            <a:off x="438539" y="1031511"/>
            <a:ext cx="5886068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c 25">
            <a:extLst>
              <a:ext uri="{FF2B5EF4-FFF2-40B4-BE49-F238E27FC236}">
                <a16:creationId xmlns:a16="http://schemas.microsoft.com/office/drawing/2014/main" id="{A3954AF2-898F-44F2-9C97-A0DF29BB7376}"/>
              </a:ext>
            </a:extLst>
          </p:cNvPr>
          <p:cNvSpPr/>
          <p:nvPr/>
        </p:nvSpPr>
        <p:spPr>
          <a:xfrm>
            <a:off x="3659578" y="2824141"/>
            <a:ext cx="4370785" cy="3660634"/>
          </a:xfrm>
          <a:prstGeom prst="arc">
            <a:avLst>
              <a:gd name="adj1" fmla="val 16200000"/>
              <a:gd name="adj2" fmla="val 20157104"/>
            </a:avLst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98094F-0076-4F31-B444-178AE17D549C}"/>
              </a:ext>
            </a:extLst>
          </p:cNvPr>
          <p:cNvCxnSpPr>
            <a:cxnSpLocks/>
          </p:cNvCxnSpPr>
          <p:nvPr/>
        </p:nvCxnSpPr>
        <p:spPr>
          <a:xfrm flipH="1">
            <a:off x="433467" y="2824141"/>
            <a:ext cx="5463480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43F4039-9829-4A94-856F-62491C39C78F}"/>
              </a:ext>
            </a:extLst>
          </p:cNvPr>
          <p:cNvSpPr txBox="1"/>
          <p:nvPr/>
        </p:nvSpPr>
        <p:spPr>
          <a:xfrm>
            <a:off x="7143952" y="704816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</a:rPr>
              <a:t>Lane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</a:rPr>
              <a:t>width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</a:endParaRP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4D342123-AADA-4229-83CD-940C237FAA2D}"/>
              </a:ext>
            </a:extLst>
          </p:cNvPr>
          <p:cNvSpPr/>
          <p:nvPr/>
        </p:nvSpPr>
        <p:spPr>
          <a:xfrm rot="10800000">
            <a:off x="5563138" y="1031510"/>
            <a:ext cx="559837" cy="1792629"/>
          </a:xfrm>
          <a:prstGeom prst="leftBrace">
            <a:avLst>
              <a:gd name="adj1" fmla="val 8333"/>
              <a:gd name="adj2" fmla="val 79079"/>
            </a:avLst>
          </a:prstGeom>
          <a:ln w="222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04E444-3E9B-41D8-98DA-AEC4C11AA76E}"/>
              </a:ext>
            </a:extLst>
          </p:cNvPr>
          <p:cNvCxnSpPr>
            <a:cxnSpLocks/>
          </p:cNvCxnSpPr>
          <p:nvPr/>
        </p:nvCxnSpPr>
        <p:spPr>
          <a:xfrm flipV="1">
            <a:off x="6331165" y="859288"/>
            <a:ext cx="749567" cy="51893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66F5BCF-C605-40B2-9B2B-0E17EFEA0D73}"/>
              </a:ext>
            </a:extLst>
          </p:cNvPr>
          <p:cNvSpPr txBox="1"/>
          <p:nvPr/>
        </p:nvSpPr>
        <p:spPr>
          <a:xfrm>
            <a:off x="8271503" y="1405359"/>
            <a:ext cx="872498" cy="1789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</a:rPr>
              <a:t>Line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</a:rPr>
              <a:t>Left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4639E4-FB7A-471E-A3BA-F0C77ACDD0E4}"/>
              </a:ext>
            </a:extLst>
          </p:cNvPr>
          <p:cNvSpPr txBox="1"/>
          <p:nvPr/>
        </p:nvSpPr>
        <p:spPr>
          <a:xfrm>
            <a:off x="6393081" y="3171889"/>
            <a:ext cx="872498" cy="1789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</a:rPr>
              <a:t>Line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</a:rPr>
              <a:t>Right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CD2C8A-7F62-48CE-9DB5-ACD8181E950D}"/>
              </a:ext>
            </a:extLst>
          </p:cNvPr>
          <p:cNvSpPr txBox="1"/>
          <p:nvPr/>
        </p:nvSpPr>
        <p:spPr>
          <a:xfrm>
            <a:off x="459113" y="3370699"/>
            <a:ext cx="4794022" cy="10053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hu-HU" sz="1200" u="sng" kern="0" dirty="0">
                <a:solidFill>
                  <a:srgbClr val="000000"/>
                </a:solidFill>
              </a:rPr>
              <a:t>NOTE</a:t>
            </a:r>
            <a:r>
              <a:rPr lang="hu-HU" sz="1200" kern="0" dirty="0">
                <a:solidFill>
                  <a:srgbClr val="000000"/>
                </a:solidFill>
              </a:rPr>
              <a:t>:</a:t>
            </a:r>
          </a:p>
          <a:p>
            <a:pPr marL="171450" marR="0" indent="-1714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sz="1200" kern="0" dirty="0" err="1">
                <a:solidFill>
                  <a:srgbClr val="000000"/>
                </a:solidFill>
              </a:rPr>
              <a:t>Curvature</a:t>
            </a:r>
            <a:r>
              <a:rPr lang="hu-HU" sz="1200" kern="0" dirty="0">
                <a:solidFill>
                  <a:srgbClr val="000000"/>
                </a:solidFill>
              </a:rPr>
              <a:t> of </a:t>
            </a:r>
            <a:r>
              <a:rPr lang="hu-HU" sz="1200" kern="0" dirty="0">
                <a:solidFill>
                  <a:schemeClr val="bg1">
                    <a:lumMod val="65000"/>
                  </a:schemeClr>
                </a:solidFill>
              </a:rPr>
              <a:t>Line </a:t>
            </a:r>
            <a:r>
              <a:rPr lang="hu-HU" sz="1200" kern="0" dirty="0" err="1">
                <a:solidFill>
                  <a:schemeClr val="bg1">
                    <a:lumMod val="65000"/>
                  </a:schemeClr>
                </a:solidFill>
              </a:rPr>
              <a:t>segments</a:t>
            </a:r>
            <a:r>
              <a:rPr lang="hu-HU" sz="1200" kern="0" dirty="0">
                <a:solidFill>
                  <a:srgbClr val="000000"/>
                </a:solidFill>
              </a:rPr>
              <a:t> is </a:t>
            </a:r>
            <a:r>
              <a:rPr lang="hu-HU" sz="1200" kern="0" dirty="0" err="1">
                <a:solidFill>
                  <a:srgbClr val="000000"/>
                </a:solidFill>
              </a:rPr>
              <a:t>derived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from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7BC0"/>
                </a:solidFill>
              </a:rPr>
              <a:t>Road</a:t>
            </a:r>
            <a:r>
              <a:rPr lang="hu-HU" sz="1200" kern="0" dirty="0">
                <a:solidFill>
                  <a:srgbClr val="007BC0"/>
                </a:solidFill>
              </a:rPr>
              <a:t> </a:t>
            </a:r>
            <a:r>
              <a:rPr lang="hu-HU" sz="1200" kern="0" dirty="0" err="1">
                <a:solidFill>
                  <a:srgbClr val="007BC0"/>
                </a:solidFill>
              </a:rPr>
              <a:t>curvature</a:t>
            </a:r>
            <a:endParaRPr lang="hu-HU" sz="1200" kern="0" dirty="0">
              <a:solidFill>
                <a:srgbClr val="007BC0"/>
              </a:solidFill>
            </a:endParaRPr>
          </a:p>
          <a:p>
            <a:pPr marL="171450" marR="0" indent="-1714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Line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position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Dy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 is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calculated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from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Vehicle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Head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position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based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on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lang="hu-HU" sz="1200" kern="0" dirty="0">
                <a:solidFill>
                  <a:srgbClr val="FFC000"/>
                </a:solidFill>
              </a:rPr>
              <a:t>L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</a:rPr>
              <a:t>ane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</a:rPr>
              <a:t>width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07094863-30AB-4AEB-9FF7-0A5E0A76D4A9}"/>
              </a:ext>
            </a:extLst>
          </p:cNvPr>
          <p:cNvSpPr/>
          <p:nvPr/>
        </p:nvSpPr>
        <p:spPr>
          <a:xfrm rot="10800000">
            <a:off x="2519688" y="1064330"/>
            <a:ext cx="394572" cy="812033"/>
          </a:xfrm>
          <a:prstGeom prst="leftBrace">
            <a:avLst>
              <a:gd name="adj1" fmla="val 8333"/>
              <a:gd name="adj2" fmla="val 79079"/>
            </a:avLst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9A675079-60B8-4F45-B698-EE1B2493138F}"/>
              </a:ext>
            </a:extLst>
          </p:cNvPr>
          <p:cNvSpPr/>
          <p:nvPr/>
        </p:nvSpPr>
        <p:spPr>
          <a:xfrm rot="10800000">
            <a:off x="2515423" y="1897918"/>
            <a:ext cx="394572" cy="926220"/>
          </a:xfrm>
          <a:prstGeom prst="leftBrace">
            <a:avLst>
              <a:gd name="adj1" fmla="val 8333"/>
              <a:gd name="adj2" fmla="val 47850"/>
            </a:avLst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9049CF-8E04-4D5D-B0FA-5FC0279C04F6}"/>
              </a:ext>
            </a:extLst>
          </p:cNvPr>
          <p:cNvCxnSpPr>
            <a:cxnSpLocks/>
          </p:cNvCxnSpPr>
          <p:nvPr/>
        </p:nvCxnSpPr>
        <p:spPr>
          <a:xfrm flipV="1">
            <a:off x="3011021" y="721148"/>
            <a:ext cx="749567" cy="5189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8D4788-2A42-42A3-A0AB-548DAF2CF982}"/>
              </a:ext>
            </a:extLst>
          </p:cNvPr>
          <p:cNvCxnSpPr>
            <a:cxnSpLocks/>
          </p:cNvCxnSpPr>
          <p:nvPr/>
        </p:nvCxnSpPr>
        <p:spPr>
          <a:xfrm flipV="1">
            <a:off x="3043185" y="876330"/>
            <a:ext cx="779146" cy="148721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6E7ECFE-3738-47DC-A66E-5154A780AA6D}"/>
              </a:ext>
            </a:extLst>
          </p:cNvPr>
          <p:cNvSpPr txBox="1"/>
          <p:nvPr/>
        </p:nvSpPr>
        <p:spPr>
          <a:xfrm>
            <a:off x="3877406" y="596346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54414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Curvature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(arc)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17AD9-C1E4-4311-A7A3-53E0677597DB}"/>
              </a:ext>
            </a:extLst>
          </p:cNvPr>
          <p:cNvSpPr txBox="1"/>
          <p:nvPr/>
        </p:nvSpPr>
        <p:spPr>
          <a:xfrm>
            <a:off x="1735494" y="1469191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000000"/>
                </a:solidFill>
              </a:rPr>
              <a:t>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A4C7A3-089C-4D0F-8F45-3F1F6ABF2870}"/>
              </a:ext>
            </a:extLst>
          </p:cNvPr>
          <p:cNvCxnSpPr>
            <a:cxnSpLocks/>
          </p:cNvCxnSpPr>
          <p:nvPr/>
        </p:nvCxnSpPr>
        <p:spPr>
          <a:xfrm>
            <a:off x="755780" y="3461657"/>
            <a:ext cx="24819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FDEA10-483F-4D37-9D3B-CF96801796F6}"/>
              </a:ext>
            </a:extLst>
          </p:cNvPr>
          <p:cNvCxnSpPr>
            <a:cxnSpLocks/>
          </p:cNvCxnSpPr>
          <p:nvPr/>
        </p:nvCxnSpPr>
        <p:spPr>
          <a:xfrm flipV="1">
            <a:off x="755780" y="956388"/>
            <a:ext cx="0" cy="25052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8BDFDC19-AEF4-49C4-8EFB-22D38530F960}"/>
              </a:ext>
            </a:extLst>
          </p:cNvPr>
          <p:cNvSpPr/>
          <p:nvPr/>
        </p:nvSpPr>
        <p:spPr>
          <a:xfrm rot="5400000">
            <a:off x="-1478902" y="-944330"/>
            <a:ext cx="4469362" cy="4342614"/>
          </a:xfrm>
          <a:prstGeom prst="arc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1E474D-DA7E-413F-8048-7D3C51985189}"/>
              </a:ext>
            </a:extLst>
          </p:cNvPr>
          <p:cNvCxnSpPr>
            <a:cxnSpLocks/>
          </p:cNvCxnSpPr>
          <p:nvPr/>
        </p:nvCxnSpPr>
        <p:spPr>
          <a:xfrm flipH="1">
            <a:off x="783772" y="1222310"/>
            <a:ext cx="1" cy="2220686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869B4A4-89FA-46B3-A249-45B45DCE6E7F}"/>
              </a:ext>
            </a:extLst>
          </p:cNvPr>
          <p:cNvCxnSpPr>
            <a:cxnSpLocks/>
          </p:cNvCxnSpPr>
          <p:nvPr/>
        </p:nvCxnSpPr>
        <p:spPr>
          <a:xfrm>
            <a:off x="783772" y="1222310"/>
            <a:ext cx="1903444" cy="98671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26DC800-5A58-4474-A26B-C4A81300FE01}"/>
              </a:ext>
            </a:extLst>
          </p:cNvPr>
          <p:cNvSpPr txBox="1"/>
          <p:nvPr/>
        </p:nvSpPr>
        <p:spPr>
          <a:xfrm>
            <a:off x="811764" y="2246477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000000"/>
                </a:solidFill>
              </a:rPr>
              <a:t>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E0443-0A9A-44AE-A17D-E905152F6182}"/>
              </a:ext>
            </a:extLst>
          </p:cNvPr>
          <p:cNvSpPr txBox="1"/>
          <p:nvPr/>
        </p:nvSpPr>
        <p:spPr>
          <a:xfrm>
            <a:off x="2093168" y="2966058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000000"/>
                </a:solidFill>
              </a:rPr>
              <a:t>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5C921E-A886-4EC4-A1E6-9E690131295B}"/>
              </a:ext>
            </a:extLst>
          </p:cNvPr>
          <p:cNvSpPr txBox="1"/>
          <p:nvPr/>
        </p:nvSpPr>
        <p:spPr>
          <a:xfrm>
            <a:off x="873580" y="1469191"/>
            <a:ext cx="1056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C0438CA5-383A-4989-A60B-EBE6600D6A63}"/>
              </a:ext>
            </a:extLst>
          </p:cNvPr>
          <p:cNvSpPr/>
          <p:nvPr/>
        </p:nvSpPr>
        <p:spPr>
          <a:xfrm rot="5400000">
            <a:off x="477330" y="1056523"/>
            <a:ext cx="891203" cy="1127275"/>
          </a:xfrm>
          <a:prstGeom prst="arc">
            <a:avLst>
              <a:gd name="adj1" fmla="val 16708567"/>
              <a:gd name="adj2" fmla="val 0"/>
            </a:avLst>
          </a:prstGeom>
          <a:ln w="222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9C5F37-B737-4410-B126-D6285649E202}"/>
              </a:ext>
            </a:extLst>
          </p:cNvPr>
          <p:cNvSpPr txBox="1"/>
          <p:nvPr/>
        </p:nvSpPr>
        <p:spPr>
          <a:xfrm>
            <a:off x="873580" y="3718643"/>
            <a:ext cx="2528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lang="hu-HU" dirty="0">
                <a:latin typeface="+mn-lt"/>
                <a:cs typeface="Calibri" panose="020F0502020204030204" pitchFamily="34" charset="0"/>
              </a:rPr>
              <a:t> 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= 1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rad</a:t>
            </a:r>
            <a:endParaRPr lang="en-US" dirty="0">
              <a:latin typeface="Bosch Office Sans" pitchFamily="2" charset="0"/>
              <a:cs typeface="Calibri" panose="020F0502020204030204" pitchFamily="34" charset="0"/>
            </a:endParaRP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83AB2BA9-ED7F-4A39-92B6-1A5F0CD10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550556"/>
              </p:ext>
            </p:extLst>
          </p:nvPr>
        </p:nvGraphicFramePr>
        <p:xfrm>
          <a:off x="3899809" y="1196814"/>
          <a:ext cx="4775200" cy="81915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195647689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2802971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002505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618591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34703393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rad (in degree)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57,29577951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75497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radian (rad)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01487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radius (m)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1510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curv (rad/m)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0,00001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87224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rad to degree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57,29577951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0,114591559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0,572958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0,000573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42344"/>
                  </a:ext>
                </a:extLst>
              </a:tr>
            </a:tbl>
          </a:graphicData>
        </a:graphic>
      </p:graphicFrame>
      <p:pic>
        <p:nvPicPr>
          <p:cNvPr id="51" name="Picture 50">
            <a:extLst>
              <a:ext uri="{FF2B5EF4-FFF2-40B4-BE49-F238E27FC236}">
                <a16:creationId xmlns:a16="http://schemas.microsoft.com/office/drawing/2014/main" id="{97BD529B-C917-4CAA-8087-66A5CA97C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58" y="2720223"/>
            <a:ext cx="3393169" cy="2735504"/>
          </a:xfrm>
          <a:prstGeom prst="rect">
            <a:avLst/>
          </a:prstGeom>
          <a:ln w="12700">
            <a:solidFill>
              <a:schemeClr val="accent1"/>
            </a:solidFill>
          </a:ln>
          <a:effectLst>
            <a:outerShdw blurRad="50800" dist="63500" dir="2220000" algn="ctr" rotWithShape="0">
              <a:schemeClr val="bg1">
                <a:lumMod val="85000"/>
              </a:scheme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3BAB43C-FA5A-4CA5-95ED-B2CBA6F87F6B}"/>
              </a:ext>
            </a:extLst>
          </p:cNvPr>
          <p:cNvSpPr txBox="1"/>
          <p:nvPr/>
        </p:nvSpPr>
        <p:spPr>
          <a:xfrm>
            <a:off x="5024573" y="5522686"/>
            <a:ext cx="29861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hu-HU" sz="1200" dirty="0">
                <a:latin typeface="Calibri" panose="020F0502020204030204" pitchFamily="34" charset="0"/>
                <a:cs typeface="Calibri" panose="020F0502020204030204" pitchFamily="34" charset="0"/>
              </a:rPr>
              <a:t> in ADASIS v2 </a:t>
            </a:r>
            <a:r>
              <a:rPr lang="hu-HU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protocol</a:t>
            </a:r>
            <a:r>
              <a:rPr lang="hu-HU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description</a:t>
            </a:r>
            <a:endParaRPr lang="en-US" sz="1200" dirty="0">
              <a:latin typeface="Bosch Office Sans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995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Curvature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calculation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for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point-based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representation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; arc)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17AD9-C1E4-4311-A7A3-53E0677597DB}"/>
              </a:ext>
            </a:extLst>
          </p:cNvPr>
          <p:cNvSpPr txBox="1"/>
          <p:nvPr/>
        </p:nvSpPr>
        <p:spPr>
          <a:xfrm>
            <a:off x="1610997" y="3641704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ED0007"/>
                </a:solidFill>
              </a:rPr>
              <a:t>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A4C7A3-089C-4D0F-8F45-3F1F6ABF2870}"/>
              </a:ext>
            </a:extLst>
          </p:cNvPr>
          <p:cNvCxnSpPr>
            <a:cxnSpLocks/>
          </p:cNvCxnSpPr>
          <p:nvPr/>
        </p:nvCxnSpPr>
        <p:spPr>
          <a:xfrm>
            <a:off x="616834" y="5738326"/>
            <a:ext cx="537341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FDEA10-483F-4D37-9D3B-CF96801796F6}"/>
              </a:ext>
            </a:extLst>
          </p:cNvPr>
          <p:cNvCxnSpPr>
            <a:cxnSpLocks/>
          </p:cNvCxnSpPr>
          <p:nvPr/>
        </p:nvCxnSpPr>
        <p:spPr>
          <a:xfrm flipV="1">
            <a:off x="616834" y="886408"/>
            <a:ext cx="0" cy="48519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1E474D-DA7E-413F-8048-7D3C51985189}"/>
              </a:ext>
            </a:extLst>
          </p:cNvPr>
          <p:cNvCxnSpPr>
            <a:cxnSpLocks/>
          </p:cNvCxnSpPr>
          <p:nvPr/>
        </p:nvCxnSpPr>
        <p:spPr>
          <a:xfrm flipH="1">
            <a:off x="644829" y="5334836"/>
            <a:ext cx="1584648" cy="384829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26DC800-5A58-4474-A26B-C4A81300FE01}"/>
              </a:ext>
            </a:extLst>
          </p:cNvPr>
          <p:cNvSpPr txBox="1"/>
          <p:nvPr/>
        </p:nvSpPr>
        <p:spPr>
          <a:xfrm>
            <a:off x="6267381" y="858451"/>
            <a:ext cx="4044182" cy="1254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Where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:</a:t>
            </a:r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kumimoji="0" lang="hu-H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(</a:t>
            </a:r>
            <a:r>
              <a:rPr lang="el-GR" sz="1800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/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resolution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) / 2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>
                <a:solidFill>
                  <a:schemeClr val="accent1"/>
                </a:solidFill>
                <a:latin typeface="Bosch Office Sans" pitchFamily="2" charset="0"/>
                <a:cs typeface="Calibri" panose="020F0502020204030204" pitchFamily="34" charset="0"/>
              </a:rPr>
              <a:t>a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= 2 * </a:t>
            </a:r>
            <a:r>
              <a:rPr lang="hu-HU" dirty="0">
                <a:solidFill>
                  <a:srgbClr val="ED0007"/>
                </a:solidFill>
                <a:latin typeface="Bosch Office Sans" pitchFamily="2" charset="0"/>
                <a:cs typeface="Calibri" panose="020F0502020204030204" pitchFamily="34" charset="0"/>
              </a:rPr>
              <a:t>R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* sin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endParaRPr lang="hu-HU" dirty="0">
              <a:latin typeface="Bosch Office Sans" pitchFamily="2" charset="0"/>
              <a:cs typeface="Calibri" panose="020F0502020204030204" pitchFamily="34" charset="0"/>
            </a:endParaRP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>
                <a:solidFill>
                  <a:srgbClr val="ED0007"/>
                </a:solidFill>
                <a:latin typeface="Bosch Office Sans" pitchFamily="2" charset="0"/>
                <a:cs typeface="Calibri" panose="020F0502020204030204" pitchFamily="34" charset="0"/>
              </a:rPr>
              <a:t>tan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: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tangent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at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joints</a:t>
            </a:r>
            <a:endParaRPr lang="hu-HU" dirty="0">
              <a:latin typeface="Bosch Office Sans" pitchFamily="2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241414-BC60-4649-88D4-1D91B096C3FC}"/>
              </a:ext>
            </a:extLst>
          </p:cNvPr>
          <p:cNvCxnSpPr>
            <a:cxnSpLocks/>
          </p:cNvCxnSpPr>
          <p:nvPr/>
        </p:nvCxnSpPr>
        <p:spPr>
          <a:xfrm flipH="1">
            <a:off x="2214201" y="4329407"/>
            <a:ext cx="1333999" cy="1008106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D6BF9F-EF39-4525-A317-029DE95494EF}"/>
              </a:ext>
            </a:extLst>
          </p:cNvPr>
          <p:cNvCxnSpPr>
            <a:cxnSpLocks/>
          </p:cNvCxnSpPr>
          <p:nvPr/>
        </p:nvCxnSpPr>
        <p:spPr>
          <a:xfrm flipH="1">
            <a:off x="3548201" y="2872081"/>
            <a:ext cx="726492" cy="1443472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719375C-7A7A-4CFE-83DA-9C85E4CADDAE}"/>
              </a:ext>
            </a:extLst>
          </p:cNvPr>
          <p:cNvSpPr txBox="1"/>
          <p:nvPr/>
        </p:nvSpPr>
        <p:spPr>
          <a:xfrm>
            <a:off x="1473853" y="5532579"/>
            <a:ext cx="316228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E1E35E-67D5-442B-9175-F39CC86FAA46}"/>
              </a:ext>
            </a:extLst>
          </p:cNvPr>
          <p:cNvSpPr txBox="1"/>
          <p:nvPr/>
        </p:nvSpPr>
        <p:spPr>
          <a:xfrm>
            <a:off x="2999216" y="4744894"/>
            <a:ext cx="316228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299646-39B3-4D1E-B854-B4C92070AA12}"/>
              </a:ext>
            </a:extLst>
          </p:cNvPr>
          <p:cNvSpPr txBox="1"/>
          <p:nvPr/>
        </p:nvSpPr>
        <p:spPr>
          <a:xfrm>
            <a:off x="3976813" y="3552555"/>
            <a:ext cx="127915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99C6FF8-757A-45AD-A9F2-52BCF1E075F1}"/>
              </a:ext>
            </a:extLst>
          </p:cNvPr>
          <p:cNvCxnSpPr>
            <a:cxnSpLocks/>
          </p:cNvCxnSpPr>
          <p:nvPr/>
        </p:nvCxnSpPr>
        <p:spPr>
          <a:xfrm flipH="1">
            <a:off x="2816871" y="3491061"/>
            <a:ext cx="1472017" cy="1709749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5E191DD-0FC7-4F4C-92D0-B4B1643E5BC2}"/>
              </a:ext>
            </a:extLst>
          </p:cNvPr>
          <p:cNvCxnSpPr>
            <a:cxnSpLocks/>
          </p:cNvCxnSpPr>
          <p:nvPr/>
        </p:nvCxnSpPr>
        <p:spPr>
          <a:xfrm flipH="1">
            <a:off x="1222320" y="4877463"/>
            <a:ext cx="2065132" cy="922982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AF517E-8E1A-420F-AED3-12AF817B2485}"/>
              </a:ext>
            </a:extLst>
          </p:cNvPr>
          <p:cNvCxnSpPr>
            <a:cxnSpLocks/>
          </p:cNvCxnSpPr>
          <p:nvPr/>
        </p:nvCxnSpPr>
        <p:spPr>
          <a:xfrm>
            <a:off x="644829" y="1657191"/>
            <a:ext cx="2903371" cy="2679567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D942D61-B8BC-4827-B489-7EA9F5D7E3B6}"/>
              </a:ext>
            </a:extLst>
          </p:cNvPr>
          <p:cNvCxnSpPr>
            <a:cxnSpLocks/>
          </p:cNvCxnSpPr>
          <p:nvPr/>
        </p:nvCxnSpPr>
        <p:spPr>
          <a:xfrm>
            <a:off x="644240" y="1691158"/>
            <a:ext cx="1555400" cy="364367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6EBFCA1-CAEB-49D0-B763-EED793A1A9C0}"/>
              </a:ext>
            </a:extLst>
          </p:cNvPr>
          <p:cNvSpPr txBox="1"/>
          <p:nvPr/>
        </p:nvSpPr>
        <p:spPr>
          <a:xfrm>
            <a:off x="2065914" y="2754240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ED0007"/>
                </a:solidFill>
              </a:rPr>
              <a:t>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FCAF53-EC18-4995-B8A7-67BA0BDA1E5C}"/>
              </a:ext>
            </a:extLst>
          </p:cNvPr>
          <p:cNvSpPr txBox="1"/>
          <p:nvPr/>
        </p:nvSpPr>
        <p:spPr>
          <a:xfrm>
            <a:off x="3948369" y="3930115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rPr>
              <a:t>tan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70339E-F762-4FFF-8CDB-B900EBDC40B5}"/>
              </a:ext>
            </a:extLst>
          </p:cNvPr>
          <p:cNvSpPr txBox="1"/>
          <p:nvPr/>
        </p:nvSpPr>
        <p:spPr>
          <a:xfrm>
            <a:off x="1174679" y="5833083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rPr>
              <a:t>tan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8BB900-A156-4632-9AD0-AF7A333EF3E1}"/>
              </a:ext>
            </a:extLst>
          </p:cNvPr>
          <p:cNvSpPr txBox="1"/>
          <p:nvPr/>
        </p:nvSpPr>
        <p:spPr>
          <a:xfrm>
            <a:off x="2182618" y="4881278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rPr>
              <a:t>90°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748D965-8A14-4CED-9F2A-27816C914CEB}"/>
              </a:ext>
            </a:extLst>
          </p:cNvPr>
          <p:cNvCxnSpPr>
            <a:cxnSpLocks/>
          </p:cNvCxnSpPr>
          <p:nvPr/>
        </p:nvCxnSpPr>
        <p:spPr>
          <a:xfrm>
            <a:off x="2410631" y="4721587"/>
            <a:ext cx="207480" cy="451448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4F0302E-C894-4D4A-8B77-B769098E3DF9}"/>
              </a:ext>
            </a:extLst>
          </p:cNvPr>
          <p:cNvCxnSpPr>
            <a:cxnSpLocks/>
          </p:cNvCxnSpPr>
          <p:nvPr/>
        </p:nvCxnSpPr>
        <p:spPr>
          <a:xfrm flipV="1">
            <a:off x="2065521" y="4738161"/>
            <a:ext cx="315273" cy="147607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EB1B178-CA12-436C-A2CE-C966FA46BED0}"/>
              </a:ext>
            </a:extLst>
          </p:cNvPr>
          <p:cNvSpPr txBox="1"/>
          <p:nvPr/>
        </p:nvSpPr>
        <p:spPr>
          <a:xfrm>
            <a:off x="1277470" y="5200809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007BC0"/>
                </a:solidFill>
              </a:rPr>
              <a:t>a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7BC0"/>
              </a:solidFill>
              <a:effectLst/>
              <a:uLnTx/>
              <a:uFillTx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277543-7F15-4923-9BB3-B19B377C2F5B}"/>
              </a:ext>
            </a:extLst>
          </p:cNvPr>
          <p:cNvSpPr txBox="1"/>
          <p:nvPr/>
        </p:nvSpPr>
        <p:spPr>
          <a:xfrm>
            <a:off x="2745202" y="4510816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007BC0"/>
                </a:solidFill>
              </a:rPr>
              <a:t>a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7BC0"/>
              </a:solidFill>
              <a:effectLst/>
              <a:uLnTx/>
              <a:uFillTx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E3ECED-AA05-4B51-B603-F9F22AAB5D31}"/>
              </a:ext>
            </a:extLst>
          </p:cNvPr>
          <p:cNvSpPr txBox="1"/>
          <p:nvPr/>
        </p:nvSpPr>
        <p:spPr>
          <a:xfrm>
            <a:off x="3743012" y="3422483"/>
            <a:ext cx="184216" cy="2192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007BC0"/>
                </a:solidFill>
              </a:rPr>
              <a:t>a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7BC0"/>
              </a:solidFill>
              <a:effectLst/>
              <a:uLnTx/>
              <a:uFillTx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22043B-E5C2-4CC0-8D40-1A619633053A}"/>
              </a:ext>
            </a:extLst>
          </p:cNvPr>
          <p:cNvSpPr txBox="1"/>
          <p:nvPr/>
        </p:nvSpPr>
        <p:spPr>
          <a:xfrm>
            <a:off x="2172701" y="5381491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P1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80689B-CDD3-4693-A1C2-7EF5BD7C692C}"/>
              </a:ext>
            </a:extLst>
          </p:cNvPr>
          <p:cNvSpPr txBox="1"/>
          <p:nvPr/>
        </p:nvSpPr>
        <p:spPr>
          <a:xfrm>
            <a:off x="3613594" y="4322687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P2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D8FF207-E06B-4803-8006-D54AD96A6665}"/>
              </a:ext>
            </a:extLst>
          </p:cNvPr>
          <p:cNvSpPr txBox="1"/>
          <p:nvPr/>
        </p:nvSpPr>
        <p:spPr>
          <a:xfrm>
            <a:off x="6267381" y="2316497"/>
            <a:ext cx="4044182" cy="33811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Point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calculation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: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P1 (x1, y1)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y1 = sin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* </a:t>
            </a:r>
            <a:r>
              <a:rPr lang="hu-HU" dirty="0">
                <a:solidFill>
                  <a:schemeClr val="accent1"/>
                </a:solidFill>
                <a:latin typeface="Bosch Office Sans" pitchFamily="2" charset="0"/>
                <a:cs typeface="Calibri" panose="020F0502020204030204" pitchFamily="34" charset="0"/>
              </a:rPr>
              <a:t>a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x1 = cos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* </a:t>
            </a:r>
            <a:r>
              <a:rPr lang="hu-HU" dirty="0">
                <a:solidFill>
                  <a:schemeClr val="accent1"/>
                </a:solidFill>
                <a:latin typeface="Bosch Office Sans" pitchFamily="2" charset="0"/>
                <a:cs typeface="Calibri" panose="020F0502020204030204" pitchFamily="34" charset="0"/>
              </a:rPr>
              <a:t>a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P2 (x2, y2)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y2 = sin(2*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* </a:t>
            </a:r>
            <a:r>
              <a:rPr lang="hu-HU" dirty="0">
                <a:solidFill>
                  <a:schemeClr val="accent1"/>
                </a:solidFill>
                <a:latin typeface="Bosch Office Sans" pitchFamily="2" charset="0"/>
                <a:cs typeface="Calibri" panose="020F0502020204030204" pitchFamily="34" charset="0"/>
              </a:rPr>
              <a:t>a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+ y1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x2 = cos(2*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* </a:t>
            </a:r>
            <a:r>
              <a:rPr lang="hu-HU" dirty="0">
                <a:solidFill>
                  <a:schemeClr val="accent1"/>
                </a:solidFill>
                <a:latin typeface="Bosch Office Sans" pitchFamily="2" charset="0"/>
                <a:cs typeface="Calibri" panose="020F0502020204030204" pitchFamily="34" charset="0"/>
              </a:rPr>
              <a:t>a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+ x1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P2 (x3, y3)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y3 = sin(3*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* </a:t>
            </a:r>
            <a:r>
              <a:rPr lang="hu-HU" dirty="0">
                <a:solidFill>
                  <a:schemeClr val="accent1"/>
                </a:solidFill>
                <a:latin typeface="Bosch Office Sans" pitchFamily="2" charset="0"/>
                <a:cs typeface="Calibri" panose="020F0502020204030204" pitchFamily="34" charset="0"/>
              </a:rPr>
              <a:t>a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+ y2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x3 = cos(3*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* </a:t>
            </a:r>
            <a:r>
              <a:rPr lang="hu-HU" dirty="0">
                <a:solidFill>
                  <a:schemeClr val="accent1"/>
                </a:solidFill>
                <a:latin typeface="Bosch Office Sans" pitchFamily="2" charset="0"/>
                <a:cs typeface="Calibri" panose="020F0502020204030204" pitchFamily="34" charset="0"/>
              </a:rPr>
              <a:t>a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+ x2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endParaRPr lang="hu-HU" dirty="0">
              <a:latin typeface="Bosch Office Sans" pitchFamily="2" charset="0"/>
              <a:cs typeface="Calibri" panose="020F0502020204030204" pitchFamily="34" charset="0"/>
            </a:endParaRP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2A4D40D-6D50-43B6-9F8E-D0ED438B62A3}"/>
              </a:ext>
            </a:extLst>
          </p:cNvPr>
          <p:cNvSpPr/>
          <p:nvPr/>
        </p:nvSpPr>
        <p:spPr>
          <a:xfrm>
            <a:off x="590252" y="1626731"/>
            <a:ext cx="107976" cy="110193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4FBE789-A304-4793-89F7-54041ECADD5A}"/>
              </a:ext>
            </a:extLst>
          </p:cNvPr>
          <p:cNvCxnSpPr>
            <a:cxnSpLocks/>
            <a:stCxn id="74" idx="1"/>
          </p:cNvCxnSpPr>
          <p:nvPr/>
        </p:nvCxnSpPr>
        <p:spPr>
          <a:xfrm>
            <a:off x="606065" y="1642868"/>
            <a:ext cx="3682823" cy="1218675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C624B1D-1861-43AE-AF4D-6161EC65F2B5}"/>
              </a:ext>
            </a:extLst>
          </p:cNvPr>
          <p:cNvCxnSpPr>
            <a:cxnSpLocks/>
          </p:cNvCxnSpPr>
          <p:nvPr/>
        </p:nvCxnSpPr>
        <p:spPr>
          <a:xfrm flipH="1">
            <a:off x="3526223" y="2121753"/>
            <a:ext cx="967323" cy="3708575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813C9D5-5628-4311-9FAB-C08C667C961D}"/>
              </a:ext>
            </a:extLst>
          </p:cNvPr>
          <p:cNvSpPr txBox="1"/>
          <p:nvPr/>
        </p:nvSpPr>
        <p:spPr>
          <a:xfrm>
            <a:off x="4468646" y="2368341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rPr>
              <a:t>tan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1F48A1F-F1A3-4028-941D-BB3E3FF2EBE4}"/>
              </a:ext>
            </a:extLst>
          </p:cNvPr>
          <p:cNvSpPr txBox="1"/>
          <p:nvPr/>
        </p:nvSpPr>
        <p:spPr>
          <a:xfrm>
            <a:off x="2527811" y="2030383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ED0007"/>
                </a:solidFill>
              </a:rPr>
              <a:t>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1F722E10-4F7A-4908-A115-86591B0CB04F}"/>
              </a:ext>
            </a:extLst>
          </p:cNvPr>
          <p:cNvSpPr/>
          <p:nvPr/>
        </p:nvSpPr>
        <p:spPr>
          <a:xfrm>
            <a:off x="1690688" y="5495925"/>
            <a:ext cx="43762" cy="209550"/>
          </a:xfrm>
          <a:custGeom>
            <a:avLst/>
            <a:gdLst>
              <a:gd name="connsiteX0" fmla="*/ 0 w 43762"/>
              <a:gd name="connsiteY0" fmla="*/ 0 h 209550"/>
              <a:gd name="connsiteX1" fmla="*/ 38100 w 43762"/>
              <a:gd name="connsiteY1" fmla="*/ 100013 h 209550"/>
              <a:gd name="connsiteX2" fmla="*/ 42862 w 43762"/>
              <a:gd name="connsiteY2" fmla="*/ 20955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762" h="209550">
                <a:moveTo>
                  <a:pt x="0" y="0"/>
                </a:moveTo>
                <a:cubicBezTo>
                  <a:pt x="15478" y="32544"/>
                  <a:pt x="30956" y="65088"/>
                  <a:pt x="38100" y="100013"/>
                </a:cubicBezTo>
                <a:cubicBezTo>
                  <a:pt x="45244" y="134938"/>
                  <a:pt x="44053" y="172244"/>
                  <a:pt x="42862" y="209550"/>
                </a:cubicBezTo>
              </a:path>
            </a:pathLst>
          </a:cu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E7997BC5-912F-47A6-B8A9-40347D57C36D}"/>
              </a:ext>
            </a:extLst>
          </p:cNvPr>
          <p:cNvSpPr/>
          <p:nvPr/>
        </p:nvSpPr>
        <p:spPr>
          <a:xfrm rot="20488211">
            <a:off x="3127231" y="4700026"/>
            <a:ext cx="43762" cy="209550"/>
          </a:xfrm>
          <a:custGeom>
            <a:avLst/>
            <a:gdLst>
              <a:gd name="connsiteX0" fmla="*/ 0 w 43762"/>
              <a:gd name="connsiteY0" fmla="*/ 0 h 209550"/>
              <a:gd name="connsiteX1" fmla="*/ 38100 w 43762"/>
              <a:gd name="connsiteY1" fmla="*/ 100013 h 209550"/>
              <a:gd name="connsiteX2" fmla="*/ 42862 w 43762"/>
              <a:gd name="connsiteY2" fmla="*/ 20955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762" h="209550">
                <a:moveTo>
                  <a:pt x="0" y="0"/>
                </a:moveTo>
                <a:cubicBezTo>
                  <a:pt x="15478" y="32544"/>
                  <a:pt x="30956" y="65088"/>
                  <a:pt x="38100" y="100013"/>
                </a:cubicBezTo>
                <a:cubicBezTo>
                  <a:pt x="45244" y="134938"/>
                  <a:pt x="44053" y="172244"/>
                  <a:pt x="42862" y="209550"/>
                </a:cubicBezTo>
              </a:path>
            </a:pathLst>
          </a:cu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BDA73403-AB9B-43B6-95DF-6A30ED87A74D}"/>
              </a:ext>
            </a:extLst>
          </p:cNvPr>
          <p:cNvSpPr/>
          <p:nvPr/>
        </p:nvSpPr>
        <p:spPr>
          <a:xfrm rot="18745162">
            <a:off x="4128989" y="3335608"/>
            <a:ext cx="43762" cy="209550"/>
          </a:xfrm>
          <a:custGeom>
            <a:avLst/>
            <a:gdLst>
              <a:gd name="connsiteX0" fmla="*/ 0 w 43762"/>
              <a:gd name="connsiteY0" fmla="*/ 0 h 209550"/>
              <a:gd name="connsiteX1" fmla="*/ 38100 w 43762"/>
              <a:gd name="connsiteY1" fmla="*/ 100013 h 209550"/>
              <a:gd name="connsiteX2" fmla="*/ 42862 w 43762"/>
              <a:gd name="connsiteY2" fmla="*/ 20955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762" h="209550">
                <a:moveTo>
                  <a:pt x="0" y="0"/>
                </a:moveTo>
                <a:cubicBezTo>
                  <a:pt x="15478" y="32544"/>
                  <a:pt x="30956" y="65088"/>
                  <a:pt x="38100" y="100013"/>
                </a:cubicBezTo>
                <a:cubicBezTo>
                  <a:pt x="45244" y="134938"/>
                  <a:pt x="44053" y="172244"/>
                  <a:pt x="42862" y="209550"/>
                </a:cubicBezTo>
              </a:path>
            </a:pathLst>
          </a:cu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97515607-EC0C-4B41-A57F-2FB96AA709CC}"/>
              </a:ext>
            </a:extLst>
          </p:cNvPr>
          <p:cNvSpPr/>
          <p:nvPr/>
        </p:nvSpPr>
        <p:spPr>
          <a:xfrm rot="20766003">
            <a:off x="3847001" y="5175653"/>
            <a:ext cx="122734" cy="514740"/>
          </a:xfrm>
          <a:custGeom>
            <a:avLst/>
            <a:gdLst>
              <a:gd name="connsiteX0" fmla="*/ 0 w 43762"/>
              <a:gd name="connsiteY0" fmla="*/ 0 h 209550"/>
              <a:gd name="connsiteX1" fmla="*/ 38100 w 43762"/>
              <a:gd name="connsiteY1" fmla="*/ 100013 h 209550"/>
              <a:gd name="connsiteX2" fmla="*/ 42862 w 43762"/>
              <a:gd name="connsiteY2" fmla="*/ 20955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762" h="209550">
                <a:moveTo>
                  <a:pt x="0" y="0"/>
                </a:moveTo>
                <a:cubicBezTo>
                  <a:pt x="15478" y="32544"/>
                  <a:pt x="30956" y="65088"/>
                  <a:pt x="38100" y="100013"/>
                </a:cubicBezTo>
                <a:cubicBezTo>
                  <a:pt x="45244" y="134938"/>
                  <a:pt x="44053" y="172244"/>
                  <a:pt x="42862" y="209550"/>
                </a:cubicBezTo>
              </a:path>
            </a:pathLst>
          </a:cu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7C5DD55-A574-47DA-B2C2-10D13754A0B8}"/>
              </a:ext>
            </a:extLst>
          </p:cNvPr>
          <p:cNvSpPr txBox="1"/>
          <p:nvPr/>
        </p:nvSpPr>
        <p:spPr>
          <a:xfrm>
            <a:off x="3723012" y="5392638"/>
            <a:ext cx="169925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B7711D8-A304-4501-B7BF-48B727554F19}"/>
              </a:ext>
            </a:extLst>
          </p:cNvPr>
          <p:cNvSpPr txBox="1"/>
          <p:nvPr/>
        </p:nvSpPr>
        <p:spPr>
          <a:xfrm>
            <a:off x="903334" y="2073870"/>
            <a:ext cx="128657" cy="2289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5C1BFDB9-6660-459D-8993-19FE07FDE4D4}"/>
              </a:ext>
            </a:extLst>
          </p:cNvPr>
          <p:cNvSpPr/>
          <p:nvPr/>
        </p:nvSpPr>
        <p:spPr>
          <a:xfrm>
            <a:off x="663575" y="1981200"/>
            <a:ext cx="793750" cy="628650"/>
          </a:xfrm>
          <a:custGeom>
            <a:avLst/>
            <a:gdLst>
              <a:gd name="connsiteX0" fmla="*/ 793750 w 793750"/>
              <a:gd name="connsiteY0" fmla="*/ 0 h 628650"/>
              <a:gd name="connsiteX1" fmla="*/ 673100 w 793750"/>
              <a:gd name="connsiteY1" fmla="*/ 276225 h 628650"/>
              <a:gd name="connsiteX2" fmla="*/ 342900 w 793750"/>
              <a:gd name="connsiteY2" fmla="*/ 539750 h 628650"/>
              <a:gd name="connsiteX3" fmla="*/ 0 w 793750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3750" h="628650">
                <a:moveTo>
                  <a:pt x="793750" y="0"/>
                </a:moveTo>
                <a:cubicBezTo>
                  <a:pt x="770996" y="93133"/>
                  <a:pt x="748242" y="186267"/>
                  <a:pt x="673100" y="276225"/>
                </a:cubicBezTo>
                <a:cubicBezTo>
                  <a:pt x="597958" y="366183"/>
                  <a:pt x="455083" y="481013"/>
                  <a:pt x="342900" y="539750"/>
                </a:cubicBezTo>
                <a:cubicBezTo>
                  <a:pt x="230717" y="598488"/>
                  <a:pt x="115358" y="613569"/>
                  <a:pt x="0" y="628650"/>
                </a:cubicBezTo>
              </a:path>
            </a:pathLst>
          </a:cu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761464D-7A3E-4EE0-BCFF-0C853F463D60}"/>
              </a:ext>
            </a:extLst>
          </p:cNvPr>
          <p:cNvSpPr txBox="1"/>
          <p:nvPr/>
        </p:nvSpPr>
        <p:spPr>
          <a:xfrm>
            <a:off x="4411971" y="2757213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P3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8475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Curvature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calculation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for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point-based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representation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;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clothoid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17AD9-C1E4-4311-A7A3-53E0677597DB}"/>
              </a:ext>
            </a:extLst>
          </p:cNvPr>
          <p:cNvSpPr txBox="1"/>
          <p:nvPr/>
        </p:nvSpPr>
        <p:spPr>
          <a:xfrm>
            <a:off x="1582962" y="3809412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ED0007"/>
                </a:solidFill>
              </a:rPr>
              <a:t>R1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A4C7A3-089C-4D0F-8F45-3F1F6ABF2870}"/>
              </a:ext>
            </a:extLst>
          </p:cNvPr>
          <p:cNvCxnSpPr>
            <a:cxnSpLocks/>
          </p:cNvCxnSpPr>
          <p:nvPr/>
        </p:nvCxnSpPr>
        <p:spPr>
          <a:xfrm>
            <a:off x="616834" y="5738326"/>
            <a:ext cx="537341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FDEA10-483F-4D37-9D3B-CF96801796F6}"/>
              </a:ext>
            </a:extLst>
          </p:cNvPr>
          <p:cNvCxnSpPr>
            <a:cxnSpLocks/>
          </p:cNvCxnSpPr>
          <p:nvPr/>
        </p:nvCxnSpPr>
        <p:spPr>
          <a:xfrm flipV="1">
            <a:off x="616834" y="886408"/>
            <a:ext cx="0" cy="48519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1E474D-DA7E-413F-8048-7D3C51985189}"/>
              </a:ext>
            </a:extLst>
          </p:cNvPr>
          <p:cNvCxnSpPr>
            <a:cxnSpLocks/>
          </p:cNvCxnSpPr>
          <p:nvPr/>
        </p:nvCxnSpPr>
        <p:spPr>
          <a:xfrm flipH="1">
            <a:off x="644829" y="5242727"/>
            <a:ext cx="1556654" cy="476938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26DC800-5A58-4474-A26B-C4A81300FE01}"/>
              </a:ext>
            </a:extLst>
          </p:cNvPr>
          <p:cNvSpPr txBox="1"/>
          <p:nvPr/>
        </p:nvSpPr>
        <p:spPr>
          <a:xfrm>
            <a:off x="6232848" y="858637"/>
            <a:ext cx="5465300" cy="15393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Where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:</a:t>
            </a:r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kumimoji="0" lang="hu-H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(</a:t>
            </a:r>
            <a:r>
              <a:rPr lang="el-GR" sz="1800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/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resolution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) / 2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/>
              <a:t>γ</a:t>
            </a:r>
            <a:r>
              <a:rPr kumimoji="0" lang="hu-H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</a:t>
            </a:r>
            <a:r>
              <a:rPr kumimoji="0" lang="hu-HU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cs typeface="Calibri" panose="020F0502020204030204" pitchFamily="34" charset="0"/>
              </a:rPr>
              <a:t>curvature</a:t>
            </a:r>
            <a:r>
              <a:rPr kumimoji="0" lang="hu-H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kumimoji="0" lang="hu-HU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cs typeface="Calibri" panose="020F0502020204030204" pitchFamily="34" charset="0"/>
              </a:rPr>
              <a:t>change</a:t>
            </a:r>
            <a:r>
              <a:rPr kumimoji="0" lang="hu-HU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  <a:cs typeface="Calibri" panose="020F0502020204030204" pitchFamily="34" charset="0"/>
              </a:rPr>
              <a:t> /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resolution</a:t>
            </a:r>
            <a:endParaRPr lang="hu-HU" dirty="0">
              <a:latin typeface="Bosch Office Sans" pitchFamily="2" charset="0"/>
              <a:cs typeface="Calibri" panose="020F0502020204030204" pitchFamily="34" charset="0"/>
            </a:endParaRP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>
                <a:solidFill>
                  <a:srgbClr val="ED0007"/>
                </a:solidFill>
                <a:latin typeface="Bosch Office Sans" pitchFamily="2" charset="0"/>
                <a:cs typeface="Calibri" panose="020F0502020204030204" pitchFamily="34" charset="0"/>
              </a:rPr>
              <a:t>tan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: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tangent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at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joints</a:t>
            </a:r>
            <a:endParaRPr lang="hu-HU" dirty="0">
              <a:latin typeface="Bosch Office Sans" pitchFamily="2" charset="0"/>
              <a:cs typeface="Calibri" panose="020F050202020403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D6BF9F-EF39-4525-A317-029DE95494EF}"/>
              </a:ext>
            </a:extLst>
          </p:cNvPr>
          <p:cNvCxnSpPr>
            <a:cxnSpLocks/>
          </p:cNvCxnSpPr>
          <p:nvPr/>
        </p:nvCxnSpPr>
        <p:spPr>
          <a:xfrm flipH="1">
            <a:off x="3356017" y="2673417"/>
            <a:ext cx="211037" cy="1419928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719375C-7A7A-4CFE-83DA-9C85E4CADDAE}"/>
              </a:ext>
            </a:extLst>
          </p:cNvPr>
          <p:cNvSpPr txBox="1"/>
          <p:nvPr/>
        </p:nvSpPr>
        <p:spPr>
          <a:xfrm>
            <a:off x="1356303" y="5500373"/>
            <a:ext cx="316228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hu-HU" sz="12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E1E35E-67D5-442B-9175-F39CC86FAA46}"/>
              </a:ext>
            </a:extLst>
          </p:cNvPr>
          <p:cNvSpPr txBox="1"/>
          <p:nvPr/>
        </p:nvSpPr>
        <p:spPr>
          <a:xfrm>
            <a:off x="2843701" y="4582092"/>
            <a:ext cx="396162" cy="2914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hu-HU" sz="12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299646-39B3-4D1E-B854-B4C92070AA12}"/>
              </a:ext>
            </a:extLst>
          </p:cNvPr>
          <p:cNvSpPr txBox="1"/>
          <p:nvPr/>
        </p:nvSpPr>
        <p:spPr>
          <a:xfrm>
            <a:off x="4037516" y="3493651"/>
            <a:ext cx="316228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99C6FF8-757A-45AD-A9F2-52BCF1E075F1}"/>
              </a:ext>
            </a:extLst>
          </p:cNvPr>
          <p:cNvCxnSpPr>
            <a:cxnSpLocks/>
          </p:cNvCxnSpPr>
          <p:nvPr/>
        </p:nvCxnSpPr>
        <p:spPr>
          <a:xfrm flipH="1">
            <a:off x="2926193" y="2978150"/>
            <a:ext cx="949972" cy="2123965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5E191DD-0FC7-4F4C-92D0-B4B1643E5BC2}"/>
              </a:ext>
            </a:extLst>
          </p:cNvPr>
          <p:cNvCxnSpPr>
            <a:cxnSpLocks/>
          </p:cNvCxnSpPr>
          <p:nvPr/>
        </p:nvCxnSpPr>
        <p:spPr>
          <a:xfrm flipH="1">
            <a:off x="1340127" y="4619865"/>
            <a:ext cx="2015890" cy="1114030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4AF517E-8E1A-420F-AED3-12AF817B2485}"/>
              </a:ext>
            </a:extLst>
          </p:cNvPr>
          <p:cNvCxnSpPr>
            <a:cxnSpLocks/>
          </p:cNvCxnSpPr>
          <p:nvPr/>
        </p:nvCxnSpPr>
        <p:spPr>
          <a:xfrm>
            <a:off x="1002987" y="2873386"/>
            <a:ext cx="2367360" cy="1224356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D942D61-B8BC-4827-B489-7EA9F5D7E3B6}"/>
              </a:ext>
            </a:extLst>
          </p:cNvPr>
          <p:cNvCxnSpPr>
            <a:cxnSpLocks/>
          </p:cNvCxnSpPr>
          <p:nvPr/>
        </p:nvCxnSpPr>
        <p:spPr>
          <a:xfrm>
            <a:off x="698454" y="2213856"/>
            <a:ext cx="1464916" cy="3031014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6EBFCA1-CAEB-49D0-B763-EED793A1A9C0}"/>
              </a:ext>
            </a:extLst>
          </p:cNvPr>
          <p:cNvSpPr txBox="1"/>
          <p:nvPr/>
        </p:nvSpPr>
        <p:spPr>
          <a:xfrm>
            <a:off x="1973336" y="3166867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ED0007"/>
                </a:solidFill>
              </a:rPr>
              <a:t>R2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FCAF53-EC18-4995-B8A7-67BA0BDA1E5C}"/>
              </a:ext>
            </a:extLst>
          </p:cNvPr>
          <p:cNvSpPr txBox="1"/>
          <p:nvPr/>
        </p:nvSpPr>
        <p:spPr>
          <a:xfrm>
            <a:off x="3656382" y="3562937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rPr>
              <a:t>tan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70339E-F762-4FFF-8CDB-B900EBDC40B5}"/>
              </a:ext>
            </a:extLst>
          </p:cNvPr>
          <p:cNvSpPr txBox="1"/>
          <p:nvPr/>
        </p:nvSpPr>
        <p:spPr>
          <a:xfrm>
            <a:off x="2430264" y="5110636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rPr>
              <a:t>tan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8BB900-A156-4632-9AD0-AF7A333EF3E1}"/>
              </a:ext>
            </a:extLst>
          </p:cNvPr>
          <p:cNvSpPr txBox="1"/>
          <p:nvPr/>
        </p:nvSpPr>
        <p:spPr>
          <a:xfrm>
            <a:off x="2182618" y="4881278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rPr>
              <a:t>90°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748D965-8A14-4CED-9F2A-27816C914CEB}"/>
              </a:ext>
            </a:extLst>
          </p:cNvPr>
          <p:cNvCxnSpPr>
            <a:cxnSpLocks/>
          </p:cNvCxnSpPr>
          <p:nvPr/>
        </p:nvCxnSpPr>
        <p:spPr>
          <a:xfrm>
            <a:off x="2391590" y="4720100"/>
            <a:ext cx="156725" cy="339575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4F0302E-C894-4D4A-8B77-B769098E3DF9}"/>
              </a:ext>
            </a:extLst>
          </p:cNvPr>
          <p:cNvCxnSpPr>
            <a:cxnSpLocks/>
          </p:cNvCxnSpPr>
          <p:nvPr/>
        </p:nvCxnSpPr>
        <p:spPr>
          <a:xfrm flipV="1">
            <a:off x="2055376" y="4699928"/>
            <a:ext cx="309276" cy="165043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EB1B178-CA12-436C-A2CE-C966FA46BED0}"/>
              </a:ext>
            </a:extLst>
          </p:cNvPr>
          <p:cNvSpPr txBox="1"/>
          <p:nvPr/>
        </p:nvSpPr>
        <p:spPr>
          <a:xfrm>
            <a:off x="1277470" y="5200809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007BC0"/>
                </a:solidFill>
              </a:rPr>
              <a:t>a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7BC0"/>
              </a:solidFill>
              <a:effectLst/>
              <a:uLnTx/>
              <a:uFillTx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277543-7F15-4923-9BB3-B19B377C2F5B}"/>
              </a:ext>
            </a:extLst>
          </p:cNvPr>
          <p:cNvSpPr txBox="1"/>
          <p:nvPr/>
        </p:nvSpPr>
        <p:spPr>
          <a:xfrm>
            <a:off x="2733821" y="4359492"/>
            <a:ext cx="172966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007BC0"/>
                </a:solidFill>
              </a:rPr>
              <a:t>a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7BC0"/>
              </a:solidFill>
              <a:effectLst/>
              <a:uLnTx/>
              <a:uFillTx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E3ECED-AA05-4B51-B603-F9F22AAB5D31}"/>
              </a:ext>
            </a:extLst>
          </p:cNvPr>
          <p:cNvSpPr txBox="1"/>
          <p:nvPr/>
        </p:nvSpPr>
        <p:spPr>
          <a:xfrm>
            <a:off x="3334648" y="3242673"/>
            <a:ext cx="252909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007BC0"/>
                </a:solidFill>
              </a:rPr>
              <a:t>a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7BC0"/>
              </a:solidFill>
              <a:effectLst/>
              <a:uLnTx/>
              <a:uFillTx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22043B-E5C2-4CC0-8D40-1A619633053A}"/>
              </a:ext>
            </a:extLst>
          </p:cNvPr>
          <p:cNvSpPr txBox="1"/>
          <p:nvPr/>
        </p:nvSpPr>
        <p:spPr>
          <a:xfrm>
            <a:off x="2163370" y="5334836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P1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80689B-CDD3-4693-A1C2-7EF5BD7C692C}"/>
              </a:ext>
            </a:extLst>
          </p:cNvPr>
          <p:cNvSpPr txBox="1"/>
          <p:nvPr/>
        </p:nvSpPr>
        <p:spPr>
          <a:xfrm>
            <a:off x="3444350" y="4087558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P2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D8FF207-E06B-4803-8006-D54AD96A6665}"/>
              </a:ext>
            </a:extLst>
          </p:cNvPr>
          <p:cNvSpPr txBox="1"/>
          <p:nvPr/>
        </p:nvSpPr>
        <p:spPr>
          <a:xfrm>
            <a:off x="6232848" y="2445502"/>
            <a:ext cx="3729675" cy="27775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Point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calculation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: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dirty="0">
                <a:solidFill>
                  <a:srgbClr val="ED0007"/>
                </a:solidFill>
                <a:latin typeface="Bosch Office Sans" pitchFamily="2" charset="0"/>
                <a:cs typeface="Calibri" panose="020F0502020204030204" pitchFamily="34" charset="0"/>
              </a:rPr>
              <a:t>TBD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endParaRPr lang="hu-HU" dirty="0">
              <a:latin typeface="Bosch Office Sans" pitchFamily="2" charset="0"/>
              <a:cs typeface="Calibri" panose="020F0502020204030204" pitchFamily="34" charset="0"/>
            </a:endParaRP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C1ABF58-B60C-499C-A218-549994ACBB13}"/>
              </a:ext>
            </a:extLst>
          </p:cNvPr>
          <p:cNvCxnSpPr>
            <a:cxnSpLocks/>
          </p:cNvCxnSpPr>
          <p:nvPr/>
        </p:nvCxnSpPr>
        <p:spPr>
          <a:xfrm flipH="1">
            <a:off x="2187886" y="4097764"/>
            <a:ext cx="1159421" cy="1148254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0480D92-B258-48A2-9DA4-9E21B9BD6C21}"/>
              </a:ext>
            </a:extLst>
          </p:cNvPr>
          <p:cNvSpPr txBox="1"/>
          <p:nvPr/>
        </p:nvSpPr>
        <p:spPr>
          <a:xfrm>
            <a:off x="3501859" y="3102309"/>
            <a:ext cx="336021" cy="2741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hu-HU" sz="12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γ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CD1DE22-164F-4474-9769-0774CEFF103C}"/>
              </a:ext>
            </a:extLst>
          </p:cNvPr>
          <p:cNvCxnSpPr>
            <a:cxnSpLocks/>
            <a:stCxn id="59" idx="4"/>
          </p:cNvCxnSpPr>
          <p:nvPr/>
        </p:nvCxnSpPr>
        <p:spPr>
          <a:xfrm>
            <a:off x="645017" y="1851390"/>
            <a:ext cx="4307" cy="3868275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ED652DA-2A9C-4015-876B-219F281DECB5}"/>
              </a:ext>
            </a:extLst>
          </p:cNvPr>
          <p:cNvSpPr txBox="1"/>
          <p:nvPr/>
        </p:nvSpPr>
        <p:spPr>
          <a:xfrm>
            <a:off x="679765" y="4341776"/>
            <a:ext cx="494522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ED0007"/>
                </a:solidFill>
              </a:rPr>
              <a:t>R0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27C2F5-D2C8-45DB-A068-713C484334E6}"/>
              </a:ext>
            </a:extLst>
          </p:cNvPr>
          <p:cNvSpPr/>
          <p:nvPr/>
        </p:nvSpPr>
        <p:spPr>
          <a:xfrm>
            <a:off x="935815" y="2816166"/>
            <a:ext cx="107976" cy="110193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DD7EF20-FFFF-4674-B022-CAECD39C3F6B}"/>
              </a:ext>
            </a:extLst>
          </p:cNvPr>
          <p:cNvSpPr/>
          <p:nvPr/>
        </p:nvSpPr>
        <p:spPr>
          <a:xfrm>
            <a:off x="664607" y="2168090"/>
            <a:ext cx="107976" cy="110193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F991FF0-670C-4638-8585-979BF5CDC07B}"/>
              </a:ext>
            </a:extLst>
          </p:cNvPr>
          <p:cNvSpPr/>
          <p:nvPr/>
        </p:nvSpPr>
        <p:spPr>
          <a:xfrm>
            <a:off x="591029" y="1741197"/>
            <a:ext cx="107976" cy="110193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9FF02F0-3CA9-4576-9082-55736DE9D729}"/>
              </a:ext>
            </a:extLst>
          </p:cNvPr>
          <p:cNvCxnSpPr>
            <a:cxnSpLocks/>
            <a:stCxn id="58" idx="5"/>
          </p:cNvCxnSpPr>
          <p:nvPr/>
        </p:nvCxnSpPr>
        <p:spPr>
          <a:xfrm>
            <a:off x="756770" y="2262146"/>
            <a:ext cx="2577878" cy="1793741"/>
          </a:xfrm>
          <a:prstGeom prst="line">
            <a:avLst/>
          </a:prstGeom>
          <a:ln w="3175">
            <a:solidFill>
              <a:srgbClr val="FF0000">
                <a:alpha val="90000"/>
              </a:srgb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A3C35CA-B04D-427E-99F6-72B117193C6B}"/>
              </a:ext>
            </a:extLst>
          </p:cNvPr>
          <p:cNvCxnSpPr>
            <a:cxnSpLocks/>
            <a:stCxn id="27" idx="6"/>
          </p:cNvCxnSpPr>
          <p:nvPr/>
        </p:nvCxnSpPr>
        <p:spPr>
          <a:xfrm flipV="1">
            <a:off x="1043791" y="2673419"/>
            <a:ext cx="2523263" cy="197844"/>
          </a:xfrm>
          <a:prstGeom prst="line">
            <a:avLst/>
          </a:prstGeom>
          <a:ln w="3175">
            <a:solidFill>
              <a:srgbClr val="FF0000">
                <a:alpha val="90000"/>
              </a:srgb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F386BF4-FDC6-4B44-9C7B-54EBA0EEE1EA}"/>
              </a:ext>
            </a:extLst>
          </p:cNvPr>
          <p:cNvCxnSpPr>
            <a:cxnSpLocks/>
            <a:stCxn id="59" idx="5"/>
          </p:cNvCxnSpPr>
          <p:nvPr/>
        </p:nvCxnSpPr>
        <p:spPr>
          <a:xfrm>
            <a:off x="683192" y="1835253"/>
            <a:ext cx="1499426" cy="3409617"/>
          </a:xfrm>
          <a:prstGeom prst="line">
            <a:avLst/>
          </a:prstGeom>
          <a:ln w="3175">
            <a:solidFill>
              <a:srgbClr val="FF0000">
                <a:alpha val="90000"/>
              </a:srgb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BD735E3F-2704-4977-83FF-63490CE157A6}"/>
              </a:ext>
            </a:extLst>
          </p:cNvPr>
          <p:cNvSpPr/>
          <p:nvPr/>
        </p:nvSpPr>
        <p:spPr>
          <a:xfrm rot="20488211">
            <a:off x="3086899" y="4418424"/>
            <a:ext cx="80296" cy="270609"/>
          </a:xfrm>
          <a:custGeom>
            <a:avLst/>
            <a:gdLst>
              <a:gd name="connsiteX0" fmla="*/ 0 w 43762"/>
              <a:gd name="connsiteY0" fmla="*/ 0 h 209550"/>
              <a:gd name="connsiteX1" fmla="*/ 38100 w 43762"/>
              <a:gd name="connsiteY1" fmla="*/ 100013 h 209550"/>
              <a:gd name="connsiteX2" fmla="*/ 42862 w 43762"/>
              <a:gd name="connsiteY2" fmla="*/ 20955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762" h="209550">
                <a:moveTo>
                  <a:pt x="0" y="0"/>
                </a:moveTo>
                <a:cubicBezTo>
                  <a:pt x="15478" y="32544"/>
                  <a:pt x="30956" y="65088"/>
                  <a:pt x="38100" y="100013"/>
                </a:cubicBezTo>
                <a:cubicBezTo>
                  <a:pt x="45244" y="134938"/>
                  <a:pt x="44053" y="172244"/>
                  <a:pt x="42862" y="209550"/>
                </a:cubicBezTo>
              </a:path>
            </a:pathLst>
          </a:cu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965EFDEE-B9D4-4265-BD3E-770996ED3A6B}"/>
              </a:ext>
            </a:extLst>
          </p:cNvPr>
          <p:cNvSpPr/>
          <p:nvPr/>
        </p:nvSpPr>
        <p:spPr>
          <a:xfrm rot="485781">
            <a:off x="1717670" y="5442410"/>
            <a:ext cx="103695" cy="271306"/>
          </a:xfrm>
          <a:custGeom>
            <a:avLst/>
            <a:gdLst>
              <a:gd name="connsiteX0" fmla="*/ 0 w 43762"/>
              <a:gd name="connsiteY0" fmla="*/ 0 h 209550"/>
              <a:gd name="connsiteX1" fmla="*/ 38100 w 43762"/>
              <a:gd name="connsiteY1" fmla="*/ 100013 h 209550"/>
              <a:gd name="connsiteX2" fmla="*/ 42862 w 43762"/>
              <a:gd name="connsiteY2" fmla="*/ 20955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762" h="209550">
                <a:moveTo>
                  <a:pt x="0" y="0"/>
                </a:moveTo>
                <a:cubicBezTo>
                  <a:pt x="15478" y="32544"/>
                  <a:pt x="30956" y="65088"/>
                  <a:pt x="38100" y="100013"/>
                </a:cubicBezTo>
                <a:cubicBezTo>
                  <a:pt x="45244" y="134938"/>
                  <a:pt x="44053" y="172244"/>
                  <a:pt x="42862" y="209550"/>
                </a:cubicBezTo>
              </a:path>
            </a:pathLst>
          </a:cu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34AD95DA-F57A-412E-A345-E2E609F20E5B}"/>
              </a:ext>
            </a:extLst>
          </p:cNvPr>
          <p:cNvSpPr/>
          <p:nvPr/>
        </p:nvSpPr>
        <p:spPr>
          <a:xfrm rot="18090497">
            <a:off x="3662318" y="2911085"/>
            <a:ext cx="80296" cy="270609"/>
          </a:xfrm>
          <a:custGeom>
            <a:avLst/>
            <a:gdLst>
              <a:gd name="connsiteX0" fmla="*/ 0 w 43762"/>
              <a:gd name="connsiteY0" fmla="*/ 0 h 209550"/>
              <a:gd name="connsiteX1" fmla="*/ 38100 w 43762"/>
              <a:gd name="connsiteY1" fmla="*/ 100013 h 209550"/>
              <a:gd name="connsiteX2" fmla="*/ 42862 w 43762"/>
              <a:gd name="connsiteY2" fmla="*/ 20955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762" h="209550">
                <a:moveTo>
                  <a:pt x="0" y="0"/>
                </a:moveTo>
                <a:cubicBezTo>
                  <a:pt x="15478" y="32544"/>
                  <a:pt x="30956" y="65088"/>
                  <a:pt x="38100" y="100013"/>
                </a:cubicBezTo>
                <a:cubicBezTo>
                  <a:pt x="45244" y="134938"/>
                  <a:pt x="44053" y="172244"/>
                  <a:pt x="42862" y="209550"/>
                </a:cubicBezTo>
              </a:path>
            </a:pathLst>
          </a:cu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8D45A1-19BA-476C-8B29-5A970F5BE3DB}"/>
              </a:ext>
            </a:extLst>
          </p:cNvPr>
          <p:cNvSpPr/>
          <p:nvPr/>
        </p:nvSpPr>
        <p:spPr>
          <a:xfrm rot="20399587">
            <a:off x="3500401" y="2141319"/>
            <a:ext cx="4376587" cy="2062103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12800" b="1" cap="none" spc="0" dirty="0">
                <a:ln w="10160">
                  <a:solidFill>
                    <a:srgbClr val="ED0007">
                      <a:alpha val="38000"/>
                    </a:srgbClr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TBD</a:t>
            </a:r>
            <a:endParaRPr lang="en-US" sz="12800" b="1" cap="none" spc="0" dirty="0">
              <a:ln w="10160">
                <a:solidFill>
                  <a:srgbClr val="ED0007">
                    <a:alpha val="38000"/>
                  </a:srgbClr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1390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Lane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departure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simulation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011CE6-4FD1-427D-8878-817357EA4C77}"/>
              </a:ext>
            </a:extLst>
          </p:cNvPr>
          <p:cNvCxnSpPr>
            <a:cxnSpLocks/>
          </p:cNvCxnSpPr>
          <p:nvPr/>
        </p:nvCxnSpPr>
        <p:spPr>
          <a:xfrm>
            <a:off x="1744258" y="2447133"/>
            <a:ext cx="729760" cy="27520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635AE1-7D59-49CF-B17B-D91AF244A2C6}"/>
              </a:ext>
            </a:extLst>
          </p:cNvPr>
          <p:cNvCxnSpPr>
            <a:cxnSpLocks/>
          </p:cNvCxnSpPr>
          <p:nvPr/>
        </p:nvCxnSpPr>
        <p:spPr>
          <a:xfrm flipV="1">
            <a:off x="433467" y="1924101"/>
            <a:ext cx="5752729" cy="677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72033F8E-0C70-4E5F-8210-A6E2D6DCD8A5}"/>
              </a:ext>
            </a:extLst>
          </p:cNvPr>
          <p:cNvSpPr/>
          <p:nvPr/>
        </p:nvSpPr>
        <p:spPr>
          <a:xfrm>
            <a:off x="3645988" y="1924775"/>
            <a:ext cx="5029104" cy="4280756"/>
          </a:xfrm>
          <a:prstGeom prst="arc">
            <a:avLst>
              <a:gd name="adj1" fmla="val 16200000"/>
              <a:gd name="adj2" fmla="val 19896641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23B79-F069-4494-86A5-260F6E35EC85}"/>
              </a:ext>
            </a:extLst>
          </p:cNvPr>
          <p:cNvSpPr txBox="1"/>
          <p:nvPr/>
        </p:nvSpPr>
        <p:spPr>
          <a:xfrm>
            <a:off x="4654546" y="1475828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Heading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angle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85A72-D155-4453-8FA7-F5F8814A52BB}"/>
              </a:ext>
            </a:extLst>
          </p:cNvPr>
          <p:cNvSpPr txBox="1"/>
          <p:nvPr/>
        </p:nvSpPr>
        <p:spPr>
          <a:xfrm>
            <a:off x="7143953" y="1816196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Road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curvature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A4C7A3-089C-4D0F-8F45-3F1F6ABF2870}"/>
              </a:ext>
            </a:extLst>
          </p:cNvPr>
          <p:cNvCxnSpPr>
            <a:cxnSpLocks/>
          </p:cNvCxnSpPr>
          <p:nvPr/>
        </p:nvCxnSpPr>
        <p:spPr>
          <a:xfrm>
            <a:off x="8282288" y="2906927"/>
            <a:ext cx="479157" cy="56405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8C4C4F87-E2E4-4AB9-ABDE-83A0BB8B130C}"/>
              </a:ext>
            </a:extLst>
          </p:cNvPr>
          <p:cNvSpPr/>
          <p:nvPr/>
        </p:nvSpPr>
        <p:spPr>
          <a:xfrm>
            <a:off x="3645987" y="1031511"/>
            <a:ext cx="5367383" cy="4280756"/>
          </a:xfrm>
          <a:prstGeom prst="arc">
            <a:avLst>
              <a:gd name="adj1" fmla="val 16200000"/>
              <a:gd name="adj2" fmla="val 20157104"/>
            </a:avLst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6D17B7-E686-4B20-805C-AC17004B6F78}"/>
              </a:ext>
            </a:extLst>
          </p:cNvPr>
          <p:cNvCxnSpPr/>
          <p:nvPr/>
        </p:nvCxnSpPr>
        <p:spPr>
          <a:xfrm flipH="1">
            <a:off x="438539" y="1031511"/>
            <a:ext cx="5886068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c 25">
            <a:extLst>
              <a:ext uri="{FF2B5EF4-FFF2-40B4-BE49-F238E27FC236}">
                <a16:creationId xmlns:a16="http://schemas.microsoft.com/office/drawing/2014/main" id="{A3954AF2-898F-44F2-9C97-A0DF29BB7376}"/>
              </a:ext>
            </a:extLst>
          </p:cNvPr>
          <p:cNvSpPr/>
          <p:nvPr/>
        </p:nvSpPr>
        <p:spPr>
          <a:xfrm>
            <a:off x="3659578" y="2824141"/>
            <a:ext cx="4370785" cy="3660634"/>
          </a:xfrm>
          <a:prstGeom prst="arc">
            <a:avLst>
              <a:gd name="adj1" fmla="val 16200000"/>
              <a:gd name="adj2" fmla="val 20157104"/>
            </a:avLst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98094F-0076-4F31-B444-178AE17D549C}"/>
              </a:ext>
            </a:extLst>
          </p:cNvPr>
          <p:cNvCxnSpPr>
            <a:cxnSpLocks/>
          </p:cNvCxnSpPr>
          <p:nvPr/>
        </p:nvCxnSpPr>
        <p:spPr>
          <a:xfrm flipH="1">
            <a:off x="433467" y="2824141"/>
            <a:ext cx="5463480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43F4039-9829-4A94-856F-62491C39C78F}"/>
              </a:ext>
            </a:extLst>
          </p:cNvPr>
          <p:cNvSpPr txBox="1"/>
          <p:nvPr/>
        </p:nvSpPr>
        <p:spPr>
          <a:xfrm>
            <a:off x="7143952" y="704816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</a:rPr>
              <a:t>Lane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</a:rPr>
              <a:t>width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</a:endParaRP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4D342123-AADA-4229-83CD-940C237FAA2D}"/>
              </a:ext>
            </a:extLst>
          </p:cNvPr>
          <p:cNvSpPr/>
          <p:nvPr/>
        </p:nvSpPr>
        <p:spPr>
          <a:xfrm rot="10800000">
            <a:off x="5563138" y="1031510"/>
            <a:ext cx="559837" cy="1792629"/>
          </a:xfrm>
          <a:prstGeom prst="leftBrace">
            <a:avLst>
              <a:gd name="adj1" fmla="val 8333"/>
              <a:gd name="adj2" fmla="val 79079"/>
            </a:avLst>
          </a:prstGeom>
          <a:ln w="222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04E444-3E9B-41D8-98DA-AEC4C11AA76E}"/>
              </a:ext>
            </a:extLst>
          </p:cNvPr>
          <p:cNvCxnSpPr>
            <a:cxnSpLocks/>
          </p:cNvCxnSpPr>
          <p:nvPr/>
        </p:nvCxnSpPr>
        <p:spPr>
          <a:xfrm flipV="1">
            <a:off x="6331165" y="859288"/>
            <a:ext cx="749567" cy="51893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66F5BCF-C605-40B2-9B2B-0E17EFEA0D73}"/>
              </a:ext>
            </a:extLst>
          </p:cNvPr>
          <p:cNvSpPr txBox="1"/>
          <p:nvPr/>
        </p:nvSpPr>
        <p:spPr>
          <a:xfrm>
            <a:off x="8271503" y="1405359"/>
            <a:ext cx="872498" cy="1789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</a:rPr>
              <a:t>Line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</a:rPr>
              <a:t>Left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4639E4-FB7A-471E-A3BA-F0C77ACDD0E4}"/>
              </a:ext>
            </a:extLst>
          </p:cNvPr>
          <p:cNvSpPr txBox="1"/>
          <p:nvPr/>
        </p:nvSpPr>
        <p:spPr>
          <a:xfrm>
            <a:off x="6393081" y="3171889"/>
            <a:ext cx="872498" cy="1789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</a:rPr>
              <a:t>Line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</a:rPr>
              <a:t>Right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CD2C8A-7F62-48CE-9DB5-ACD8181E950D}"/>
              </a:ext>
            </a:extLst>
          </p:cNvPr>
          <p:cNvSpPr txBox="1"/>
          <p:nvPr/>
        </p:nvSpPr>
        <p:spPr>
          <a:xfrm>
            <a:off x="456626" y="3846135"/>
            <a:ext cx="6624106" cy="1600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hu-HU" sz="1200" u="sng" kern="0" dirty="0">
                <a:solidFill>
                  <a:srgbClr val="000000"/>
                </a:solidFill>
              </a:rPr>
              <a:t>NOTE</a:t>
            </a:r>
            <a:r>
              <a:rPr lang="hu-HU" sz="1200" kern="0" dirty="0">
                <a:solidFill>
                  <a:srgbClr val="000000"/>
                </a:solidFill>
              </a:rPr>
              <a:t>:</a:t>
            </a:r>
          </a:p>
          <a:p>
            <a:pPr marL="171450" marR="0" indent="-1714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rPr>
              <a:t>DyMin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is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the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distance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the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vehicle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needs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to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move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back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towards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lane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center</a:t>
            </a:r>
            <a:endParaRPr lang="hu-HU" sz="1200" kern="0" dirty="0"/>
          </a:p>
          <a:p>
            <a:pPr marL="171450" marR="0" indent="-1714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sz="1200" kern="0" dirty="0">
                <a:solidFill>
                  <a:srgbClr val="000000"/>
                </a:solidFill>
              </a:rPr>
              <a:t>The </a:t>
            </a:r>
            <a:r>
              <a:rPr lang="hu-HU" sz="1200" kern="0" dirty="0" err="1">
                <a:solidFill>
                  <a:srgbClr val="000000"/>
                </a:solidFill>
              </a:rPr>
              <a:t>vehicle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shall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follow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the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lane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direction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after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returning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the</a:t>
            </a:r>
            <a:r>
              <a:rPr lang="hu-HU" sz="1200" kern="0" dirty="0">
                <a:solidFill>
                  <a:srgbClr val="000000"/>
                </a:solidFill>
              </a:rPr>
              <a:t> center of </a:t>
            </a:r>
            <a:r>
              <a:rPr lang="hu-HU" sz="1200" kern="0" dirty="0" err="1">
                <a:solidFill>
                  <a:srgbClr val="000000"/>
                </a:solidFill>
              </a:rPr>
              <a:t>the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lane</a:t>
            </a:r>
            <a:endParaRPr lang="hu-HU" sz="1200" kern="0" dirty="0">
              <a:solidFill>
                <a:srgbClr val="000000"/>
              </a:solidFill>
            </a:endParaRPr>
          </a:p>
          <a:p>
            <a:pPr marL="171450" marR="0" indent="-1714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sz="1200" kern="0" dirty="0">
                <a:solidFill>
                  <a:srgbClr val="000000"/>
                </a:solidFill>
              </a:rPr>
              <a:t>In </a:t>
            </a:r>
            <a:r>
              <a:rPr lang="hu-HU" sz="1200" kern="0" dirty="0" err="1">
                <a:solidFill>
                  <a:srgbClr val="000000"/>
                </a:solidFill>
              </a:rPr>
              <a:t>case</a:t>
            </a:r>
            <a:r>
              <a:rPr lang="hu-HU" sz="1200" kern="0" dirty="0">
                <a:solidFill>
                  <a:srgbClr val="000000"/>
                </a:solidFill>
              </a:rPr>
              <a:t> of </a:t>
            </a:r>
            <a:r>
              <a:rPr lang="hu-HU" sz="1200" kern="0" dirty="0" err="1">
                <a:solidFill>
                  <a:srgbClr val="000000"/>
                </a:solidFill>
              </a:rPr>
              <a:t>straight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road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scenarios</a:t>
            </a:r>
            <a:r>
              <a:rPr lang="hu-HU" sz="1200" kern="0" dirty="0">
                <a:solidFill>
                  <a:srgbClr val="000000"/>
                </a:solidFill>
              </a:rPr>
              <a:t>, </a:t>
            </a:r>
            <a:r>
              <a:rPr lang="hu-HU" sz="1200" kern="0" dirty="0" err="1">
                <a:solidFill>
                  <a:srgbClr val="000000"/>
                </a:solidFill>
              </a:rPr>
              <a:t>lane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departure</a:t>
            </a:r>
            <a:r>
              <a:rPr lang="hu-HU" sz="1200" kern="0" dirty="0">
                <a:solidFill>
                  <a:srgbClr val="000000"/>
                </a:solidFill>
              </a:rPr>
              <a:t> has </a:t>
            </a:r>
            <a:r>
              <a:rPr lang="hu-HU" sz="1200" kern="0" dirty="0" err="1">
                <a:solidFill>
                  <a:srgbClr val="000000"/>
                </a:solidFill>
              </a:rPr>
              <a:t>to</a:t>
            </a:r>
            <a:r>
              <a:rPr lang="hu-HU" sz="1200" kern="0" dirty="0">
                <a:solidFill>
                  <a:srgbClr val="000000"/>
                </a:solidFill>
              </a:rPr>
              <a:t> be </a:t>
            </a:r>
            <a:r>
              <a:rPr lang="hu-HU" sz="1200" b="1" kern="0" dirty="0" err="1">
                <a:solidFill>
                  <a:srgbClr val="000000"/>
                </a:solidFill>
              </a:rPr>
              <a:t>started</a:t>
            </a:r>
            <a:r>
              <a:rPr lang="hu-HU" sz="1200" b="1" kern="0" dirty="0">
                <a:solidFill>
                  <a:srgbClr val="000000"/>
                </a:solidFill>
              </a:rPr>
              <a:t> </a:t>
            </a:r>
            <a:r>
              <a:rPr lang="hu-HU" sz="1200" b="1" kern="0" dirty="0" err="1">
                <a:solidFill>
                  <a:srgbClr val="000000"/>
                </a:solidFill>
              </a:rPr>
              <a:t>by</a:t>
            </a:r>
            <a:r>
              <a:rPr lang="hu-HU" sz="1200" b="1" kern="0" dirty="0">
                <a:solidFill>
                  <a:srgbClr val="000000"/>
                </a:solidFill>
              </a:rPr>
              <a:t> </a:t>
            </a:r>
            <a:r>
              <a:rPr lang="hu-HU" sz="1200" b="1" kern="0" dirty="0" err="1">
                <a:solidFill>
                  <a:srgbClr val="000000"/>
                </a:solidFill>
              </a:rPr>
              <a:t>user</a:t>
            </a:r>
            <a:endParaRPr lang="hu-HU" sz="1200" b="1" kern="0" dirty="0">
              <a:solidFill>
                <a:srgbClr val="000000"/>
              </a:solidFill>
            </a:endParaRPr>
          </a:p>
          <a:p>
            <a:pPr marL="171450" marR="0" indent="-1714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sz="1200" kern="0" dirty="0">
                <a:solidFill>
                  <a:srgbClr val="000000"/>
                </a:solidFill>
              </a:rPr>
              <a:t>In </a:t>
            </a:r>
            <a:r>
              <a:rPr lang="hu-HU" sz="1200" kern="0" dirty="0" err="1">
                <a:solidFill>
                  <a:srgbClr val="000000"/>
                </a:solidFill>
              </a:rPr>
              <a:t>case</a:t>
            </a:r>
            <a:r>
              <a:rPr lang="hu-HU" sz="1200" kern="0" dirty="0">
                <a:solidFill>
                  <a:srgbClr val="000000"/>
                </a:solidFill>
              </a:rPr>
              <a:t> of </a:t>
            </a:r>
            <a:r>
              <a:rPr lang="hu-HU" sz="1200" kern="0" dirty="0" err="1">
                <a:solidFill>
                  <a:srgbClr val="000000"/>
                </a:solidFill>
              </a:rPr>
              <a:t>curvature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road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scenarios</a:t>
            </a:r>
            <a:r>
              <a:rPr lang="hu-HU" sz="1200" kern="0" dirty="0">
                <a:solidFill>
                  <a:srgbClr val="000000"/>
                </a:solidFill>
              </a:rPr>
              <a:t>, </a:t>
            </a:r>
            <a:r>
              <a:rPr lang="hu-HU" sz="1200" kern="0" dirty="0" err="1">
                <a:solidFill>
                  <a:srgbClr val="000000"/>
                </a:solidFill>
              </a:rPr>
              <a:t>the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b="1" kern="0" dirty="0" err="1">
                <a:solidFill>
                  <a:srgbClr val="000000"/>
                </a:solidFill>
              </a:rPr>
              <a:t>vehicle</a:t>
            </a:r>
            <a:r>
              <a:rPr lang="hu-HU" sz="1200" b="1" kern="0" dirty="0">
                <a:solidFill>
                  <a:srgbClr val="000000"/>
                </a:solidFill>
              </a:rPr>
              <a:t> </a:t>
            </a:r>
            <a:r>
              <a:rPr lang="hu-HU" sz="1200" b="1" kern="0" dirty="0" err="1">
                <a:solidFill>
                  <a:srgbClr val="000000"/>
                </a:solidFill>
              </a:rPr>
              <a:t>shall</a:t>
            </a:r>
            <a:r>
              <a:rPr lang="hu-HU" sz="1200" b="1" kern="0" dirty="0">
                <a:solidFill>
                  <a:srgbClr val="000000"/>
                </a:solidFill>
              </a:rPr>
              <a:t> </a:t>
            </a:r>
            <a:r>
              <a:rPr lang="hu-HU" sz="1200" b="1" kern="0" dirty="0" err="1">
                <a:solidFill>
                  <a:srgbClr val="000000"/>
                </a:solidFill>
              </a:rPr>
              <a:t>adapt</a:t>
            </a:r>
            <a:r>
              <a:rPr lang="hu-HU" sz="1200" b="1" kern="0" dirty="0">
                <a:solidFill>
                  <a:srgbClr val="000000"/>
                </a:solidFill>
              </a:rPr>
              <a:t> </a:t>
            </a:r>
            <a:r>
              <a:rPr lang="hu-HU" sz="1200" b="1" kern="0" dirty="0" err="1">
                <a:solidFill>
                  <a:srgbClr val="000000"/>
                </a:solidFill>
              </a:rPr>
              <a:t>automatically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to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the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road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conditions</a:t>
            </a:r>
            <a:r>
              <a:rPr lang="hu-HU" sz="1200" kern="0" dirty="0">
                <a:solidFill>
                  <a:srgbClr val="000000"/>
                </a:solidFill>
              </a:rPr>
              <a:t> (no </a:t>
            </a:r>
            <a:r>
              <a:rPr lang="hu-HU" sz="1200" kern="0" dirty="0" err="1">
                <a:solidFill>
                  <a:srgbClr val="000000"/>
                </a:solidFill>
              </a:rPr>
              <a:t>additional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lane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departure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activation</a:t>
            </a:r>
            <a:r>
              <a:rPr lang="hu-HU" sz="1200" kern="0" dirty="0">
                <a:solidFill>
                  <a:srgbClr val="000000"/>
                </a:solidFill>
              </a:rPr>
              <a:t> is </a:t>
            </a:r>
            <a:r>
              <a:rPr lang="hu-HU" sz="1200" kern="0" dirty="0" err="1">
                <a:solidFill>
                  <a:srgbClr val="000000"/>
                </a:solidFill>
              </a:rPr>
              <a:t>needed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by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the</a:t>
            </a:r>
            <a:r>
              <a:rPr lang="hu-HU" sz="1200" kern="0" dirty="0">
                <a:solidFill>
                  <a:srgbClr val="000000"/>
                </a:solidFill>
              </a:rPr>
              <a:t> </a:t>
            </a:r>
            <a:r>
              <a:rPr lang="hu-HU" sz="1200" kern="0" dirty="0" err="1">
                <a:solidFill>
                  <a:srgbClr val="000000"/>
                </a:solidFill>
              </a:rPr>
              <a:t>user</a:t>
            </a:r>
            <a:r>
              <a:rPr lang="hu-HU" sz="1200" kern="0" dirty="0">
                <a:solidFill>
                  <a:srgbClr val="000000"/>
                </a:solidFill>
              </a:rPr>
              <a:t>)</a:t>
            </a:r>
            <a:endParaRPr lang="hu-HU" sz="1200" kern="0" dirty="0">
              <a:solidFill>
                <a:srgbClr val="007BC0"/>
              </a:solidFill>
            </a:endParaRPr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9A675079-60B8-4F45-B698-EE1B2493138F}"/>
              </a:ext>
            </a:extLst>
          </p:cNvPr>
          <p:cNvSpPr/>
          <p:nvPr/>
        </p:nvSpPr>
        <p:spPr>
          <a:xfrm rot="10800000">
            <a:off x="3110423" y="2477434"/>
            <a:ext cx="394572" cy="346704"/>
          </a:xfrm>
          <a:prstGeom prst="leftBrace">
            <a:avLst>
              <a:gd name="adj1" fmla="val 8333"/>
              <a:gd name="adj2" fmla="val 47850"/>
            </a:avLst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8D4788-2A42-42A3-A0AB-548DAF2CF982}"/>
              </a:ext>
            </a:extLst>
          </p:cNvPr>
          <p:cNvCxnSpPr>
            <a:cxnSpLocks/>
          </p:cNvCxnSpPr>
          <p:nvPr/>
        </p:nvCxnSpPr>
        <p:spPr>
          <a:xfrm>
            <a:off x="3667427" y="2689860"/>
            <a:ext cx="795325" cy="4990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6E7ECFE-3738-47DC-A66E-5154A780AA6D}"/>
              </a:ext>
            </a:extLst>
          </p:cNvPr>
          <p:cNvSpPr txBox="1"/>
          <p:nvPr/>
        </p:nvSpPr>
        <p:spPr>
          <a:xfrm>
            <a:off x="4529444" y="3162191"/>
            <a:ext cx="964772" cy="2085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Dy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&lt;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DyMin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827B15-F28E-4FEE-9D76-4F3F43D45A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587882">
            <a:off x="773788" y="1467335"/>
            <a:ext cx="590632" cy="143847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DA08D10-A554-4BF1-9063-AA2AB84196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29117" y="1789955"/>
            <a:ext cx="590632" cy="1438476"/>
          </a:xfrm>
          <a:prstGeom prst="rect">
            <a:avLst/>
          </a:prstGeom>
          <a:effectLst>
            <a:outerShdw blurRad="50800" dist="50800" sx="1000" sy="1000" algn="ctr" rotWithShape="0">
              <a:srgbClr val="000000"/>
            </a:outerShdw>
          </a:effec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F1B845F-314A-4C21-A88D-99966A7125BE}"/>
              </a:ext>
            </a:extLst>
          </p:cNvPr>
          <p:cNvCxnSpPr>
            <a:cxnSpLocks/>
          </p:cNvCxnSpPr>
          <p:nvPr/>
        </p:nvCxnSpPr>
        <p:spPr>
          <a:xfrm flipV="1">
            <a:off x="3258814" y="2486092"/>
            <a:ext cx="980869" cy="2076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DA1CC805-0B04-4501-B4ED-565918874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27829">
            <a:off x="3874497" y="1437095"/>
            <a:ext cx="590632" cy="1438476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7499C6B-75E3-4B74-A00F-B5B59DEE602C}"/>
              </a:ext>
            </a:extLst>
          </p:cNvPr>
          <p:cNvCxnSpPr>
            <a:cxnSpLocks/>
          </p:cNvCxnSpPr>
          <p:nvPr/>
        </p:nvCxnSpPr>
        <p:spPr>
          <a:xfrm flipV="1">
            <a:off x="4890047" y="1697420"/>
            <a:ext cx="975945" cy="25110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247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D45C0E-DBBA-416B-A034-67AAA548B78E}"/>
              </a:ext>
            </a:extLst>
          </p:cNvPr>
          <p:cNvCxnSpPr>
            <a:cxnSpLocks/>
          </p:cNvCxnSpPr>
          <p:nvPr/>
        </p:nvCxnSpPr>
        <p:spPr>
          <a:xfrm flipH="1" flipV="1">
            <a:off x="1280557" y="1960011"/>
            <a:ext cx="493277" cy="1728255"/>
          </a:xfrm>
          <a:prstGeom prst="line">
            <a:avLst/>
          </a:prstGeom>
          <a:ln w="2222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3D6D39-40BE-4D42-ADE1-ACBAB9272E93}"/>
              </a:ext>
            </a:extLst>
          </p:cNvPr>
          <p:cNvCxnSpPr>
            <a:cxnSpLocks/>
          </p:cNvCxnSpPr>
          <p:nvPr/>
        </p:nvCxnSpPr>
        <p:spPr>
          <a:xfrm flipH="1" flipV="1">
            <a:off x="3011233" y="1506903"/>
            <a:ext cx="493277" cy="1728255"/>
          </a:xfrm>
          <a:prstGeom prst="line">
            <a:avLst/>
          </a:prstGeom>
          <a:ln w="2222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Distance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to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lane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border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6D17B7-E686-4B20-805C-AC17004B6F78}"/>
              </a:ext>
            </a:extLst>
          </p:cNvPr>
          <p:cNvCxnSpPr/>
          <p:nvPr/>
        </p:nvCxnSpPr>
        <p:spPr>
          <a:xfrm flipH="1">
            <a:off x="438539" y="1031511"/>
            <a:ext cx="5886068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98094F-0076-4F31-B444-178AE17D549C}"/>
              </a:ext>
            </a:extLst>
          </p:cNvPr>
          <p:cNvCxnSpPr>
            <a:cxnSpLocks/>
          </p:cNvCxnSpPr>
          <p:nvPr/>
        </p:nvCxnSpPr>
        <p:spPr>
          <a:xfrm flipH="1">
            <a:off x="456626" y="4126469"/>
            <a:ext cx="5463480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9CD2C8A-7F62-48CE-9DB5-ACD8181E950D}"/>
              </a:ext>
            </a:extLst>
          </p:cNvPr>
          <p:cNvSpPr txBox="1"/>
          <p:nvPr/>
        </p:nvSpPr>
        <p:spPr>
          <a:xfrm>
            <a:off x="456626" y="4928095"/>
            <a:ext cx="6624106" cy="5184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lang="hu-HU" sz="1200" kern="0" dirty="0">
              <a:solidFill>
                <a:srgbClr val="007BC0"/>
              </a:solidFill>
            </a:endParaRPr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9A675079-60B8-4F45-B698-EE1B2493138F}"/>
              </a:ext>
            </a:extLst>
          </p:cNvPr>
          <p:cNvSpPr/>
          <p:nvPr/>
        </p:nvSpPr>
        <p:spPr>
          <a:xfrm rot="10800000">
            <a:off x="3956655" y="2910986"/>
            <a:ext cx="394572" cy="1215482"/>
          </a:xfrm>
          <a:prstGeom prst="leftBrace">
            <a:avLst>
              <a:gd name="adj1" fmla="val 8333"/>
              <a:gd name="adj2" fmla="val 47850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E7ECFE-3738-47DC-A66E-5154A780AA6D}"/>
              </a:ext>
            </a:extLst>
          </p:cNvPr>
          <p:cNvSpPr txBox="1"/>
          <p:nvPr/>
        </p:nvSpPr>
        <p:spPr>
          <a:xfrm>
            <a:off x="4468960" y="3414386"/>
            <a:ext cx="1419971" cy="165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DistToRightBorder</a:t>
            </a:r>
            <a:endParaRPr kumimoji="0" lang="hu-HU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A1CC805-0B04-4501-B4ED-5659188747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27829">
            <a:off x="1815778" y="1129552"/>
            <a:ext cx="1190267" cy="2898879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7499C6B-75E3-4B74-A00F-B5B59DEE602C}"/>
              </a:ext>
            </a:extLst>
          </p:cNvPr>
          <p:cNvCxnSpPr>
            <a:cxnSpLocks/>
          </p:cNvCxnSpPr>
          <p:nvPr/>
        </p:nvCxnSpPr>
        <p:spPr>
          <a:xfrm flipV="1">
            <a:off x="1707922" y="2578005"/>
            <a:ext cx="2983051" cy="75460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6456B7-7A1D-488C-AA69-9C4805DE4ADC}"/>
              </a:ext>
            </a:extLst>
          </p:cNvPr>
          <p:cNvCxnSpPr>
            <a:cxnSpLocks/>
          </p:cNvCxnSpPr>
          <p:nvPr/>
        </p:nvCxnSpPr>
        <p:spPr>
          <a:xfrm flipH="1">
            <a:off x="2698712" y="1816196"/>
            <a:ext cx="1164808" cy="0"/>
          </a:xfrm>
          <a:prstGeom prst="line">
            <a:avLst/>
          </a:prstGeom>
          <a:ln w="9525">
            <a:solidFill>
              <a:srgbClr val="ED000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Left Brace 44">
            <a:extLst>
              <a:ext uri="{FF2B5EF4-FFF2-40B4-BE49-F238E27FC236}">
                <a16:creationId xmlns:a16="http://schemas.microsoft.com/office/drawing/2014/main" id="{DFAA8464-B4A6-4B68-97D8-F91687C80AFC}"/>
              </a:ext>
            </a:extLst>
          </p:cNvPr>
          <p:cNvSpPr/>
          <p:nvPr/>
        </p:nvSpPr>
        <p:spPr>
          <a:xfrm rot="10800000">
            <a:off x="3924037" y="1041052"/>
            <a:ext cx="394572" cy="783892"/>
          </a:xfrm>
          <a:prstGeom prst="leftBrace">
            <a:avLst>
              <a:gd name="adj1" fmla="val 8333"/>
              <a:gd name="adj2" fmla="val 47850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44CAA7-AFA6-40DF-B4B0-2261FA789E17}"/>
              </a:ext>
            </a:extLst>
          </p:cNvPr>
          <p:cNvSpPr txBox="1"/>
          <p:nvPr/>
        </p:nvSpPr>
        <p:spPr>
          <a:xfrm>
            <a:off x="4446021" y="1386997"/>
            <a:ext cx="1419971" cy="165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DistToLeftBorder</a:t>
            </a:r>
            <a:endParaRPr kumimoji="0" lang="hu-HU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334DF88-8218-4D67-851A-A0D0CC8E5F23}"/>
              </a:ext>
            </a:extLst>
          </p:cNvPr>
          <p:cNvCxnSpPr>
            <a:cxnSpLocks/>
          </p:cNvCxnSpPr>
          <p:nvPr/>
        </p:nvCxnSpPr>
        <p:spPr>
          <a:xfrm flipV="1">
            <a:off x="3114794" y="1556299"/>
            <a:ext cx="975945" cy="25110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Left Brace 47">
            <a:extLst>
              <a:ext uri="{FF2B5EF4-FFF2-40B4-BE49-F238E27FC236}">
                <a16:creationId xmlns:a16="http://schemas.microsoft.com/office/drawing/2014/main" id="{DA1D99A5-A070-439C-87B5-460FAFE05958}"/>
              </a:ext>
            </a:extLst>
          </p:cNvPr>
          <p:cNvSpPr/>
          <p:nvPr/>
        </p:nvSpPr>
        <p:spPr>
          <a:xfrm rot="20720870">
            <a:off x="672907" y="2453715"/>
            <a:ext cx="394572" cy="1131963"/>
          </a:xfrm>
          <a:prstGeom prst="leftBrace">
            <a:avLst>
              <a:gd name="adj1" fmla="val 8333"/>
              <a:gd name="adj2" fmla="val 47850"/>
            </a:avLst>
          </a:prstGeom>
          <a:ln w="15875"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5C1056-53FA-4101-B446-57EBC9F86813}"/>
              </a:ext>
            </a:extLst>
          </p:cNvPr>
          <p:cNvSpPr txBox="1"/>
          <p:nvPr/>
        </p:nvSpPr>
        <p:spPr>
          <a:xfrm>
            <a:off x="74268" y="3078116"/>
            <a:ext cx="1419971" cy="1651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 err="1">
                <a:solidFill>
                  <a:srgbClr val="CC9900"/>
                </a:solidFill>
              </a:rPr>
              <a:t>VehWidth</a:t>
            </a:r>
            <a:endParaRPr kumimoji="0" lang="hu-HU" sz="1200" b="0" i="0" u="none" strike="noStrike" kern="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</a:endParaRP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431CCF31-2F74-4ECE-8388-5BA58B1E1D5A}"/>
              </a:ext>
            </a:extLst>
          </p:cNvPr>
          <p:cNvSpPr/>
          <p:nvPr/>
        </p:nvSpPr>
        <p:spPr>
          <a:xfrm rot="4489761">
            <a:off x="1862442" y="531413"/>
            <a:ext cx="394572" cy="1784338"/>
          </a:xfrm>
          <a:prstGeom prst="leftBrace">
            <a:avLst>
              <a:gd name="adj1" fmla="val 8333"/>
              <a:gd name="adj2" fmla="val 47850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8AAD8C-F7C1-4A3E-9662-A84A77C40CB4}"/>
              </a:ext>
            </a:extLst>
          </p:cNvPr>
          <p:cNvSpPr txBox="1"/>
          <p:nvPr/>
        </p:nvSpPr>
        <p:spPr>
          <a:xfrm>
            <a:off x="1482940" y="789685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VehLength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23D649-0063-47C0-B47C-3075747B9CE7}"/>
              </a:ext>
            </a:extLst>
          </p:cNvPr>
          <p:cNvSpPr/>
          <p:nvPr/>
        </p:nvSpPr>
        <p:spPr>
          <a:xfrm>
            <a:off x="1471168" y="2730664"/>
            <a:ext cx="95559" cy="100354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D4F256F7-4F15-4C6A-A9EA-C0BC655A789F}"/>
              </a:ext>
            </a:extLst>
          </p:cNvPr>
          <p:cNvSpPr/>
          <p:nvPr/>
        </p:nvSpPr>
        <p:spPr>
          <a:xfrm rot="10800000">
            <a:off x="6067384" y="2788919"/>
            <a:ext cx="394572" cy="1337545"/>
          </a:xfrm>
          <a:prstGeom prst="leftBrace">
            <a:avLst>
              <a:gd name="adj1" fmla="val 8333"/>
              <a:gd name="adj2" fmla="val 47850"/>
            </a:avLst>
          </a:prstGeom>
          <a:ln w="158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eft Brace 52">
            <a:extLst>
              <a:ext uri="{FF2B5EF4-FFF2-40B4-BE49-F238E27FC236}">
                <a16:creationId xmlns:a16="http://schemas.microsoft.com/office/drawing/2014/main" id="{FD197F98-CE24-4240-B71E-462E0CF7DE04}"/>
              </a:ext>
            </a:extLst>
          </p:cNvPr>
          <p:cNvSpPr/>
          <p:nvPr/>
        </p:nvSpPr>
        <p:spPr>
          <a:xfrm rot="10800000">
            <a:off x="6059734" y="1031507"/>
            <a:ext cx="394572" cy="1746192"/>
          </a:xfrm>
          <a:prstGeom prst="leftBrace">
            <a:avLst>
              <a:gd name="adj1" fmla="val 8333"/>
              <a:gd name="adj2" fmla="val 47850"/>
            </a:avLst>
          </a:prstGeom>
          <a:ln w="158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F387D1-5E1E-49A1-8C1C-F1CCCF5F2D34}"/>
              </a:ext>
            </a:extLst>
          </p:cNvPr>
          <p:cNvSpPr txBox="1"/>
          <p:nvPr/>
        </p:nvSpPr>
        <p:spPr>
          <a:xfrm>
            <a:off x="6555032" y="1849429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DyLef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C1B518-18F3-4073-B34B-73394EBA0A6E}"/>
              </a:ext>
            </a:extLst>
          </p:cNvPr>
          <p:cNvSpPr txBox="1"/>
          <p:nvPr/>
        </p:nvSpPr>
        <p:spPr>
          <a:xfrm>
            <a:off x="6555032" y="3380177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DyRight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548A893-53A4-4181-8EDA-F8749ECDDBCD}"/>
              </a:ext>
            </a:extLst>
          </p:cNvPr>
          <p:cNvCxnSpPr>
            <a:cxnSpLocks/>
          </p:cNvCxnSpPr>
          <p:nvPr/>
        </p:nvCxnSpPr>
        <p:spPr>
          <a:xfrm flipH="1">
            <a:off x="1588566" y="2781299"/>
            <a:ext cx="4400754" cy="0"/>
          </a:xfrm>
          <a:prstGeom prst="line">
            <a:avLst/>
          </a:prstGeom>
          <a:ln w="9525">
            <a:solidFill>
              <a:srgbClr val="0000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2B67128-F73E-4564-AEE7-FED81A9D5AB7}"/>
              </a:ext>
            </a:extLst>
          </p:cNvPr>
          <p:cNvSpPr txBox="1"/>
          <p:nvPr/>
        </p:nvSpPr>
        <p:spPr>
          <a:xfrm>
            <a:off x="3813943" y="2753073"/>
            <a:ext cx="169925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8F79F79-57F0-48C5-92C5-D91ABC953034}"/>
              </a:ext>
            </a:extLst>
          </p:cNvPr>
          <p:cNvCxnSpPr>
            <a:cxnSpLocks/>
          </p:cNvCxnSpPr>
          <p:nvPr/>
        </p:nvCxnSpPr>
        <p:spPr>
          <a:xfrm flipH="1" flipV="1">
            <a:off x="1519942" y="2177060"/>
            <a:ext cx="5475" cy="2020499"/>
          </a:xfrm>
          <a:prstGeom prst="line">
            <a:avLst/>
          </a:prstGeom>
          <a:ln w="9525">
            <a:solidFill>
              <a:srgbClr val="ED000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EF439DD-47A3-4703-86CB-4AE5299A07D6}"/>
              </a:ext>
            </a:extLst>
          </p:cNvPr>
          <p:cNvSpPr txBox="1"/>
          <p:nvPr/>
        </p:nvSpPr>
        <p:spPr>
          <a:xfrm>
            <a:off x="1592810" y="3477316"/>
            <a:ext cx="169925" cy="246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5FE0FC-1F54-4DF8-AD16-9698E07CC0BB}"/>
              </a:ext>
            </a:extLst>
          </p:cNvPr>
          <p:cNvCxnSpPr>
            <a:cxnSpLocks/>
          </p:cNvCxnSpPr>
          <p:nvPr/>
        </p:nvCxnSpPr>
        <p:spPr>
          <a:xfrm flipH="1">
            <a:off x="2907799" y="2910986"/>
            <a:ext cx="1164808" cy="0"/>
          </a:xfrm>
          <a:prstGeom prst="line">
            <a:avLst/>
          </a:prstGeom>
          <a:ln w="9525">
            <a:solidFill>
              <a:srgbClr val="ED000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7DD299F-45C2-418D-A528-D417CA8FAF2B}"/>
              </a:ext>
            </a:extLst>
          </p:cNvPr>
          <p:cNvSpPr/>
          <p:nvPr/>
        </p:nvSpPr>
        <p:spPr>
          <a:xfrm rot="20399587">
            <a:off x="3500401" y="2141319"/>
            <a:ext cx="4376587" cy="2062103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12800" b="1" cap="none" spc="0" dirty="0">
                <a:ln w="10160">
                  <a:solidFill>
                    <a:srgbClr val="ED0007">
                      <a:alpha val="38000"/>
                    </a:srgbClr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TBD</a:t>
            </a:r>
            <a:endParaRPr lang="en-US" sz="12800" b="1" cap="none" spc="0" dirty="0">
              <a:ln w="10160">
                <a:solidFill>
                  <a:srgbClr val="ED0007">
                    <a:alpha val="38000"/>
                  </a:srgbClr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3212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Road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scenarios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6DC800-5A58-4474-A26B-C4A81300FE01}"/>
              </a:ext>
            </a:extLst>
          </p:cNvPr>
          <p:cNvSpPr txBox="1"/>
          <p:nvPr/>
        </p:nvSpPr>
        <p:spPr>
          <a:xfrm>
            <a:off x="288082" y="906173"/>
            <a:ext cx="11225893" cy="26207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Straight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Road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:</a:t>
            </a:r>
          </a:p>
          <a:p>
            <a:pPr marL="742688" lvl="1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This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road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scenario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is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iterative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,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simulated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continuously</a:t>
            </a:r>
            <a:endParaRPr lang="hu-HU" dirty="0">
              <a:latin typeface="Bosch Office Sans" pitchFamily="2" charset="0"/>
              <a:cs typeface="Calibri" panose="020F0502020204030204" pitchFamily="34" charset="0"/>
            </a:endParaRP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Curvature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(arc):</a:t>
            </a:r>
          </a:p>
          <a:p>
            <a:pPr marL="742688" lvl="1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This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road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scenario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is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simulated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only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once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.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When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the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vehicle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passed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this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road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section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,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Straight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Road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is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started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to</a:t>
            </a:r>
            <a:r>
              <a:rPr lang="hu-HU" dirty="0"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Bosch Office Sans" pitchFamily="2" charset="0"/>
                <a:cs typeface="Calibri" panose="020F0502020204030204" pitchFamily="34" charset="0"/>
              </a:rPr>
              <a:t>simulate</a:t>
            </a:r>
            <a:endParaRPr lang="hu-HU" dirty="0">
              <a:latin typeface="Bosch Office Sans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526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  <p:tag name="SAXCONVERSION" val="1"/>
</p:tagLst>
</file>

<file path=ppt/theme/theme1.xml><?xml version="1.0" encoding="utf-8"?>
<a:theme xmlns:a="http://schemas.openxmlformats.org/drawingml/2006/main" name="Bosch NG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52779E17-DA50-4443-9CCA-C57129DBFB53}" vid="{CBD1DA7C-47F9-4AE4-B1E4-E762B597D2F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ILMBoschDocument" ma:contentTypeID="0x01010079C2150534271841997CA4BF28B151E90100307EA83ED42A584099D189C52F07585A" ma:contentTypeVersion="30" ma:contentTypeDescription="Bosch Document Content Type for ILM" ma:contentTypeScope="" ma:versionID="46680fb55f2b448e4d697b4aac1c2ef6">
  <xsd:schema xmlns:xsd="http://www.w3.org/2001/XMLSchema" xmlns:xs="http://www.w3.org/2001/XMLSchema" xmlns:p="http://schemas.microsoft.com/office/2006/metadata/properties" xmlns:ns1="http://schemas.microsoft.com/sharepoint/v3" xmlns:ns2="4c1bb3ec-31fb-4a5a-ac42-aa8cd4516000" xmlns:ns3="bca0bc44-19d1-4824-98a4-321de56310bf" xmlns:ns4="http://schemas.microsoft.com/sharepoint/v4" targetNamespace="http://schemas.microsoft.com/office/2006/metadata/properties" ma:root="true" ma:fieldsID="8e307836bdc0b590fde6f31324e6d042" ns1:_="" ns2:_="" ns3:_="" ns4:_="">
    <xsd:import namespace="http://schemas.microsoft.com/sharepoint/v3"/>
    <xsd:import namespace="4c1bb3ec-31fb-4a5a-ac42-aa8cd4516000"/>
    <xsd:import namespace="bca0bc44-19d1-4824-98a4-321de56310b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CSC"/>
                <xsd:element ref="ns2:ASC"/>
                <xsd:element ref="ns2:ISC"/>
                <xsd:element ref="ns2:ArchivingPeriod"/>
                <xsd:element ref="ns2:Safeguarding"/>
                <xsd:element ref="ns2:Historicalrelevance"/>
                <xsd:element ref="ns3:OriginalSubject" minOccurs="0"/>
                <xsd:element ref="ns3:From1" minOccurs="0"/>
                <xsd:element ref="ns3:Cc" minOccurs="0"/>
                <xsd:element ref="ns3:Bcc" minOccurs="0"/>
                <xsd:element ref="ns3:Conversation-Topic" minOccurs="0"/>
                <xsd:element ref="ns3:Date1" minOccurs="0"/>
                <xsd:element ref="ns3:Reply-To" minOccurs="0"/>
                <xsd:element ref="ns3:To" minOccurs="0"/>
                <xsd:element ref="ns3:Received" minOccurs="0"/>
                <xsd:element ref="ns3:Attachment" minOccurs="0"/>
                <xsd:element ref="ns3:Sensitivity" minOccurs="0"/>
                <xsd:element ref="ns3:Importance" minOccurs="0"/>
                <xsd:element ref="ns3:In-Reply-To" minOccurs="0"/>
                <xsd:element ref="ns3:References" minOccurs="0"/>
                <xsd:element ref="ns3:Conversation-Index" minOccurs="0"/>
                <xsd:element ref="ns3:MailPreviewData" minOccurs="0"/>
                <xsd:element ref="ns2:MessageClass" minOccurs="0"/>
                <xsd:element ref="ns3:Message-ID" minOccurs="0"/>
                <xsd:element ref="ns2:IlmBasedOn" minOccurs="0"/>
                <xsd:element ref="ns2:LockedStatus" minOccurs="0"/>
                <xsd:element ref="ns2:LockedBy" minOccurs="0"/>
                <xsd:element ref="ns2:ILMItemType" minOccurs="0"/>
                <xsd:element ref="ns2:ILMCreationRevision" minOccurs="0"/>
                <xsd:element ref="ns2:Revisions" minOccurs="0"/>
                <xsd:element ref="ns4:IconOverlay" minOccurs="0"/>
                <xsd:element ref="ns1:_vti_ItemDeclaredRecord" minOccurs="0"/>
                <xsd:element ref="ns1:_vti_ItemHoldRecord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42" nillable="true" ma:displayName="Declared Record" ma:hidden="true" ma:internalName="_vti_ItemDeclaredRecord" ma:readOnly="true">
      <xsd:simpleType>
        <xsd:restriction base="dms:DateTime"/>
      </xsd:simpleType>
    </xsd:element>
    <xsd:element name="_vti_ItemHoldRecordStatus" ma:index="43" nillable="true" ma:displayName="Hold and Record Status" ma:decimals="0" ma:description="" ma:hidden="true" ma:indexed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bb3ec-31fb-4a5a-ac42-aa8cd45160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CSC" ma:index="11" ma:displayName="C-SC" ma:default="1" ma:description="Security Class for Confidentiality." ma:format="Dropdown" ma:indexed="true" ma:internalName="C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SC" ma:index="12" ma:displayName="A-SC" ma:default="1" ma:description="Security Class for Availability" ma:format="Dropdown" ma:indexed="true" ma:internalName="A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ISC" ma:index="13" ma:displayName="I-SC" ma:default="1" ma:description="Security Class for Integrity" ma:format="Dropdown" ma:internalName="I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rchivingPeriod" ma:index="14" ma:displayName="Archiving Period (in years)" ma:default="35" ma:description="File will be deleted from the archive after end of the archiving" ma:format="Dropdown" ma:indexed="true" ma:internalName="ArchivingPeriod" ma:readOnly="false">
      <xsd:simpleType>
        <xsd:union memberTypes="dms:Text">
          <xsd:simpleType>
            <xsd:restriction base="dms:Choice">
              <xsd:enumeration value="1"/>
              <xsd:enumeration value="3"/>
              <xsd:enumeration value="6"/>
              <xsd:enumeration value="10"/>
              <xsd:enumeration value="15"/>
              <xsd:enumeration value="35"/>
              <xsd:enumeration value="Delete when archiving"/>
              <xsd:enumeration value="infinite"/>
            </xsd:restriction>
          </xsd:simpleType>
        </xsd:union>
      </xsd:simpleType>
    </xsd:element>
    <xsd:element name="Safeguarding" ma:index="15" ma:displayName="Safeguarding" ma:default="No" ma:description="Special safeguarding requirements" ma:format="Dropdown" ma:internalName="Safeguarding" ma:readOnly="false">
      <xsd:simpleType>
        <xsd:restriction base="dms:Choice">
          <xsd:enumeration value="Yes"/>
          <xsd:enumeration value="No"/>
        </xsd:restriction>
      </xsd:simpleType>
    </xsd:element>
    <xsd:element name="Historicalrelevance" ma:index="16" ma:displayName="Historical relevance" ma:default="No" ma:description="Handover to C/CCH" ma:format="Dropdown" ma:internalName="Historicalrelevance" ma:readOnly="false">
      <xsd:simpleType>
        <xsd:restriction base="dms:Choice">
          <xsd:enumeration value="Yes"/>
          <xsd:enumeration value="No"/>
        </xsd:restriction>
      </xsd:simpleType>
    </xsd:element>
    <xsd:element name="MessageClass" ma:index="33" nillable="true" ma:displayName="MessageClass" ma:hidden="true" ma:internalName="MessageClass">
      <xsd:simpleType>
        <xsd:restriction base="dms:Text">
          <xsd:maxLength value="255"/>
        </xsd:restriction>
      </xsd:simpleType>
    </xsd:element>
    <xsd:element name="IlmBasedOn" ma:index="35" nillable="true" ma:displayName="Based on" ma:internalName="IlmBasedOn" ma:readOnly="true">
      <xsd:simpleType>
        <xsd:restriction base="dms:Text"/>
      </xsd:simpleType>
    </xsd:element>
    <xsd:element name="LockedStatus" ma:index="36" nillable="true" ma:displayName="Locked Status" ma:default="Unlocked" ma:internalName="LockedStatus" ma:readOnly="true">
      <xsd:simpleType>
        <xsd:restriction base="dms:Text"/>
      </xsd:simpleType>
    </xsd:element>
    <xsd:element name="LockedBy" ma:index="37" nillable="true" ma:displayName="Locked By" ma:internalName="Locked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LMItemType" ma:index="38" nillable="true" ma:displayName="ILMItemType" ma:default="ConceptualItem" ma:indexed="true" ma:internalName="ILMItemType" ma:readOnly="true">
      <xsd:simpleType>
        <xsd:restriction base="dms:Text"/>
      </xsd:simpleType>
    </xsd:element>
    <xsd:element name="ILMCreationRevision" ma:index="39" nillable="true" ma:displayName="Creating Revision" ma:internalName="ILMCreationRevision" ma:readOnly="true">
      <xsd:simpleType>
        <xsd:restriction base="dms:Boolean"/>
      </xsd:simpleType>
    </xsd:element>
    <xsd:element name="Revisions" ma:index="40" nillable="true" ma:displayName="Revision set" ma:internalName="Revision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0bc44-19d1-4824-98a4-321de56310bf" elementFormDefault="qualified">
    <xsd:import namespace="http://schemas.microsoft.com/office/2006/documentManagement/types"/>
    <xsd:import namespace="http://schemas.microsoft.com/office/infopath/2007/PartnerControls"/>
    <xsd:element name="OriginalSubject" ma:index="17" nillable="true" ma:displayName="OriginalSubject" ma:internalName="OriginalSubject">
      <xsd:simpleType>
        <xsd:restriction base="dms:Text">
          <xsd:maxLength value="255"/>
        </xsd:restriction>
      </xsd:simpleType>
    </xsd:element>
    <xsd:element name="From1" ma:index="18" nillable="true" ma:displayName="From" ma:internalName="From1">
      <xsd:simpleType>
        <xsd:restriction base="dms:Text">
          <xsd:maxLength value="255"/>
        </xsd:restriction>
      </xsd:simpleType>
    </xsd:element>
    <xsd:element name="Cc" ma:index="19" nillable="true" ma:displayName="Cc" ma:internalName="Cc">
      <xsd:simpleType>
        <xsd:restriction base="dms:Note">
          <xsd:maxLength value="255"/>
        </xsd:restriction>
      </xsd:simpleType>
    </xsd:element>
    <xsd:element name="Bcc" ma:index="20" nillable="true" ma:displayName="Bcc" ma:internalName="Bcc">
      <xsd:simpleType>
        <xsd:restriction base="dms:Note">
          <xsd:maxLength value="255"/>
        </xsd:restriction>
      </xsd:simpleType>
    </xsd:element>
    <xsd:element name="Conversation-Topic" ma:index="21" nillable="true" ma:displayName="Conversation-Topic" ma:internalName="Conversation_x002d_Topic">
      <xsd:simpleType>
        <xsd:restriction base="dms:Text">
          <xsd:maxLength value="255"/>
        </xsd:restriction>
      </xsd:simpleType>
    </xsd:element>
    <xsd:element name="Date1" ma:index="22" nillable="true" ma:displayName="Date" ma:format="DateOnly" ma:internalName="Date1">
      <xsd:simpleType>
        <xsd:restriction base="dms:DateTime"/>
      </xsd:simpleType>
    </xsd:element>
    <xsd:element name="Reply-To" ma:index="23" nillable="true" ma:displayName="Reply-To" ma:internalName="Reply_x002d_To">
      <xsd:simpleType>
        <xsd:restriction base="dms:Text">
          <xsd:maxLength value="255"/>
        </xsd:restriction>
      </xsd:simpleType>
    </xsd:element>
    <xsd:element name="To" ma:index="24" nillable="true" ma:displayName="To" ma:internalName="To">
      <xsd:simpleType>
        <xsd:restriction base="dms:Note">
          <xsd:maxLength value="255"/>
        </xsd:restriction>
      </xsd:simpleType>
    </xsd:element>
    <xsd:element name="Received" ma:index="25" nillable="true" ma:displayName="Received" ma:internalName="Received">
      <xsd:simpleType>
        <xsd:restriction base="dms:Text">
          <xsd:maxLength value="255"/>
        </xsd:restriction>
      </xsd:simpleType>
    </xsd:element>
    <xsd:element name="Attachment" ma:index="26" nillable="true" ma:displayName="Attachment" ma:default="1" ma:internalName="Attachment">
      <xsd:simpleType>
        <xsd:restriction base="dms:Boolean"/>
      </xsd:simpleType>
    </xsd:element>
    <xsd:element name="Sensitivity" ma:index="27" nillable="true" ma:displayName="Sensitivity" ma:internalName="Sensitivity">
      <xsd:simpleType>
        <xsd:restriction base="dms:Text">
          <xsd:maxLength value="255"/>
        </xsd:restriction>
      </xsd:simpleType>
    </xsd:element>
    <xsd:element name="Importance" ma:index="28" nillable="true" ma:displayName="Importance" ma:internalName="Importance">
      <xsd:simpleType>
        <xsd:restriction base="dms:Text">
          <xsd:maxLength value="255"/>
        </xsd:restriction>
      </xsd:simpleType>
    </xsd:element>
    <xsd:element name="In-Reply-To" ma:index="29" nillable="true" ma:displayName="In-Reply-To" ma:internalName="In_x002d_Reply_x002d_To">
      <xsd:simpleType>
        <xsd:restriction base="dms:Text">
          <xsd:maxLength value="255"/>
        </xsd:restriction>
      </xsd:simpleType>
    </xsd:element>
    <xsd:element name="References" ma:index="30" nillable="true" ma:displayName="References" ma:internalName="References">
      <xsd:simpleType>
        <xsd:restriction base="dms:Text">
          <xsd:maxLength value="255"/>
        </xsd:restriction>
      </xsd:simpleType>
    </xsd:element>
    <xsd:element name="Conversation-Index" ma:index="31" nillable="true" ma:displayName="Conversation-Index" ma:hidden="true" ma:internalName="Conversation_x002d_Index">
      <xsd:simpleType>
        <xsd:restriction base="dms:Text">
          <xsd:maxLength value="255"/>
        </xsd:restriction>
      </xsd:simpleType>
    </xsd:element>
    <xsd:element name="MailPreviewData" ma:index="32" nillable="true" ma:displayName="MailPreviewData" ma:hidden="true" ma:internalName="MailPreviewData">
      <xsd:simpleType>
        <xsd:restriction base="dms:Note"/>
      </xsd:simpleType>
    </xsd:element>
    <xsd:element name="Message-ID" ma:index="34" nillable="true" ma:displayName="Message-ID" ma:hidden="true" ma:internalName="Message_x002d_I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4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XC-DX/EDI2</OrgInhalt>
      <Wert>XC-DX/EDI2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Intern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2022. Alle Rechte vorbehalten, auch bzgl. jeder Verfügung, Verwertung, Reproduktion, Bearbeitung, Weitergabe sowie für den Fall von Schutzrechtsanmeldungen.</OrgInhalt>
      <Wert>© Robert Bosch GmbH 2022.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18.02.2022</OrgInhalt>
      <Wert>18.02.2022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Cross-Domain Computing Solutions</OrgInhalt>
      <Wert>Cross-Domain Computing 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versation-Topic xmlns="bca0bc44-19d1-4824-98a4-321de56310bf" xsi:nil="true"/>
    <Received xmlns="bca0bc44-19d1-4824-98a4-321de56310bf" xsi:nil="true"/>
    <Importance xmlns="bca0bc44-19d1-4824-98a4-321de56310bf" xsi:nil="true"/>
    <ISC xmlns="4c1bb3ec-31fb-4a5a-ac42-aa8cd4516000">3</ISC>
    <Conversation-Index xmlns="bca0bc44-19d1-4824-98a4-321de56310bf" xsi:nil="true"/>
    <Bcc xmlns="bca0bc44-19d1-4824-98a4-321de56310bf" xsi:nil="true"/>
    <Sensitivity xmlns="bca0bc44-19d1-4824-98a4-321de56310bf" xsi:nil="true"/>
    <IconOverlay xmlns="http://schemas.microsoft.com/sharepoint/v4" xsi:nil="true"/>
    <Safeguarding xmlns="4c1bb3ec-31fb-4a5a-ac42-aa8cd4516000">No</Safeguarding>
    <To xmlns="bca0bc44-19d1-4824-98a4-321de56310bf" xsi:nil="true"/>
    <Reply-To xmlns="bca0bc44-19d1-4824-98a4-321de56310bf" xsi:nil="true"/>
    <In-Reply-To xmlns="bca0bc44-19d1-4824-98a4-321de56310bf" xsi:nil="true"/>
    <MailPreviewData xmlns="bca0bc44-19d1-4824-98a4-321de56310bf" xsi:nil="true"/>
    <MessageClass xmlns="4c1bb3ec-31fb-4a5a-ac42-aa8cd4516000" xsi:nil="true"/>
    <Date1 xmlns="bca0bc44-19d1-4824-98a4-321de56310bf" xsi:nil="true"/>
    <Attachment xmlns="bca0bc44-19d1-4824-98a4-321de56310bf">true</Attachment>
    <References xmlns="bca0bc44-19d1-4824-98a4-321de56310bf" xsi:nil="true"/>
    <ArchivingPeriod xmlns="4c1bb3ec-31fb-4a5a-ac42-aa8cd4516000">35</ArchivingPeriod>
    <ASC xmlns="4c1bb3ec-31fb-4a5a-ac42-aa8cd4516000">2</ASC>
    <Cc xmlns="bca0bc44-19d1-4824-98a4-321de56310bf" xsi:nil="true"/>
    <Message-ID xmlns="bca0bc44-19d1-4824-98a4-321de56310bf" xsi:nil="true"/>
    <Historicalrelevance xmlns="4c1bb3ec-31fb-4a5a-ac42-aa8cd4516000">No</Historicalrelevance>
    <OriginalSubject xmlns="bca0bc44-19d1-4824-98a4-321de56310bf" xsi:nil="true"/>
    <CSC xmlns="4c1bb3ec-31fb-4a5a-ac42-aa8cd4516000">2</CSC>
    <From1 xmlns="bca0bc44-19d1-4824-98a4-321de56310bf" xsi:nil="true"/>
    <Revisions xmlns="4c1bb3ec-31fb-4a5a-ac42-aa8cd4516000">
      <Url xsi:nil="true"/>
      <Description xsi:nil="true"/>
    </Revisions>
    <LockedStatus xmlns="4c1bb3ec-31fb-4a5a-ac42-aa8cd4516000">Unlocked</LockedStatus>
    <_vti_ItemHoldRecordStatus xmlns="http://schemas.microsoft.com/sharepoint/v3" xsi:nil="true"/>
    <_vti_ItemDeclaredRecord xmlns="http://schemas.microsoft.com/sharepoint/v3" xsi:nil="true"/>
    <_dlc_DocId xmlns="4c1bb3ec-31fb-4a5a-ac42-aa8cd4516000">P12S144287-699374571-4181</_dlc_DocId>
    <_dlc_DocIdUrl xmlns="4c1bb3ec-31fb-4a5a-ac42-aa8cd4516000">
      <Url>https://sites.inside-share2.bosch.com/sites/144287/_layouts/15/DocIdRedir.aspx?ID=P12S144287-699374571-4181</Url>
      <Description>P12S144287-699374571-4181</Description>
    </_dlc_DocIdUrl>
    <ILMItemType xmlns="4c1bb3ec-31fb-4a5a-ac42-aa8cd4516000">ConceptualItem</ILMItemType>
    <LockedBy xmlns="4c1bb3ec-31fb-4a5a-ac42-aa8cd4516000">
      <UserInfo>
        <DisplayName/>
        <AccountId xsi:nil="true"/>
        <AccountType/>
      </UserInfo>
    </LockedBy>
    <ILMCreationRevision xmlns="4c1bb3ec-31fb-4a5a-ac42-aa8cd4516000">false</ILMCreationRevision>
    <IlmBasedOn xmlns="4c1bb3ec-31fb-4a5a-ac42-aa8cd4516000" xsi:nil="true"/>
  </documentManagement>
</p:properties>
</file>

<file path=customXml/itemProps1.xml><?xml version="1.0" encoding="utf-8"?>
<ds:datastoreItem xmlns:ds="http://schemas.openxmlformats.org/officeDocument/2006/customXml" ds:itemID="{488ADB33-F615-4DA3-A5E5-621971C60A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c1bb3ec-31fb-4a5a-ac42-aa8cd4516000"/>
    <ds:schemaRef ds:uri="bca0bc44-19d1-4824-98a4-321de56310b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A07C1F3-6EEE-449B-9B9C-8FCCF2F10769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D0252559-44F8-474C-B66D-E357B88E32C2}">
  <ds:schemaRefs/>
</ds:datastoreItem>
</file>

<file path=customXml/itemProps4.xml><?xml version="1.0" encoding="utf-8"?>
<ds:datastoreItem xmlns:ds="http://schemas.openxmlformats.org/officeDocument/2006/customXml" ds:itemID="{B0217FDE-38C6-42B6-A9F4-53BF86FE0352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304CF217-3C90-4AA0-B541-CE45F9BD305E}">
  <ds:schemaRefs/>
</ds:datastoreItem>
</file>

<file path=customXml/itemProps6.xml><?xml version="1.0" encoding="utf-8"?>
<ds:datastoreItem xmlns:ds="http://schemas.openxmlformats.org/officeDocument/2006/customXml" ds:itemID="{BDD75C32-321C-42A1-A33F-C90BE62E2E82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bca0bc44-19d1-4824-98a4-321de56310bf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sharepoint/v4"/>
    <ds:schemaRef ds:uri="http://purl.org/dc/terms/"/>
    <ds:schemaRef ds:uri="http://schemas.openxmlformats.org/package/2006/metadata/core-properties"/>
    <ds:schemaRef ds:uri="4c1bb3ec-31fb-4a5a-ac42-aa8cd451600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718</Words>
  <Application>Microsoft Office PowerPoint</Application>
  <PresentationFormat>Widescreen</PresentationFormat>
  <Paragraphs>185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Bosch Office Sans</vt:lpstr>
      <vt:lpstr>Calibri</vt:lpstr>
      <vt:lpstr>Wingdings 3</vt:lpstr>
      <vt:lpstr>Bosch NG</vt:lpstr>
      <vt:lpstr>System Design Lane simulation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 PSA CDPO R11</dc:title>
  <dc:creator>Herrera Rafael (XC-DX/EDF2)</dc:creator>
  <cp:lastModifiedBy>Horvath Bela (XC-DX/EET1-Bp)</cp:lastModifiedBy>
  <cp:revision>365</cp:revision>
  <dcterms:created xsi:type="dcterms:W3CDTF">2022-02-18T11:02:55Z</dcterms:created>
  <dcterms:modified xsi:type="dcterms:W3CDTF">2022-10-10T12:33:44Z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0x01010079C2150534271841997CA4BF28B151E90100307EA83ED42A584099D189C52F07585A</vt:lpwstr>
  </property>
  <property fmtid="{D5CDD505-2E9C-101B-9397-08002B2CF9AE}" pid="9" name="ecm_ItemDeleteBlockHolders">
    <vt:lpwstr/>
  </property>
  <property fmtid="{D5CDD505-2E9C-101B-9397-08002B2CF9AE}" pid="10" name="ecm_RecordRestrictions">
    <vt:lpwstr/>
  </property>
  <property fmtid="{D5CDD505-2E9C-101B-9397-08002B2CF9AE}" pid="11" name="ecm_ItemLockHolders">
    <vt:lpwstr/>
  </property>
  <property fmtid="{D5CDD505-2E9C-101B-9397-08002B2CF9AE}" pid="12" name="_dlc_DocIdItemGuid">
    <vt:lpwstr>905797a4-9edb-4cac-ba0e-b0a0bdc26ba2</vt:lpwstr>
  </property>
  <property fmtid="{D5CDD505-2E9C-101B-9397-08002B2CF9AE}" pid="13" name="ILMRevision">
    <vt:lpwstr/>
  </property>
  <property fmtid="{D5CDD505-2E9C-101B-9397-08002B2CF9AE}" pid="14" name="ConceptualVersion">
    <vt:lpwstr/>
  </property>
  <property fmtid="{D5CDD505-2E9C-101B-9397-08002B2CF9AE}" pid="15" name="ConceptualVersionTreeview">
    <vt:lpwstr/>
  </property>
  <property fmtid="{D5CDD505-2E9C-101B-9397-08002B2CF9AE}" pid="16" name="ILMComments">
    <vt:lpwstr/>
  </property>
  <property fmtid="{D5CDD505-2E9C-101B-9397-08002B2CF9AE}" pid="17" name="ILMExternalReference">
    <vt:lpwstr/>
  </property>
  <property fmtid="{D5CDD505-2E9C-101B-9397-08002B2CF9AE}" pid="18" name="DocIdOfLinkItem">
    <vt:lpwstr/>
  </property>
</Properties>
</file>