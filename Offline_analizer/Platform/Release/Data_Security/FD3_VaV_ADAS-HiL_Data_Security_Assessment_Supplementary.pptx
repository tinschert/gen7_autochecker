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3"/>
  </p:sldMasterIdLst>
  <p:notesMasterIdLst>
    <p:notesMasterId r:id="rId6"/>
  </p:notesMasterIdLst>
  <p:sldIdLst>
    <p:sldId id="259" r:id="rId4"/>
    <p:sldId id="260" r:id="rId5"/>
  </p:sldIdLst>
  <p:sldSz cx="10969625" cy="6170613"/>
  <p:notesSz cx="6858000" cy="9144000"/>
  <p:custDataLst>
    <p:tags r:id="rId7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7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7" Type="http://schemas.openxmlformats.org/officeDocument/2006/relationships/tags" Target="tags/tag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01.07.2024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7200" y="2602898"/>
            <a:ext cx="9268637" cy="1507549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Präsentationstitel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7200" y="4241130"/>
            <a:ext cx="9268637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Abteilung, Datum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969200" cy="205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84853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2590" userDrawn="1">
          <p15:clr>
            <a:srgbClr val="FBAE40"/>
          </p15:clr>
        </p15:guide>
        <p15:guide id="5" orient="horz" pos="2669" userDrawn="1">
          <p15:clr>
            <a:srgbClr val="FBAE40"/>
          </p15:clr>
        </p15:guide>
        <p15:guide id="6" orient="horz" pos="346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43858496-C239-47F8-BDF4-1C95D89182D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89593" y="1152144"/>
            <a:ext cx="7132831" cy="204436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Präsentationstitel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5C2B86F-C1CA-4E64-9221-A99B4E89D28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3289593" y="3327191"/>
            <a:ext cx="7132831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Abteilung, Datum</a:t>
            </a:r>
          </a:p>
        </p:txBody>
      </p:sp>
      <p:pic>
        <p:nvPicPr>
          <p:cNvPr id="3" name="SuperGraphic">
            <a:extLst>
              <a:ext uri="{FF2B5EF4-FFF2-40B4-BE49-F238E27FC236}">
                <a16:creationId xmlns:a16="http://schemas.microsoft.com/office/drawing/2014/main" id="{8E3B306C-041F-4487-8C98-1BF9B6BE172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42494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70" userDrawn="1">
          <p15:clr>
            <a:srgbClr val="FBAE40"/>
          </p15:clr>
        </p15:guide>
        <p15:guide id="2" pos="6566" userDrawn="1">
          <p15:clr>
            <a:srgbClr val="FBAE40"/>
          </p15:clr>
        </p15:guide>
        <p15:guide id="3" orient="horz" pos="2093" userDrawn="1">
          <p15:clr>
            <a:srgbClr val="FBAE40"/>
          </p15:clr>
        </p15:guide>
        <p15:guide id="4" orient="horz" pos="2014" userDrawn="1">
          <p15:clr>
            <a:srgbClr val="FBAE40"/>
          </p15:clr>
        </p15:guide>
        <p15:guide id="5" orient="horz" pos="347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E881C9CD-D10B-4CDB-B44D-3FBD5D07A51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7200" y="2602896"/>
            <a:ext cx="9268637" cy="2892602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Kapitelüberschrift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0" y="99"/>
            <a:ext cx="10969625" cy="2055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781" y="98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346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E5083679-3829-4F0B-9E1A-B4E6F314AFD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9831" y="1200075"/>
            <a:ext cx="7072741" cy="3142785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Kapitelüberschrift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-1" y="99"/>
            <a:ext cx="2739600" cy="617051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4400" y="99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5" name="SuperGraphic">
            <a:extLst>
              <a:ext uri="{FF2B5EF4-FFF2-40B4-BE49-F238E27FC236}">
                <a16:creationId xmlns:a16="http://schemas.microsoft.com/office/drawing/2014/main" id="{B93399BE-B0B2-44B3-8FAE-18A968B3CDA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0814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64" userDrawn="1">
          <p15:clr>
            <a:srgbClr val="FBAE40"/>
          </p15:clr>
        </p15:guide>
        <p15:guide id="2" pos="6524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2738" userDrawn="1">
          <p15:clr>
            <a:srgbClr val="FBAE40"/>
          </p15:clr>
        </p15:guide>
        <p15:guide id="5" pos="2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out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926F8EF2-FFD9-4D48-A076-77C0B811BAB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</p:spTree>
    <p:extLst>
      <p:ext uri="{BB962C8B-B14F-4D97-AF65-F5344CB8AC3E}">
        <p14:creationId xmlns:p14="http://schemas.microsoft.com/office/powerpoint/2010/main" val="76580094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77066FA-8AE8-47E2-8A79-1355389EE47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E3AE72B7-66D7-4755-9A92-9BAA3A80886F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6B548-69AA-497B-BD64-E14E4F9EA5F6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406800" y="1036800"/>
            <a:ext cx="3780000" cy="2484000"/>
          </a:xfrm>
          <a:solidFill>
            <a:schemeClr val="bg1"/>
          </a:solidFill>
        </p:spPr>
        <p:txBody>
          <a:bodyPr lIns="252000" tIns="216000" rIns="252000" bIns="21600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7648965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1630DC1C-C3C8-477E-AC19-4DC706EB499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30852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0CB4FC-C276-4DB5-A6E3-49DD9BC66B63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205199" y="3495705"/>
            <a:ext cx="10558800" cy="2041094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8320614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949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orient="horz" pos="220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FD4E5E48-387B-4CE0-80BE-1097F697DAD5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5486400" cy="6170400"/>
          </a:xfr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647D1E-89E9-4244-B52F-555902731C7A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895302" y="410492"/>
            <a:ext cx="4596486" cy="5126308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005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56" userDrawn="1">
          <p15:clr>
            <a:srgbClr val="FBAE40"/>
          </p15:clr>
        </p15:guide>
        <p15:guide id="2" pos="6609" userDrawn="1">
          <p15:clr>
            <a:srgbClr val="FBAE40"/>
          </p15:clr>
        </p15:guide>
        <p15:guide id="3" orient="horz" pos="257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pos="371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-1"/>
            <a:ext cx="10969625" cy="610296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6" name="Logo">
            <a:extLst>
              <a:ext uri="{FF2B5EF4-FFF2-40B4-BE49-F238E27FC236}">
                <a16:creationId xmlns:a16="http://schemas.microsoft.com/office/drawing/2014/main" id="{0C8D7868-566A-E406-AA76-0F7E438D381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35774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8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-1" y="0"/>
            <a:ext cx="10899775" cy="61704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Logo">
            <a:extLst>
              <a:ext uri="{FF2B5EF4-FFF2-40B4-BE49-F238E27FC236}">
                <a16:creationId xmlns:a16="http://schemas.microsoft.com/office/drawing/2014/main" id="{F002D116-88B8-2720-FAAC-860765E59F72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23210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pos="686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05200" y="1296000"/>
            <a:ext cx="105588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261F3-E57F-4170-BD7E-F44931B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EE88F-E97F-46A3-8AB7-354C833C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06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96000" y="1295999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AttachmentRemark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F85651-AA1F-4EE5-A69C-0361B9A9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5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776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500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2224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8EDC3-D46C-4E18-BC78-B9478A7B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1731" userDrawn="1">
          <p15:clr>
            <a:srgbClr val="FBAE40"/>
          </p15:clr>
        </p15:guide>
        <p15:guide id="9" pos="1810" userDrawn="1">
          <p15:clr>
            <a:srgbClr val="FBAE40"/>
          </p15:clr>
        </p15:guide>
        <p15:guide id="10" pos="3417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98" userDrawn="1">
          <p15:clr>
            <a:srgbClr val="FBAE40"/>
          </p15:clr>
        </p15:guide>
        <p15:guide id="13" pos="517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7342F-2EB7-4EB1-963F-314A664F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0000" y="1295999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00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D5130-F453-4F60-9091-CC67A951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006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960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006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960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6" name="AttachmentRemark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4D98D-B6D0-4EAC-B595-B1B3F34F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  <p15:guide id="12" orient="horz" pos="2113" userDrawn="1">
          <p15:clr>
            <a:srgbClr val="FBAE40"/>
          </p15:clr>
        </p15:guide>
        <p15:guide id="13" orient="horz" pos="21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8776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00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2224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8776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00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2224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AttachmentRemark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E2449-86F7-413D-AD74-17B8BDC5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1731" userDrawn="1">
          <p15:clr>
            <a:srgbClr val="FBAE40"/>
          </p15:clr>
        </p15:guide>
        <p15:guide id="11" pos="181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98" userDrawn="1">
          <p15:clr>
            <a:srgbClr val="FBAE40"/>
          </p15:clr>
        </p15:guide>
        <p15:guide id="15" pos="517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C74776-286D-45CF-B42A-A491ED08B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Folienüberschrift hinzufügen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29A7-9E35-4523-8421-38341F67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ttachmentRemark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0A8589-A8D2-4132-B89B-2FADFC12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Logo">
            <a:extLst>
              <a:ext uri="{FF2B5EF4-FFF2-40B4-BE49-F238E27FC236}">
                <a16:creationId xmlns:a16="http://schemas.microsoft.com/office/drawing/2014/main" id="{F38A617B-35DF-43CE-B5F7-67FA9A7F247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Folienüberschrift hinzufügen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200" y="1296000"/>
            <a:ext cx="10558800" cy="4240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05200" y="566640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sp>
        <p:nvSpPr>
          <p:cNvPr id="14" name="Bosch_footer_1">
            <a:extLst>
              <a:ext uri="{FF2B5EF4-FFF2-40B4-BE49-F238E27FC236}">
                <a16:creationId xmlns:a16="http://schemas.microsoft.com/office/drawing/2014/main" id="{179AD5EC-CEF2-4193-998B-D730BC74E01B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 | XC-AS/ETV | 18.06.2024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47200" y="5793901"/>
            <a:ext cx="912600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© Robert Bosch GmbH 2024. Alle Rechte vorbehalten, auch bzgl. jeder Verfügung, Verwertung, Reproduktion, Bearbeitung, Weitergabe sowie für den Fall von Schutzrechtsanmeldungen.</a:t>
            </a:r>
          </a:p>
        </p:txBody>
      </p:sp>
      <p:sp>
        <p:nvSpPr>
          <p:cNvPr id="15" name="Bosch_footer_1" hidden="1">
            <a:extLst>
              <a:ext uri="{FF2B5EF4-FFF2-40B4-BE49-F238E27FC236}">
                <a16:creationId xmlns:a16="http://schemas.microsoft.com/office/drawing/2014/main" id="{DB0BF576-A4BE-4521-98AB-F28795DF7BD0}"/>
              </a:ext>
            </a:extLst>
          </p:cNvPr>
          <p:cNvSpPr txBox="1"/>
          <p:nvPr userDrawn="1"/>
        </p:nvSpPr>
        <p:spPr>
          <a:xfrm>
            <a:off x="816069" y="538354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%confidentiality%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13" name="AttachmentRemark" hidden="1">
            <a:extLst>
              <a:ext uri="{FF2B5EF4-FFF2-40B4-BE49-F238E27FC236}">
                <a16:creationId xmlns:a16="http://schemas.microsoft.com/office/drawing/2014/main" id="{F41551A9-D6BA-431A-8DBF-55BA472D9657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12" name="SuperGraphic">
            <a:extLst>
              <a:ext uri="{FF2B5EF4-FFF2-40B4-BE49-F238E27FC236}">
                <a16:creationId xmlns:a16="http://schemas.microsoft.com/office/drawing/2014/main" id="{1E0562BC-DD12-4C96-A115-D2D70EC1366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10" r:id="rId2"/>
    <p:sldLayoutId id="2147483713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46" r:id="rId11"/>
    <p:sldLayoutId id="2147483744" r:id="rId12"/>
    <p:sldLayoutId id="2147483724" r:id="rId13"/>
    <p:sldLayoutId id="2147483726" r:id="rId14"/>
    <p:sldLayoutId id="2147483727" r:id="rId15"/>
    <p:sldLayoutId id="2147483728" r:id="rId16"/>
    <p:sldLayoutId id="2147483729" r:id="rId17"/>
    <p:sldLayoutId id="2147483745" r:id="rId18"/>
    <p:sldLayoutId id="2147483723" r:id="rId19"/>
    <p:sldLayoutId id="2147483734" r:id="rId20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333" rtl="0" eaLnBrk="1" latinLnBrk="0" hangingPunct="1">
        <a:lnSpc>
          <a:spcPct val="107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7600" indent="-230400" algn="l" defTabSz="914333" rtl="0" eaLnBrk="1" latinLnBrk="0" hangingPunct="1">
        <a:lnSpc>
          <a:spcPct val="103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333" rtl="0" eaLnBrk="1" latinLnBrk="0" hangingPunct="1">
        <a:lnSpc>
          <a:spcPct val="102000"/>
        </a:lnSpc>
        <a:spcBef>
          <a:spcPts val="5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0B8F86-CD58-D142-7BC9-84A190C0E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Standard Case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C808BA7-BC06-ED4C-976F-40E29CBBE3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ADAS-</a:t>
            </a:r>
            <a:r>
              <a:rPr lang="de-DE" dirty="0" err="1"/>
              <a:t>HiL</a:t>
            </a:r>
            <a:r>
              <a:rPr lang="de-DE" dirty="0"/>
              <a:t> </a:t>
            </a:r>
            <a:r>
              <a:rPr lang="de-DE" dirty="0" err="1"/>
              <a:t>Testbench</a:t>
            </a:r>
            <a:r>
              <a:rPr lang="de-DE" dirty="0"/>
              <a:t> Architecture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06CC19A-D38F-82B0-935C-3FB4446EB3B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42890FE-4D44-601D-5944-7FA6A381D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</a:t>
            </a:fld>
            <a:endParaRPr lang="en-US" noProof="1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70A68756-AFB8-721B-23C7-04B9C44DAE75}"/>
              </a:ext>
            </a:extLst>
          </p:cNvPr>
          <p:cNvSpPr/>
          <p:nvPr/>
        </p:nvSpPr>
        <p:spPr>
          <a:xfrm>
            <a:off x="1447803" y="1832067"/>
            <a:ext cx="2243666" cy="2783346"/>
          </a:xfrm>
          <a:prstGeom prst="roundRect">
            <a:avLst/>
          </a:prstGeom>
          <a:solidFill>
            <a:srgbClr val="007BC0"/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Simulator:</a:t>
            </a: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e-DE" kern="0" dirty="0">
              <a:solidFill>
                <a:schemeClr val="bg1"/>
              </a:solidFill>
              <a:latin typeface="Bosch Office Sans"/>
            </a:endParaRP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Synthetic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 Data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only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DA537B3D-596A-9D4F-34E7-47170AAF6CA2}"/>
              </a:ext>
            </a:extLst>
          </p:cNvPr>
          <p:cNvSpPr/>
          <p:nvPr/>
        </p:nvSpPr>
        <p:spPr>
          <a:xfrm>
            <a:off x="4289803" y="1832067"/>
            <a:ext cx="2243666" cy="2783346"/>
          </a:xfrm>
          <a:prstGeom prst="roundRect">
            <a:avLst/>
          </a:prstGeom>
          <a:solidFill>
            <a:srgbClr val="18837E"/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Simulation Master:</a:t>
            </a: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e-DE" kern="0" dirty="0">
              <a:solidFill>
                <a:schemeClr val="bg1"/>
              </a:solidFill>
              <a:latin typeface="Bosch Office Sans"/>
            </a:endParaRP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kern="0" dirty="0">
                <a:solidFill>
                  <a:schemeClr val="bg1"/>
                </a:solidFill>
                <a:latin typeface="Bosch Office Sans"/>
              </a:rPr>
              <a:t>Hand-</a:t>
            </a:r>
            <a:r>
              <a:rPr lang="de-DE" kern="0" dirty="0" err="1">
                <a:solidFill>
                  <a:schemeClr val="bg1"/>
                </a:solidFill>
                <a:latin typeface="Bosch Office Sans"/>
              </a:rPr>
              <a:t>written</a:t>
            </a:r>
            <a:r>
              <a:rPr lang="de-DE" kern="0" dirty="0">
                <a:solidFill>
                  <a:schemeClr val="bg1"/>
                </a:solidFill>
                <a:latin typeface="Bosch Office Sans"/>
              </a:rPr>
              <a:t> and </a:t>
            </a:r>
            <a:r>
              <a:rPr lang="de-DE" kern="0" dirty="0" err="1">
                <a:solidFill>
                  <a:schemeClr val="bg1"/>
                </a:solidFill>
                <a:latin typeface="Bosch Office Sans"/>
              </a:rPr>
              <a:t>generated</a:t>
            </a:r>
            <a:r>
              <a:rPr lang="de-DE" kern="0" dirty="0">
                <a:solidFill>
                  <a:schemeClr val="bg1"/>
                </a:solidFill>
                <a:latin typeface="Bosch Office Sans"/>
              </a:rPr>
              <a:t> Code</a:t>
            </a: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8F2DEF01-0DF5-4948-E2A0-72FFB206C651}"/>
              </a:ext>
            </a:extLst>
          </p:cNvPr>
          <p:cNvSpPr/>
          <p:nvPr/>
        </p:nvSpPr>
        <p:spPr>
          <a:xfrm>
            <a:off x="7131803" y="1832067"/>
            <a:ext cx="2243666" cy="2783346"/>
          </a:xfrm>
          <a:prstGeom prst="roundRect">
            <a:avLst/>
          </a:prstGeom>
          <a:solidFill>
            <a:srgbClr val="71767C"/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Electronic Control Unit (ECU):</a:t>
            </a: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e-DE" kern="0" dirty="0">
              <a:solidFill>
                <a:schemeClr val="bg1"/>
              </a:solidFill>
              <a:latin typeface="Bosch Office Sans"/>
            </a:endParaRP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kern="0" dirty="0" err="1">
                <a:solidFill>
                  <a:schemeClr val="bg1"/>
                </a:solidFill>
                <a:latin typeface="Bosch Office Sans"/>
              </a:rPr>
              <a:t>Component</a:t>
            </a:r>
            <a:r>
              <a:rPr lang="de-DE" kern="0" dirty="0">
                <a:solidFill>
                  <a:schemeClr val="bg1"/>
                </a:solidFill>
                <a:latin typeface="Bosch Office Sans"/>
              </a:rPr>
              <a:t> </a:t>
            </a:r>
            <a:r>
              <a:rPr lang="de-DE" kern="0" dirty="0" err="1">
                <a:solidFill>
                  <a:schemeClr val="bg1"/>
                </a:solidFill>
                <a:latin typeface="Bosch Office Sans"/>
              </a:rPr>
              <a:t>under</a:t>
            </a:r>
            <a:r>
              <a:rPr lang="de-DE" kern="0" dirty="0">
                <a:solidFill>
                  <a:schemeClr val="bg1"/>
                </a:solidFill>
                <a:latin typeface="Bosch Office Sans"/>
              </a:rPr>
              <a:t> Test = </a:t>
            </a:r>
            <a:r>
              <a:rPr lang="de-DE" kern="0" dirty="0" err="1">
                <a:solidFill>
                  <a:schemeClr val="bg1"/>
                </a:solidFill>
                <a:latin typeface="Bosch Office Sans"/>
              </a:rPr>
              <a:t>no</a:t>
            </a:r>
            <a:r>
              <a:rPr lang="de-DE" kern="0" dirty="0">
                <a:solidFill>
                  <a:schemeClr val="bg1"/>
                </a:solidFill>
                <a:latin typeface="Bosch Office Sans"/>
              </a:rPr>
              <a:t> Test Vehicle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9A26F300-740E-49F4-3142-DB1DD45365A9}"/>
              </a:ext>
            </a:extLst>
          </p:cNvPr>
          <p:cNvCxnSpPr/>
          <p:nvPr/>
        </p:nvCxnSpPr>
        <p:spPr>
          <a:xfrm>
            <a:off x="3606800" y="2658533"/>
            <a:ext cx="846667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2E12D00B-7140-4B2C-373F-A8E40A8F49C8}"/>
              </a:ext>
            </a:extLst>
          </p:cNvPr>
          <p:cNvCxnSpPr/>
          <p:nvPr/>
        </p:nvCxnSpPr>
        <p:spPr>
          <a:xfrm>
            <a:off x="6417734" y="2658533"/>
            <a:ext cx="846667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3CE71216-3315-E3E3-609F-7AD2DD652DC0}"/>
              </a:ext>
            </a:extLst>
          </p:cNvPr>
          <p:cNvCxnSpPr>
            <a:cxnSpLocks/>
          </p:cNvCxnSpPr>
          <p:nvPr/>
        </p:nvCxnSpPr>
        <p:spPr>
          <a:xfrm flipH="1">
            <a:off x="6350002" y="4004733"/>
            <a:ext cx="846667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86E28548-646F-C296-C52A-715D940C108F}"/>
              </a:ext>
            </a:extLst>
          </p:cNvPr>
          <p:cNvCxnSpPr>
            <a:cxnSpLocks/>
          </p:cNvCxnSpPr>
          <p:nvPr/>
        </p:nvCxnSpPr>
        <p:spPr>
          <a:xfrm flipH="1">
            <a:off x="3539068" y="4004733"/>
            <a:ext cx="846667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214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0B8F86-CD58-D142-7BC9-84A190C0E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Camera</a:t>
            </a:r>
            <a:r>
              <a:rPr lang="de-DE" dirty="0"/>
              <a:t> Case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C808BA7-BC06-ED4C-976F-40E29CBBE3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ADAS-</a:t>
            </a:r>
            <a:r>
              <a:rPr lang="de-DE" dirty="0" err="1"/>
              <a:t>HiL</a:t>
            </a:r>
            <a:r>
              <a:rPr lang="de-DE" dirty="0"/>
              <a:t> </a:t>
            </a:r>
            <a:r>
              <a:rPr lang="de-DE" dirty="0" err="1"/>
              <a:t>Testbench</a:t>
            </a:r>
            <a:r>
              <a:rPr lang="de-DE" dirty="0"/>
              <a:t> Architecture</a:t>
            </a:r>
          </a:p>
        </p:txBody>
      </p:sp>
      <p:pic>
        <p:nvPicPr>
          <p:cNvPr id="15" name="Inhaltsplatzhalter 14">
            <a:extLst>
              <a:ext uri="{FF2B5EF4-FFF2-40B4-BE49-F238E27FC236}">
                <a16:creationId xmlns:a16="http://schemas.microsoft.com/office/drawing/2014/main" id="{95B6F682-1563-4445-397C-86681570010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198" y="1597977"/>
            <a:ext cx="406349" cy="406349"/>
          </a:xfr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42890FE-4D44-601D-5944-7FA6A381D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</a:t>
            </a:fld>
            <a:endParaRPr lang="en-US" noProof="1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70A68756-AFB8-721B-23C7-04B9C44DAE75}"/>
              </a:ext>
            </a:extLst>
          </p:cNvPr>
          <p:cNvSpPr/>
          <p:nvPr/>
        </p:nvSpPr>
        <p:spPr>
          <a:xfrm>
            <a:off x="1447803" y="2551735"/>
            <a:ext cx="2243666" cy="2783346"/>
          </a:xfrm>
          <a:prstGeom prst="roundRect">
            <a:avLst/>
          </a:prstGeom>
          <a:solidFill>
            <a:srgbClr val="007BC0"/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Simulator:</a:t>
            </a: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e-DE" kern="0" dirty="0">
              <a:solidFill>
                <a:schemeClr val="bg1"/>
              </a:solidFill>
              <a:latin typeface="Bosch Office Sans"/>
            </a:endParaRP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Synthetic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 Data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only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DA537B3D-596A-9D4F-34E7-47170AAF6CA2}"/>
              </a:ext>
            </a:extLst>
          </p:cNvPr>
          <p:cNvSpPr/>
          <p:nvPr/>
        </p:nvSpPr>
        <p:spPr>
          <a:xfrm>
            <a:off x="4289803" y="2551735"/>
            <a:ext cx="2243666" cy="2783346"/>
          </a:xfrm>
          <a:prstGeom prst="roundRect">
            <a:avLst/>
          </a:prstGeom>
          <a:solidFill>
            <a:srgbClr val="18837E"/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Simulation Master:</a:t>
            </a: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e-DE" kern="0" dirty="0">
              <a:solidFill>
                <a:schemeClr val="bg1"/>
              </a:solidFill>
              <a:latin typeface="Bosch Office Sans"/>
            </a:endParaRP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kern="0" dirty="0">
                <a:solidFill>
                  <a:schemeClr val="bg1"/>
                </a:solidFill>
                <a:latin typeface="Bosch Office Sans"/>
              </a:rPr>
              <a:t>Hand-</a:t>
            </a:r>
            <a:r>
              <a:rPr lang="de-DE" kern="0" dirty="0" err="1">
                <a:solidFill>
                  <a:schemeClr val="bg1"/>
                </a:solidFill>
                <a:latin typeface="Bosch Office Sans"/>
              </a:rPr>
              <a:t>written</a:t>
            </a:r>
            <a:r>
              <a:rPr lang="de-DE" kern="0" dirty="0">
                <a:solidFill>
                  <a:schemeClr val="bg1"/>
                </a:solidFill>
                <a:latin typeface="Bosch Office Sans"/>
              </a:rPr>
              <a:t> and </a:t>
            </a:r>
            <a:r>
              <a:rPr lang="de-DE" kern="0" dirty="0" err="1">
                <a:solidFill>
                  <a:schemeClr val="bg1"/>
                </a:solidFill>
                <a:latin typeface="Bosch Office Sans"/>
              </a:rPr>
              <a:t>generated</a:t>
            </a:r>
            <a:r>
              <a:rPr lang="de-DE" kern="0" dirty="0">
                <a:solidFill>
                  <a:schemeClr val="bg1"/>
                </a:solidFill>
                <a:latin typeface="Bosch Office Sans"/>
              </a:rPr>
              <a:t> Code</a:t>
            </a: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8F2DEF01-0DF5-4948-E2A0-72FFB206C651}"/>
              </a:ext>
            </a:extLst>
          </p:cNvPr>
          <p:cNvSpPr/>
          <p:nvPr/>
        </p:nvSpPr>
        <p:spPr>
          <a:xfrm>
            <a:off x="7131803" y="2551735"/>
            <a:ext cx="2243666" cy="2783346"/>
          </a:xfrm>
          <a:prstGeom prst="roundRect">
            <a:avLst/>
          </a:prstGeom>
          <a:solidFill>
            <a:srgbClr val="71767C"/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Electronic Control Unit (ECU):</a:t>
            </a: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e-DE" kern="0" dirty="0">
              <a:solidFill>
                <a:schemeClr val="bg1"/>
              </a:solidFill>
              <a:latin typeface="Bosch Office Sans"/>
            </a:endParaRP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kern="0" dirty="0" err="1">
                <a:solidFill>
                  <a:schemeClr val="bg1"/>
                </a:solidFill>
                <a:latin typeface="Bosch Office Sans"/>
              </a:rPr>
              <a:t>Component</a:t>
            </a:r>
            <a:r>
              <a:rPr lang="de-DE" kern="0" dirty="0">
                <a:solidFill>
                  <a:schemeClr val="bg1"/>
                </a:solidFill>
                <a:latin typeface="Bosch Office Sans"/>
              </a:rPr>
              <a:t> </a:t>
            </a:r>
            <a:r>
              <a:rPr lang="de-DE" kern="0" dirty="0" err="1">
                <a:solidFill>
                  <a:schemeClr val="bg1"/>
                </a:solidFill>
                <a:latin typeface="Bosch Office Sans"/>
              </a:rPr>
              <a:t>under</a:t>
            </a:r>
            <a:r>
              <a:rPr lang="de-DE" kern="0" dirty="0">
                <a:solidFill>
                  <a:schemeClr val="bg1"/>
                </a:solidFill>
                <a:latin typeface="Bosch Office Sans"/>
              </a:rPr>
              <a:t> Test = </a:t>
            </a:r>
            <a:r>
              <a:rPr lang="de-DE" kern="0" dirty="0" err="1">
                <a:solidFill>
                  <a:schemeClr val="bg1"/>
                </a:solidFill>
                <a:latin typeface="Bosch Office Sans"/>
              </a:rPr>
              <a:t>no</a:t>
            </a:r>
            <a:r>
              <a:rPr lang="de-DE" kern="0" dirty="0">
                <a:solidFill>
                  <a:schemeClr val="bg1"/>
                </a:solidFill>
                <a:latin typeface="Bosch Office Sans"/>
              </a:rPr>
              <a:t> Test Vehicle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9A26F300-740E-49F4-3142-DB1DD45365A9}"/>
              </a:ext>
            </a:extLst>
          </p:cNvPr>
          <p:cNvCxnSpPr/>
          <p:nvPr/>
        </p:nvCxnSpPr>
        <p:spPr>
          <a:xfrm>
            <a:off x="3606800" y="3378201"/>
            <a:ext cx="846667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2E12D00B-7140-4B2C-373F-A8E40A8F49C8}"/>
              </a:ext>
            </a:extLst>
          </p:cNvPr>
          <p:cNvCxnSpPr/>
          <p:nvPr/>
        </p:nvCxnSpPr>
        <p:spPr>
          <a:xfrm>
            <a:off x="6417734" y="3378201"/>
            <a:ext cx="846667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3CE71216-3315-E3E3-609F-7AD2DD652DC0}"/>
              </a:ext>
            </a:extLst>
          </p:cNvPr>
          <p:cNvCxnSpPr>
            <a:cxnSpLocks/>
          </p:cNvCxnSpPr>
          <p:nvPr/>
        </p:nvCxnSpPr>
        <p:spPr>
          <a:xfrm flipH="1">
            <a:off x="6350002" y="4724401"/>
            <a:ext cx="846667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86E28548-646F-C296-C52A-715D940C108F}"/>
              </a:ext>
            </a:extLst>
          </p:cNvPr>
          <p:cNvCxnSpPr>
            <a:cxnSpLocks/>
          </p:cNvCxnSpPr>
          <p:nvPr/>
        </p:nvCxnSpPr>
        <p:spPr>
          <a:xfrm flipH="1">
            <a:off x="3539068" y="4724401"/>
            <a:ext cx="846667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hteck 8">
            <a:extLst>
              <a:ext uri="{FF2B5EF4-FFF2-40B4-BE49-F238E27FC236}">
                <a16:creationId xmlns:a16="http://schemas.microsoft.com/office/drawing/2014/main" id="{61F86FE1-D4CE-E2B4-EC18-D913E49451E7}"/>
              </a:ext>
            </a:extLst>
          </p:cNvPr>
          <p:cNvSpPr/>
          <p:nvPr/>
        </p:nvSpPr>
        <p:spPr>
          <a:xfrm>
            <a:off x="4814131" y="1462489"/>
            <a:ext cx="1195009" cy="639764"/>
          </a:xfrm>
          <a:prstGeom prst="rect">
            <a:avLst/>
          </a:prstGeom>
          <a:noFill/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1AC8010E-F0A9-3A9F-5840-E64595489D20}"/>
              </a:ext>
            </a:extLst>
          </p:cNvPr>
          <p:cNvCxnSpPr>
            <a:cxnSpLocks/>
          </p:cNvCxnSpPr>
          <p:nvPr/>
        </p:nvCxnSpPr>
        <p:spPr>
          <a:xfrm>
            <a:off x="4953001" y="1978521"/>
            <a:ext cx="0" cy="713879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F8D3B712-6532-EE75-9C1E-A16497922749}"/>
              </a:ext>
            </a:extLst>
          </p:cNvPr>
          <p:cNvSpPr txBox="1"/>
          <p:nvPr/>
        </p:nvSpPr>
        <p:spPr>
          <a:xfrm>
            <a:off x="3425892" y="1423502"/>
            <a:ext cx="16488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Opaque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 Box</a:t>
            </a:r>
          </a:p>
          <a:p>
            <a:r>
              <a:rPr lang="de-DE" kern="0" dirty="0">
                <a:latin typeface="Bosch Office Sans"/>
              </a:rPr>
              <a:t>w/ </a:t>
            </a:r>
            <a:r>
              <a:rPr lang="de-DE" kern="0" dirty="0" err="1">
                <a:latin typeface="Bosch Office Sans"/>
              </a:rPr>
              <a:t>Camera</a:t>
            </a:r>
            <a:endParaRPr lang="de-DE" dirty="0"/>
          </a:p>
        </p:txBody>
      </p:sp>
      <p:cxnSp>
        <p:nvCxnSpPr>
          <p:cNvPr id="22" name="Verbinder: gewinkelt 21">
            <a:extLst>
              <a:ext uri="{FF2B5EF4-FFF2-40B4-BE49-F238E27FC236}">
                <a16:creationId xmlns:a16="http://schemas.microsoft.com/office/drawing/2014/main" id="{A45C8C9E-E89F-258C-987C-780F7F6D2D40}"/>
              </a:ext>
            </a:extLst>
          </p:cNvPr>
          <p:cNvCxnSpPr>
            <a:cxnSpLocks/>
            <a:stCxn id="6" idx="0"/>
            <a:endCxn id="9" idx="0"/>
          </p:cNvCxnSpPr>
          <p:nvPr/>
        </p:nvCxnSpPr>
        <p:spPr>
          <a:xfrm rot="5400000" flipH="1" flipV="1">
            <a:off x="3446013" y="586112"/>
            <a:ext cx="1089246" cy="2842000"/>
          </a:xfrm>
          <a:prstGeom prst="bentConnector3">
            <a:avLst>
              <a:gd name="adj1" fmla="val 120987"/>
            </a:avLst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Gleichschenkliges Dreieck 23">
            <a:extLst>
              <a:ext uri="{FF2B5EF4-FFF2-40B4-BE49-F238E27FC236}">
                <a16:creationId xmlns:a16="http://schemas.microsoft.com/office/drawing/2014/main" id="{72D79F16-A902-02D3-6819-50ED9CBE4422}"/>
              </a:ext>
            </a:extLst>
          </p:cNvPr>
          <p:cNvSpPr/>
          <p:nvPr/>
        </p:nvSpPr>
        <p:spPr>
          <a:xfrm>
            <a:off x="5532589" y="1547928"/>
            <a:ext cx="387273" cy="380544"/>
          </a:xfrm>
          <a:prstGeom prst="triangle">
            <a:avLst/>
          </a:prstGeom>
          <a:solidFill>
            <a:srgbClr val="9E2896"/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9550B9A3-D659-48EA-DA9E-D4614AAA6CD9}"/>
              </a:ext>
            </a:extLst>
          </p:cNvPr>
          <p:cNvSpPr txBox="1"/>
          <p:nvPr/>
        </p:nvSpPr>
        <p:spPr>
          <a:xfrm>
            <a:off x="6402474" y="1103136"/>
            <a:ext cx="43558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Camera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 Target Options:</a:t>
            </a:r>
          </a:p>
          <a:p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- Poster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with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markings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  <a:p>
            <a:r>
              <a:rPr lang="de-DE" kern="0" dirty="0">
                <a:latin typeface="Bosch Office Sans"/>
              </a:rPr>
              <a:t>- Mannequin </a:t>
            </a:r>
            <a:r>
              <a:rPr lang="de-DE" kern="0" dirty="0" err="1">
                <a:latin typeface="Bosch Office Sans"/>
              </a:rPr>
              <a:t>head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  <a:p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- Screen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showing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synthetic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data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 stream</a:t>
            </a:r>
            <a:endParaRPr lang="de-DE" dirty="0"/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D3DCFD47-61A4-D4D0-8F0F-73BC3F20A8DF}"/>
              </a:ext>
            </a:extLst>
          </p:cNvPr>
          <p:cNvCxnSpPr>
            <a:cxnSpLocks/>
          </p:cNvCxnSpPr>
          <p:nvPr/>
        </p:nvCxnSpPr>
        <p:spPr>
          <a:xfrm flipV="1">
            <a:off x="5721441" y="1340902"/>
            <a:ext cx="741573" cy="448100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58571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TEMPLATE" val="presentation_169"/>
  <p:tag name="SAXMLCOMPANYNAME" val="bosch"/>
  <p:tag name="MLLANGUAGE" val="deu"/>
  <p:tag name="MLTEMPLATEVERSION" val="2.1"/>
  <p:tag name="SAXCONVERSION" val="2"/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/////wUA/gs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8k8Hj9aUlBFrMjHb850naMEAAAAAAADAAAAAAADAAAAAwADAAAAAAD///////8DAAAAAAD///////8DAAEA////////BQAAAAMAEAALlMDlXdYHv0epN+AAG7fssAQAAAABAAMAAAACAAMAAAAEAAQAAQD///////8FAAAABAAQAAvLZpB39WjRQqOATq1DXUcF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/GAMYAAAAFX2lkABAAAAAEyTweP1pSUEWsyMdvznSdowNEYXRhAFMAAAAIUHJlc2VudGF0aW9uU2Nhbm5lZEZvckxpbmtlZFNoYXBlcwAAAk51bWJlckZvcm1hdFNlcGFyYXRvck1vZGUACgAAAEF1dG9tYXRpYwAAAk5hbWUAJAAAAExpbmtlZFNoYXBlUHJlc2VudGF0aW9uU2V0dGluZ3NEYXRhABBWZXJzaW9uAAAAAAAJTGFzdFdyaXRlAP0mAiqQAQAAAAEA/////4MAgwAAAAVfaWQAEAAAAASUwOVd1ge/R6k34AAbt+ywA0RhdGEAGwAAAARMaW5rZWRTaGFwZURhdGEABQAAAAAAAk5hbWUAGQAAAExpbmtlZFNoYXBlc0RhdGFQcm9wZXJ0eQAQVmVyc2lvbgABAAAACUxhc3RXcml0ZQDuJgIqkAEAAAACAP////+DAIMAAAAFX2lkABAAAAAEy2aQd/Vo0UKjgE6tQ11HBQNEYXRhABsAAAAETGlua2VkU2hhcGVEYXRhAAUAAAAAAAJOYW1lABkAAABMaW5rZWRTaGFwZXNEYXRhUHJvcGVydHkAEFZlcnNpb24AAAAAAAlMYXN0V3JpdGUA6yYCKp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VCwAAAAAAAAAAAAAgAf///////////////wAAAP///////////////wUAAAAC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MBAwAAAAIA////////JQAGTGlua2VkU2hhcGVQcmVzZW50YXRpb25TZXR0aW5nc0RhdGFfMAQAAAAAAAUAAAAAAAUAAAAEAAUAAAAAAP///////wUAAAAAAP///////wMAAQEDAAAAAwD///////8aAAZMaW5rZWRTaGFwZXNEYXRhUHJvcGVydHlfMQQAAAABAAUAAAAEAAUAAAABAAQAAQEDAAAABAD///////8aAAZMaW5rZWRTaGFwZXNEYXRhUHJvcGVydHlfMAQAAAACAAUAAAACAAUAAAAD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542885025427637"/>
  <p:tag name="EMPOWERCHARTSPROPERTIES_A_LENGTH" val="24576"/>
</p:tagLst>
</file>

<file path=ppt/theme/theme1.xml><?xml version="1.0" encoding="utf-8"?>
<a:theme xmlns:a="http://schemas.openxmlformats.org/drawingml/2006/main" name="Bosch 2024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BD6EC1D4-B152-4B75-85DB-48DC16B7ED8A}" vid="{233A9649-CE92-4BEC-B45F-441AA90A9001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Anlagenvermerk</Label>
      <FrageVar>False</FrageVar>
      <Prefix/>
      <Suffix/>
      <WegfallVar/>
      <MussFeld>False</MussFeld>
      <InDokument>True</InDokument>
      <Sektion>AttachmentRemark</Sektion>
      <Reihenfolge>0</Reihenfolge>
    </Variable>
    <Variable>
      <Name>departmentshort</Name>
      <OrgInhalt>XC-AS/ETV</OrgInhalt>
      <Wert>XC-AS/ETV</Wert>
      <Platzhalter>False</Platzhalter>
      <DocDatenDialog>True</DocDatenDialog>
      <Label>Urhebervermerk</Label>
      <FrageVar>False</FrageVar>
      <Prefix/>
      <Suffix/>
      <WegfallVar/>
      <MussFeld>False</MussFeld>
      <Trenner>
        <VariableVor>confidentiality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confidentiality</Name>
      <OrgInhalt>Intern</OrgInhalt>
      <Wert>Intern</Wert>
      <Platzhalter>False</Platzhalter>
      <DocDatenDialog>True</DocDatenDialog>
      <Label>Vertraulichkeitsvermerk</Label>
      <FrageVar>False</FrageVar>
      <Prefix/>
      <Suffix/>
      <WegfallVar/>
      <ComboBox>
        <Option>Intern</Option>
        <Option>Vertraulich</Option>
        <Option>Streng vertraulich</Option>
        <Option/>
      </ComboBox>
      <MussFeld>False</MussFeld>
      <InDokument>True</InDokument>
      <Sektion>Bosch_footer_1</Sektion>
      <Reihenfolge>0</Reihenfolge>
    </Variable>
    <Variable>
      <Name>copyright</Name>
      <OrgInhalt>© Robert Bosch GmbH 2024. Alle Rechte vorbehalten, auch bzgl. jeder Verfügung, Verwertung, Reproduktion, Bearbeitung, Weitergabe sowie für den Fall von Schutzrechtsanmeldungen.</OrgInhalt>
      <Wert>© Robert Bosch GmbH 2024. Alle Rechte vorbehalten, auch bzgl. jeder Verfügung, Verwertung, Reproduktion, Bearbeitung, Weitergabe sowie für den Fall von Schutzrechtsanmeldungen.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18.06.2024</OrgInhalt>
      <Wert>18.06.2024</Wert>
      <Platzhalter>False</Platzhalter>
      <DocDatenDialog>True</DocDatenDialog>
      <Label>Datum</Label>
      <FrageVar>False</FrageVar>
      <Prefix/>
      <Suffix/>
      <WegfallVar/>
      <MussFeld>False</MussFeld>
      <Trenner>
        <VariableVor>departmentshort</VariableVor>
        <VariableVor>confidentiality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/>
      <Wert/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confidentiality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Ablagevermerk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2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Props1.xml><?xml version="1.0" encoding="utf-8"?>
<ds:datastoreItem xmlns:ds="http://schemas.openxmlformats.org/officeDocument/2006/customXml" ds:itemID="{304CF217-3C90-4AA0-B541-CE45F9BD305E}">
  <ds:schemaRefs/>
</ds:datastoreItem>
</file>

<file path=customXml/itemProps2.xml><?xml version="1.0" encoding="utf-8"?>
<ds:datastoreItem xmlns:ds="http://schemas.openxmlformats.org/officeDocument/2006/customXml" ds:itemID="{D0252559-44F8-474C-B66D-E357B88E32C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0</TotalTime>
  <Words>84</Words>
  <Application>Microsoft Office PowerPoint</Application>
  <PresentationFormat>Benutzerdefiniert</PresentationFormat>
  <Paragraphs>30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Bosch Office Sans</vt:lpstr>
      <vt:lpstr>Calibri</vt:lpstr>
      <vt:lpstr>Symbol</vt:lpstr>
      <vt:lpstr>Wingdings</vt:lpstr>
      <vt:lpstr>Bosch 2024</vt:lpstr>
      <vt:lpstr>Standard Case</vt:lpstr>
      <vt:lpstr>Camera Case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Radar model for P800 preconditions / assumptions</dc:title>
  <dc:creator>Bauer-Malz Ralf (XC-AS/ETV)</dc:creator>
  <cp:lastModifiedBy>Falkenstein Tobias (XC-AS/ETV2)</cp:lastModifiedBy>
  <cp:revision>8</cp:revision>
  <dcterms:created xsi:type="dcterms:W3CDTF">2024-06-18T06:21:41Z</dcterms:created>
  <dcterms:modified xsi:type="dcterms:W3CDTF">2024-07-01T17:06:17Z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onfidentiality">
    <vt:lpwstr>$confidentiality_internal$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</Properties>
</file>