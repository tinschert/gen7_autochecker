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21"/>
  </p:notesMasterIdLst>
  <p:sldIdLst>
    <p:sldId id="256" r:id="rId4"/>
    <p:sldId id="270" r:id="rId5"/>
    <p:sldId id="268" r:id="rId6"/>
    <p:sldId id="269" r:id="rId7"/>
    <p:sldId id="257" r:id="rId8"/>
    <p:sldId id="258" r:id="rId9"/>
    <p:sldId id="264" r:id="rId10"/>
    <p:sldId id="265" r:id="rId11"/>
    <p:sldId id="272" r:id="rId12"/>
    <p:sldId id="274" r:id="rId13"/>
    <p:sldId id="273" r:id="rId14"/>
    <p:sldId id="259" r:id="rId15"/>
    <p:sldId id="260" r:id="rId16"/>
    <p:sldId id="276" r:id="rId17"/>
    <p:sldId id="267" r:id="rId18"/>
    <p:sldId id="261" r:id="rId19"/>
    <p:sldId id="262" r:id="rId20"/>
  </p:sldIdLst>
  <p:sldSz cx="10969625" cy="6170613"/>
  <p:notesSz cx="6858000" cy="9144000"/>
  <p:custDataLst>
    <p:tags r:id="rId22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6323" autoAdjust="0"/>
  </p:normalViewPr>
  <p:slideViewPr>
    <p:cSldViewPr snapToGrid="0">
      <p:cViewPr varScale="1">
        <p:scale>
          <a:sx n="158" d="100"/>
          <a:sy n="158" d="100"/>
        </p:scale>
        <p:origin x="16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29.01.2025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Präsentationstitel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Abteilung, Datum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Kapitelüberschrift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Text hinzufügen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Foto einfügen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Folienüberschrift hinzufügen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Text hinzufügen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Kapitel­überschrift hinzufügen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Folienüberschrift hinzufügen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‹Nr.›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Folienüberschrift hinzufügen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1"/>
              <a:t>Mastertextformat bearbeiten</a:t>
            </a:r>
          </a:p>
          <a:p>
            <a:pPr lvl="1"/>
            <a:r>
              <a:rPr lang="de-DE" noProof="1"/>
              <a:t>Zweite Ebene</a:t>
            </a:r>
          </a:p>
          <a:p>
            <a:pPr lvl="2"/>
            <a:r>
              <a:rPr lang="de-DE" noProof="1"/>
              <a:t>Dritte Ebene</a:t>
            </a:r>
          </a:p>
          <a:p>
            <a:pPr lvl="3"/>
            <a:r>
              <a:rPr lang="de-DE" noProof="1"/>
              <a:t>Vierte Ebene</a:t>
            </a:r>
          </a:p>
          <a:p>
            <a:pPr lvl="4"/>
            <a:r>
              <a:rPr lang="de-DE" noProof="1"/>
              <a:t>Fünfte Ebene</a:t>
            </a:r>
            <a:endParaRPr lang="en-US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‹Nr.›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kern="0" cap="none" spc="0" normalizeH="0" baseline="0" noProof="1">
                <a:ln>
                  <a:noFill/>
                </a:ln>
                <a:solidFill>
                  <a:srgbClr val="D70012"/>
                </a:solidFill>
                <a:effectLst/>
                <a:uLnTx/>
                <a:uFillTx/>
                <a:latin typeface="Bosch Office Sans" pitchFamily="2" charset="0"/>
              </a:rPr>
              <a:t>Intern</a:t>
            </a:r>
            <a:r>
              <a:rPr kumimoji="0" lang="en-US" sz="6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</a:rPr>
              <a:t> | XC-AS/EDI2 | 24.01.2025</a:t>
            </a: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de-DE" sz="600" b="0" i="0" u="none" kern="0" baseline="0" noProof="1">
                <a:solidFill>
                  <a:srgbClr val="B2B3B5"/>
                </a:solidFill>
                <a:latin typeface="Bosch Office Sans" pitchFamily="2" charset="0"/>
              </a:rPr>
              <a:t>© Robert Bosch GmbH 2025. Alle Rechte vorbehalten, auch bzgl. jeder Verfügung, Verwertung, Reproduktion, Bearbeitung, Weitergabe sowie für den Fall von Schutzrechtsanmeldungen.</a:t>
            </a:r>
            <a:endParaRPr lang="en-US" sz="600" b="0" i="0" u="none" kern="0" baseline="0" noProof="1">
              <a:solidFill>
                <a:srgbClr val="B2B3B5"/>
              </a:solidFill>
              <a:latin typeface="Bosch Office Sans" pitchFamily="2" charset="0"/>
            </a:endParaRP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B89E0-89D9-4425-AE04-BF03119740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1objXloc Radar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39839-FCEA-4EC2-AD64-E9A6C386964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A32F82E-6FEA-10BB-2BC4-60E1046A64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Architecture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1A8629A-79D2-3CC2-7CD3-10C9F14A19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8591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C65D4F3-C73B-9A46-D8AE-DE45E1D349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dirty="0"/>
              <a:t>Architecture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CFBCCC8-974D-E823-1353-40E8E7B19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Radar Model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37FE76-46AA-029E-BBE7-EA2FD011C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3</a:t>
            </a:fld>
            <a:endParaRPr lang="en-US" noProof="1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DB40DE0-7558-C8C0-5BF1-291FDF82B802}"/>
              </a:ext>
            </a:extLst>
          </p:cNvPr>
          <p:cNvSpPr txBox="1"/>
          <p:nvPr/>
        </p:nvSpPr>
        <p:spPr>
          <a:xfrm>
            <a:off x="81532" y="3025718"/>
            <a:ext cx="2047014" cy="10666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Bosch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adds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/configures in OEM car file</a:t>
            </a:r>
            <a:endParaRPr lang="fr-FR" sz="1050" kern="0" dirty="0">
              <a:solidFill>
                <a:srgbClr val="000000"/>
              </a:solidFill>
            </a:endParaRP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Objec</a:t>
            </a:r>
            <a:r>
              <a:rPr lang="fr-FR" sz="1050" kern="0" dirty="0">
                <a:solidFill>
                  <a:srgbClr val="000000"/>
                </a:solidFill>
              </a:rPr>
              <a:t>t </a:t>
            </a:r>
            <a:r>
              <a:rPr lang="fr-FR" sz="1050" kern="0" dirty="0" err="1">
                <a:solidFill>
                  <a:srgbClr val="000000"/>
                </a:solidFill>
              </a:rPr>
              <a:t>Sensor</a:t>
            </a:r>
            <a:endParaRPr lang="fr-FR" sz="1050" kern="0" dirty="0">
              <a:solidFill>
                <a:srgbClr val="000000"/>
              </a:solidFill>
            </a:endParaRP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Radar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HiFi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sensor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(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freq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noise,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etc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)</a:t>
            </a: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</a:t>
            </a:r>
            <a:r>
              <a:rPr lang="fr-FR" sz="1050" kern="0" dirty="0" err="1">
                <a:solidFill>
                  <a:srgbClr val="000000"/>
                </a:solidFill>
              </a:rPr>
              <a:t>nsor</a:t>
            </a:r>
            <a:r>
              <a:rPr lang="fr-FR" sz="1050" kern="0" dirty="0">
                <a:solidFill>
                  <a:srgbClr val="000000"/>
                </a:solidFill>
              </a:rPr>
              <a:t> </a:t>
            </a:r>
            <a:r>
              <a:rPr lang="fr-FR" sz="1050" kern="0" dirty="0" err="1">
                <a:solidFill>
                  <a:srgbClr val="000000"/>
                </a:solidFill>
              </a:rPr>
              <a:t>mounting</a:t>
            </a:r>
            <a:r>
              <a:rPr lang="fr-FR" sz="1050" kern="0" dirty="0">
                <a:solidFill>
                  <a:srgbClr val="000000"/>
                </a:solidFill>
              </a:rPr>
              <a:t> positions</a:t>
            </a:r>
            <a:endParaRPr kumimoji="0" lang="fr-F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endParaRPr kumimoji="0" lang="fr-F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3B817C8-E0C5-376D-4116-D74551920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02" y="4301153"/>
            <a:ext cx="960873" cy="120494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F882821-A09A-8D36-163D-E9F4DC3F9BC2}"/>
              </a:ext>
            </a:extLst>
          </p:cNvPr>
          <p:cNvSpPr txBox="1"/>
          <p:nvPr/>
        </p:nvSpPr>
        <p:spPr>
          <a:xfrm>
            <a:off x="81532" y="1356476"/>
            <a:ext cx="1671068" cy="3228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OEM Car file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6ADFA26-98F2-44D1-7B38-765C42788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44" y="1679342"/>
            <a:ext cx="1057000" cy="8914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9C15A9-B9C0-214B-1FEF-7C00EFEAF0E0}"/>
              </a:ext>
            </a:extLst>
          </p:cNvPr>
          <p:cNvSpPr/>
          <p:nvPr/>
        </p:nvSpPr>
        <p:spPr>
          <a:xfrm>
            <a:off x="22669" y="1036800"/>
            <a:ext cx="4534751" cy="213181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Carmaker</a:t>
            </a: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F6B7BFFE-A92D-238D-5C80-6A3A138C2353}"/>
              </a:ext>
            </a:extLst>
          </p:cNvPr>
          <p:cNvSpPr/>
          <p:nvPr/>
        </p:nvSpPr>
        <p:spPr>
          <a:xfrm>
            <a:off x="1950087" y="2648056"/>
            <a:ext cx="321275" cy="286720"/>
          </a:xfrm>
          <a:prstGeom prst="rightArrow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F4B0F7D-F86E-5005-21F1-458C392016E9}"/>
              </a:ext>
            </a:extLst>
          </p:cNvPr>
          <p:cNvSpPr txBox="1"/>
          <p:nvPr/>
        </p:nvSpPr>
        <p:spPr>
          <a:xfrm>
            <a:off x="2288292" y="1326311"/>
            <a:ext cx="2269128" cy="15369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Bosch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creates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custom plugin</a:t>
            </a:r>
            <a:endParaRPr lang="fr-FR" sz="1050" kern="0" dirty="0">
              <a:solidFill>
                <a:srgbClr val="000000"/>
              </a:solidFill>
            </a:endParaRP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Standard Bosch Object interface</a:t>
            </a: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lang="fr-FR" sz="1050" kern="0" dirty="0">
                <a:solidFill>
                  <a:srgbClr val="000000"/>
                </a:solidFill>
              </a:rPr>
              <a:t>Dynamic modulation/ alternation/ </a:t>
            </a:r>
            <a:r>
              <a:rPr lang="fr-FR" sz="1050" kern="0" dirty="0" err="1">
                <a:solidFill>
                  <a:srgbClr val="000000"/>
                </a:solidFill>
              </a:rPr>
              <a:t>parameterization</a:t>
            </a:r>
            <a:endParaRPr lang="fr-FR" sz="1050" kern="0" dirty="0">
              <a:solidFill>
                <a:srgbClr val="000000"/>
              </a:solidFill>
            </a:endParaRP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Custom made UDP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eth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communic</a:t>
            </a:r>
            <a:r>
              <a:rPr lang="fr-FR" sz="1050" kern="0" dirty="0" err="1">
                <a:solidFill>
                  <a:srgbClr val="000000"/>
                </a:solidFill>
              </a:rPr>
              <a:t>ation</a:t>
            </a:r>
            <a:r>
              <a:rPr lang="fr-FR" sz="1050" kern="0" dirty="0">
                <a:solidFill>
                  <a:srgbClr val="000000"/>
                </a:solidFill>
              </a:rPr>
              <a:t> (byte </a:t>
            </a:r>
            <a:r>
              <a:rPr lang="fr-FR" sz="1050" kern="0" dirty="0" err="1">
                <a:solidFill>
                  <a:srgbClr val="000000"/>
                </a:solidFill>
              </a:rPr>
              <a:t>array</a:t>
            </a:r>
            <a:r>
              <a:rPr lang="fr-FR" sz="1050" kern="0" dirty="0">
                <a:solidFill>
                  <a:srgbClr val="000000"/>
                </a:solidFill>
              </a:rPr>
              <a:t>) for </a:t>
            </a:r>
            <a:r>
              <a:rPr lang="fr-FR" sz="1050" kern="0" dirty="0" err="1">
                <a:solidFill>
                  <a:srgbClr val="000000"/>
                </a:solidFill>
              </a:rPr>
              <a:t>higher</a:t>
            </a:r>
            <a:r>
              <a:rPr lang="fr-FR" sz="1050" kern="0" dirty="0">
                <a:solidFill>
                  <a:srgbClr val="000000"/>
                </a:solidFill>
              </a:rPr>
              <a:t> data exchange rate</a:t>
            </a:r>
            <a:endParaRPr kumimoji="0" lang="fr-F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endParaRPr kumimoji="0" lang="fr-F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D972F725-5844-8302-D578-7D8C5AB15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452" y="2707800"/>
            <a:ext cx="1849996" cy="276917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C3AA987-66D8-40F6-B7AA-7E8DB8B15229}"/>
              </a:ext>
            </a:extLst>
          </p:cNvPr>
          <p:cNvSpPr/>
          <p:nvPr/>
        </p:nvSpPr>
        <p:spPr>
          <a:xfrm>
            <a:off x="4557420" y="1036800"/>
            <a:ext cx="6444529" cy="213181"/>
          </a:xfrm>
          <a:prstGeom prst="rect">
            <a:avLst/>
          </a:prstGeom>
          <a:solidFill>
            <a:srgbClr val="C0000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CANoe</a:t>
            </a:r>
          </a:p>
        </p:txBody>
      </p:sp>
      <p:sp>
        <p:nvSpPr>
          <p:cNvPr id="20" name="Flèche : double flèche horizontale 19">
            <a:extLst>
              <a:ext uri="{FF2B5EF4-FFF2-40B4-BE49-F238E27FC236}">
                <a16:creationId xmlns:a16="http://schemas.microsoft.com/office/drawing/2014/main" id="{0B43E39B-FA50-7E18-7CC9-F78D4960C991}"/>
              </a:ext>
            </a:extLst>
          </p:cNvPr>
          <p:cNvSpPr/>
          <p:nvPr/>
        </p:nvSpPr>
        <p:spPr>
          <a:xfrm rot="5400000">
            <a:off x="675029" y="2654595"/>
            <a:ext cx="358099" cy="227320"/>
          </a:xfrm>
          <a:prstGeom prst="leftRightArrow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58530BEF-EF2A-FD69-F450-A7A730EAC195}"/>
              </a:ext>
            </a:extLst>
          </p:cNvPr>
          <p:cNvSpPr/>
          <p:nvPr/>
        </p:nvSpPr>
        <p:spPr>
          <a:xfrm>
            <a:off x="4459250" y="2056954"/>
            <a:ext cx="321275" cy="286720"/>
          </a:xfrm>
          <a:prstGeom prst="rightArrow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D2E0145-F54D-5100-0772-6544DDA2EC65}"/>
              </a:ext>
            </a:extLst>
          </p:cNvPr>
          <p:cNvSpPr txBox="1"/>
          <p:nvPr/>
        </p:nvSpPr>
        <p:spPr>
          <a:xfrm>
            <a:off x="4909326" y="1353678"/>
            <a:ext cx="2041424" cy="15369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Bosch CANoe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node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config</a:t>
            </a:r>
            <a:endParaRPr lang="fr-FR" sz="1050" kern="0" dirty="0">
              <a:solidFill>
                <a:srgbClr val="000000"/>
              </a:solidFill>
            </a:endParaRP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Creation of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sysvars</a:t>
            </a:r>
            <a:endParaRPr kumimoji="0" lang="fr-F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lang="fr-FR" sz="1050" kern="0" dirty="0">
                <a:solidFill>
                  <a:srgbClr val="000000"/>
                </a:solidFill>
              </a:rPr>
              <a:t>Creation of UDP </a:t>
            </a:r>
            <a:r>
              <a:rPr lang="fr-FR" sz="1050" kern="0" dirty="0" err="1">
                <a:solidFill>
                  <a:srgbClr val="000000"/>
                </a:solidFill>
              </a:rPr>
              <a:t>receiving</a:t>
            </a:r>
            <a:r>
              <a:rPr lang="fr-FR" sz="1050" kern="0" dirty="0">
                <a:solidFill>
                  <a:srgbClr val="000000"/>
                </a:solidFill>
              </a:rPr>
              <a:t> </a:t>
            </a:r>
            <a:r>
              <a:rPr lang="fr-FR" sz="1050" kern="0" dirty="0" err="1">
                <a:solidFill>
                  <a:srgbClr val="000000"/>
                </a:solidFill>
              </a:rPr>
              <a:t>node</a:t>
            </a:r>
            <a:r>
              <a:rPr lang="fr-FR" sz="1050" kern="0" dirty="0">
                <a:solidFill>
                  <a:srgbClr val="000000"/>
                </a:solidFill>
              </a:rPr>
              <a:t> over C </a:t>
            </a:r>
            <a:r>
              <a:rPr lang="fr-FR" sz="1050" kern="0" dirty="0" err="1">
                <a:solidFill>
                  <a:srgbClr val="000000"/>
                </a:solidFill>
              </a:rPr>
              <a:t>libraries</a:t>
            </a:r>
            <a:r>
              <a:rPr lang="fr-FR" sz="1050" kern="0" dirty="0">
                <a:solidFill>
                  <a:srgbClr val="000000"/>
                </a:solidFill>
              </a:rPr>
              <a:t> dll</a:t>
            </a: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Mapping to radar model DLL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endParaRPr kumimoji="0" lang="fr-F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14B8E45-8566-EAC6-9E71-95FDB793371B}"/>
              </a:ext>
            </a:extLst>
          </p:cNvPr>
          <p:cNvSpPr txBox="1"/>
          <p:nvPr/>
        </p:nvSpPr>
        <p:spPr>
          <a:xfrm>
            <a:off x="6831782" y="2462344"/>
            <a:ext cx="2041424" cy="15369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Bosch Radar Model</a:t>
            </a:r>
            <a:endParaRPr lang="fr-FR" sz="1050" kern="0" dirty="0">
              <a:solidFill>
                <a:srgbClr val="000000"/>
              </a:solidFill>
            </a:endParaRP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DLL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library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receiving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object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structure and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generating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location cloud</a:t>
            </a: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lang="fr-FR" sz="1050" kern="0" dirty="0" err="1">
                <a:solidFill>
                  <a:srgbClr val="000000"/>
                </a:solidFill>
              </a:rPr>
              <a:t>Tunable</a:t>
            </a:r>
            <a:r>
              <a:rPr lang="fr-FR" sz="1050" kern="0" dirty="0">
                <a:solidFill>
                  <a:srgbClr val="000000"/>
                </a:solidFill>
              </a:rPr>
              <a:t> location </a:t>
            </a:r>
            <a:r>
              <a:rPr lang="fr-FR" sz="1050" kern="0" dirty="0" err="1">
                <a:solidFill>
                  <a:srgbClr val="000000"/>
                </a:solidFill>
              </a:rPr>
              <a:t>number</a:t>
            </a:r>
            <a:r>
              <a:rPr lang="fr-FR" sz="1050" kern="0" dirty="0">
                <a:solidFill>
                  <a:srgbClr val="000000"/>
                </a:solidFill>
              </a:rPr>
              <a:t> per </a:t>
            </a:r>
            <a:r>
              <a:rPr lang="fr-FR" sz="1050" kern="0" dirty="0" err="1">
                <a:solidFill>
                  <a:srgbClr val="000000"/>
                </a:solidFill>
              </a:rPr>
              <a:t>object</a:t>
            </a:r>
            <a:endParaRPr lang="fr-FR" sz="1050" kern="0" dirty="0">
              <a:solidFill>
                <a:srgbClr val="000000"/>
              </a:solidFill>
            </a:endParaRP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lang="fr-FR" sz="1050" kern="0" dirty="0">
                <a:solidFill>
                  <a:srgbClr val="000000"/>
                </a:solidFill>
              </a:rPr>
              <a:t>Custom </a:t>
            </a:r>
            <a:r>
              <a:rPr lang="fr-FR" sz="1050" kern="0" dirty="0" err="1">
                <a:solidFill>
                  <a:srgbClr val="000000"/>
                </a:solidFill>
              </a:rPr>
              <a:t>features</a:t>
            </a:r>
            <a:r>
              <a:rPr lang="fr-FR" sz="1050" kern="0" dirty="0">
                <a:solidFill>
                  <a:srgbClr val="000000"/>
                </a:solidFill>
              </a:rPr>
              <a:t> for location distribution</a:t>
            </a:r>
            <a:endParaRPr kumimoji="0" lang="fr-F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endParaRPr kumimoji="0" lang="fr-F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endParaRPr kumimoji="0" lang="fr-F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DC4D241-7B27-BE20-C28D-1D24D7E6EF0C}"/>
              </a:ext>
            </a:extLst>
          </p:cNvPr>
          <p:cNvSpPr txBox="1"/>
          <p:nvPr/>
        </p:nvSpPr>
        <p:spPr>
          <a:xfrm>
            <a:off x="8873206" y="4092388"/>
            <a:ext cx="1909620" cy="15369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Bosch Restbus simulation</a:t>
            </a:r>
            <a:endParaRPr lang="fr-FR" sz="1050" kern="0" dirty="0">
              <a:solidFill>
                <a:srgbClr val="000000"/>
              </a:solidFill>
            </a:endParaRP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Maps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locations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from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the model to bus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PDUs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per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arxml</a:t>
            </a:r>
            <a:endParaRPr kumimoji="0" lang="fr-F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lang="fr-FR" sz="1050" kern="0" dirty="0" err="1">
                <a:solidFill>
                  <a:srgbClr val="000000"/>
                </a:solidFill>
              </a:rPr>
              <a:t>Schedules</a:t>
            </a:r>
            <a:r>
              <a:rPr lang="fr-FR" sz="1050" kern="0" dirty="0">
                <a:solidFill>
                  <a:srgbClr val="000000"/>
                </a:solidFill>
              </a:rPr>
              <a:t> the bus </a:t>
            </a:r>
            <a:r>
              <a:rPr lang="fr-FR" sz="1050" kern="0" dirty="0" err="1">
                <a:solidFill>
                  <a:srgbClr val="000000"/>
                </a:solidFill>
              </a:rPr>
              <a:t>sending</a:t>
            </a:r>
            <a:r>
              <a:rPr lang="fr-FR" sz="1050" kern="0" dirty="0">
                <a:solidFill>
                  <a:srgbClr val="000000"/>
                </a:solidFill>
              </a:rPr>
              <a:t> </a:t>
            </a:r>
            <a:r>
              <a:rPr lang="fr-FR" sz="1050" kern="0" dirty="0" err="1">
                <a:solidFill>
                  <a:srgbClr val="000000"/>
                </a:solidFill>
              </a:rPr>
              <a:t>cyclic</a:t>
            </a:r>
            <a:r>
              <a:rPr lang="fr-FR" sz="1050" kern="0" dirty="0">
                <a:solidFill>
                  <a:srgbClr val="000000"/>
                </a:solidFill>
              </a:rPr>
              <a:t> time</a:t>
            </a: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Loops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back the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request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for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alternating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modulation</a:t>
            </a:r>
          </a:p>
          <a:p>
            <a:pPr marL="285750" marR="0" indent="-28575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-"/>
              <a:tabLst/>
            </a:pPr>
            <a:endParaRPr kumimoji="0" lang="fr-F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endParaRPr kumimoji="0" lang="fr-F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5" name="Flèche : droite 24">
            <a:extLst>
              <a:ext uri="{FF2B5EF4-FFF2-40B4-BE49-F238E27FC236}">
                <a16:creationId xmlns:a16="http://schemas.microsoft.com/office/drawing/2014/main" id="{90E2C591-90D7-DCB3-C47B-FEA7B03A63DF}"/>
              </a:ext>
            </a:extLst>
          </p:cNvPr>
          <p:cNvSpPr/>
          <p:nvPr/>
        </p:nvSpPr>
        <p:spPr>
          <a:xfrm>
            <a:off x="6381706" y="2882358"/>
            <a:ext cx="321275" cy="286720"/>
          </a:xfrm>
          <a:prstGeom prst="rightArrow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6" name="Flèche : droite 25">
            <a:extLst>
              <a:ext uri="{FF2B5EF4-FFF2-40B4-BE49-F238E27FC236}">
                <a16:creationId xmlns:a16="http://schemas.microsoft.com/office/drawing/2014/main" id="{66CA5B39-EE36-1FCC-C8E4-8E479491B593}"/>
              </a:ext>
            </a:extLst>
          </p:cNvPr>
          <p:cNvSpPr/>
          <p:nvPr/>
        </p:nvSpPr>
        <p:spPr>
          <a:xfrm>
            <a:off x="8384291" y="4157793"/>
            <a:ext cx="321275" cy="286720"/>
          </a:xfrm>
          <a:prstGeom prst="rightArrow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7" name="Flèche : droite 26">
            <a:extLst>
              <a:ext uri="{FF2B5EF4-FFF2-40B4-BE49-F238E27FC236}">
                <a16:creationId xmlns:a16="http://schemas.microsoft.com/office/drawing/2014/main" id="{9B7869AF-A4FE-8A37-9823-CEBA16F2AACA}"/>
              </a:ext>
            </a:extLst>
          </p:cNvPr>
          <p:cNvSpPr/>
          <p:nvPr/>
        </p:nvSpPr>
        <p:spPr>
          <a:xfrm rot="10800000">
            <a:off x="4404755" y="5333616"/>
            <a:ext cx="4468846" cy="286720"/>
          </a:xfrm>
          <a:prstGeom prst="rightArrow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5EFDAF1-D57C-3C2A-9970-17862416FB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991" y="1361957"/>
            <a:ext cx="3362429" cy="1053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4F41021C-7353-5655-0565-7862A8CEF3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5939" y="4149788"/>
            <a:ext cx="2990712" cy="92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48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C65D4F3-C73B-9A46-D8AE-DE45E1D349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fr-FR" dirty="0"/>
              <a:t>Architecture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1CFBCCC8-974D-E823-1353-40E8E7B19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Deliverables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37FE76-46AA-029E-BBE7-EA2FD011C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E90BDF6-241E-1C8C-FB4B-8B2B9557CC36}"/>
              </a:ext>
            </a:extLst>
          </p:cNvPr>
          <p:cNvSpPr txBox="1"/>
          <p:nvPr/>
        </p:nvSpPr>
        <p:spPr>
          <a:xfrm>
            <a:off x="205200" y="1592325"/>
            <a:ext cx="2210340" cy="9936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OEM 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Car file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Carmaker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with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graphics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, light model,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powertrai</a:t>
            </a:r>
            <a:r>
              <a:rPr lang="fr-FR" sz="1050" kern="0" dirty="0">
                <a:solidFill>
                  <a:srgbClr val="000000"/>
                </a:solidFill>
              </a:rPr>
              <a:t>n and </a:t>
            </a:r>
            <a:r>
              <a:rPr lang="fr-FR" sz="1050" kern="0" dirty="0" err="1">
                <a:solidFill>
                  <a:srgbClr val="000000"/>
                </a:solidFill>
              </a:rPr>
              <a:t>other</a:t>
            </a:r>
            <a:r>
              <a:rPr lang="fr-FR" sz="1050" kern="0" dirty="0">
                <a:solidFill>
                  <a:srgbClr val="000000"/>
                </a:solidFill>
              </a:rPr>
              <a:t> plugins, </a:t>
            </a:r>
            <a:r>
              <a:rPr lang="fr-FR" sz="1050" kern="0" dirty="0" err="1">
                <a:solidFill>
                  <a:srgbClr val="000000"/>
                </a:solidFill>
              </a:rPr>
              <a:t>sensor</a:t>
            </a:r>
            <a:r>
              <a:rPr lang="fr-FR" sz="1050" kern="0" dirty="0">
                <a:solidFill>
                  <a:srgbClr val="000000"/>
                </a:solidFill>
              </a:rPr>
              <a:t> </a:t>
            </a:r>
            <a:r>
              <a:rPr lang="fr-FR" sz="1050" kern="0" dirty="0" err="1">
                <a:solidFill>
                  <a:srgbClr val="000000"/>
                </a:solidFill>
              </a:rPr>
              <a:t>mounting</a:t>
            </a:r>
            <a:r>
              <a:rPr lang="fr-FR" sz="1050" kern="0" dirty="0">
                <a:solidFill>
                  <a:srgbClr val="000000"/>
                </a:solidFill>
              </a:rPr>
              <a:t> positions</a:t>
            </a:r>
            <a:endParaRPr kumimoji="0" lang="fr-F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E6D4BA2C-1DA6-BA01-14E7-2F765B619449}"/>
              </a:ext>
            </a:extLst>
          </p:cNvPr>
          <p:cNvSpPr/>
          <p:nvPr/>
        </p:nvSpPr>
        <p:spPr>
          <a:xfrm>
            <a:off x="2720282" y="2650825"/>
            <a:ext cx="321275" cy="286720"/>
          </a:xfrm>
          <a:prstGeom prst="rightArrow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4" name="Flèche : double flèche horizontale 13">
            <a:extLst>
              <a:ext uri="{FF2B5EF4-FFF2-40B4-BE49-F238E27FC236}">
                <a16:creationId xmlns:a16="http://schemas.microsoft.com/office/drawing/2014/main" id="{288C93DC-8E92-972D-A58A-73DE3DA5B006}"/>
              </a:ext>
            </a:extLst>
          </p:cNvPr>
          <p:cNvSpPr/>
          <p:nvPr/>
        </p:nvSpPr>
        <p:spPr>
          <a:xfrm rot="5400000">
            <a:off x="745988" y="2878564"/>
            <a:ext cx="358099" cy="227320"/>
          </a:xfrm>
          <a:prstGeom prst="leftRightArrow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4AAAA20-FD71-363B-45B9-7D8FDF16BF28}"/>
              </a:ext>
            </a:extLst>
          </p:cNvPr>
          <p:cNvSpPr txBox="1"/>
          <p:nvPr/>
        </p:nvSpPr>
        <p:spPr>
          <a:xfrm>
            <a:off x="5916278" y="2438779"/>
            <a:ext cx="1405882" cy="8447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Bosch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1050" kern="0" dirty="0">
                <a:solidFill>
                  <a:srgbClr val="000000"/>
                </a:solidFill>
              </a:rPr>
              <a:t>Radar location model 1objXloc </a:t>
            </a:r>
            <a:r>
              <a:rPr lang="fr-FR" sz="1050" kern="0" dirty="0" err="1">
                <a:solidFill>
                  <a:srgbClr val="000000"/>
                </a:solidFill>
              </a:rPr>
              <a:t>library</a:t>
            </a:r>
            <a:r>
              <a:rPr lang="fr-FR" sz="1050" kern="0" dirty="0">
                <a:solidFill>
                  <a:srgbClr val="000000"/>
                </a:solidFill>
              </a:rPr>
              <a:t> </a:t>
            </a:r>
            <a:r>
              <a:rPr lang="fr-FR" sz="1050" kern="0" dirty="0" err="1">
                <a:solidFill>
                  <a:srgbClr val="000000"/>
                </a:solidFill>
              </a:rPr>
              <a:t>with</a:t>
            </a:r>
            <a:r>
              <a:rPr lang="fr-FR" sz="1050" kern="0" dirty="0">
                <a:solidFill>
                  <a:srgbClr val="000000"/>
                </a:solidFill>
              </a:rPr>
              <a:t> </a:t>
            </a:r>
            <a:r>
              <a:rPr lang="fr-FR" sz="1050" kern="0" dirty="0" err="1">
                <a:solidFill>
                  <a:srgbClr val="000000"/>
                </a:solidFill>
              </a:rPr>
              <a:t>parameter</a:t>
            </a:r>
            <a:r>
              <a:rPr lang="fr-FR" sz="1050" kern="0" dirty="0">
                <a:solidFill>
                  <a:srgbClr val="000000"/>
                </a:solidFill>
              </a:rPr>
              <a:t> documentation</a:t>
            </a:r>
            <a:endParaRPr kumimoji="0" lang="fr-F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endParaRPr kumimoji="0" lang="fr-F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D93FBF6-1497-6AE4-E6F1-B7BE6CB11179}"/>
              </a:ext>
            </a:extLst>
          </p:cNvPr>
          <p:cNvSpPr txBox="1"/>
          <p:nvPr/>
        </p:nvSpPr>
        <p:spPr>
          <a:xfrm>
            <a:off x="8598886" y="2402816"/>
            <a:ext cx="1559362" cy="8806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Bosch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fr-FR" sz="1050" kern="0" dirty="0" err="1">
                <a:solidFill>
                  <a:srgbClr val="000000"/>
                </a:solidFill>
              </a:rPr>
              <a:t>Arxml</a:t>
            </a:r>
            <a:r>
              <a:rPr lang="fr-FR" sz="1050" kern="0" dirty="0">
                <a:solidFill>
                  <a:srgbClr val="000000"/>
                </a:solidFill>
              </a:rPr>
              <a:t> radar mapping to the radar location model structure</a:t>
            </a:r>
            <a:endParaRPr kumimoji="0" lang="fr-F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endParaRPr kumimoji="0" lang="fr-F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0FEEEF2A-91F8-2178-DA6B-84BB21A64602}"/>
              </a:ext>
            </a:extLst>
          </p:cNvPr>
          <p:cNvSpPr/>
          <p:nvPr/>
        </p:nvSpPr>
        <p:spPr>
          <a:xfrm>
            <a:off x="5150526" y="2656090"/>
            <a:ext cx="321275" cy="286720"/>
          </a:xfrm>
          <a:prstGeom prst="rightArrow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0" name="Flèche : droite 19">
            <a:extLst>
              <a:ext uri="{FF2B5EF4-FFF2-40B4-BE49-F238E27FC236}">
                <a16:creationId xmlns:a16="http://schemas.microsoft.com/office/drawing/2014/main" id="{634345D3-BC50-7F8B-D40D-E622A1A6C06F}"/>
              </a:ext>
            </a:extLst>
          </p:cNvPr>
          <p:cNvSpPr/>
          <p:nvPr/>
        </p:nvSpPr>
        <p:spPr>
          <a:xfrm>
            <a:off x="7833134" y="2651529"/>
            <a:ext cx="321275" cy="286720"/>
          </a:xfrm>
          <a:prstGeom prst="rightArrow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C584BA6-6CD4-0B49-E5D9-D6F70A92CE9E}"/>
              </a:ext>
            </a:extLst>
          </p:cNvPr>
          <p:cNvSpPr txBox="1"/>
          <p:nvPr/>
        </p:nvSpPr>
        <p:spPr>
          <a:xfrm>
            <a:off x="205200" y="3398441"/>
            <a:ext cx="2294160" cy="6708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Bosch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Car file </a:t>
            </a:r>
            <a:r>
              <a:rPr lang="fr-FR" sz="1050" kern="0" dirty="0" err="1">
                <a:solidFill>
                  <a:srgbClr val="000000"/>
                </a:solidFill>
              </a:rPr>
              <a:t>Carmaker</a:t>
            </a:r>
            <a:r>
              <a:rPr lang="fr-FR" sz="1050" kern="0" dirty="0">
                <a:solidFill>
                  <a:srgbClr val="000000"/>
                </a:solidFill>
              </a:rPr>
              <a:t> </a:t>
            </a:r>
            <a:r>
              <a:rPr lang="fr-FR" sz="1050" kern="0" dirty="0" err="1">
                <a:solidFill>
                  <a:srgbClr val="000000"/>
                </a:solidFill>
              </a:rPr>
              <a:t>with</a:t>
            </a:r>
            <a:r>
              <a:rPr lang="fr-FR" sz="1050" kern="0" dirty="0">
                <a:solidFill>
                  <a:srgbClr val="000000"/>
                </a:solidFill>
              </a:rPr>
              <a:t> ADAS </a:t>
            </a:r>
            <a:r>
              <a:rPr lang="fr-FR" sz="1050" kern="0" dirty="0" err="1">
                <a:solidFill>
                  <a:srgbClr val="000000"/>
                </a:solidFill>
              </a:rPr>
              <a:t>sensors</a:t>
            </a:r>
            <a:endParaRPr kumimoji="0" lang="fr-F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DBED8CD-6A0B-143F-A858-6416AC418375}"/>
              </a:ext>
            </a:extLst>
          </p:cNvPr>
          <p:cNvSpPr txBox="1"/>
          <p:nvPr/>
        </p:nvSpPr>
        <p:spPr>
          <a:xfrm>
            <a:off x="3412561" y="2510329"/>
            <a:ext cx="1243754" cy="67739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Bosch 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Object structure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database</a:t>
            </a:r>
            <a:r>
              <a:rPr kumimoji="0" lang="fr-FR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fr-FR" sz="105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excel</a:t>
            </a:r>
            <a:endParaRPr kumimoji="0" lang="fr-FR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66227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A32F82E-6FEA-10BB-2BC4-60E1046A64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Input </a:t>
            </a:r>
            <a:r>
              <a:rPr lang="de-DE" dirty="0" err="1"/>
              <a:t>Definitions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1A8629A-79D2-3CC2-7CD3-10C9F14A19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36885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1F3B551-A69B-1373-0BF5-EC78AB6C23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Input </a:t>
            </a:r>
            <a:r>
              <a:rPr lang="de-DE" dirty="0" err="1"/>
              <a:t>Definitions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D4B323E-115D-0661-9888-771E1D309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CarMaker</a:t>
            </a:r>
            <a:r>
              <a:rPr lang="de-DE" dirty="0"/>
              <a:t> Sensor </a:t>
            </a:r>
            <a:r>
              <a:rPr lang="de-DE" dirty="0" err="1"/>
              <a:t>Configuration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5AE26-5C98-9175-605A-16653DA00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6</a:t>
            </a:fld>
            <a:endParaRPr lang="en-US" noProof="1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C64CD937-C972-328B-2336-B92E51AA77EC}"/>
              </a:ext>
            </a:extLst>
          </p:cNvPr>
          <p:cNvSpPr txBox="1"/>
          <p:nvPr/>
        </p:nvSpPr>
        <p:spPr>
          <a:xfrm>
            <a:off x="7916700" y="3837173"/>
            <a:ext cx="1853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C000"/>
                </a:solidFill>
              </a:rPr>
              <a:t>RCS Sensor</a:t>
            </a:r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3F63CCFF-E6CA-6B17-A4A4-58F5B0FA34DD}"/>
              </a:ext>
            </a:extLst>
          </p:cNvPr>
          <p:cNvGrpSpPr/>
          <p:nvPr/>
        </p:nvGrpSpPr>
        <p:grpSpPr>
          <a:xfrm>
            <a:off x="2111992" y="1279698"/>
            <a:ext cx="3973290" cy="4110595"/>
            <a:chOff x="3198515" y="1230360"/>
            <a:chExt cx="3973290" cy="4110595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45DF61C0-BF1B-7CDD-D019-EB1D47FC1D13}"/>
                </a:ext>
              </a:extLst>
            </p:cNvPr>
            <p:cNvCxnSpPr>
              <a:cxnSpLocks/>
            </p:cNvCxnSpPr>
            <p:nvPr/>
          </p:nvCxnSpPr>
          <p:spPr>
            <a:xfrm>
              <a:off x="5122100" y="1650385"/>
              <a:ext cx="0" cy="327305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514F34F1-02FC-1B1F-6FDC-B56FC853CFA5}"/>
                </a:ext>
              </a:extLst>
            </p:cNvPr>
            <p:cNvSpPr/>
            <p:nvPr/>
          </p:nvSpPr>
          <p:spPr>
            <a:xfrm rot="5400000">
              <a:off x="3488130" y="2230555"/>
              <a:ext cx="3269405" cy="211637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9A7023D2-7C18-44A5-CD8D-3A8D45CB886F}"/>
                </a:ext>
              </a:extLst>
            </p:cNvPr>
            <p:cNvCxnSpPr/>
            <p:nvPr/>
          </p:nvCxnSpPr>
          <p:spPr>
            <a:xfrm>
              <a:off x="4063185" y="4169066"/>
              <a:ext cx="21178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C34C2145-96DC-508A-9D7D-F29219FBC16E}"/>
                </a:ext>
              </a:extLst>
            </p:cNvPr>
            <p:cNvSpPr/>
            <p:nvPr/>
          </p:nvSpPr>
          <p:spPr>
            <a:xfrm>
              <a:off x="3992111" y="3950238"/>
              <a:ext cx="140686" cy="4575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4111A33B-CB4A-1452-05F4-443964ECA2B7}"/>
                </a:ext>
              </a:extLst>
            </p:cNvPr>
            <p:cNvSpPr/>
            <p:nvPr/>
          </p:nvSpPr>
          <p:spPr>
            <a:xfrm>
              <a:off x="6112089" y="3950238"/>
              <a:ext cx="140686" cy="4575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6303C4A7-7986-0BAD-8278-B03BF61EC4C4}"/>
                </a:ext>
              </a:extLst>
            </p:cNvPr>
            <p:cNvSpPr/>
            <p:nvPr/>
          </p:nvSpPr>
          <p:spPr>
            <a:xfrm>
              <a:off x="3991426" y="2084603"/>
              <a:ext cx="140686" cy="4575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85BD05C2-5496-5610-C6BB-0AB40D2AA6E6}"/>
                </a:ext>
              </a:extLst>
            </p:cNvPr>
            <p:cNvSpPr/>
            <p:nvPr/>
          </p:nvSpPr>
          <p:spPr>
            <a:xfrm>
              <a:off x="6112089" y="2084603"/>
              <a:ext cx="140686" cy="4575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67843DA0-3436-C4D5-0670-04D452AF9CE2}"/>
                </a:ext>
              </a:extLst>
            </p:cNvPr>
            <p:cNvCxnSpPr/>
            <p:nvPr/>
          </p:nvCxnSpPr>
          <p:spPr>
            <a:xfrm>
              <a:off x="4063185" y="2311773"/>
              <a:ext cx="211783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Multiplikationszeichen 37">
              <a:extLst>
                <a:ext uri="{FF2B5EF4-FFF2-40B4-BE49-F238E27FC236}">
                  <a16:creationId xmlns:a16="http://schemas.microsoft.com/office/drawing/2014/main" id="{20541E45-177F-6AE4-0690-BFCD742BCBEC}"/>
                </a:ext>
              </a:extLst>
            </p:cNvPr>
            <p:cNvSpPr/>
            <p:nvPr/>
          </p:nvSpPr>
          <p:spPr>
            <a:xfrm>
              <a:off x="6065412" y="1506935"/>
              <a:ext cx="220792" cy="286899"/>
            </a:xfrm>
            <a:prstGeom prst="mathMultiply">
              <a:avLst/>
            </a:prstGeom>
            <a:solidFill>
              <a:srgbClr val="FFC0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Multiplikationszeichen 38">
              <a:extLst>
                <a:ext uri="{FF2B5EF4-FFF2-40B4-BE49-F238E27FC236}">
                  <a16:creationId xmlns:a16="http://schemas.microsoft.com/office/drawing/2014/main" id="{9F291610-7DED-D739-9EAD-2A8BCCF4FDDB}"/>
                </a:ext>
              </a:extLst>
            </p:cNvPr>
            <p:cNvSpPr/>
            <p:nvPr/>
          </p:nvSpPr>
          <p:spPr>
            <a:xfrm>
              <a:off x="3952790" y="1506935"/>
              <a:ext cx="220792" cy="286899"/>
            </a:xfrm>
            <a:prstGeom prst="mathMultiply">
              <a:avLst/>
            </a:prstGeom>
            <a:solidFill>
              <a:srgbClr val="FFC0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0" name="Multiplikationszeichen 39">
              <a:extLst>
                <a:ext uri="{FF2B5EF4-FFF2-40B4-BE49-F238E27FC236}">
                  <a16:creationId xmlns:a16="http://schemas.microsoft.com/office/drawing/2014/main" id="{CF392E73-F383-3DCA-FBD7-AB94A633572A}"/>
                </a:ext>
              </a:extLst>
            </p:cNvPr>
            <p:cNvSpPr/>
            <p:nvPr/>
          </p:nvSpPr>
          <p:spPr>
            <a:xfrm>
              <a:off x="6072036" y="4779992"/>
              <a:ext cx="220792" cy="286899"/>
            </a:xfrm>
            <a:prstGeom prst="mathMultiply">
              <a:avLst/>
            </a:prstGeom>
            <a:solidFill>
              <a:srgbClr val="FFC0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Multiplikationszeichen 40">
              <a:extLst>
                <a:ext uri="{FF2B5EF4-FFF2-40B4-BE49-F238E27FC236}">
                  <a16:creationId xmlns:a16="http://schemas.microsoft.com/office/drawing/2014/main" id="{51316920-0F54-476B-6944-60E3421FFF4C}"/>
                </a:ext>
              </a:extLst>
            </p:cNvPr>
            <p:cNvSpPr/>
            <p:nvPr/>
          </p:nvSpPr>
          <p:spPr>
            <a:xfrm>
              <a:off x="3951373" y="4779991"/>
              <a:ext cx="220792" cy="286899"/>
            </a:xfrm>
            <a:prstGeom prst="mathMultiply">
              <a:avLst/>
            </a:prstGeom>
            <a:solidFill>
              <a:srgbClr val="FFC0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3E1C25A9-0F7D-1856-6031-47553DD43C19}"/>
                </a:ext>
              </a:extLst>
            </p:cNvPr>
            <p:cNvSpPr txBox="1"/>
            <p:nvPr/>
          </p:nvSpPr>
          <p:spPr>
            <a:xfrm>
              <a:off x="3198515" y="1232868"/>
              <a:ext cx="742277" cy="8350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algn="l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Radar Front </a:t>
              </a:r>
              <a:r>
                <a:rPr kumimoji="0" lang="de-DE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Left</a:t>
              </a: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A8F11435-2C64-6581-F58F-4F39A09DE343}"/>
                </a:ext>
              </a:extLst>
            </p:cNvPr>
            <p:cNvSpPr txBox="1"/>
            <p:nvPr/>
          </p:nvSpPr>
          <p:spPr>
            <a:xfrm>
              <a:off x="6429528" y="1230360"/>
              <a:ext cx="742277" cy="8350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algn="l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Radar Front Right</a:t>
              </a: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06BE1F7F-D2C1-E49B-4612-BC03069CEDA7}"/>
                </a:ext>
              </a:extLst>
            </p:cNvPr>
            <p:cNvSpPr txBox="1"/>
            <p:nvPr/>
          </p:nvSpPr>
          <p:spPr>
            <a:xfrm>
              <a:off x="3199015" y="4505924"/>
              <a:ext cx="742277" cy="8350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algn="l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Radar </a:t>
              </a:r>
              <a:r>
                <a:rPr kumimoji="0" lang="de-DE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Rear</a:t>
              </a:r>
              <a:r>
                <a: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</a:t>
              </a:r>
              <a:r>
                <a:rPr kumimoji="0" lang="de-DE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Left</a:t>
              </a: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514105E1-07B7-F278-6380-F532426E30BB}"/>
                </a:ext>
              </a:extLst>
            </p:cNvPr>
            <p:cNvSpPr txBox="1"/>
            <p:nvPr/>
          </p:nvSpPr>
          <p:spPr>
            <a:xfrm>
              <a:off x="6429528" y="4505924"/>
              <a:ext cx="742277" cy="8350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R="0" algn="l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Radar </a:t>
              </a:r>
              <a:r>
                <a:rPr kumimoji="0" lang="de-DE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Rear</a:t>
              </a:r>
              <a:r>
                <a: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Right</a:t>
              </a:r>
            </a:p>
          </p:txBody>
        </p:sp>
      </p:grpSp>
      <p:sp>
        <p:nvSpPr>
          <p:cNvPr id="47" name="Textfeld 46">
            <a:extLst>
              <a:ext uri="{FF2B5EF4-FFF2-40B4-BE49-F238E27FC236}">
                <a16:creationId xmlns:a16="http://schemas.microsoft.com/office/drawing/2014/main" id="{6249DE50-EDF9-CDBD-D239-4A623FA9FE72}"/>
              </a:ext>
            </a:extLst>
          </p:cNvPr>
          <p:cNvSpPr txBox="1"/>
          <p:nvPr/>
        </p:nvSpPr>
        <p:spPr>
          <a:xfrm>
            <a:off x="7916700" y="4240918"/>
            <a:ext cx="1853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Object Sensor</a:t>
            </a:r>
          </a:p>
        </p:txBody>
      </p:sp>
      <p:sp>
        <p:nvSpPr>
          <p:cNvPr id="49" name="Multiplikationszeichen 48">
            <a:extLst>
              <a:ext uri="{FF2B5EF4-FFF2-40B4-BE49-F238E27FC236}">
                <a16:creationId xmlns:a16="http://schemas.microsoft.com/office/drawing/2014/main" id="{580A4587-AEE2-FA36-A072-F396E8AF630B}"/>
              </a:ext>
            </a:extLst>
          </p:cNvPr>
          <p:cNvSpPr/>
          <p:nvPr/>
        </p:nvSpPr>
        <p:spPr>
          <a:xfrm>
            <a:off x="7654488" y="4282135"/>
            <a:ext cx="220792" cy="286899"/>
          </a:xfrm>
          <a:prstGeom prst="mathMultiply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0" name="Multiplikationszeichen 49">
            <a:extLst>
              <a:ext uri="{FF2B5EF4-FFF2-40B4-BE49-F238E27FC236}">
                <a16:creationId xmlns:a16="http://schemas.microsoft.com/office/drawing/2014/main" id="{2E68A964-8F44-42F3-7290-77C55E42BFD6}"/>
              </a:ext>
            </a:extLst>
          </p:cNvPr>
          <p:cNvSpPr/>
          <p:nvPr/>
        </p:nvSpPr>
        <p:spPr>
          <a:xfrm>
            <a:off x="7654488" y="3878390"/>
            <a:ext cx="220792" cy="286899"/>
          </a:xfrm>
          <a:prstGeom prst="mathMultiply">
            <a:avLst/>
          </a:prstGeom>
          <a:solidFill>
            <a:srgbClr val="FFC000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1" name="Multiplikationszeichen 50">
            <a:extLst>
              <a:ext uri="{FF2B5EF4-FFF2-40B4-BE49-F238E27FC236}">
                <a16:creationId xmlns:a16="http://schemas.microsoft.com/office/drawing/2014/main" id="{E9B43906-606B-2341-0A15-FA828211D485}"/>
              </a:ext>
            </a:extLst>
          </p:cNvPr>
          <p:cNvSpPr>
            <a:spLocks noChangeAspect="1"/>
          </p:cNvSpPr>
          <p:nvPr/>
        </p:nvSpPr>
        <p:spPr>
          <a:xfrm flipH="1">
            <a:off x="3891744" y="4066344"/>
            <a:ext cx="287665" cy="324000"/>
          </a:xfrm>
          <a:prstGeom prst="mathMultiply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/>
          </a:p>
        </p:txBody>
      </p:sp>
      <p:sp>
        <p:nvSpPr>
          <p:cNvPr id="52" name="Multiplikationszeichen 51">
            <a:extLst>
              <a:ext uri="{FF2B5EF4-FFF2-40B4-BE49-F238E27FC236}">
                <a16:creationId xmlns:a16="http://schemas.microsoft.com/office/drawing/2014/main" id="{1E51F8DC-73D9-CEFD-BE04-1D39DD3A0638}"/>
              </a:ext>
            </a:extLst>
          </p:cNvPr>
          <p:cNvSpPr/>
          <p:nvPr/>
        </p:nvSpPr>
        <p:spPr>
          <a:xfrm>
            <a:off x="7654488" y="4685880"/>
            <a:ext cx="220792" cy="286899"/>
          </a:xfrm>
          <a:prstGeom prst="mathMultiply">
            <a:avLst/>
          </a:prstGeom>
          <a:solidFill>
            <a:schemeClr val="bg1">
              <a:lumMod val="50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0673D11C-372F-1B1C-A243-99D2C8BB56BB}"/>
              </a:ext>
            </a:extLst>
          </p:cNvPr>
          <p:cNvSpPr txBox="1"/>
          <p:nvPr/>
        </p:nvSpPr>
        <p:spPr>
          <a:xfrm>
            <a:off x="7916699" y="4644663"/>
            <a:ext cx="1952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>
                    <a:lumMod val="50000"/>
                  </a:schemeClr>
                </a:solidFill>
              </a:rPr>
              <a:t>Rear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 Center </a:t>
            </a:r>
            <a:r>
              <a:rPr lang="de-DE" dirty="0" err="1">
                <a:solidFill>
                  <a:schemeClr val="bg1">
                    <a:lumMod val="50000"/>
                  </a:schemeClr>
                </a:solidFill>
              </a:rPr>
              <a:t>Axle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 (RCA)</a:t>
            </a:r>
          </a:p>
        </p:txBody>
      </p:sp>
    </p:spTree>
    <p:extLst>
      <p:ext uri="{BB962C8B-B14F-4D97-AF65-F5344CB8AC3E}">
        <p14:creationId xmlns:p14="http://schemas.microsoft.com/office/powerpoint/2010/main" val="2796319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1645329-3C04-303E-A1B0-10A3EBB975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Input </a:t>
            </a:r>
            <a:r>
              <a:rPr lang="de-DE" dirty="0" err="1"/>
              <a:t>Definitions</a:t>
            </a:r>
            <a:endParaRPr lang="de-DE" dirty="0"/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9D423D2-D26F-7531-4F26-C1E090CE7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Coordinate</a:t>
            </a:r>
            <a:r>
              <a:rPr lang="de-DE" dirty="0"/>
              <a:t> System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Input Data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61EA1A4-A125-D2FD-5046-7E1D640D9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7</a:t>
            </a:fld>
            <a:endParaRPr lang="en-US" noProof="1"/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3FBBB21-F7A5-DCCE-18A7-B9567A795296}"/>
              </a:ext>
            </a:extLst>
          </p:cNvPr>
          <p:cNvCxnSpPr>
            <a:cxnSpLocks/>
          </p:cNvCxnSpPr>
          <p:nvPr/>
        </p:nvCxnSpPr>
        <p:spPr>
          <a:xfrm rot="18000000" flipH="1">
            <a:off x="2949684" y="3767461"/>
            <a:ext cx="3083279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F7B0DE4A-E3BF-0D64-9614-AD111BD9E56B}"/>
              </a:ext>
            </a:extLst>
          </p:cNvPr>
          <p:cNvCxnSpPr>
            <a:cxnSpLocks/>
          </p:cNvCxnSpPr>
          <p:nvPr/>
        </p:nvCxnSpPr>
        <p:spPr>
          <a:xfrm rot="18000000" flipH="1">
            <a:off x="3483388" y="2098250"/>
            <a:ext cx="19612" cy="2248001"/>
          </a:xfrm>
          <a:prstGeom prst="line">
            <a:avLst/>
          </a:prstGeom>
          <a:ln w="28575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8EC69561-092E-0DAC-C538-36E5F47F9E7E}"/>
              </a:ext>
            </a:extLst>
          </p:cNvPr>
          <p:cNvSpPr txBox="1"/>
          <p:nvPr/>
        </p:nvSpPr>
        <p:spPr>
          <a:xfrm>
            <a:off x="2228447" y="2420253"/>
            <a:ext cx="312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X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C746D2A-9CFC-D774-8774-94B56600841A}"/>
              </a:ext>
            </a:extLst>
          </p:cNvPr>
          <p:cNvSpPr txBox="1"/>
          <p:nvPr/>
        </p:nvSpPr>
        <p:spPr>
          <a:xfrm>
            <a:off x="3534321" y="5006778"/>
            <a:ext cx="293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Y</a:t>
            </a: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92556147-6B87-303B-D9B3-426FF4FA535B}"/>
              </a:ext>
            </a:extLst>
          </p:cNvPr>
          <p:cNvCxnSpPr>
            <a:cxnSpLocks/>
            <a:stCxn id="51" idx="2"/>
            <a:endCxn id="25" idx="0"/>
          </p:cNvCxnSpPr>
          <p:nvPr/>
        </p:nvCxnSpPr>
        <p:spPr>
          <a:xfrm flipV="1">
            <a:off x="2408348" y="3781667"/>
            <a:ext cx="2031639" cy="1152920"/>
          </a:xfrm>
          <a:prstGeom prst="line">
            <a:avLst/>
          </a:prstGeom>
          <a:ln w="28575">
            <a:solidFill>
              <a:srgbClr val="FF0000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C6FA196C-5607-2B7E-13CC-A448FE5CBCA7}"/>
              </a:ext>
            </a:extLst>
          </p:cNvPr>
          <p:cNvCxnSpPr>
            <a:cxnSpLocks/>
            <a:stCxn id="38" idx="2"/>
            <a:endCxn id="25" idx="0"/>
          </p:cNvCxnSpPr>
          <p:nvPr/>
        </p:nvCxnSpPr>
        <p:spPr>
          <a:xfrm>
            <a:off x="2500934" y="1865362"/>
            <a:ext cx="1939053" cy="1916305"/>
          </a:xfrm>
          <a:prstGeom prst="line">
            <a:avLst/>
          </a:prstGeom>
          <a:ln w="28575">
            <a:solidFill>
              <a:srgbClr val="FF0000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A881696F-64B0-1786-F87C-B878DA010CAA}"/>
              </a:ext>
            </a:extLst>
          </p:cNvPr>
          <p:cNvCxnSpPr>
            <a:cxnSpLocks/>
            <a:stCxn id="78" idx="2"/>
            <a:endCxn id="25" idx="0"/>
          </p:cNvCxnSpPr>
          <p:nvPr/>
        </p:nvCxnSpPr>
        <p:spPr>
          <a:xfrm>
            <a:off x="3867968" y="2057871"/>
            <a:ext cx="572019" cy="1723796"/>
          </a:xfrm>
          <a:prstGeom prst="line">
            <a:avLst/>
          </a:prstGeom>
          <a:ln w="28575">
            <a:solidFill>
              <a:srgbClr val="FF0000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C9E5A134-83F5-1D24-21DD-C0649378F6E3}"/>
              </a:ext>
            </a:extLst>
          </p:cNvPr>
          <p:cNvGrpSpPr/>
          <p:nvPr/>
        </p:nvGrpSpPr>
        <p:grpSpPr>
          <a:xfrm rot="542775">
            <a:off x="3741030" y="1249471"/>
            <a:ext cx="1031875" cy="1052513"/>
            <a:chOff x="6380356" y="3178439"/>
            <a:chExt cx="1031875" cy="1052513"/>
          </a:xfrm>
        </p:grpSpPr>
        <p:grpSp>
          <p:nvGrpSpPr>
            <p:cNvPr id="70" name="Gruppieren 69">
              <a:extLst>
                <a:ext uri="{FF2B5EF4-FFF2-40B4-BE49-F238E27FC236}">
                  <a16:creationId xmlns:a16="http://schemas.microsoft.com/office/drawing/2014/main" id="{6816C992-BD69-1F88-29D1-81C29C001DC4}"/>
                </a:ext>
              </a:extLst>
            </p:cNvPr>
            <p:cNvGrpSpPr/>
            <p:nvPr/>
          </p:nvGrpSpPr>
          <p:grpSpPr>
            <a:xfrm flipH="1">
              <a:off x="6380356" y="3178439"/>
              <a:ext cx="1031875" cy="1052513"/>
              <a:chOff x="3253626" y="1922033"/>
              <a:chExt cx="1031875" cy="1052513"/>
            </a:xfrm>
          </p:grpSpPr>
          <p:sp>
            <p:nvSpPr>
              <p:cNvPr id="71" name="Rechteck 70">
                <a:extLst>
                  <a:ext uri="{FF2B5EF4-FFF2-40B4-BE49-F238E27FC236}">
                    <a16:creationId xmlns:a16="http://schemas.microsoft.com/office/drawing/2014/main" id="{699B7411-6628-EF30-F415-BC1140E24654}"/>
                  </a:ext>
                </a:extLst>
              </p:cNvPr>
              <p:cNvSpPr/>
              <p:nvPr/>
            </p:nvSpPr>
            <p:spPr>
              <a:xfrm rot="18900000">
                <a:off x="3287757" y="2355421"/>
                <a:ext cx="57150" cy="14605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72" name="Rechteck 71">
                <a:extLst>
                  <a:ext uri="{FF2B5EF4-FFF2-40B4-BE49-F238E27FC236}">
                    <a16:creationId xmlns:a16="http://schemas.microsoft.com/office/drawing/2014/main" id="{90A0FF80-B2BE-F80A-34C6-74A9A1701B1F}"/>
                  </a:ext>
                </a:extLst>
              </p:cNvPr>
              <p:cNvSpPr/>
              <p:nvPr/>
            </p:nvSpPr>
            <p:spPr>
              <a:xfrm rot="18900000">
                <a:off x="3721145" y="1922033"/>
                <a:ext cx="57150" cy="14446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73" name="Rechteck 72">
                <a:extLst>
                  <a:ext uri="{FF2B5EF4-FFF2-40B4-BE49-F238E27FC236}">
                    <a16:creationId xmlns:a16="http://schemas.microsoft.com/office/drawing/2014/main" id="{F56DB959-95FC-A5AC-18B6-AD743353C720}"/>
                  </a:ext>
                </a:extLst>
              </p:cNvPr>
              <p:cNvSpPr/>
              <p:nvPr/>
            </p:nvSpPr>
            <p:spPr>
              <a:xfrm rot="18900000">
                <a:off x="4195807" y="2396696"/>
                <a:ext cx="57150" cy="14446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74" name="Rechteck 73">
                <a:extLst>
                  <a:ext uri="{FF2B5EF4-FFF2-40B4-BE49-F238E27FC236}">
                    <a16:creationId xmlns:a16="http://schemas.microsoft.com/office/drawing/2014/main" id="{D8F346DE-C83D-1327-709F-CFB93208C23D}"/>
                  </a:ext>
                </a:extLst>
              </p:cNvPr>
              <p:cNvSpPr/>
              <p:nvPr/>
            </p:nvSpPr>
            <p:spPr>
              <a:xfrm rot="18900000">
                <a:off x="3762420" y="2830083"/>
                <a:ext cx="57150" cy="14446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cxnSp>
            <p:nvCxnSpPr>
              <p:cNvPr id="75" name="Gerader Verbinder 74">
                <a:extLst>
                  <a:ext uri="{FF2B5EF4-FFF2-40B4-BE49-F238E27FC236}">
                    <a16:creationId xmlns:a16="http://schemas.microsoft.com/office/drawing/2014/main" id="{6ECF438C-1AF8-6D78-BA5F-D9F77869C35F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>
                <a:off x="3532232" y="1933146"/>
                <a:ext cx="0" cy="55721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Gerader Verbinder 75">
                <a:extLst>
                  <a:ext uri="{FF2B5EF4-FFF2-40B4-BE49-F238E27FC236}">
                    <a16:creationId xmlns:a16="http://schemas.microsoft.com/office/drawing/2014/main" id="{E0299978-D191-3126-6221-0436B12E2DF2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>
                <a:off x="4006895" y="2407808"/>
                <a:ext cx="0" cy="55721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Multiplikationszeichen 76">
                <a:extLst>
                  <a:ext uri="{FF2B5EF4-FFF2-40B4-BE49-F238E27FC236}">
                    <a16:creationId xmlns:a16="http://schemas.microsoft.com/office/drawing/2014/main" id="{80003301-7D38-A4AD-59AE-4E7C5AE6EEDB}"/>
                  </a:ext>
                </a:extLst>
              </p:cNvPr>
              <p:cNvSpPr/>
              <p:nvPr/>
            </p:nvSpPr>
            <p:spPr>
              <a:xfrm rot="18900000">
                <a:off x="3932282" y="2601483"/>
                <a:ext cx="150813" cy="169863"/>
              </a:xfrm>
              <a:prstGeom prst="mathMultiply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78" name="Rechteck 77">
                <a:extLst>
                  <a:ext uri="{FF2B5EF4-FFF2-40B4-BE49-F238E27FC236}">
                    <a16:creationId xmlns:a16="http://schemas.microsoft.com/office/drawing/2014/main" id="{6250D54C-FC0C-128D-0C4E-7A5C489B3AA7}"/>
                  </a:ext>
                </a:extLst>
              </p:cNvPr>
              <p:cNvSpPr/>
              <p:nvPr/>
            </p:nvSpPr>
            <p:spPr>
              <a:xfrm rot="18900000">
                <a:off x="3463970" y="1969658"/>
                <a:ext cx="612775" cy="95885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</p:grpSp>
        <p:sp>
          <p:nvSpPr>
            <p:cNvPr id="87" name="Pfeil: nach rechts 86">
              <a:extLst>
                <a:ext uri="{FF2B5EF4-FFF2-40B4-BE49-F238E27FC236}">
                  <a16:creationId xmlns:a16="http://schemas.microsoft.com/office/drawing/2014/main" id="{2806F1A0-4F03-BCA5-9607-578FF2F4DD69}"/>
                </a:ext>
              </a:extLst>
            </p:cNvPr>
            <p:cNvSpPr/>
            <p:nvPr/>
          </p:nvSpPr>
          <p:spPr>
            <a:xfrm rot="18955528">
              <a:off x="6657482" y="3498893"/>
              <a:ext cx="508673" cy="3888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46166BFB-BB8F-FA6D-D0D8-F3596C786696}"/>
              </a:ext>
            </a:extLst>
          </p:cNvPr>
          <p:cNvGrpSpPr/>
          <p:nvPr/>
        </p:nvGrpSpPr>
        <p:grpSpPr>
          <a:xfrm>
            <a:off x="4378081" y="3742182"/>
            <a:ext cx="1103787" cy="1676386"/>
            <a:chOff x="3381191" y="3744363"/>
            <a:chExt cx="1103787" cy="1676386"/>
          </a:xfrm>
        </p:grpSpPr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E6B09629-3875-AF18-152D-71460847E24F}"/>
                </a:ext>
              </a:extLst>
            </p:cNvPr>
            <p:cNvCxnSpPr/>
            <p:nvPr/>
          </p:nvCxnSpPr>
          <p:spPr>
            <a:xfrm>
              <a:off x="3461495" y="4115851"/>
              <a:ext cx="989941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26E26E40-D561-FB2E-D177-50879F4A539C}"/>
                </a:ext>
              </a:extLst>
            </p:cNvPr>
            <p:cNvCxnSpPr>
              <a:cxnSpLocks/>
            </p:cNvCxnSpPr>
            <p:nvPr/>
          </p:nvCxnSpPr>
          <p:spPr>
            <a:xfrm>
              <a:off x="3956465" y="3785394"/>
              <a:ext cx="0" cy="1635355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6C1A47E5-48BF-ABEC-B142-DED18B945F95}"/>
                </a:ext>
              </a:extLst>
            </p:cNvPr>
            <p:cNvSpPr/>
            <p:nvPr/>
          </p:nvSpPr>
          <p:spPr>
            <a:xfrm rot="5400000">
              <a:off x="3140042" y="4109355"/>
              <a:ext cx="1633530" cy="989257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37700775-5961-15DA-B74F-A00029C7FA81}"/>
                </a:ext>
              </a:extLst>
            </p:cNvPr>
            <p:cNvCxnSpPr/>
            <p:nvPr/>
          </p:nvCxnSpPr>
          <p:spPr>
            <a:xfrm>
              <a:off x="3461495" y="5043832"/>
              <a:ext cx="989941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6844034A-37F8-261C-E1A3-C703CF151AAE}"/>
                </a:ext>
              </a:extLst>
            </p:cNvPr>
            <p:cNvSpPr/>
            <p:nvPr/>
          </p:nvSpPr>
          <p:spPr>
            <a:xfrm>
              <a:off x="3428272" y="4934496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4D3523FC-067C-5DAB-552D-D15221C17D5A}"/>
                </a:ext>
              </a:extLst>
            </p:cNvPr>
            <p:cNvSpPr/>
            <p:nvPr/>
          </p:nvSpPr>
          <p:spPr>
            <a:xfrm>
              <a:off x="4419217" y="4934496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D5CCAF46-D3D0-945C-029C-8DFEF8560350}"/>
                </a:ext>
              </a:extLst>
            </p:cNvPr>
            <p:cNvSpPr/>
            <p:nvPr/>
          </p:nvSpPr>
          <p:spPr>
            <a:xfrm>
              <a:off x="3427952" y="4002347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BDBCB5F3-6863-AFDC-E7EC-ACAA5C178DEC}"/>
                </a:ext>
              </a:extLst>
            </p:cNvPr>
            <p:cNvSpPr/>
            <p:nvPr/>
          </p:nvSpPr>
          <p:spPr>
            <a:xfrm>
              <a:off x="4419217" y="4002347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ACE5C6C5-DE77-29CB-0F4A-614730D6E355}"/>
                </a:ext>
              </a:extLst>
            </p:cNvPr>
            <p:cNvGrpSpPr/>
            <p:nvPr/>
          </p:nvGrpSpPr>
          <p:grpSpPr>
            <a:xfrm rot="18000000">
              <a:off x="3411107" y="3714447"/>
              <a:ext cx="99450" cy="159281"/>
              <a:chOff x="5930281" y="5868140"/>
              <a:chExt cx="331435" cy="466076"/>
            </a:xfrm>
            <a:solidFill>
              <a:schemeClr val="bg1">
                <a:lumMod val="65000"/>
              </a:schemeClr>
            </a:solidFill>
          </p:grpSpPr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4F08BEE3-E18B-6319-D366-C9E99DDE5A0F}"/>
                  </a:ext>
                </a:extLst>
              </p:cNvPr>
              <p:cNvSpPr/>
              <p:nvPr/>
            </p:nvSpPr>
            <p:spPr>
              <a:xfrm>
                <a:off x="5930281" y="6041253"/>
                <a:ext cx="331435" cy="292963"/>
              </a:xfrm>
              <a:prstGeom prst="rect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Flussdiagramm: Manuelle Verarbeitung 25">
                <a:extLst>
                  <a:ext uri="{FF2B5EF4-FFF2-40B4-BE49-F238E27FC236}">
                    <a16:creationId xmlns:a16="http://schemas.microsoft.com/office/drawing/2014/main" id="{498AD035-B495-73F1-32CC-F09E386967BB}"/>
                  </a:ext>
                </a:extLst>
              </p:cNvPr>
              <p:cNvSpPr/>
              <p:nvPr/>
            </p:nvSpPr>
            <p:spPr>
              <a:xfrm>
                <a:off x="5961353" y="5868140"/>
                <a:ext cx="269289" cy="173113"/>
              </a:xfrm>
              <a:prstGeom prst="flowChartManualOperation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8" name="Multiplikationszeichen 87">
              <a:extLst>
                <a:ext uri="{FF2B5EF4-FFF2-40B4-BE49-F238E27FC236}">
                  <a16:creationId xmlns:a16="http://schemas.microsoft.com/office/drawing/2014/main" id="{7F3DA725-0D59-3304-8F24-A58CAC8BE956}"/>
                </a:ext>
              </a:extLst>
            </p:cNvPr>
            <p:cNvSpPr/>
            <p:nvPr/>
          </p:nvSpPr>
          <p:spPr>
            <a:xfrm flipH="1">
              <a:off x="3881058" y="4963171"/>
              <a:ext cx="150813" cy="169863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4E44A759-9B7D-064B-FA49-20FEEFCAE143}"/>
              </a:ext>
            </a:extLst>
          </p:cNvPr>
          <p:cNvGrpSpPr/>
          <p:nvPr/>
        </p:nvGrpSpPr>
        <p:grpSpPr>
          <a:xfrm rot="-8100000">
            <a:off x="1504448" y="1339105"/>
            <a:ext cx="1031875" cy="1052513"/>
            <a:chOff x="6380356" y="3178439"/>
            <a:chExt cx="1031875" cy="1052513"/>
          </a:xfrm>
        </p:grpSpPr>
        <p:grpSp>
          <p:nvGrpSpPr>
            <p:cNvPr id="27" name="Gruppieren 26">
              <a:extLst>
                <a:ext uri="{FF2B5EF4-FFF2-40B4-BE49-F238E27FC236}">
                  <a16:creationId xmlns:a16="http://schemas.microsoft.com/office/drawing/2014/main" id="{2212F0C5-0A9B-9895-86D3-695597855E44}"/>
                </a:ext>
              </a:extLst>
            </p:cNvPr>
            <p:cNvGrpSpPr/>
            <p:nvPr/>
          </p:nvGrpSpPr>
          <p:grpSpPr>
            <a:xfrm flipH="1">
              <a:off x="6380356" y="3178439"/>
              <a:ext cx="1031875" cy="1052513"/>
              <a:chOff x="3253626" y="1922033"/>
              <a:chExt cx="1031875" cy="1052513"/>
            </a:xfrm>
          </p:grpSpPr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86AE6278-4C6A-6FC3-D164-F14DE8CDC7B2}"/>
                  </a:ext>
                </a:extLst>
              </p:cNvPr>
              <p:cNvSpPr/>
              <p:nvPr/>
            </p:nvSpPr>
            <p:spPr>
              <a:xfrm rot="18900000">
                <a:off x="3287757" y="2355421"/>
                <a:ext cx="57150" cy="14605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8C7B089A-92D1-5565-A7ED-8F6522201680}"/>
                  </a:ext>
                </a:extLst>
              </p:cNvPr>
              <p:cNvSpPr/>
              <p:nvPr/>
            </p:nvSpPr>
            <p:spPr>
              <a:xfrm rot="18900000">
                <a:off x="3721145" y="1922033"/>
                <a:ext cx="57150" cy="14446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13ECF098-77F6-980F-A969-59F784C60197}"/>
                  </a:ext>
                </a:extLst>
              </p:cNvPr>
              <p:cNvSpPr/>
              <p:nvPr/>
            </p:nvSpPr>
            <p:spPr>
              <a:xfrm rot="18900000">
                <a:off x="4195807" y="2396696"/>
                <a:ext cx="57150" cy="14446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34" name="Rechteck 33">
                <a:extLst>
                  <a:ext uri="{FF2B5EF4-FFF2-40B4-BE49-F238E27FC236}">
                    <a16:creationId xmlns:a16="http://schemas.microsoft.com/office/drawing/2014/main" id="{AFE2B34F-3CF7-4BBB-2E29-76ADEE250726}"/>
                  </a:ext>
                </a:extLst>
              </p:cNvPr>
              <p:cNvSpPr/>
              <p:nvPr/>
            </p:nvSpPr>
            <p:spPr>
              <a:xfrm rot="18900000">
                <a:off x="3762420" y="2830083"/>
                <a:ext cx="57150" cy="14446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AF8DC80B-0DD1-B453-03EE-DBCFDD05DA6F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>
                <a:off x="3532232" y="1933146"/>
                <a:ext cx="0" cy="55721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>
                <a:extLst>
                  <a:ext uri="{FF2B5EF4-FFF2-40B4-BE49-F238E27FC236}">
                    <a16:creationId xmlns:a16="http://schemas.microsoft.com/office/drawing/2014/main" id="{62446391-EBD2-110C-426C-B89F7E68DC46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>
                <a:off x="4006895" y="2407808"/>
                <a:ext cx="0" cy="55721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Multiplikationszeichen 36">
                <a:extLst>
                  <a:ext uri="{FF2B5EF4-FFF2-40B4-BE49-F238E27FC236}">
                    <a16:creationId xmlns:a16="http://schemas.microsoft.com/office/drawing/2014/main" id="{B6E0B18F-5CED-7853-95B5-6B7715C3E609}"/>
                  </a:ext>
                </a:extLst>
              </p:cNvPr>
              <p:cNvSpPr/>
              <p:nvPr/>
            </p:nvSpPr>
            <p:spPr>
              <a:xfrm rot="18900000">
                <a:off x="3932282" y="2601483"/>
                <a:ext cx="150813" cy="169863"/>
              </a:xfrm>
              <a:prstGeom prst="mathMultiply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7495C97B-89AE-698D-990C-79F212EB1E8E}"/>
                  </a:ext>
                </a:extLst>
              </p:cNvPr>
              <p:cNvSpPr/>
              <p:nvPr/>
            </p:nvSpPr>
            <p:spPr>
              <a:xfrm rot="18900000">
                <a:off x="3463970" y="1969658"/>
                <a:ext cx="612775" cy="95885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</p:grpSp>
        <p:sp>
          <p:nvSpPr>
            <p:cNvPr id="28" name="Pfeil: nach rechts 27">
              <a:extLst>
                <a:ext uri="{FF2B5EF4-FFF2-40B4-BE49-F238E27FC236}">
                  <a16:creationId xmlns:a16="http://schemas.microsoft.com/office/drawing/2014/main" id="{23149B0D-9986-B419-0601-E48A4B308020}"/>
                </a:ext>
              </a:extLst>
            </p:cNvPr>
            <p:cNvSpPr/>
            <p:nvPr/>
          </p:nvSpPr>
          <p:spPr>
            <a:xfrm rot="18955528">
              <a:off x="6657482" y="3498893"/>
              <a:ext cx="508673" cy="3888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B1558CDA-CA48-1838-2BD4-A15A6C2D58BF}"/>
              </a:ext>
            </a:extLst>
          </p:cNvPr>
          <p:cNvGrpSpPr/>
          <p:nvPr/>
        </p:nvGrpSpPr>
        <p:grpSpPr>
          <a:xfrm rot="-2700000">
            <a:off x="1892411" y="3927783"/>
            <a:ext cx="1031875" cy="1052513"/>
            <a:chOff x="6380356" y="3178439"/>
            <a:chExt cx="1031875" cy="1052513"/>
          </a:xfrm>
        </p:grpSpPr>
        <p:grpSp>
          <p:nvGrpSpPr>
            <p:cNvPr id="42" name="Gruppieren 41">
              <a:extLst>
                <a:ext uri="{FF2B5EF4-FFF2-40B4-BE49-F238E27FC236}">
                  <a16:creationId xmlns:a16="http://schemas.microsoft.com/office/drawing/2014/main" id="{308D4667-3BB8-0132-4ED4-64935C248129}"/>
                </a:ext>
              </a:extLst>
            </p:cNvPr>
            <p:cNvGrpSpPr/>
            <p:nvPr/>
          </p:nvGrpSpPr>
          <p:grpSpPr>
            <a:xfrm flipH="1">
              <a:off x="6380356" y="3178439"/>
              <a:ext cx="1031875" cy="1052513"/>
              <a:chOff x="3253626" y="1922033"/>
              <a:chExt cx="1031875" cy="1052513"/>
            </a:xfrm>
          </p:grpSpPr>
          <p:sp>
            <p:nvSpPr>
              <p:cNvPr id="44" name="Rechteck 43">
                <a:extLst>
                  <a:ext uri="{FF2B5EF4-FFF2-40B4-BE49-F238E27FC236}">
                    <a16:creationId xmlns:a16="http://schemas.microsoft.com/office/drawing/2014/main" id="{247CC8AA-6564-0EFC-67A4-468D4E2EF404}"/>
                  </a:ext>
                </a:extLst>
              </p:cNvPr>
              <p:cNvSpPr/>
              <p:nvPr/>
            </p:nvSpPr>
            <p:spPr>
              <a:xfrm rot="18900000">
                <a:off x="3287757" y="2355421"/>
                <a:ext cx="57150" cy="14605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A9C2A9E3-4027-C519-7D77-E039A1EB3692}"/>
                  </a:ext>
                </a:extLst>
              </p:cNvPr>
              <p:cNvSpPr/>
              <p:nvPr/>
            </p:nvSpPr>
            <p:spPr>
              <a:xfrm rot="18900000">
                <a:off x="3721145" y="1922033"/>
                <a:ext cx="57150" cy="14446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27A69EFD-E8D9-F646-BB41-DA80821E3C8B}"/>
                  </a:ext>
                </a:extLst>
              </p:cNvPr>
              <p:cNvSpPr/>
              <p:nvPr/>
            </p:nvSpPr>
            <p:spPr>
              <a:xfrm rot="18900000">
                <a:off x="4195807" y="2396696"/>
                <a:ext cx="57150" cy="14446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E9C2BE2E-CE88-F143-A7DF-38D683C6D68A}"/>
                  </a:ext>
                </a:extLst>
              </p:cNvPr>
              <p:cNvSpPr/>
              <p:nvPr/>
            </p:nvSpPr>
            <p:spPr>
              <a:xfrm rot="18900000">
                <a:off x="3762420" y="2830083"/>
                <a:ext cx="57150" cy="14446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cxnSp>
            <p:nvCxnSpPr>
              <p:cNvPr id="48" name="Gerader Verbinder 47">
                <a:extLst>
                  <a:ext uri="{FF2B5EF4-FFF2-40B4-BE49-F238E27FC236}">
                    <a16:creationId xmlns:a16="http://schemas.microsoft.com/office/drawing/2014/main" id="{23590133-38BF-9D04-5149-13F8378D5B7D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>
                <a:off x="3532232" y="1933146"/>
                <a:ext cx="0" cy="55721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Gerader Verbinder 48">
                <a:extLst>
                  <a:ext uri="{FF2B5EF4-FFF2-40B4-BE49-F238E27FC236}">
                    <a16:creationId xmlns:a16="http://schemas.microsoft.com/office/drawing/2014/main" id="{746A9C6C-72C0-2858-D9F8-D88AD1A59012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>
                <a:off x="4006895" y="2407808"/>
                <a:ext cx="0" cy="55721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Multiplikationszeichen 49">
                <a:extLst>
                  <a:ext uri="{FF2B5EF4-FFF2-40B4-BE49-F238E27FC236}">
                    <a16:creationId xmlns:a16="http://schemas.microsoft.com/office/drawing/2014/main" id="{53869711-2A68-B42A-2B5A-B80CEF036691}"/>
                  </a:ext>
                </a:extLst>
              </p:cNvPr>
              <p:cNvSpPr/>
              <p:nvPr/>
            </p:nvSpPr>
            <p:spPr>
              <a:xfrm rot="18900000">
                <a:off x="3932282" y="2601483"/>
                <a:ext cx="150813" cy="169863"/>
              </a:xfrm>
              <a:prstGeom prst="mathMultiply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51" name="Rechteck 50">
                <a:extLst>
                  <a:ext uri="{FF2B5EF4-FFF2-40B4-BE49-F238E27FC236}">
                    <a16:creationId xmlns:a16="http://schemas.microsoft.com/office/drawing/2014/main" id="{33392CDC-0890-1233-513F-D8131891D5F3}"/>
                  </a:ext>
                </a:extLst>
              </p:cNvPr>
              <p:cNvSpPr/>
              <p:nvPr/>
            </p:nvSpPr>
            <p:spPr>
              <a:xfrm rot="18900000">
                <a:off x="3463970" y="1969658"/>
                <a:ext cx="612775" cy="95885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</p:grpSp>
        <p:sp>
          <p:nvSpPr>
            <p:cNvPr id="43" name="Pfeil: nach rechts 42">
              <a:extLst>
                <a:ext uri="{FF2B5EF4-FFF2-40B4-BE49-F238E27FC236}">
                  <a16:creationId xmlns:a16="http://schemas.microsoft.com/office/drawing/2014/main" id="{3A89BF71-E7DA-3051-82AA-B1C8858EAC88}"/>
                </a:ext>
              </a:extLst>
            </p:cNvPr>
            <p:cNvSpPr/>
            <p:nvPr/>
          </p:nvSpPr>
          <p:spPr>
            <a:xfrm rot="18955528">
              <a:off x="6657482" y="3498893"/>
              <a:ext cx="508673" cy="3888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B3124878-B574-6070-511A-9AF48BF92BE6}"/>
              </a:ext>
            </a:extLst>
          </p:cNvPr>
          <p:cNvGrpSpPr>
            <a:grpSpLocks noChangeAspect="1"/>
          </p:cNvGrpSpPr>
          <p:nvPr/>
        </p:nvGrpSpPr>
        <p:grpSpPr>
          <a:xfrm rot="-2700000">
            <a:off x="7240159" y="3639256"/>
            <a:ext cx="828423" cy="844992"/>
            <a:chOff x="6380356" y="3178439"/>
            <a:chExt cx="1031875" cy="1052513"/>
          </a:xfrm>
        </p:grpSpPr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746FCFC5-5F39-FB4F-3D0A-5647E9CABCEB}"/>
                </a:ext>
              </a:extLst>
            </p:cNvPr>
            <p:cNvGrpSpPr/>
            <p:nvPr/>
          </p:nvGrpSpPr>
          <p:grpSpPr>
            <a:xfrm flipH="1">
              <a:off x="6380356" y="3178439"/>
              <a:ext cx="1031875" cy="1052513"/>
              <a:chOff x="3253626" y="1922033"/>
              <a:chExt cx="1031875" cy="1052513"/>
            </a:xfrm>
          </p:grpSpPr>
          <p:sp>
            <p:nvSpPr>
              <p:cNvPr id="60" name="Rechteck 59">
                <a:extLst>
                  <a:ext uri="{FF2B5EF4-FFF2-40B4-BE49-F238E27FC236}">
                    <a16:creationId xmlns:a16="http://schemas.microsoft.com/office/drawing/2014/main" id="{2472FCDA-D667-E661-59D3-9A7B15FBCF04}"/>
                  </a:ext>
                </a:extLst>
              </p:cNvPr>
              <p:cNvSpPr/>
              <p:nvPr/>
            </p:nvSpPr>
            <p:spPr>
              <a:xfrm rot="18900000">
                <a:off x="3287757" y="2355421"/>
                <a:ext cx="57150" cy="14605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61" name="Rechteck 60">
                <a:extLst>
                  <a:ext uri="{FF2B5EF4-FFF2-40B4-BE49-F238E27FC236}">
                    <a16:creationId xmlns:a16="http://schemas.microsoft.com/office/drawing/2014/main" id="{CC1085E1-36AE-11FA-A8B6-07C08CD03333}"/>
                  </a:ext>
                </a:extLst>
              </p:cNvPr>
              <p:cNvSpPr/>
              <p:nvPr/>
            </p:nvSpPr>
            <p:spPr>
              <a:xfrm rot="18900000">
                <a:off x="3721145" y="1922033"/>
                <a:ext cx="57150" cy="14446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63" name="Rechteck 62">
                <a:extLst>
                  <a:ext uri="{FF2B5EF4-FFF2-40B4-BE49-F238E27FC236}">
                    <a16:creationId xmlns:a16="http://schemas.microsoft.com/office/drawing/2014/main" id="{251563F0-6575-07FE-C349-92DC4135B43F}"/>
                  </a:ext>
                </a:extLst>
              </p:cNvPr>
              <p:cNvSpPr/>
              <p:nvPr/>
            </p:nvSpPr>
            <p:spPr>
              <a:xfrm rot="18900000">
                <a:off x="4195807" y="2396696"/>
                <a:ext cx="57150" cy="14446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56E5706F-6AED-5324-8295-4C3B919868CD}"/>
                  </a:ext>
                </a:extLst>
              </p:cNvPr>
              <p:cNvSpPr/>
              <p:nvPr/>
            </p:nvSpPr>
            <p:spPr>
              <a:xfrm rot="18900000">
                <a:off x="3762420" y="2830083"/>
                <a:ext cx="57150" cy="14446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cxnSp>
            <p:nvCxnSpPr>
              <p:cNvPr id="65" name="Gerader Verbinder 64">
                <a:extLst>
                  <a:ext uri="{FF2B5EF4-FFF2-40B4-BE49-F238E27FC236}">
                    <a16:creationId xmlns:a16="http://schemas.microsoft.com/office/drawing/2014/main" id="{8FBC4FE1-A924-5530-709E-81F189D86FCE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>
                <a:off x="3532232" y="1933146"/>
                <a:ext cx="0" cy="55721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Gerader Verbinder 65">
                <a:extLst>
                  <a:ext uri="{FF2B5EF4-FFF2-40B4-BE49-F238E27FC236}">
                    <a16:creationId xmlns:a16="http://schemas.microsoft.com/office/drawing/2014/main" id="{B3D9BB31-0D8A-B490-2DE8-17B2604EF9A6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>
                <a:off x="4006895" y="2407808"/>
                <a:ext cx="0" cy="55721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Multiplikationszeichen 66">
                <a:extLst>
                  <a:ext uri="{FF2B5EF4-FFF2-40B4-BE49-F238E27FC236}">
                    <a16:creationId xmlns:a16="http://schemas.microsoft.com/office/drawing/2014/main" id="{F89DE36E-33C1-04B8-B37C-E72FE8D5A86C}"/>
                  </a:ext>
                </a:extLst>
              </p:cNvPr>
              <p:cNvSpPr/>
              <p:nvPr/>
            </p:nvSpPr>
            <p:spPr>
              <a:xfrm rot="18900000">
                <a:off x="3932282" y="2601483"/>
                <a:ext cx="150813" cy="169863"/>
              </a:xfrm>
              <a:prstGeom prst="mathMultiply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68" name="Rechteck 67">
                <a:extLst>
                  <a:ext uri="{FF2B5EF4-FFF2-40B4-BE49-F238E27FC236}">
                    <a16:creationId xmlns:a16="http://schemas.microsoft.com/office/drawing/2014/main" id="{0E058AE3-F8F6-CE55-3E6A-20E9836B1600}"/>
                  </a:ext>
                </a:extLst>
              </p:cNvPr>
              <p:cNvSpPr/>
              <p:nvPr/>
            </p:nvSpPr>
            <p:spPr>
              <a:xfrm rot="18900000">
                <a:off x="3463970" y="1969658"/>
                <a:ext cx="612775" cy="95885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</p:grpSp>
        <p:sp>
          <p:nvSpPr>
            <p:cNvPr id="59" name="Pfeil: nach rechts 58">
              <a:extLst>
                <a:ext uri="{FF2B5EF4-FFF2-40B4-BE49-F238E27FC236}">
                  <a16:creationId xmlns:a16="http://schemas.microsoft.com/office/drawing/2014/main" id="{632C59CA-6908-8353-F561-614DE343FD0F}"/>
                </a:ext>
              </a:extLst>
            </p:cNvPr>
            <p:cNvSpPr/>
            <p:nvPr/>
          </p:nvSpPr>
          <p:spPr>
            <a:xfrm rot="18955528">
              <a:off x="6657482" y="3498893"/>
              <a:ext cx="508673" cy="3888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grpSp>
        <p:nvGrpSpPr>
          <p:cNvPr id="79" name="Gruppieren 78">
            <a:extLst>
              <a:ext uri="{FF2B5EF4-FFF2-40B4-BE49-F238E27FC236}">
                <a16:creationId xmlns:a16="http://schemas.microsoft.com/office/drawing/2014/main" id="{D9956680-01F3-1426-6242-8B65416354AC}"/>
              </a:ext>
            </a:extLst>
          </p:cNvPr>
          <p:cNvGrpSpPr>
            <a:grpSpLocks noChangeAspect="1"/>
          </p:cNvGrpSpPr>
          <p:nvPr/>
        </p:nvGrpSpPr>
        <p:grpSpPr>
          <a:xfrm>
            <a:off x="7381145" y="4550018"/>
            <a:ext cx="524246" cy="796202"/>
            <a:chOff x="3381191" y="3744363"/>
            <a:chExt cx="1103787" cy="1676386"/>
          </a:xfrm>
        </p:grpSpPr>
        <p:cxnSp>
          <p:nvCxnSpPr>
            <p:cNvPr id="80" name="Gerader Verbinder 79">
              <a:extLst>
                <a:ext uri="{FF2B5EF4-FFF2-40B4-BE49-F238E27FC236}">
                  <a16:creationId xmlns:a16="http://schemas.microsoft.com/office/drawing/2014/main" id="{39648237-6D41-72B6-F43F-0694023AA957}"/>
                </a:ext>
              </a:extLst>
            </p:cNvPr>
            <p:cNvCxnSpPr/>
            <p:nvPr/>
          </p:nvCxnSpPr>
          <p:spPr>
            <a:xfrm>
              <a:off x="3461495" y="4115851"/>
              <a:ext cx="989941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BF61462A-9E1E-92B7-B6E0-FB275121B537}"/>
                </a:ext>
              </a:extLst>
            </p:cNvPr>
            <p:cNvCxnSpPr>
              <a:cxnSpLocks/>
            </p:cNvCxnSpPr>
            <p:nvPr/>
          </p:nvCxnSpPr>
          <p:spPr>
            <a:xfrm>
              <a:off x="3956465" y="3785394"/>
              <a:ext cx="0" cy="1635355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hteck 82">
              <a:extLst>
                <a:ext uri="{FF2B5EF4-FFF2-40B4-BE49-F238E27FC236}">
                  <a16:creationId xmlns:a16="http://schemas.microsoft.com/office/drawing/2014/main" id="{96E2975B-DB18-9F2C-72C6-61AA4D3AC5B2}"/>
                </a:ext>
              </a:extLst>
            </p:cNvPr>
            <p:cNvSpPr/>
            <p:nvPr/>
          </p:nvSpPr>
          <p:spPr>
            <a:xfrm rot="5400000">
              <a:off x="3140042" y="4109355"/>
              <a:ext cx="1633530" cy="989257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4F338297-2441-5F90-6F4B-71053C7DB8B4}"/>
                </a:ext>
              </a:extLst>
            </p:cNvPr>
            <p:cNvCxnSpPr/>
            <p:nvPr/>
          </p:nvCxnSpPr>
          <p:spPr>
            <a:xfrm>
              <a:off x="3461495" y="5043832"/>
              <a:ext cx="989941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52953DE1-8F44-369A-A6BE-3DBF2EE56D65}"/>
                </a:ext>
              </a:extLst>
            </p:cNvPr>
            <p:cNvSpPr/>
            <p:nvPr/>
          </p:nvSpPr>
          <p:spPr>
            <a:xfrm>
              <a:off x="3428272" y="4934496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86" name="Rechteck 85">
              <a:extLst>
                <a:ext uri="{FF2B5EF4-FFF2-40B4-BE49-F238E27FC236}">
                  <a16:creationId xmlns:a16="http://schemas.microsoft.com/office/drawing/2014/main" id="{42F23B17-56F4-98A7-4747-7B6510F504E4}"/>
                </a:ext>
              </a:extLst>
            </p:cNvPr>
            <p:cNvSpPr/>
            <p:nvPr/>
          </p:nvSpPr>
          <p:spPr>
            <a:xfrm>
              <a:off x="4419217" y="4934496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89" name="Rechteck 88">
              <a:extLst>
                <a:ext uri="{FF2B5EF4-FFF2-40B4-BE49-F238E27FC236}">
                  <a16:creationId xmlns:a16="http://schemas.microsoft.com/office/drawing/2014/main" id="{006F9CA1-DEE5-4BCB-283C-83D7B72626C4}"/>
                </a:ext>
              </a:extLst>
            </p:cNvPr>
            <p:cNvSpPr/>
            <p:nvPr/>
          </p:nvSpPr>
          <p:spPr>
            <a:xfrm>
              <a:off x="3427952" y="4002347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90" name="Rechteck 89">
              <a:extLst>
                <a:ext uri="{FF2B5EF4-FFF2-40B4-BE49-F238E27FC236}">
                  <a16:creationId xmlns:a16="http://schemas.microsoft.com/office/drawing/2014/main" id="{4E6F0454-9CA9-D253-EE67-4C5087F80D31}"/>
                </a:ext>
              </a:extLst>
            </p:cNvPr>
            <p:cNvSpPr/>
            <p:nvPr/>
          </p:nvSpPr>
          <p:spPr>
            <a:xfrm>
              <a:off x="4419217" y="4002347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grpSp>
          <p:nvGrpSpPr>
            <p:cNvPr id="91" name="Gruppieren 90">
              <a:extLst>
                <a:ext uri="{FF2B5EF4-FFF2-40B4-BE49-F238E27FC236}">
                  <a16:creationId xmlns:a16="http://schemas.microsoft.com/office/drawing/2014/main" id="{997C6176-87A7-46B2-1B71-D0603ADF8C85}"/>
                </a:ext>
              </a:extLst>
            </p:cNvPr>
            <p:cNvGrpSpPr/>
            <p:nvPr/>
          </p:nvGrpSpPr>
          <p:grpSpPr>
            <a:xfrm rot="18000000">
              <a:off x="3411107" y="3714447"/>
              <a:ext cx="99450" cy="159281"/>
              <a:chOff x="5930281" y="5868140"/>
              <a:chExt cx="331435" cy="466076"/>
            </a:xfrm>
            <a:solidFill>
              <a:schemeClr val="bg1">
                <a:lumMod val="65000"/>
              </a:schemeClr>
            </a:solidFill>
          </p:grpSpPr>
          <p:sp>
            <p:nvSpPr>
              <p:cNvPr id="93" name="Rechteck 92">
                <a:extLst>
                  <a:ext uri="{FF2B5EF4-FFF2-40B4-BE49-F238E27FC236}">
                    <a16:creationId xmlns:a16="http://schemas.microsoft.com/office/drawing/2014/main" id="{6F5CB1D3-50CE-E6EE-B9D6-783DC7EDD085}"/>
                  </a:ext>
                </a:extLst>
              </p:cNvPr>
              <p:cNvSpPr/>
              <p:nvPr/>
            </p:nvSpPr>
            <p:spPr>
              <a:xfrm>
                <a:off x="5930281" y="6041253"/>
                <a:ext cx="331435" cy="292963"/>
              </a:xfrm>
              <a:prstGeom prst="rect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4" name="Flussdiagramm: Manuelle Verarbeitung 93">
                <a:extLst>
                  <a:ext uri="{FF2B5EF4-FFF2-40B4-BE49-F238E27FC236}">
                    <a16:creationId xmlns:a16="http://schemas.microsoft.com/office/drawing/2014/main" id="{83F0DDB5-062D-D0E4-7B84-8871F4B6CE2F}"/>
                  </a:ext>
                </a:extLst>
              </p:cNvPr>
              <p:cNvSpPr/>
              <p:nvPr/>
            </p:nvSpPr>
            <p:spPr>
              <a:xfrm>
                <a:off x="5961353" y="5868140"/>
                <a:ext cx="269289" cy="173113"/>
              </a:xfrm>
              <a:prstGeom prst="flowChartManualOperation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2" name="Multiplikationszeichen 91">
              <a:extLst>
                <a:ext uri="{FF2B5EF4-FFF2-40B4-BE49-F238E27FC236}">
                  <a16:creationId xmlns:a16="http://schemas.microsoft.com/office/drawing/2014/main" id="{DD0BC0CD-B442-A932-5CFB-3E848A48F1EE}"/>
                </a:ext>
              </a:extLst>
            </p:cNvPr>
            <p:cNvSpPr/>
            <p:nvPr/>
          </p:nvSpPr>
          <p:spPr>
            <a:xfrm flipH="1">
              <a:off x="3881058" y="4963171"/>
              <a:ext cx="150813" cy="169863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sp>
        <p:nvSpPr>
          <p:cNvPr id="95" name="Textfeld 94">
            <a:extLst>
              <a:ext uri="{FF2B5EF4-FFF2-40B4-BE49-F238E27FC236}">
                <a16:creationId xmlns:a16="http://schemas.microsoft.com/office/drawing/2014/main" id="{6A361FBA-FC6B-E36D-8B37-726DD4374702}"/>
              </a:ext>
            </a:extLst>
          </p:cNvPr>
          <p:cNvSpPr txBox="1"/>
          <p:nvPr/>
        </p:nvSpPr>
        <p:spPr>
          <a:xfrm>
            <a:off x="8042513" y="3965188"/>
            <a:ext cx="853844" cy="2145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Object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86DFDCD0-D8E9-45A8-DE6B-77FAF1082138}"/>
              </a:ext>
            </a:extLst>
          </p:cNvPr>
          <p:cNvSpPr txBox="1"/>
          <p:nvPr/>
        </p:nvSpPr>
        <p:spPr>
          <a:xfrm>
            <a:off x="8042513" y="4850589"/>
            <a:ext cx="1401235" cy="2145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Ego Vehicle</a:t>
            </a: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32B8EB6E-766A-86AF-7D31-0CC5EFBB1DB6}"/>
              </a:ext>
            </a:extLst>
          </p:cNvPr>
          <p:cNvCxnSpPr>
            <a:cxnSpLocks/>
          </p:cNvCxnSpPr>
          <p:nvPr/>
        </p:nvCxnSpPr>
        <p:spPr>
          <a:xfrm>
            <a:off x="7430832" y="3153717"/>
            <a:ext cx="432280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1BCF9BD1-329E-AF10-1058-E13C5E8A0382}"/>
              </a:ext>
            </a:extLst>
          </p:cNvPr>
          <p:cNvSpPr txBox="1"/>
          <p:nvPr/>
        </p:nvSpPr>
        <p:spPr>
          <a:xfrm>
            <a:off x="8042513" y="2872493"/>
            <a:ext cx="2113331" cy="5624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Distance from Sensor position towards the rear center bumper</a:t>
            </a:r>
          </a:p>
        </p:txBody>
      </p:sp>
    </p:spTree>
    <p:extLst>
      <p:ext uri="{BB962C8B-B14F-4D97-AF65-F5344CB8AC3E}">
        <p14:creationId xmlns:p14="http://schemas.microsoft.com/office/powerpoint/2010/main" val="3316049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8DDB323-B24B-DB7B-CFD5-9095DD09AA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Input </a:t>
            </a:r>
            <a:r>
              <a:rPr lang="de-DE" dirty="0" err="1"/>
              <a:t>Definitions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6E9EF02-CA87-E030-8C4B-440BC6CC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Steering </a:t>
            </a:r>
            <a:r>
              <a:rPr lang="de-DE" dirty="0" err="1"/>
              <a:t>inputs</a:t>
            </a:r>
            <a:r>
              <a:rPr lang="de-DE" dirty="0"/>
              <a:t> - </a:t>
            </a:r>
            <a:r>
              <a:rPr lang="de-DE" dirty="0" err="1"/>
              <a:t>appInit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D86B1F-3186-7601-743B-B2A8C9B1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8</a:t>
            </a:fld>
            <a:endParaRPr lang="en-US" noProof="1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8E14CEB-B6BB-FA0F-206F-7E87B5D02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936258"/>
              </p:ext>
            </p:extLst>
          </p:nvPr>
        </p:nvGraphicFramePr>
        <p:xfrm>
          <a:off x="1433148" y="1672027"/>
          <a:ext cx="8102899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190">
                  <a:extLst>
                    <a:ext uri="{9D8B030D-6E8A-4147-A177-3AD203B41FA5}">
                      <a16:colId xmlns:a16="http://schemas.microsoft.com/office/drawing/2014/main" val="2612350068"/>
                    </a:ext>
                  </a:extLst>
                </a:gridCol>
                <a:gridCol w="1168960">
                  <a:extLst>
                    <a:ext uri="{9D8B030D-6E8A-4147-A177-3AD203B41FA5}">
                      <a16:colId xmlns:a16="http://schemas.microsoft.com/office/drawing/2014/main" val="1865089592"/>
                    </a:ext>
                  </a:extLst>
                </a:gridCol>
                <a:gridCol w="5611749">
                  <a:extLst>
                    <a:ext uri="{9D8B030D-6E8A-4147-A177-3AD203B41FA5}">
                      <a16:colId xmlns:a16="http://schemas.microsoft.com/office/drawing/2014/main" val="1594111085"/>
                    </a:ext>
                  </a:extLst>
                </a:gridCol>
              </a:tblGrid>
              <a:tr h="174775"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Parameter</a:t>
                      </a:r>
                      <a:endParaRPr lang="de-DE" sz="11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100">
                          <a:effectLst/>
                        </a:rPr>
                        <a:t>Type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100" dirty="0">
                          <a:effectLst/>
                        </a:rPr>
                        <a:t>Description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644211897"/>
                  </a:ext>
                </a:extLst>
              </a:tr>
              <a:tr h="190536">
                <a:tc>
                  <a:txBody>
                    <a:bodyPr/>
                    <a:lstStyle/>
                    <a:p>
                      <a:r>
                        <a:rPr lang="de-DE" sz="1100" b="0" u="none" strike="noStrike" dirty="0">
                          <a:effectLst/>
                          <a:latin typeface="codicon"/>
                        </a:rPr>
                        <a:t>handle</a:t>
                      </a:r>
                      <a:endParaRPr lang="de-DE" sz="11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100" dirty="0">
                          <a:effectLst/>
                        </a:rPr>
                        <a:t>uint32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A unique identifier for the object.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254179214"/>
                  </a:ext>
                </a:extLst>
              </a:tr>
            </a:tbl>
          </a:graphicData>
        </a:graphic>
      </p:graphicFrame>
      <p:sp>
        <p:nvSpPr>
          <p:cNvPr id="5" name="Titel 2">
            <a:extLst>
              <a:ext uri="{FF2B5EF4-FFF2-40B4-BE49-F238E27FC236}">
                <a16:creationId xmlns:a16="http://schemas.microsoft.com/office/drawing/2014/main" id="{76976ED0-C805-A179-2DC0-6B2430E68913}"/>
              </a:ext>
            </a:extLst>
          </p:cNvPr>
          <p:cNvSpPr txBox="1">
            <a:spLocks/>
          </p:cNvSpPr>
          <p:nvPr/>
        </p:nvSpPr>
        <p:spPr>
          <a:xfrm>
            <a:off x="205198" y="2696506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2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de-DE" dirty="0"/>
              <a:t>Steering </a:t>
            </a:r>
            <a:r>
              <a:rPr lang="de-DE" dirty="0" err="1"/>
              <a:t>inputs</a:t>
            </a:r>
            <a:r>
              <a:rPr lang="de-DE" dirty="0"/>
              <a:t> - </a:t>
            </a:r>
            <a:r>
              <a:rPr lang="de-DE" dirty="0" err="1"/>
              <a:t>appInitRoadObj</a:t>
            </a:r>
            <a:endParaRPr lang="de-DE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84E0DF69-C524-BDF1-98FE-7CE1C27FE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595560"/>
              </p:ext>
            </p:extLst>
          </p:nvPr>
        </p:nvGraphicFramePr>
        <p:xfrm>
          <a:off x="1433147" y="3726480"/>
          <a:ext cx="8102899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2450">
                  <a:extLst>
                    <a:ext uri="{9D8B030D-6E8A-4147-A177-3AD203B41FA5}">
                      <a16:colId xmlns:a16="http://schemas.microsoft.com/office/drawing/2014/main" val="2612350068"/>
                    </a:ext>
                  </a:extLst>
                </a:gridCol>
                <a:gridCol w="1028701">
                  <a:extLst>
                    <a:ext uri="{9D8B030D-6E8A-4147-A177-3AD203B41FA5}">
                      <a16:colId xmlns:a16="http://schemas.microsoft.com/office/drawing/2014/main" val="1865089592"/>
                    </a:ext>
                  </a:extLst>
                </a:gridCol>
                <a:gridCol w="5611748">
                  <a:extLst>
                    <a:ext uri="{9D8B030D-6E8A-4147-A177-3AD203B41FA5}">
                      <a16:colId xmlns:a16="http://schemas.microsoft.com/office/drawing/2014/main" val="1594111085"/>
                    </a:ext>
                  </a:extLst>
                </a:gridCol>
              </a:tblGrid>
              <a:tr h="174775"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Parameter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Type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Description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644211897"/>
                  </a:ext>
                </a:extLst>
              </a:tr>
              <a:tr h="190536">
                <a:tc>
                  <a:txBody>
                    <a:bodyPr/>
                    <a:lstStyle/>
                    <a:p>
                      <a:r>
                        <a:rPr lang="de-DE" sz="1000" b="0" u="none" strike="noStrike" dirty="0">
                          <a:effectLst/>
                          <a:latin typeface="codicon"/>
                        </a:rPr>
                        <a:t>handle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uint32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A unique identifier for the object.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254179214"/>
                  </a:ext>
                </a:extLst>
              </a:tr>
              <a:tr h="190536">
                <a:tc>
                  <a:txBody>
                    <a:bodyPr/>
                    <a:lstStyle/>
                    <a:p>
                      <a:r>
                        <a:rPr lang="de-DE" sz="1000" b="0" u="none" strike="noStrike" dirty="0" err="1">
                          <a:effectLst/>
                          <a:latin typeface="codicon"/>
                        </a:rPr>
                        <a:t>simulator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int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Specifies the simulator to be used (Classe =1, </a:t>
                      </a:r>
                      <a:r>
                        <a:rPr lang="en-US" sz="1000" dirty="0" err="1">
                          <a:effectLst/>
                        </a:rPr>
                        <a:t>CarMaker</a:t>
                      </a:r>
                      <a:r>
                        <a:rPr lang="en-US" sz="1000" dirty="0">
                          <a:effectLst/>
                        </a:rPr>
                        <a:t> = 2).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176233877"/>
                  </a:ext>
                </a:extLst>
              </a:tr>
              <a:tr h="190536"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data_transfer_protocol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effectLst/>
                        </a:rPr>
                        <a:t>int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Specifies the data transfer protocol to be used (CAN FD = 1, CAN TP = 2, Ethernet = 3).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723603462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4082FE2A-14FF-844B-4280-42C72FDCCEE0}"/>
              </a:ext>
            </a:extLst>
          </p:cNvPr>
          <p:cNvSpPr txBox="1"/>
          <p:nvPr/>
        </p:nvSpPr>
        <p:spPr>
          <a:xfrm>
            <a:off x="205200" y="1115969"/>
            <a:ext cx="10409460" cy="3458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kern="0" dirty="0">
                <a:solidFill>
                  <a:srgbClr val="000000"/>
                </a:solidFill>
              </a:rPr>
              <a:t>F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unction Description: </a:t>
            </a:r>
            <a:r>
              <a:rPr lang="en-US" sz="1200" dirty="0">
                <a:effectLst/>
              </a:rPr>
              <a:t>Creates and initializes an instance of the DLL with the ID of the given handle.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68A4EB4-38E9-27DE-F1B8-4940B20119A3}"/>
              </a:ext>
            </a:extLst>
          </p:cNvPr>
          <p:cNvSpPr txBox="1"/>
          <p:nvPr/>
        </p:nvSpPr>
        <p:spPr>
          <a:xfrm>
            <a:off x="205198" y="3164475"/>
            <a:ext cx="10409460" cy="3458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kern="0" dirty="0">
                <a:solidFill>
                  <a:srgbClr val="000000"/>
                </a:solidFill>
              </a:rPr>
              <a:t>F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unction Description: Sets global infrastructure values of the DLL.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42951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8DDB323-B24B-DB7B-CFD5-9095DD09AA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Input </a:t>
            </a:r>
            <a:r>
              <a:rPr lang="de-DE" dirty="0" err="1"/>
              <a:t>Definitions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6E9EF02-CA87-E030-8C4B-440BC6CC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Steering </a:t>
            </a:r>
            <a:r>
              <a:rPr lang="de-DE" dirty="0" err="1"/>
              <a:t>inputs</a:t>
            </a:r>
            <a:r>
              <a:rPr lang="de-DE" dirty="0"/>
              <a:t> - </a:t>
            </a:r>
            <a:r>
              <a:rPr lang="de-DE" dirty="0" err="1"/>
              <a:t>appInputEgoValues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D86B1F-3186-7601-743B-B2A8C9B1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9</a:t>
            </a:fld>
            <a:endParaRPr lang="en-US" noProof="1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8E14CEB-B6BB-FA0F-206F-7E87B5D02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437822"/>
              </p:ext>
            </p:extLst>
          </p:nvPr>
        </p:nvGraphicFramePr>
        <p:xfrm>
          <a:off x="1433149" y="1521727"/>
          <a:ext cx="8102899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190">
                  <a:extLst>
                    <a:ext uri="{9D8B030D-6E8A-4147-A177-3AD203B41FA5}">
                      <a16:colId xmlns:a16="http://schemas.microsoft.com/office/drawing/2014/main" val="2612350068"/>
                    </a:ext>
                  </a:extLst>
                </a:gridCol>
                <a:gridCol w="1439503">
                  <a:extLst>
                    <a:ext uri="{9D8B030D-6E8A-4147-A177-3AD203B41FA5}">
                      <a16:colId xmlns:a16="http://schemas.microsoft.com/office/drawing/2014/main" val="1865089592"/>
                    </a:ext>
                  </a:extLst>
                </a:gridCol>
                <a:gridCol w="5341206">
                  <a:extLst>
                    <a:ext uri="{9D8B030D-6E8A-4147-A177-3AD203B41FA5}">
                      <a16:colId xmlns:a16="http://schemas.microsoft.com/office/drawing/2014/main" val="1594111085"/>
                    </a:ext>
                  </a:extLst>
                </a:gridCol>
              </a:tblGrid>
              <a:tr h="175579"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Parameter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Type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effectLst/>
                        </a:rPr>
                        <a:t>Description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644211897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1000" b="0" u="none" strike="noStrike" dirty="0">
                          <a:effectLst/>
                          <a:latin typeface="codicon"/>
                        </a:rPr>
                        <a:t>handle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uint32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A unique identifier for the object.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254179214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1000" b="0" u="none" strike="noStrike" dirty="0" err="1">
                          <a:effectLst/>
                          <a:latin typeface="codicon"/>
                        </a:rPr>
                        <a:t>velocity_x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Ego velocity in longitudinal direction (in m/s).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176233877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1000" b="0" u="none" strike="noStrike" dirty="0" err="1">
                          <a:effectLst/>
                          <a:latin typeface="codicon"/>
                        </a:rPr>
                        <a:t>velocity_y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Ego velocity in lateral direction (in m/s).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723603462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5B339E04-2A22-3E41-A50F-626B4F5A06D8}"/>
              </a:ext>
            </a:extLst>
          </p:cNvPr>
          <p:cNvSpPr txBox="1"/>
          <p:nvPr/>
        </p:nvSpPr>
        <p:spPr>
          <a:xfrm>
            <a:off x="205200" y="1036800"/>
            <a:ext cx="8336820" cy="41534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kern="0" dirty="0">
                <a:solidFill>
                  <a:srgbClr val="000000"/>
                </a:solidFill>
              </a:rPr>
              <a:t>F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unction Description: Sets values of the ego vehicle.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kern="0" dirty="0">
                <a:solidFill>
                  <a:srgbClr val="000000"/>
                </a:solidFill>
              </a:rPr>
              <a:t>Return Parameter: 0 = OK, -1 = No DLL instance found</a:t>
            </a:r>
            <a:endParaRPr lang="de-DE" sz="1200" kern="0" dirty="0">
              <a:solidFill>
                <a:srgbClr val="000000"/>
              </a:solidFill>
            </a:endParaRPr>
          </a:p>
        </p:txBody>
      </p:sp>
      <p:sp>
        <p:nvSpPr>
          <p:cNvPr id="6" name="Titel 2">
            <a:extLst>
              <a:ext uri="{FF2B5EF4-FFF2-40B4-BE49-F238E27FC236}">
                <a16:creationId xmlns:a16="http://schemas.microsoft.com/office/drawing/2014/main" id="{33685BCE-C802-8B05-841C-385BFAA1A778}"/>
              </a:ext>
            </a:extLst>
          </p:cNvPr>
          <p:cNvSpPr txBox="1">
            <a:spLocks/>
          </p:cNvSpPr>
          <p:nvPr/>
        </p:nvSpPr>
        <p:spPr>
          <a:xfrm>
            <a:off x="205200" y="2505712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333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28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de-DE" dirty="0"/>
              <a:t>Steering </a:t>
            </a:r>
            <a:r>
              <a:rPr lang="de-DE" dirty="0" err="1"/>
              <a:t>inputs</a:t>
            </a:r>
            <a:r>
              <a:rPr lang="de-DE" dirty="0"/>
              <a:t> - </a:t>
            </a:r>
            <a:r>
              <a:rPr lang="de-DE" dirty="0" err="1"/>
              <a:t>appInputSensorDefinitionsRadarXX</a:t>
            </a:r>
            <a:endParaRPr lang="de-DE" dirty="0"/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738C05CA-7F62-A955-306E-E03C9C9AD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046015"/>
              </p:ext>
            </p:extLst>
          </p:nvPr>
        </p:nvGraphicFramePr>
        <p:xfrm>
          <a:off x="1433149" y="3380400"/>
          <a:ext cx="81028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2450">
                  <a:extLst>
                    <a:ext uri="{9D8B030D-6E8A-4147-A177-3AD203B41FA5}">
                      <a16:colId xmlns:a16="http://schemas.microsoft.com/office/drawing/2014/main" val="2612350068"/>
                    </a:ext>
                  </a:extLst>
                </a:gridCol>
                <a:gridCol w="1028701">
                  <a:extLst>
                    <a:ext uri="{9D8B030D-6E8A-4147-A177-3AD203B41FA5}">
                      <a16:colId xmlns:a16="http://schemas.microsoft.com/office/drawing/2014/main" val="1865089592"/>
                    </a:ext>
                  </a:extLst>
                </a:gridCol>
                <a:gridCol w="5611748">
                  <a:extLst>
                    <a:ext uri="{9D8B030D-6E8A-4147-A177-3AD203B41FA5}">
                      <a16:colId xmlns:a16="http://schemas.microsoft.com/office/drawing/2014/main" val="1594111085"/>
                    </a:ext>
                  </a:extLst>
                </a:gridCol>
              </a:tblGrid>
              <a:tr h="174775"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Parameter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Type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Description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644211897"/>
                  </a:ext>
                </a:extLst>
              </a:tr>
              <a:tr h="190536">
                <a:tc>
                  <a:txBody>
                    <a:bodyPr/>
                    <a:lstStyle/>
                    <a:p>
                      <a:r>
                        <a:rPr lang="de-DE" sz="1000" b="0" u="none" strike="noStrike" dirty="0">
                          <a:effectLst/>
                          <a:latin typeface="codicon"/>
                        </a:rPr>
                        <a:t>handle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uint32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A unique identifier for the object.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254179214"/>
                  </a:ext>
                </a:extLst>
              </a:tr>
              <a:tr h="190536">
                <a:tc>
                  <a:txBody>
                    <a:bodyPr/>
                    <a:lstStyle/>
                    <a:p>
                      <a:r>
                        <a:rPr lang="de-DE" sz="1000" b="0" u="none" strike="noStrike" dirty="0" err="1">
                          <a:effectLst/>
                          <a:latin typeface="codicon"/>
                        </a:rPr>
                        <a:t>mount_dx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Mounting position of the sensor in longitudinal direction in reference to the RCA (m).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176233877"/>
                  </a:ext>
                </a:extLst>
              </a:tr>
              <a:tr h="190536">
                <a:tc>
                  <a:txBody>
                    <a:bodyPr/>
                    <a:lstStyle/>
                    <a:p>
                      <a:r>
                        <a:rPr lang="de-DE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mount_dy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Mounting position of the sensor in lateral direction in reference to the RCA (m).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723603462"/>
                  </a:ext>
                </a:extLst>
              </a:tr>
              <a:tr h="190536"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mount_dz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</a:rPr>
                        <a:t>Mounting position of the sensor in vertical direction in reference to the RCA (m).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166848344"/>
                  </a:ext>
                </a:extLst>
              </a:tr>
              <a:tr h="190536"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mount_yaw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Mounting position yaw angle of the sensor in x-y-plane (rad).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39478581"/>
                  </a:ext>
                </a:extLst>
              </a:tr>
              <a:tr h="190536"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fov_angle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Field of view angle of the sensor (rad).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435100362"/>
                  </a:ext>
                </a:extLst>
              </a:tr>
              <a:tr h="190536"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validity_sending_active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int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Flag to activate the validity sending (send all locations = 0, only valid locations = 1).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49890413"/>
                  </a:ext>
                </a:extLst>
              </a:tr>
              <a:tr h="190536"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obj_sim_active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int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Flag to indicate that this sensor is currently being simulate (not sim = 0, sim = 1).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32742341"/>
                  </a:ext>
                </a:extLst>
              </a:tr>
              <a:tr h="190536"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obj_count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int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Number of valid objects (only used as input for </a:t>
                      </a:r>
                      <a:r>
                        <a:rPr lang="en-US" sz="1000" dirty="0" err="1">
                          <a:effectLst/>
                        </a:rPr>
                        <a:t>CarMaker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usecase</a:t>
                      </a:r>
                      <a:r>
                        <a:rPr lang="en-US" sz="1000" dirty="0">
                          <a:effectLst/>
                        </a:rPr>
                        <a:t>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871550180"/>
                  </a:ext>
                </a:extLst>
              </a:tr>
            </a:tbl>
          </a:graphicData>
        </a:graphic>
      </p:graphicFrame>
      <p:sp>
        <p:nvSpPr>
          <p:cNvPr id="9" name="Textfeld 8">
            <a:extLst>
              <a:ext uri="{FF2B5EF4-FFF2-40B4-BE49-F238E27FC236}">
                <a16:creationId xmlns:a16="http://schemas.microsoft.com/office/drawing/2014/main" id="{FF878F32-F2D8-32FC-BC99-5A83D3286DB7}"/>
              </a:ext>
            </a:extLst>
          </p:cNvPr>
          <p:cNvSpPr txBox="1"/>
          <p:nvPr/>
        </p:nvSpPr>
        <p:spPr>
          <a:xfrm>
            <a:off x="205200" y="2894512"/>
            <a:ext cx="10409460" cy="446387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kern="0" dirty="0">
                <a:solidFill>
                  <a:srgbClr val="000000"/>
                </a:solidFill>
              </a:rPr>
              <a:t>F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unction Description: Sets sensor specification parameters.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kern="0" dirty="0">
                <a:solidFill>
                  <a:srgbClr val="000000"/>
                </a:solidFill>
              </a:rPr>
              <a:t>Return Parameter: 0 = OK, -1 = No DLL instance found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29252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8DDB323-B24B-DB7B-CFD5-9095DD09AA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Input </a:t>
            </a:r>
            <a:r>
              <a:rPr lang="de-DE" dirty="0" err="1"/>
              <a:t>Definitions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6E9EF02-CA87-E030-8C4B-440BC6CC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Steering </a:t>
            </a:r>
            <a:r>
              <a:rPr lang="de-DE" dirty="0" err="1"/>
              <a:t>inputs</a:t>
            </a:r>
            <a:r>
              <a:rPr lang="de-DE" dirty="0"/>
              <a:t> - </a:t>
            </a:r>
            <a:r>
              <a:rPr lang="de-DE" dirty="0" err="1"/>
              <a:t>appInputRadarDefinitionsRadarXX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D86B1F-3186-7601-743B-B2A8C9B1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10</a:t>
            </a:fld>
            <a:endParaRPr lang="en-US" noProof="1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8E14CEB-B6BB-FA0F-206F-7E87B5D02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495254"/>
              </p:ext>
            </p:extLst>
          </p:nvPr>
        </p:nvGraphicFramePr>
        <p:xfrm>
          <a:off x="1433150" y="1540995"/>
          <a:ext cx="810289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763">
                  <a:extLst>
                    <a:ext uri="{9D8B030D-6E8A-4147-A177-3AD203B41FA5}">
                      <a16:colId xmlns:a16="http://schemas.microsoft.com/office/drawing/2014/main" val="2612350068"/>
                    </a:ext>
                  </a:extLst>
                </a:gridCol>
                <a:gridCol w="1327930">
                  <a:extLst>
                    <a:ext uri="{9D8B030D-6E8A-4147-A177-3AD203B41FA5}">
                      <a16:colId xmlns:a16="http://schemas.microsoft.com/office/drawing/2014/main" val="1865089592"/>
                    </a:ext>
                  </a:extLst>
                </a:gridCol>
                <a:gridCol w="5341206">
                  <a:extLst>
                    <a:ext uri="{9D8B030D-6E8A-4147-A177-3AD203B41FA5}">
                      <a16:colId xmlns:a16="http://schemas.microsoft.com/office/drawing/2014/main" val="1594111085"/>
                    </a:ext>
                  </a:extLst>
                </a:gridCol>
              </a:tblGrid>
              <a:tr h="175579"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Parameter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Type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>
                          <a:effectLst/>
                        </a:rPr>
                        <a:t>Description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644211897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1000" b="0" u="none" strike="noStrike" dirty="0">
                          <a:effectLst/>
                          <a:latin typeface="codicon"/>
                        </a:rPr>
                        <a:t>handle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uint32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A unique identifier for the object.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254179214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1000" b="0" u="none" strike="noStrike" dirty="0" err="1">
                          <a:effectLst/>
                          <a:latin typeface="codicon"/>
                        </a:rPr>
                        <a:t>loc_model</a:t>
                      </a:r>
                      <a:endParaRPr lang="de-DE" sz="1000" b="0" u="none" strike="noStrike" dirty="0">
                        <a:effectLst/>
                        <a:latin typeface="codicon"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int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Flag to choose which location model to use (0 = 1objXloc).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176233877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loc_distribution_model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int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Flag to choose the distribution model to use (0 = Even, 1 = CMP, 2 = Statistical).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723603462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loc_sim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int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Flag to activate calculations of location data for this sensor (0 = off, 1 = on).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487650229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max_nr_of_loc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int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Maximum number of locations to be generated per object.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968460777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loc_separation_angle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Separation angle between generated locations (rad).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795354084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radar_generation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dirty="0" err="1">
                          <a:effectLst/>
                        </a:rPr>
                        <a:t>int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effectLst/>
                        </a:rPr>
                        <a:t>Indicates the generation of the radar which influences the data being calculated.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227221515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5B339E04-2A22-3E41-A50F-626B4F5A06D8}"/>
              </a:ext>
            </a:extLst>
          </p:cNvPr>
          <p:cNvSpPr txBox="1"/>
          <p:nvPr/>
        </p:nvSpPr>
        <p:spPr>
          <a:xfrm>
            <a:off x="205200" y="1115969"/>
            <a:ext cx="8336820" cy="3458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kern="0" dirty="0">
                <a:solidFill>
                  <a:srgbClr val="000000"/>
                </a:solidFill>
              </a:rPr>
              <a:t>F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unction Description: Sets radar specification parameters.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kern="0" dirty="0">
                <a:solidFill>
                  <a:srgbClr val="000000"/>
                </a:solidFill>
              </a:rPr>
              <a:t>Return Parameter: 0 = OK, -1 = No DLL instance found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33549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8DDB323-B24B-DB7B-CFD5-9095DD09AA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Input </a:t>
            </a:r>
            <a:r>
              <a:rPr lang="de-DE" dirty="0" err="1"/>
              <a:t>Definitions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6E9EF02-CA87-E030-8C4B-440BC6CC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Steering </a:t>
            </a:r>
            <a:r>
              <a:rPr lang="de-DE" dirty="0" err="1"/>
              <a:t>inputs</a:t>
            </a:r>
            <a:r>
              <a:rPr lang="de-DE" dirty="0"/>
              <a:t> - </a:t>
            </a:r>
            <a:r>
              <a:rPr lang="de-DE" dirty="0" err="1"/>
              <a:t>appInputObjectDataRadarXX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D86B1F-3186-7601-743B-B2A8C9B1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11</a:t>
            </a:fld>
            <a:endParaRPr lang="en-US" noProof="1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78E14CEB-B6BB-FA0F-206F-7E87B5D02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750285"/>
              </p:ext>
            </p:extLst>
          </p:nvPr>
        </p:nvGraphicFramePr>
        <p:xfrm>
          <a:off x="1433150" y="1536040"/>
          <a:ext cx="8102899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190">
                  <a:extLst>
                    <a:ext uri="{9D8B030D-6E8A-4147-A177-3AD203B41FA5}">
                      <a16:colId xmlns:a16="http://schemas.microsoft.com/office/drawing/2014/main" val="2612350068"/>
                    </a:ext>
                  </a:extLst>
                </a:gridCol>
                <a:gridCol w="1439503">
                  <a:extLst>
                    <a:ext uri="{9D8B030D-6E8A-4147-A177-3AD203B41FA5}">
                      <a16:colId xmlns:a16="http://schemas.microsoft.com/office/drawing/2014/main" val="1865089592"/>
                    </a:ext>
                  </a:extLst>
                </a:gridCol>
                <a:gridCol w="5341206">
                  <a:extLst>
                    <a:ext uri="{9D8B030D-6E8A-4147-A177-3AD203B41FA5}">
                      <a16:colId xmlns:a16="http://schemas.microsoft.com/office/drawing/2014/main" val="1594111085"/>
                    </a:ext>
                  </a:extLst>
                </a:gridCol>
              </a:tblGrid>
              <a:tr h="175579">
                <a:tc>
                  <a:txBody>
                    <a:bodyPr/>
                    <a:lstStyle/>
                    <a:p>
                      <a:r>
                        <a:rPr lang="de-DE" sz="900" dirty="0">
                          <a:effectLst/>
                        </a:rPr>
                        <a:t>Parameter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 dirty="0">
                          <a:effectLst/>
                        </a:rPr>
                        <a:t>Type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 dirty="0">
                          <a:effectLst/>
                        </a:rPr>
                        <a:t>Description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644211897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900" b="0" u="none" strike="noStrike" dirty="0">
                          <a:effectLst/>
                          <a:latin typeface="codicon"/>
                        </a:rPr>
                        <a:t>handle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 dirty="0">
                          <a:effectLst/>
                        </a:rPr>
                        <a:t>uint32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A unique identifier for the object.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254179214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900" b="0" u="none" strike="noStrike" dirty="0" err="1">
                          <a:effectLst/>
                          <a:latin typeface="codicon"/>
                        </a:rPr>
                        <a:t>obj_id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int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The ID of the object.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176233877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900" b="0" u="none" strike="noStrike" dirty="0" err="1">
                          <a:effectLst/>
                          <a:latin typeface="codicon"/>
                        </a:rPr>
                        <a:t>sim_on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int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Indicates whether the simulation is active (1) or not (0).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723603462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900" dirty="0" err="1">
                          <a:effectLst/>
                        </a:rPr>
                        <a:t>sensor_mode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>
                          <a:effectLst/>
                        </a:rPr>
                        <a:t>Int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Sensor mode in which the object has been detected (0 = driving, 1 = parking).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177116490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900" b="0" u="none" strike="noStrike" dirty="0">
                          <a:effectLst/>
                          <a:latin typeface="codicon"/>
                        </a:rPr>
                        <a:t>dx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The x-coordinate of the object's position relative to the ego vehicle (m).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487650229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900" b="0" u="none" strike="noStrike" dirty="0">
                          <a:effectLst/>
                          <a:latin typeface="codicon"/>
                        </a:rPr>
                        <a:t>dy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The y-coordinate of the object's position relative to the ego vehicle (m).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968460777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900" b="0" u="none" strike="noStrike" dirty="0">
                          <a:effectLst/>
                          <a:latin typeface="codicon"/>
                        </a:rPr>
                        <a:t>vx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The x-component of the object's velocity (m/s).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795354084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900" b="0" u="none" strike="noStrike" dirty="0">
                          <a:effectLst/>
                          <a:latin typeface="codicon"/>
                        </a:rPr>
                        <a:t>vy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The y-component of the object's velocity (m/s).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227221515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900" b="0" u="none" strike="noStrike" dirty="0" err="1">
                          <a:effectLst/>
                          <a:latin typeface="codicon"/>
                        </a:rPr>
                        <a:t>ax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The x-component of the object's acceleration (m/s²).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658599059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900" b="0" u="none" strike="noStrike" dirty="0" err="1">
                          <a:effectLst/>
                          <a:latin typeface="codicon"/>
                        </a:rPr>
                        <a:t>ay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The y-component of the object's acceleration (m/s²).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009542273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900" b="0" u="none" strike="noStrike" dirty="0" err="1">
                          <a:effectLst/>
                          <a:latin typeface="codicon"/>
                        </a:rPr>
                        <a:t>yaw_angle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The yaw angle of the object (rad).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035522886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900" b="0" u="none" strike="noStrike" dirty="0" err="1">
                          <a:effectLst/>
                          <a:latin typeface="codicon"/>
                        </a:rPr>
                        <a:t>width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The width of the object (m).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899180523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900" b="0" u="none" strike="noStrike" dirty="0" err="1">
                          <a:effectLst/>
                          <a:latin typeface="codicon"/>
                        </a:rPr>
                        <a:t>length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The length of the object (m).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938909508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900" b="0" u="none" strike="noStrike" dirty="0" err="1">
                          <a:effectLst/>
                          <a:latin typeface="codicon"/>
                        </a:rPr>
                        <a:t>height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The height of the object (m).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489210629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900" b="0" u="none" strike="noStrike" dirty="0">
                          <a:effectLst/>
                          <a:latin typeface="codicon"/>
                        </a:rPr>
                        <a:t>type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 dirty="0" err="1">
                          <a:effectLst/>
                        </a:rPr>
                        <a:t>int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The type of the object (1 = unknown, 2 = Barrier, 3 = bike, 4 = pedestrian, 5 = truck, 6 = vehicle).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406761621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900" b="0" u="none" strike="noStrike" dirty="0" err="1">
                          <a:effectLst/>
                          <a:latin typeface="codicon"/>
                        </a:rPr>
                        <a:t>rcs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The Radar Cross Section (RCS) value of the object.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597259454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900" b="0" u="none" strike="noStrike" dirty="0" err="1">
                          <a:effectLst/>
                          <a:latin typeface="codicon"/>
                        </a:rPr>
                        <a:t>snr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900">
                          <a:effectLst/>
                        </a:rPr>
                        <a:t>The Signal-to-Noise Ratio (SNR) of the radar signal.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231196558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900" b="0" u="none" strike="noStrike" dirty="0" err="1">
                          <a:effectLst/>
                          <a:latin typeface="codicon"/>
                        </a:rPr>
                        <a:t>rssi</a:t>
                      </a:r>
                      <a:endParaRPr lang="de-DE" sz="9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9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effectLst/>
                        </a:rPr>
                        <a:t>The Received Signal Strength Indicator (RSSI) value of the radar signal.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735687398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5B339E04-2A22-3E41-A50F-626B4F5A06D8}"/>
              </a:ext>
            </a:extLst>
          </p:cNvPr>
          <p:cNvSpPr txBox="1"/>
          <p:nvPr/>
        </p:nvSpPr>
        <p:spPr>
          <a:xfrm>
            <a:off x="205200" y="1115969"/>
            <a:ext cx="8336820" cy="34585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kern="0" dirty="0">
                <a:solidFill>
                  <a:srgbClr val="000000"/>
                </a:solidFill>
              </a:rPr>
              <a:t>F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unction Description: Captures and processes the object data from the radar sensors at the front-left position of the vehicle.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kern="0" dirty="0">
                <a:solidFill>
                  <a:srgbClr val="000000"/>
                </a:solidFill>
              </a:rPr>
              <a:t>Return Parameter: 0 = OK, -1 = No DLL instance found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10038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C27BDB4-4A69-4975-42C2-86F86FE0D7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Location Distribution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2DF29E5-66E2-56DE-F1A1-D4AA1EC47D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779040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1F3B551-A69B-1373-0BF5-EC78AB6C23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1objXloc Radar Model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D4B323E-115D-0661-9888-771E1D309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Sequence</a:t>
            </a:r>
            <a:r>
              <a:rPr lang="de-DE" dirty="0"/>
              <a:t> </a:t>
            </a:r>
            <a:r>
              <a:rPr lang="de-DE" dirty="0" err="1"/>
              <a:t>Diagram</a:t>
            </a:r>
            <a:r>
              <a:rPr lang="de-DE" dirty="0"/>
              <a:t> for Radar </a:t>
            </a:r>
            <a:r>
              <a:rPr lang="de-DE" dirty="0" err="1"/>
              <a:t>Calculations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5AE26-5C98-9175-605A-16653DA00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13</a:t>
            </a:fld>
            <a:endParaRPr lang="en-US" noProof="1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F49AAAE4-5166-9000-4F20-30B26C91CE73}"/>
              </a:ext>
            </a:extLst>
          </p:cNvPr>
          <p:cNvCxnSpPr>
            <a:cxnSpLocks/>
          </p:cNvCxnSpPr>
          <p:nvPr/>
        </p:nvCxnSpPr>
        <p:spPr>
          <a:xfrm flipH="1">
            <a:off x="8102588" y="1441527"/>
            <a:ext cx="6484" cy="436660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eck 10">
            <a:extLst>
              <a:ext uri="{FF2B5EF4-FFF2-40B4-BE49-F238E27FC236}">
                <a16:creationId xmlns:a16="http://schemas.microsoft.com/office/drawing/2014/main" id="{735A4771-8BFE-0FE5-C4BB-562EB5C5D385}"/>
              </a:ext>
            </a:extLst>
          </p:cNvPr>
          <p:cNvSpPr/>
          <p:nvPr/>
        </p:nvSpPr>
        <p:spPr>
          <a:xfrm>
            <a:off x="7268196" y="1052727"/>
            <a:ext cx="1707687" cy="3888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DLL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D5A01698-CE2D-2BFC-0AAE-8FF4E3D20315}"/>
              </a:ext>
            </a:extLst>
          </p:cNvPr>
          <p:cNvGrpSpPr/>
          <p:nvPr/>
        </p:nvGrpSpPr>
        <p:grpSpPr>
          <a:xfrm>
            <a:off x="2740903" y="1674755"/>
            <a:ext cx="5368169" cy="216000"/>
            <a:chOff x="2373806" y="1550240"/>
            <a:chExt cx="5408641" cy="224060"/>
          </a:xfrm>
        </p:grpSpPr>
        <p:cxnSp>
          <p:nvCxnSpPr>
            <p:cNvPr id="13" name="Gerade Verbindung mit Pfeil 12">
              <a:extLst>
                <a:ext uri="{FF2B5EF4-FFF2-40B4-BE49-F238E27FC236}">
                  <a16:creationId xmlns:a16="http://schemas.microsoft.com/office/drawing/2014/main" id="{B39091AA-3648-E24A-4416-1645FCBD9C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3806" y="1774297"/>
              <a:ext cx="5408641" cy="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40A4A82A-0FFF-4696-0B68-11D38D72C642}"/>
                </a:ext>
              </a:extLst>
            </p:cNvPr>
            <p:cNvSpPr txBox="1"/>
            <p:nvPr/>
          </p:nvSpPr>
          <p:spPr>
            <a:xfrm>
              <a:off x="2488869" y="1550240"/>
              <a:ext cx="5104890" cy="22405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R="0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appInit</a:t>
              </a:r>
              <a: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(handle)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37D0878-1279-E5D7-CA15-3F703536E0B7}"/>
              </a:ext>
            </a:extLst>
          </p:cNvPr>
          <p:cNvGrpSpPr/>
          <p:nvPr/>
        </p:nvGrpSpPr>
        <p:grpSpPr>
          <a:xfrm>
            <a:off x="2734419" y="2018662"/>
            <a:ext cx="5368169" cy="216000"/>
            <a:chOff x="2373806" y="1550240"/>
            <a:chExt cx="5368169" cy="224060"/>
          </a:xfrm>
        </p:grpSpPr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FF289EB6-B75E-7AD0-F7B5-D60E1DD98D51}"/>
                </a:ext>
              </a:extLst>
            </p:cNvPr>
            <p:cNvCxnSpPr/>
            <p:nvPr/>
          </p:nvCxnSpPr>
          <p:spPr>
            <a:xfrm>
              <a:off x="2373806" y="1774300"/>
              <a:ext cx="53681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3EEA3E4B-B35B-B527-9AFC-18C0B48AD1D8}"/>
                </a:ext>
              </a:extLst>
            </p:cNvPr>
            <p:cNvSpPr txBox="1"/>
            <p:nvPr/>
          </p:nvSpPr>
          <p:spPr>
            <a:xfrm>
              <a:off x="2488869" y="1550240"/>
              <a:ext cx="5104890" cy="22405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R="0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appInitRoadObj</a:t>
              </a:r>
              <a: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(handle, </a:t>
              </a:r>
              <a:r>
                <a:rPr kumimoji="0" lang="de-DE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simulator</a:t>
              </a:r>
              <a: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, </a:t>
              </a:r>
              <a:r>
                <a:rPr kumimoji="0" lang="de-DE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data_transfer_protocol</a:t>
              </a:r>
              <a: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)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53CBDEAC-89EF-50F9-6F9F-172CE41D04CE}"/>
              </a:ext>
            </a:extLst>
          </p:cNvPr>
          <p:cNvGrpSpPr/>
          <p:nvPr/>
        </p:nvGrpSpPr>
        <p:grpSpPr>
          <a:xfrm>
            <a:off x="2734419" y="2362566"/>
            <a:ext cx="5368169" cy="258132"/>
            <a:chOff x="2373806" y="1550240"/>
            <a:chExt cx="5368169" cy="224060"/>
          </a:xfrm>
        </p:grpSpPr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DF956FD9-B7B0-DDC7-B69E-BB4FA1C64213}"/>
                </a:ext>
              </a:extLst>
            </p:cNvPr>
            <p:cNvCxnSpPr/>
            <p:nvPr/>
          </p:nvCxnSpPr>
          <p:spPr>
            <a:xfrm>
              <a:off x="2373806" y="1774300"/>
              <a:ext cx="53681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BEAF8578-E5A1-6242-0C5B-A0E35AB0A4F6}"/>
                </a:ext>
              </a:extLst>
            </p:cNvPr>
            <p:cNvSpPr txBox="1"/>
            <p:nvPr/>
          </p:nvSpPr>
          <p:spPr>
            <a:xfrm>
              <a:off x="2488869" y="1550240"/>
              <a:ext cx="5104890" cy="18748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R="0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appInputEgoValues</a:t>
              </a:r>
              <a: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(handle, </a:t>
              </a:r>
              <a:r>
                <a:rPr kumimoji="0" lang="de-DE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velocity_x</a:t>
              </a:r>
              <a: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, </a:t>
              </a:r>
              <a:r>
                <a:rPr kumimoji="0" lang="de-DE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velocity_y</a:t>
              </a:r>
              <a: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)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13100CFC-FC24-B84E-213C-CBE47E3D1BF2}"/>
              </a:ext>
            </a:extLst>
          </p:cNvPr>
          <p:cNvGrpSpPr/>
          <p:nvPr/>
        </p:nvGrpSpPr>
        <p:grpSpPr>
          <a:xfrm>
            <a:off x="2740903" y="2747916"/>
            <a:ext cx="5368169" cy="508980"/>
            <a:chOff x="2373806" y="1550240"/>
            <a:chExt cx="5368169" cy="224060"/>
          </a:xfrm>
        </p:grpSpPr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8EE345A3-4517-166A-0511-C8BD7106B713}"/>
                </a:ext>
              </a:extLst>
            </p:cNvPr>
            <p:cNvCxnSpPr/>
            <p:nvPr/>
          </p:nvCxnSpPr>
          <p:spPr>
            <a:xfrm>
              <a:off x="2373806" y="1774300"/>
              <a:ext cx="53681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9FE88D20-C9C1-E00A-A85B-F9394031D29F}"/>
                </a:ext>
              </a:extLst>
            </p:cNvPr>
            <p:cNvSpPr txBox="1"/>
            <p:nvPr/>
          </p:nvSpPr>
          <p:spPr>
            <a:xfrm>
              <a:off x="2488869" y="1550240"/>
              <a:ext cx="5104890" cy="21600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R="0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appInputSensorDefinitionsRadarXX</a:t>
              </a:r>
              <a: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(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handle,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mount_dx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,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mount_dy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,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mount_dz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,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mount_yaw,double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fov_angle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,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validity_sending_active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,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obj_sim_active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,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obj_count</a:t>
              </a:r>
              <a: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)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AD8F82EA-9128-FB94-D2F2-939CF6162095}"/>
              </a:ext>
            </a:extLst>
          </p:cNvPr>
          <p:cNvGrpSpPr/>
          <p:nvPr/>
        </p:nvGrpSpPr>
        <p:grpSpPr>
          <a:xfrm>
            <a:off x="2740903" y="4020297"/>
            <a:ext cx="5368169" cy="507600"/>
            <a:chOff x="2367323" y="3530102"/>
            <a:chExt cx="5368169" cy="423669"/>
          </a:xfrm>
        </p:grpSpPr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FB21364B-2393-7581-DF86-6295890C109F}"/>
                </a:ext>
              </a:extLst>
            </p:cNvPr>
            <p:cNvCxnSpPr/>
            <p:nvPr/>
          </p:nvCxnSpPr>
          <p:spPr>
            <a:xfrm>
              <a:off x="2367323" y="3926116"/>
              <a:ext cx="53681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BE806A0C-2782-273D-162D-14AECCC0356C}"/>
                </a:ext>
              </a:extLst>
            </p:cNvPr>
            <p:cNvSpPr txBox="1"/>
            <p:nvPr/>
          </p:nvSpPr>
          <p:spPr>
            <a:xfrm>
              <a:off x="2482386" y="3530102"/>
              <a:ext cx="5104890" cy="42366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fontAlgn="auto">
                <a:spcBef>
                  <a:spcPts val="500"/>
                </a:spcBef>
                <a:spcAft>
                  <a:spcPts val="0"/>
                </a:spcAft>
              </a:pPr>
              <a:r>
                <a:rPr kumimoji="0" lang="de-DE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appInputObjectDataRadarXX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(handle,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obj_id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,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sim_on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, dx, dy, vx, vy, ax, ay,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yaw_angle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, width, length, height, type,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rcs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, snr, </a:t>
              </a: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rssi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)</a:t>
              </a:r>
              <a:endParaRPr kumimoji="0" lang="de-DE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D2CCF05C-2BC2-F28E-F831-89EA44BF7D77}"/>
              </a:ext>
            </a:extLst>
          </p:cNvPr>
          <p:cNvGrpSpPr/>
          <p:nvPr/>
        </p:nvGrpSpPr>
        <p:grpSpPr>
          <a:xfrm>
            <a:off x="2740903" y="4623038"/>
            <a:ext cx="5368169" cy="216000"/>
            <a:chOff x="2373806" y="1634930"/>
            <a:chExt cx="5368169" cy="139370"/>
          </a:xfrm>
        </p:grpSpPr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047D81B4-7EC3-D18D-12DE-375760A9D637}"/>
                </a:ext>
              </a:extLst>
            </p:cNvPr>
            <p:cNvCxnSpPr/>
            <p:nvPr/>
          </p:nvCxnSpPr>
          <p:spPr>
            <a:xfrm>
              <a:off x="2373806" y="1774300"/>
              <a:ext cx="53681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055A2F29-BCC5-74B3-7781-B3ED9D49A8B9}"/>
                </a:ext>
              </a:extLst>
            </p:cNvPr>
            <p:cNvSpPr txBox="1"/>
            <p:nvPr/>
          </p:nvSpPr>
          <p:spPr>
            <a:xfrm>
              <a:off x="2488869" y="1634930"/>
              <a:ext cx="5104890" cy="1393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R="0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appCalcAllSensorTargetData</a:t>
              </a:r>
              <a: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(handle)</a:t>
              </a:r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90C7AAE1-8E28-D9FD-395D-39B861228C7E}"/>
              </a:ext>
            </a:extLst>
          </p:cNvPr>
          <p:cNvSpPr/>
          <p:nvPr/>
        </p:nvSpPr>
        <p:spPr>
          <a:xfrm>
            <a:off x="1887060" y="1052727"/>
            <a:ext cx="1707687" cy="3888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Master</a:t>
            </a:r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391D6823-5A2E-D91B-DB92-37AE8F0826AC}"/>
              </a:ext>
            </a:extLst>
          </p:cNvPr>
          <p:cNvCxnSpPr>
            <a:cxnSpLocks/>
          </p:cNvCxnSpPr>
          <p:nvPr/>
        </p:nvCxnSpPr>
        <p:spPr>
          <a:xfrm>
            <a:off x="2734419" y="1441527"/>
            <a:ext cx="0" cy="436660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Geschweifte Klammer rechts 39">
            <a:extLst>
              <a:ext uri="{FF2B5EF4-FFF2-40B4-BE49-F238E27FC236}">
                <a16:creationId xmlns:a16="http://schemas.microsoft.com/office/drawing/2014/main" id="{623D52A3-4C7C-F9BE-B838-8E5CA54B56D1}"/>
              </a:ext>
            </a:extLst>
          </p:cNvPr>
          <p:cNvSpPr/>
          <p:nvPr/>
        </p:nvSpPr>
        <p:spPr>
          <a:xfrm>
            <a:off x="8257288" y="1649953"/>
            <a:ext cx="181664" cy="584682"/>
          </a:xfrm>
          <a:prstGeom prst="rightBrace">
            <a:avLst/>
          </a:prstGeom>
          <a:ln w="12700">
            <a:solidFill>
              <a:srgbClr val="C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Geschweifte Klammer rechts 40">
            <a:extLst>
              <a:ext uri="{FF2B5EF4-FFF2-40B4-BE49-F238E27FC236}">
                <a16:creationId xmlns:a16="http://schemas.microsoft.com/office/drawing/2014/main" id="{B45F9237-6CB9-DF86-8641-F9E56683A843}"/>
              </a:ext>
            </a:extLst>
          </p:cNvPr>
          <p:cNvSpPr/>
          <p:nvPr/>
        </p:nvSpPr>
        <p:spPr>
          <a:xfrm>
            <a:off x="8257288" y="2362566"/>
            <a:ext cx="181664" cy="3320573"/>
          </a:xfrm>
          <a:prstGeom prst="rightBrace">
            <a:avLst/>
          </a:prstGeom>
          <a:ln w="12700">
            <a:solidFill>
              <a:srgbClr val="0070C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A820A670-9624-093D-D6BB-3960E08367B1}"/>
              </a:ext>
            </a:extLst>
          </p:cNvPr>
          <p:cNvSpPr txBox="1"/>
          <p:nvPr/>
        </p:nvSpPr>
        <p:spPr>
          <a:xfrm>
            <a:off x="8464551" y="1649953"/>
            <a:ext cx="1265627" cy="5832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Has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to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be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called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just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once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(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more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often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possible)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2AF54CE7-65F7-52A7-EDF0-C8048301EBB7}"/>
              </a:ext>
            </a:extLst>
          </p:cNvPr>
          <p:cNvSpPr txBox="1"/>
          <p:nvPr/>
        </p:nvSpPr>
        <p:spPr>
          <a:xfrm>
            <a:off x="8464551" y="3825897"/>
            <a:ext cx="1265627" cy="3888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Has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to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be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called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each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</a:rPr>
              <a:t>cycle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9086BE50-A030-47AF-8D79-514F8454966B}"/>
              </a:ext>
            </a:extLst>
          </p:cNvPr>
          <p:cNvGrpSpPr/>
          <p:nvPr/>
        </p:nvGrpSpPr>
        <p:grpSpPr>
          <a:xfrm>
            <a:off x="2734419" y="3384107"/>
            <a:ext cx="5368169" cy="508987"/>
            <a:chOff x="2373806" y="1550240"/>
            <a:chExt cx="5368169" cy="224060"/>
          </a:xfrm>
        </p:grpSpPr>
        <p:cxnSp>
          <p:nvCxnSpPr>
            <p:cNvPr id="9" name="Gerade Verbindung mit Pfeil 8">
              <a:extLst>
                <a:ext uri="{FF2B5EF4-FFF2-40B4-BE49-F238E27FC236}">
                  <a16:creationId xmlns:a16="http://schemas.microsoft.com/office/drawing/2014/main" id="{72A93444-D1F8-8A83-69A2-AB94A9F04C7C}"/>
                </a:ext>
              </a:extLst>
            </p:cNvPr>
            <p:cNvCxnSpPr/>
            <p:nvPr/>
          </p:nvCxnSpPr>
          <p:spPr>
            <a:xfrm>
              <a:off x="2373806" y="1774300"/>
              <a:ext cx="53681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3302D724-8EDC-41D0-6C24-D14AC588CF92}"/>
                </a:ext>
              </a:extLst>
            </p:cNvPr>
            <p:cNvSpPr txBox="1"/>
            <p:nvPr/>
          </p:nvSpPr>
          <p:spPr>
            <a:xfrm>
              <a:off x="2488869" y="1550240"/>
              <a:ext cx="5104890" cy="22405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R="0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appInputRadarDefinitionsRadarXX</a:t>
              </a:r>
              <a: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(handle, </a:t>
              </a:r>
              <a:r>
                <a:rPr kumimoji="0" lang="de-DE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loc_model</a:t>
              </a:r>
              <a: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, </a:t>
              </a:r>
              <a:r>
                <a:rPr kumimoji="0" lang="de-DE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loc_distribution_model</a:t>
              </a:r>
              <a: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, </a:t>
              </a:r>
              <a:r>
                <a:rPr kumimoji="0" lang="de-DE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loc_sim_active</a:t>
              </a:r>
              <a: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, </a:t>
              </a:r>
              <a:r>
                <a:rPr kumimoji="0" lang="de-DE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max_nr_loc,double</a:t>
              </a:r>
              <a: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</a:t>
              </a:r>
              <a:r>
                <a:rPr kumimoji="0" lang="de-DE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loc_separation_angle</a:t>
              </a:r>
              <a: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, </a:t>
              </a:r>
              <a:r>
                <a:rPr kumimoji="0" lang="de-DE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radar_generation</a:t>
              </a:r>
              <a: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)</a:t>
              </a:r>
            </a:p>
          </p:txBody>
        </p: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A5ECAE16-877A-5EFF-0D26-113E1BE2180C}"/>
              </a:ext>
            </a:extLst>
          </p:cNvPr>
          <p:cNvGrpSpPr/>
          <p:nvPr/>
        </p:nvGrpSpPr>
        <p:grpSpPr>
          <a:xfrm>
            <a:off x="2734419" y="5129565"/>
            <a:ext cx="5368169" cy="216000"/>
            <a:chOff x="2373806" y="1634930"/>
            <a:chExt cx="5368169" cy="139370"/>
          </a:xfrm>
        </p:grpSpPr>
        <p:cxnSp>
          <p:nvCxnSpPr>
            <p:cNvPr id="32" name="Gerade Verbindung mit Pfeil 31">
              <a:extLst>
                <a:ext uri="{FF2B5EF4-FFF2-40B4-BE49-F238E27FC236}">
                  <a16:creationId xmlns:a16="http://schemas.microsoft.com/office/drawing/2014/main" id="{FFAE7D86-8EB7-E086-6CAB-F1040C6DA604}"/>
                </a:ext>
              </a:extLst>
            </p:cNvPr>
            <p:cNvCxnSpPr/>
            <p:nvPr/>
          </p:nvCxnSpPr>
          <p:spPr>
            <a:xfrm>
              <a:off x="2373806" y="1774300"/>
              <a:ext cx="53681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9E5B2E69-8309-9BA5-F290-752A429585D7}"/>
                </a:ext>
              </a:extLst>
            </p:cNvPr>
            <p:cNvSpPr txBox="1"/>
            <p:nvPr/>
          </p:nvSpPr>
          <p:spPr>
            <a:xfrm>
              <a:off x="2488869" y="1634930"/>
              <a:ext cx="5104890" cy="1393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R="0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appGetRadarXXValidLocCount</a:t>
              </a:r>
              <a: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(handle)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4879EC85-514B-137D-FE3F-995E3D464C05}"/>
              </a:ext>
            </a:extLst>
          </p:cNvPr>
          <p:cNvGrpSpPr/>
          <p:nvPr/>
        </p:nvGrpSpPr>
        <p:grpSpPr>
          <a:xfrm>
            <a:off x="2734419" y="5468709"/>
            <a:ext cx="5368169" cy="216000"/>
            <a:chOff x="2373806" y="1634930"/>
            <a:chExt cx="5368169" cy="139370"/>
          </a:xfrm>
        </p:grpSpPr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579CB5A7-C2C6-3871-64CA-89A3E33E9250}"/>
                </a:ext>
              </a:extLst>
            </p:cNvPr>
            <p:cNvCxnSpPr/>
            <p:nvPr/>
          </p:nvCxnSpPr>
          <p:spPr>
            <a:xfrm>
              <a:off x="2373806" y="1774300"/>
              <a:ext cx="536816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9A10AEB8-4E3F-8C81-5E70-9F56425BEB04}"/>
                </a:ext>
              </a:extLst>
            </p:cNvPr>
            <p:cNvSpPr txBox="1"/>
            <p:nvPr/>
          </p:nvSpPr>
          <p:spPr>
            <a:xfrm>
              <a:off x="2488869" y="1634930"/>
              <a:ext cx="5104890" cy="1393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R="0" defTabSz="914400" eaLnBrk="1" fontAlgn="auto" latinLnBrk="0" hangingPunct="1">
                <a:spcBef>
                  <a:spcPts val="5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Location Count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2603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leichschenkliges Dreieck 42">
            <a:extLst>
              <a:ext uri="{FF2B5EF4-FFF2-40B4-BE49-F238E27FC236}">
                <a16:creationId xmlns:a16="http://schemas.microsoft.com/office/drawing/2014/main" id="{0B6FBF40-4369-4CDE-7ED9-F430073542B2}"/>
              </a:ext>
            </a:extLst>
          </p:cNvPr>
          <p:cNvSpPr/>
          <p:nvPr/>
        </p:nvSpPr>
        <p:spPr>
          <a:xfrm rot="10800000">
            <a:off x="7564973" y="3688638"/>
            <a:ext cx="1204943" cy="374612"/>
          </a:xfrm>
          <a:prstGeom prst="triangle">
            <a:avLst>
              <a:gd name="adj" fmla="val 9824"/>
            </a:avLst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DAF664BB-E332-424F-5CA9-E1C25AD9BE9A}"/>
              </a:ext>
            </a:extLst>
          </p:cNvPr>
          <p:cNvSpPr/>
          <p:nvPr/>
        </p:nvSpPr>
        <p:spPr>
          <a:xfrm rot="15161751">
            <a:off x="1753469" y="2759232"/>
            <a:ext cx="2387802" cy="55416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00486314-DF2E-13A6-BBEF-550A98547430}"/>
              </a:ext>
            </a:extLst>
          </p:cNvPr>
          <p:cNvSpPr/>
          <p:nvPr/>
        </p:nvSpPr>
        <p:spPr>
          <a:xfrm rot="653689">
            <a:off x="1704992" y="3917422"/>
            <a:ext cx="1985579" cy="55416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4018029F-08C5-8E05-546F-5E47F20007EA}"/>
              </a:ext>
            </a:extLst>
          </p:cNvPr>
          <p:cNvSpPr/>
          <p:nvPr/>
        </p:nvSpPr>
        <p:spPr>
          <a:xfrm rot="653689">
            <a:off x="1664304" y="3345771"/>
            <a:ext cx="1985579" cy="55416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DDE07A06-BCCD-9D39-B88E-7043538880B5}"/>
              </a:ext>
            </a:extLst>
          </p:cNvPr>
          <p:cNvSpPr/>
          <p:nvPr/>
        </p:nvSpPr>
        <p:spPr>
          <a:xfrm rot="15161751">
            <a:off x="2328948" y="2742936"/>
            <a:ext cx="2387802" cy="55416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140F793-6686-46BC-39D7-20311DD2CE45}"/>
              </a:ext>
            </a:extLst>
          </p:cNvPr>
          <p:cNvSpPr/>
          <p:nvPr/>
        </p:nvSpPr>
        <p:spPr>
          <a:xfrm>
            <a:off x="1627840" y="1795187"/>
            <a:ext cx="1202056" cy="188545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456166F-ACE1-7858-2495-5F77B821C8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1objXloc Radar Model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EC04098-AF60-93F1-F5CE-30FDBB7A3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96398"/>
          </a:xfrm>
        </p:spPr>
        <p:txBody>
          <a:bodyPr/>
          <a:lstStyle/>
          <a:p>
            <a:r>
              <a:rPr lang="de-DE" dirty="0"/>
              <a:t>Static Locations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F2170A-A785-83C6-7D13-90B1A070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14</a:t>
            </a:fld>
            <a:endParaRPr lang="en-US" noProof="1"/>
          </a:p>
        </p:txBody>
      </p:sp>
      <p:grpSp>
        <p:nvGrpSpPr>
          <p:cNvPr id="201" name="Gruppieren 200">
            <a:extLst>
              <a:ext uri="{FF2B5EF4-FFF2-40B4-BE49-F238E27FC236}">
                <a16:creationId xmlns:a16="http://schemas.microsoft.com/office/drawing/2014/main" id="{861FE8DC-5FD9-CD37-3024-346CC3E47FE5}"/>
              </a:ext>
            </a:extLst>
          </p:cNvPr>
          <p:cNvGrpSpPr>
            <a:grpSpLocks noChangeAspect="1"/>
          </p:cNvGrpSpPr>
          <p:nvPr/>
        </p:nvGrpSpPr>
        <p:grpSpPr>
          <a:xfrm>
            <a:off x="1214002" y="1212507"/>
            <a:ext cx="2928507" cy="3745598"/>
            <a:chOff x="1214002" y="1117072"/>
            <a:chExt cx="3444486" cy="4405541"/>
          </a:xfrm>
        </p:grpSpPr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B7F2501B-0E7D-0D8A-F34A-8BE18DAB63F8}"/>
                </a:ext>
              </a:extLst>
            </p:cNvPr>
            <p:cNvGrpSpPr/>
            <p:nvPr/>
          </p:nvGrpSpPr>
          <p:grpSpPr>
            <a:xfrm rot="18900000" flipH="1">
              <a:off x="1214002" y="1691506"/>
              <a:ext cx="2386552" cy="2434284"/>
              <a:chOff x="3253626" y="1922033"/>
              <a:chExt cx="1031875" cy="1052513"/>
            </a:xfrm>
          </p:grpSpPr>
          <p:sp>
            <p:nvSpPr>
              <p:cNvPr id="60" name="Rechteck 59">
                <a:extLst>
                  <a:ext uri="{FF2B5EF4-FFF2-40B4-BE49-F238E27FC236}">
                    <a16:creationId xmlns:a16="http://schemas.microsoft.com/office/drawing/2014/main" id="{260E0142-C248-A29F-EA04-6350FE803878}"/>
                  </a:ext>
                </a:extLst>
              </p:cNvPr>
              <p:cNvSpPr/>
              <p:nvPr/>
            </p:nvSpPr>
            <p:spPr>
              <a:xfrm rot="18900000">
                <a:off x="3287757" y="2355421"/>
                <a:ext cx="57150" cy="14605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61" name="Rechteck 60">
                <a:extLst>
                  <a:ext uri="{FF2B5EF4-FFF2-40B4-BE49-F238E27FC236}">
                    <a16:creationId xmlns:a16="http://schemas.microsoft.com/office/drawing/2014/main" id="{A44E3171-FA2D-6DD4-4C4C-EDC56299E03F}"/>
                  </a:ext>
                </a:extLst>
              </p:cNvPr>
              <p:cNvSpPr/>
              <p:nvPr/>
            </p:nvSpPr>
            <p:spPr>
              <a:xfrm rot="18900000">
                <a:off x="3721145" y="1922033"/>
                <a:ext cx="57150" cy="14446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62" name="Rechteck 61">
                <a:extLst>
                  <a:ext uri="{FF2B5EF4-FFF2-40B4-BE49-F238E27FC236}">
                    <a16:creationId xmlns:a16="http://schemas.microsoft.com/office/drawing/2014/main" id="{42498137-5844-8D03-7E3D-8788190EA301}"/>
                  </a:ext>
                </a:extLst>
              </p:cNvPr>
              <p:cNvSpPr/>
              <p:nvPr/>
            </p:nvSpPr>
            <p:spPr>
              <a:xfrm rot="18900000">
                <a:off x="4195807" y="2396696"/>
                <a:ext cx="57150" cy="14446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63" name="Rechteck 62">
                <a:extLst>
                  <a:ext uri="{FF2B5EF4-FFF2-40B4-BE49-F238E27FC236}">
                    <a16:creationId xmlns:a16="http://schemas.microsoft.com/office/drawing/2014/main" id="{24568D91-B8F9-DEA8-DC36-BE6071F8B656}"/>
                  </a:ext>
                </a:extLst>
              </p:cNvPr>
              <p:cNvSpPr/>
              <p:nvPr/>
            </p:nvSpPr>
            <p:spPr>
              <a:xfrm rot="18900000">
                <a:off x="3762420" y="2830083"/>
                <a:ext cx="57150" cy="14446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cxnSp>
            <p:nvCxnSpPr>
              <p:cNvPr id="64" name="Gerader Verbinder 63">
                <a:extLst>
                  <a:ext uri="{FF2B5EF4-FFF2-40B4-BE49-F238E27FC236}">
                    <a16:creationId xmlns:a16="http://schemas.microsoft.com/office/drawing/2014/main" id="{DB7EFB16-6238-A38B-C9EB-4396E0AC2CDC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>
                <a:off x="3532232" y="1933146"/>
                <a:ext cx="0" cy="55721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Gerader Verbinder 64">
                <a:extLst>
                  <a:ext uri="{FF2B5EF4-FFF2-40B4-BE49-F238E27FC236}">
                    <a16:creationId xmlns:a16="http://schemas.microsoft.com/office/drawing/2014/main" id="{8F77CB04-EE2B-4177-7A7D-D00B7D231E99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>
                <a:off x="4006895" y="2407808"/>
                <a:ext cx="0" cy="55721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Multiplikationszeichen 65">
                <a:extLst>
                  <a:ext uri="{FF2B5EF4-FFF2-40B4-BE49-F238E27FC236}">
                    <a16:creationId xmlns:a16="http://schemas.microsoft.com/office/drawing/2014/main" id="{0D8CE2EA-3B1B-E5B1-1417-0111CD406F13}"/>
                  </a:ext>
                </a:extLst>
              </p:cNvPr>
              <p:cNvSpPr/>
              <p:nvPr/>
            </p:nvSpPr>
            <p:spPr>
              <a:xfrm rot="18900000">
                <a:off x="3932282" y="2601483"/>
                <a:ext cx="150813" cy="169863"/>
              </a:xfrm>
              <a:prstGeom prst="mathMultiply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53A27063-C84A-9258-E735-9791B0A5F95E}"/>
                  </a:ext>
                </a:extLst>
              </p:cNvPr>
              <p:cNvSpPr/>
              <p:nvPr/>
            </p:nvSpPr>
            <p:spPr>
              <a:xfrm rot="18900000">
                <a:off x="3463970" y="1969658"/>
                <a:ext cx="612775" cy="95885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</p:grpSp>
        <p:sp>
          <p:nvSpPr>
            <p:cNvPr id="59" name="Pfeil: nach rechts 58">
              <a:extLst>
                <a:ext uri="{FF2B5EF4-FFF2-40B4-BE49-F238E27FC236}">
                  <a16:creationId xmlns:a16="http://schemas.microsoft.com/office/drawing/2014/main" id="{D8CB3733-DE86-A898-7DC1-B99E06DE941A}"/>
                </a:ext>
              </a:extLst>
            </p:cNvPr>
            <p:cNvSpPr/>
            <p:nvPr/>
          </p:nvSpPr>
          <p:spPr>
            <a:xfrm rot="16255528">
              <a:off x="1825783" y="2414996"/>
              <a:ext cx="1176474" cy="899228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grpSp>
          <p:nvGrpSpPr>
            <p:cNvPr id="68" name="Gruppieren 67">
              <a:extLst>
                <a:ext uri="{FF2B5EF4-FFF2-40B4-BE49-F238E27FC236}">
                  <a16:creationId xmlns:a16="http://schemas.microsoft.com/office/drawing/2014/main" id="{8F78CC8B-E4A9-A6D3-8A5A-6D0AA7C4690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940057" y="4445650"/>
              <a:ext cx="657885" cy="999165"/>
              <a:chOff x="3381242" y="3744417"/>
              <a:chExt cx="1103736" cy="1676332"/>
            </a:xfrm>
          </p:grpSpPr>
          <p:cxnSp>
            <p:nvCxnSpPr>
              <p:cNvPr id="5" name="Gerader Verbinder 4">
                <a:extLst>
                  <a:ext uri="{FF2B5EF4-FFF2-40B4-BE49-F238E27FC236}">
                    <a16:creationId xmlns:a16="http://schemas.microsoft.com/office/drawing/2014/main" id="{9DD522DB-1504-7E6B-A765-27D851FAE83B}"/>
                  </a:ext>
                </a:extLst>
              </p:cNvPr>
              <p:cNvCxnSpPr/>
              <p:nvPr/>
            </p:nvCxnSpPr>
            <p:spPr>
              <a:xfrm>
                <a:off x="3461495" y="4115851"/>
                <a:ext cx="989941" cy="0"/>
              </a:xfrm>
              <a:prstGeom prst="line">
                <a:avLst/>
              </a:prstGeom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Gerader Verbinder 5">
                <a:extLst>
                  <a:ext uri="{FF2B5EF4-FFF2-40B4-BE49-F238E27FC236}">
                    <a16:creationId xmlns:a16="http://schemas.microsoft.com/office/drawing/2014/main" id="{875B2A9B-460B-396B-E6EB-AAA02DF8AA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6465" y="3785394"/>
                <a:ext cx="0" cy="1635355"/>
              </a:xfrm>
              <a:prstGeom prst="line">
                <a:avLst/>
              </a:prstGeom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ED8CA1B4-80D3-5831-AD61-5B52178E41EC}"/>
                  </a:ext>
                </a:extLst>
              </p:cNvPr>
              <p:cNvSpPr/>
              <p:nvPr/>
            </p:nvSpPr>
            <p:spPr>
              <a:xfrm rot="5400000">
                <a:off x="3140042" y="4109355"/>
                <a:ext cx="1633530" cy="989257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cxnSp>
            <p:nvCxnSpPr>
              <p:cNvPr id="8" name="Gerader Verbinder 7">
                <a:extLst>
                  <a:ext uri="{FF2B5EF4-FFF2-40B4-BE49-F238E27FC236}">
                    <a16:creationId xmlns:a16="http://schemas.microsoft.com/office/drawing/2014/main" id="{838DA103-843D-4986-A5EA-E14030D9A990}"/>
                  </a:ext>
                </a:extLst>
              </p:cNvPr>
              <p:cNvCxnSpPr/>
              <p:nvPr/>
            </p:nvCxnSpPr>
            <p:spPr>
              <a:xfrm>
                <a:off x="3461495" y="5043832"/>
                <a:ext cx="989941" cy="0"/>
              </a:xfrm>
              <a:prstGeom prst="line">
                <a:avLst/>
              </a:prstGeom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1BC5DCDF-07DF-FAF0-46C4-345A75C80284}"/>
                  </a:ext>
                </a:extLst>
              </p:cNvPr>
              <p:cNvSpPr/>
              <p:nvPr/>
            </p:nvSpPr>
            <p:spPr>
              <a:xfrm>
                <a:off x="3428272" y="4934496"/>
                <a:ext cx="65761" cy="22860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0FB9330F-FD16-5146-FC9A-EC0D0A70215C}"/>
                  </a:ext>
                </a:extLst>
              </p:cNvPr>
              <p:cNvSpPr/>
              <p:nvPr/>
            </p:nvSpPr>
            <p:spPr>
              <a:xfrm>
                <a:off x="4419217" y="4934496"/>
                <a:ext cx="65761" cy="22860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A51DAB93-A4AE-AAFA-584B-2E4C4965E546}"/>
                  </a:ext>
                </a:extLst>
              </p:cNvPr>
              <p:cNvSpPr/>
              <p:nvPr/>
            </p:nvSpPr>
            <p:spPr>
              <a:xfrm>
                <a:off x="3427952" y="4002347"/>
                <a:ext cx="65761" cy="22860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A0F185BF-EE03-B184-CA0E-D343DEC05D76}"/>
                  </a:ext>
                </a:extLst>
              </p:cNvPr>
              <p:cNvSpPr/>
              <p:nvPr/>
            </p:nvSpPr>
            <p:spPr>
              <a:xfrm>
                <a:off x="4419217" y="4002347"/>
                <a:ext cx="65761" cy="22860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grpSp>
            <p:nvGrpSpPr>
              <p:cNvPr id="13" name="Gruppieren 12">
                <a:extLst>
                  <a:ext uri="{FF2B5EF4-FFF2-40B4-BE49-F238E27FC236}">
                    <a16:creationId xmlns:a16="http://schemas.microsoft.com/office/drawing/2014/main" id="{0E4A203B-3FAA-CDC7-1814-D8661B4E2805}"/>
                  </a:ext>
                </a:extLst>
              </p:cNvPr>
              <p:cNvGrpSpPr/>
              <p:nvPr/>
            </p:nvGrpSpPr>
            <p:grpSpPr>
              <a:xfrm rot="18000000">
                <a:off x="3411158" y="3714501"/>
                <a:ext cx="99450" cy="159282"/>
                <a:chOff x="5930220" y="5868114"/>
                <a:chExt cx="331435" cy="466063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14" name="Rechteck 13">
                  <a:extLst>
                    <a:ext uri="{FF2B5EF4-FFF2-40B4-BE49-F238E27FC236}">
                      <a16:creationId xmlns:a16="http://schemas.microsoft.com/office/drawing/2014/main" id="{E91F5035-FEF2-681F-93D9-498D1B8D946B}"/>
                    </a:ext>
                  </a:extLst>
                </p:cNvPr>
                <p:cNvSpPr/>
                <p:nvPr/>
              </p:nvSpPr>
              <p:spPr>
                <a:xfrm>
                  <a:off x="5930220" y="6041221"/>
                  <a:ext cx="331435" cy="292956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Flussdiagramm: Manuelle Verarbeitung 14">
                  <a:extLst>
                    <a:ext uri="{FF2B5EF4-FFF2-40B4-BE49-F238E27FC236}">
                      <a16:creationId xmlns:a16="http://schemas.microsoft.com/office/drawing/2014/main" id="{A0ADEF77-EBE5-D94E-0641-127BAC0F263A}"/>
                    </a:ext>
                  </a:extLst>
                </p:cNvPr>
                <p:cNvSpPr/>
                <p:nvPr/>
              </p:nvSpPr>
              <p:spPr>
                <a:xfrm>
                  <a:off x="5961297" y="5868114"/>
                  <a:ext cx="269287" cy="173107"/>
                </a:xfrm>
                <a:prstGeom prst="flowChartManualOperation">
                  <a:avLst/>
                </a:prstGeom>
                <a:grp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4" name="Multiplikationszeichen 33">
                <a:extLst>
                  <a:ext uri="{FF2B5EF4-FFF2-40B4-BE49-F238E27FC236}">
                    <a16:creationId xmlns:a16="http://schemas.microsoft.com/office/drawing/2014/main" id="{011CA8E3-E337-E8A7-B8D2-4BFC559A712D}"/>
                  </a:ext>
                </a:extLst>
              </p:cNvPr>
              <p:cNvSpPr/>
              <p:nvPr/>
            </p:nvSpPr>
            <p:spPr>
              <a:xfrm flipH="1">
                <a:off x="3881058" y="4963171"/>
                <a:ext cx="150813" cy="169863"/>
              </a:xfrm>
              <a:prstGeom prst="mathMultiply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</p:grpSp>
        <p:sp>
          <p:nvSpPr>
            <p:cNvPr id="69" name="Raute 68">
              <a:extLst>
                <a:ext uri="{FF2B5EF4-FFF2-40B4-BE49-F238E27FC236}">
                  <a16:creationId xmlns:a16="http://schemas.microsoft.com/office/drawing/2014/main" id="{DA8C8CF1-BDA5-1C39-350C-C664FEB7F13A}"/>
                </a:ext>
              </a:extLst>
            </p:cNvPr>
            <p:cNvSpPr/>
            <p:nvPr/>
          </p:nvSpPr>
          <p:spPr>
            <a:xfrm>
              <a:off x="3025252" y="3930204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70" name="Raute 69">
              <a:extLst>
                <a:ext uri="{FF2B5EF4-FFF2-40B4-BE49-F238E27FC236}">
                  <a16:creationId xmlns:a16="http://schemas.microsoft.com/office/drawing/2014/main" id="{5D686817-BC92-E7C8-7A2D-D107205549E8}"/>
                </a:ext>
              </a:extLst>
            </p:cNvPr>
            <p:cNvSpPr/>
            <p:nvPr/>
          </p:nvSpPr>
          <p:spPr>
            <a:xfrm>
              <a:off x="1609806" y="3930204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72" name="Raute 71">
              <a:extLst>
                <a:ext uri="{FF2B5EF4-FFF2-40B4-BE49-F238E27FC236}">
                  <a16:creationId xmlns:a16="http://schemas.microsoft.com/office/drawing/2014/main" id="{5D0C8924-4F55-758A-E80F-08CAA5309560}"/>
                </a:ext>
              </a:extLst>
            </p:cNvPr>
            <p:cNvSpPr/>
            <p:nvPr/>
          </p:nvSpPr>
          <p:spPr>
            <a:xfrm>
              <a:off x="2317277" y="2774610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73" name="Raute 72">
              <a:extLst>
                <a:ext uri="{FF2B5EF4-FFF2-40B4-BE49-F238E27FC236}">
                  <a16:creationId xmlns:a16="http://schemas.microsoft.com/office/drawing/2014/main" id="{60ADB3C4-7F88-9A35-15BF-A63D7B0F6EEF}"/>
                </a:ext>
              </a:extLst>
            </p:cNvPr>
            <p:cNvSpPr/>
            <p:nvPr/>
          </p:nvSpPr>
          <p:spPr>
            <a:xfrm>
              <a:off x="3024749" y="1714970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79" name="Rechteck 78">
              <a:extLst>
                <a:ext uri="{FF2B5EF4-FFF2-40B4-BE49-F238E27FC236}">
                  <a16:creationId xmlns:a16="http://schemas.microsoft.com/office/drawing/2014/main" id="{640C24AD-0594-B7F6-5BF1-65AF0CBD5D6A}"/>
                </a:ext>
              </a:extLst>
            </p:cNvPr>
            <p:cNvSpPr/>
            <p:nvPr/>
          </p:nvSpPr>
          <p:spPr>
            <a:xfrm>
              <a:off x="1497449" y="1665177"/>
              <a:ext cx="3161039" cy="385743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80" name="Rechteck 79">
              <a:extLst>
                <a:ext uri="{FF2B5EF4-FFF2-40B4-BE49-F238E27FC236}">
                  <a16:creationId xmlns:a16="http://schemas.microsoft.com/office/drawing/2014/main" id="{46E91B5A-C72C-3D68-D6D4-3D33D2B480DB}"/>
                </a:ext>
              </a:extLst>
            </p:cNvPr>
            <p:cNvSpPr/>
            <p:nvPr/>
          </p:nvSpPr>
          <p:spPr>
            <a:xfrm>
              <a:off x="1497450" y="1117072"/>
              <a:ext cx="3161038" cy="549219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sch Office Sans"/>
                  <a:ea typeface="+mn-ea"/>
                  <a:cs typeface="+mn-cs"/>
                </a:rPr>
                <a:t>L-Shape </a:t>
              </a:r>
              <a:r>
                <a:rPr kumimoji="0" lang="de-DE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sch Office Sans"/>
                  <a:ea typeface="+mn-ea"/>
                  <a:cs typeface="+mn-cs"/>
                </a:rPr>
                <a:t>detected</a:t>
              </a: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9BBB837A-535D-ECCD-CD46-9B2F83AC7D07}"/>
              </a:ext>
            </a:extLst>
          </p:cNvPr>
          <p:cNvGrpSpPr>
            <a:grpSpLocks noChangeAspect="1"/>
          </p:cNvGrpSpPr>
          <p:nvPr/>
        </p:nvGrpSpPr>
        <p:grpSpPr>
          <a:xfrm>
            <a:off x="8615246" y="4042457"/>
            <a:ext cx="559359" cy="849532"/>
            <a:chOff x="3381191" y="3744363"/>
            <a:chExt cx="1103787" cy="1676387"/>
          </a:xfrm>
        </p:grpSpPr>
        <p:cxnSp>
          <p:nvCxnSpPr>
            <p:cNvPr id="177" name="Gerader Verbinder 176">
              <a:extLst>
                <a:ext uri="{FF2B5EF4-FFF2-40B4-BE49-F238E27FC236}">
                  <a16:creationId xmlns:a16="http://schemas.microsoft.com/office/drawing/2014/main" id="{E21B0CBC-C11B-E43A-9378-166C0CEC7752}"/>
                </a:ext>
              </a:extLst>
            </p:cNvPr>
            <p:cNvCxnSpPr/>
            <p:nvPr/>
          </p:nvCxnSpPr>
          <p:spPr>
            <a:xfrm>
              <a:off x="3461495" y="4115851"/>
              <a:ext cx="989941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Gerader Verbinder 177">
              <a:extLst>
                <a:ext uri="{FF2B5EF4-FFF2-40B4-BE49-F238E27FC236}">
                  <a16:creationId xmlns:a16="http://schemas.microsoft.com/office/drawing/2014/main" id="{6026BA6B-605D-1C28-D40A-6CE2D4ECFCAD}"/>
                </a:ext>
              </a:extLst>
            </p:cNvPr>
            <p:cNvCxnSpPr>
              <a:cxnSpLocks/>
            </p:cNvCxnSpPr>
            <p:nvPr/>
          </p:nvCxnSpPr>
          <p:spPr>
            <a:xfrm>
              <a:off x="3956465" y="3785394"/>
              <a:ext cx="0" cy="1635355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Rechteck 178">
              <a:extLst>
                <a:ext uri="{FF2B5EF4-FFF2-40B4-BE49-F238E27FC236}">
                  <a16:creationId xmlns:a16="http://schemas.microsoft.com/office/drawing/2014/main" id="{6F3FE338-F577-E553-1A9E-B9569D1A0F6F}"/>
                </a:ext>
              </a:extLst>
            </p:cNvPr>
            <p:cNvSpPr/>
            <p:nvPr/>
          </p:nvSpPr>
          <p:spPr>
            <a:xfrm rot="5400000">
              <a:off x="3140044" y="4109356"/>
              <a:ext cx="1633531" cy="989257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80" name="Gerader Verbinder 179">
              <a:extLst>
                <a:ext uri="{FF2B5EF4-FFF2-40B4-BE49-F238E27FC236}">
                  <a16:creationId xmlns:a16="http://schemas.microsoft.com/office/drawing/2014/main" id="{BE35DF97-33EE-A279-4D01-28BD9BE79E1A}"/>
                </a:ext>
              </a:extLst>
            </p:cNvPr>
            <p:cNvCxnSpPr/>
            <p:nvPr/>
          </p:nvCxnSpPr>
          <p:spPr>
            <a:xfrm>
              <a:off x="3461495" y="5043832"/>
              <a:ext cx="989941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Rechteck 180">
              <a:extLst>
                <a:ext uri="{FF2B5EF4-FFF2-40B4-BE49-F238E27FC236}">
                  <a16:creationId xmlns:a16="http://schemas.microsoft.com/office/drawing/2014/main" id="{2ABDA47B-2168-1A23-1C56-2E0E086EB39F}"/>
                </a:ext>
              </a:extLst>
            </p:cNvPr>
            <p:cNvSpPr/>
            <p:nvPr/>
          </p:nvSpPr>
          <p:spPr>
            <a:xfrm>
              <a:off x="3428272" y="4934496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82" name="Rechteck 181">
              <a:extLst>
                <a:ext uri="{FF2B5EF4-FFF2-40B4-BE49-F238E27FC236}">
                  <a16:creationId xmlns:a16="http://schemas.microsoft.com/office/drawing/2014/main" id="{122A3817-9BC9-E899-031D-F4CAB53B59F6}"/>
                </a:ext>
              </a:extLst>
            </p:cNvPr>
            <p:cNvSpPr/>
            <p:nvPr/>
          </p:nvSpPr>
          <p:spPr>
            <a:xfrm>
              <a:off x="4419217" y="4934496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83" name="Rechteck 182">
              <a:extLst>
                <a:ext uri="{FF2B5EF4-FFF2-40B4-BE49-F238E27FC236}">
                  <a16:creationId xmlns:a16="http://schemas.microsoft.com/office/drawing/2014/main" id="{7FFA1646-7573-3FFD-D1EF-450265866979}"/>
                </a:ext>
              </a:extLst>
            </p:cNvPr>
            <p:cNvSpPr/>
            <p:nvPr/>
          </p:nvSpPr>
          <p:spPr>
            <a:xfrm>
              <a:off x="3427952" y="4002347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84" name="Rechteck 183">
              <a:extLst>
                <a:ext uri="{FF2B5EF4-FFF2-40B4-BE49-F238E27FC236}">
                  <a16:creationId xmlns:a16="http://schemas.microsoft.com/office/drawing/2014/main" id="{68FB8078-D4A2-B400-E1B8-A8373A4FDB95}"/>
                </a:ext>
              </a:extLst>
            </p:cNvPr>
            <p:cNvSpPr/>
            <p:nvPr/>
          </p:nvSpPr>
          <p:spPr>
            <a:xfrm>
              <a:off x="4419217" y="4002347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grpSp>
          <p:nvGrpSpPr>
            <p:cNvPr id="185" name="Gruppieren 184">
              <a:extLst>
                <a:ext uri="{FF2B5EF4-FFF2-40B4-BE49-F238E27FC236}">
                  <a16:creationId xmlns:a16="http://schemas.microsoft.com/office/drawing/2014/main" id="{102756D9-5FA7-61CC-B0DB-03495B905BE8}"/>
                </a:ext>
              </a:extLst>
            </p:cNvPr>
            <p:cNvGrpSpPr/>
            <p:nvPr/>
          </p:nvGrpSpPr>
          <p:grpSpPr>
            <a:xfrm rot="18000000">
              <a:off x="3411107" y="3714447"/>
              <a:ext cx="99450" cy="159281"/>
              <a:chOff x="5930281" y="5868140"/>
              <a:chExt cx="331435" cy="466076"/>
            </a:xfrm>
            <a:solidFill>
              <a:schemeClr val="bg1">
                <a:lumMod val="65000"/>
              </a:schemeClr>
            </a:solidFill>
          </p:grpSpPr>
          <p:sp>
            <p:nvSpPr>
              <p:cNvPr id="187" name="Rechteck 186">
                <a:extLst>
                  <a:ext uri="{FF2B5EF4-FFF2-40B4-BE49-F238E27FC236}">
                    <a16:creationId xmlns:a16="http://schemas.microsoft.com/office/drawing/2014/main" id="{026A5B96-AD93-7B60-70A9-D3CFD82D2F5D}"/>
                  </a:ext>
                </a:extLst>
              </p:cNvPr>
              <p:cNvSpPr/>
              <p:nvPr/>
            </p:nvSpPr>
            <p:spPr>
              <a:xfrm>
                <a:off x="5930281" y="6041253"/>
                <a:ext cx="331435" cy="292963"/>
              </a:xfrm>
              <a:prstGeom prst="rect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8" name="Flussdiagramm: Manuelle Verarbeitung 187">
                <a:extLst>
                  <a:ext uri="{FF2B5EF4-FFF2-40B4-BE49-F238E27FC236}">
                    <a16:creationId xmlns:a16="http://schemas.microsoft.com/office/drawing/2014/main" id="{2CCB0B3A-088C-FA83-4010-C37129A96FC6}"/>
                  </a:ext>
                </a:extLst>
              </p:cNvPr>
              <p:cNvSpPr/>
              <p:nvPr/>
            </p:nvSpPr>
            <p:spPr>
              <a:xfrm>
                <a:off x="5961353" y="5868140"/>
                <a:ext cx="269289" cy="173113"/>
              </a:xfrm>
              <a:prstGeom prst="flowChartManualOperation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6" name="Multiplikationszeichen 185">
              <a:extLst>
                <a:ext uri="{FF2B5EF4-FFF2-40B4-BE49-F238E27FC236}">
                  <a16:creationId xmlns:a16="http://schemas.microsoft.com/office/drawing/2014/main" id="{F496AAE8-F523-0C1D-02B1-58BE7C21D248}"/>
                </a:ext>
              </a:extLst>
            </p:cNvPr>
            <p:cNvSpPr/>
            <p:nvPr/>
          </p:nvSpPr>
          <p:spPr>
            <a:xfrm flipH="1">
              <a:off x="3881058" y="4963171"/>
              <a:ext cx="150813" cy="169863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grpSp>
        <p:nvGrpSpPr>
          <p:cNvPr id="162" name="Gruppieren 161">
            <a:extLst>
              <a:ext uri="{FF2B5EF4-FFF2-40B4-BE49-F238E27FC236}">
                <a16:creationId xmlns:a16="http://schemas.microsoft.com/office/drawing/2014/main" id="{5CD3E4BA-8C73-A045-3DA0-08BB12B54018}"/>
              </a:ext>
            </a:extLst>
          </p:cNvPr>
          <p:cNvGrpSpPr>
            <a:grpSpLocks noChangeAspect="1"/>
          </p:cNvGrpSpPr>
          <p:nvPr/>
        </p:nvGrpSpPr>
        <p:grpSpPr>
          <a:xfrm rot="18900000">
            <a:off x="7156352" y="1706296"/>
            <a:ext cx="2029050" cy="2069632"/>
            <a:chOff x="6380356" y="3178439"/>
            <a:chExt cx="1031875" cy="1052513"/>
          </a:xfrm>
        </p:grpSpPr>
        <p:grpSp>
          <p:nvGrpSpPr>
            <p:cNvPr id="189" name="Gruppieren 188">
              <a:extLst>
                <a:ext uri="{FF2B5EF4-FFF2-40B4-BE49-F238E27FC236}">
                  <a16:creationId xmlns:a16="http://schemas.microsoft.com/office/drawing/2014/main" id="{13233CAB-52B8-1FD4-393E-8645E96CD4BD}"/>
                </a:ext>
              </a:extLst>
            </p:cNvPr>
            <p:cNvGrpSpPr/>
            <p:nvPr/>
          </p:nvGrpSpPr>
          <p:grpSpPr>
            <a:xfrm flipH="1">
              <a:off x="6380356" y="3178439"/>
              <a:ext cx="1031875" cy="1052513"/>
              <a:chOff x="3253626" y="1922033"/>
              <a:chExt cx="1031875" cy="1052513"/>
            </a:xfrm>
          </p:grpSpPr>
          <p:sp>
            <p:nvSpPr>
              <p:cNvPr id="191" name="Rechteck 190">
                <a:extLst>
                  <a:ext uri="{FF2B5EF4-FFF2-40B4-BE49-F238E27FC236}">
                    <a16:creationId xmlns:a16="http://schemas.microsoft.com/office/drawing/2014/main" id="{606EACD7-916E-4C5C-A8F4-F88BAD62B283}"/>
                  </a:ext>
                </a:extLst>
              </p:cNvPr>
              <p:cNvSpPr/>
              <p:nvPr/>
            </p:nvSpPr>
            <p:spPr>
              <a:xfrm rot="18900000">
                <a:off x="3287757" y="2355421"/>
                <a:ext cx="57150" cy="14605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92" name="Rechteck 191">
                <a:extLst>
                  <a:ext uri="{FF2B5EF4-FFF2-40B4-BE49-F238E27FC236}">
                    <a16:creationId xmlns:a16="http://schemas.microsoft.com/office/drawing/2014/main" id="{26FB1F74-4951-CE91-D0C1-98F427D02716}"/>
                  </a:ext>
                </a:extLst>
              </p:cNvPr>
              <p:cNvSpPr/>
              <p:nvPr/>
            </p:nvSpPr>
            <p:spPr>
              <a:xfrm rot="18900000">
                <a:off x="3721145" y="1922033"/>
                <a:ext cx="57150" cy="14446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93" name="Rechteck 192">
                <a:extLst>
                  <a:ext uri="{FF2B5EF4-FFF2-40B4-BE49-F238E27FC236}">
                    <a16:creationId xmlns:a16="http://schemas.microsoft.com/office/drawing/2014/main" id="{35FE62EF-4182-B85E-A3C5-FE27BAB449C8}"/>
                  </a:ext>
                </a:extLst>
              </p:cNvPr>
              <p:cNvSpPr/>
              <p:nvPr/>
            </p:nvSpPr>
            <p:spPr>
              <a:xfrm rot="18900000">
                <a:off x="4195807" y="2396696"/>
                <a:ext cx="57150" cy="14446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94" name="Rechteck 193">
                <a:extLst>
                  <a:ext uri="{FF2B5EF4-FFF2-40B4-BE49-F238E27FC236}">
                    <a16:creationId xmlns:a16="http://schemas.microsoft.com/office/drawing/2014/main" id="{0DC2805B-F417-5B0F-974C-D8BEA8B82E0C}"/>
                  </a:ext>
                </a:extLst>
              </p:cNvPr>
              <p:cNvSpPr/>
              <p:nvPr/>
            </p:nvSpPr>
            <p:spPr>
              <a:xfrm rot="18900000">
                <a:off x="3762420" y="2830083"/>
                <a:ext cx="57150" cy="14446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cxnSp>
            <p:nvCxnSpPr>
              <p:cNvPr id="195" name="Gerader Verbinder 194">
                <a:extLst>
                  <a:ext uri="{FF2B5EF4-FFF2-40B4-BE49-F238E27FC236}">
                    <a16:creationId xmlns:a16="http://schemas.microsoft.com/office/drawing/2014/main" id="{DFE5B459-3A37-30A1-B683-813C2A03CAE7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>
                <a:off x="3532232" y="1933146"/>
                <a:ext cx="0" cy="55721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Gerader Verbinder 195">
                <a:extLst>
                  <a:ext uri="{FF2B5EF4-FFF2-40B4-BE49-F238E27FC236}">
                    <a16:creationId xmlns:a16="http://schemas.microsoft.com/office/drawing/2014/main" id="{1183248E-56BB-1D2F-785A-7BBDE8DB1396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>
                <a:off x="4006895" y="2407808"/>
                <a:ext cx="0" cy="55721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" name="Multiplikationszeichen 196">
                <a:extLst>
                  <a:ext uri="{FF2B5EF4-FFF2-40B4-BE49-F238E27FC236}">
                    <a16:creationId xmlns:a16="http://schemas.microsoft.com/office/drawing/2014/main" id="{27A4FAB0-3AE5-108A-2830-CF194D093899}"/>
                  </a:ext>
                </a:extLst>
              </p:cNvPr>
              <p:cNvSpPr/>
              <p:nvPr/>
            </p:nvSpPr>
            <p:spPr>
              <a:xfrm rot="18900000">
                <a:off x="3932282" y="2601483"/>
                <a:ext cx="150813" cy="169863"/>
              </a:xfrm>
              <a:prstGeom prst="mathMultiply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98" name="Rechteck 197">
                <a:extLst>
                  <a:ext uri="{FF2B5EF4-FFF2-40B4-BE49-F238E27FC236}">
                    <a16:creationId xmlns:a16="http://schemas.microsoft.com/office/drawing/2014/main" id="{21C7F119-722C-0B76-9143-434A94886AE8}"/>
                  </a:ext>
                </a:extLst>
              </p:cNvPr>
              <p:cNvSpPr/>
              <p:nvPr/>
            </p:nvSpPr>
            <p:spPr>
              <a:xfrm rot="18900000">
                <a:off x="3463970" y="1969658"/>
                <a:ext cx="612775" cy="95885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</p:grpSp>
        <p:sp>
          <p:nvSpPr>
            <p:cNvPr id="190" name="Pfeil: nach rechts 189">
              <a:extLst>
                <a:ext uri="{FF2B5EF4-FFF2-40B4-BE49-F238E27FC236}">
                  <a16:creationId xmlns:a16="http://schemas.microsoft.com/office/drawing/2014/main" id="{2DDC69BC-209B-53DF-358D-7EA13F33CDEE}"/>
                </a:ext>
              </a:extLst>
            </p:cNvPr>
            <p:cNvSpPr/>
            <p:nvPr/>
          </p:nvSpPr>
          <p:spPr>
            <a:xfrm rot="18955528">
              <a:off x="6657482" y="3498893"/>
              <a:ext cx="508673" cy="3888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sp>
        <p:nvSpPr>
          <p:cNvPr id="165" name="Raute 164">
            <a:extLst>
              <a:ext uri="{FF2B5EF4-FFF2-40B4-BE49-F238E27FC236}">
                <a16:creationId xmlns:a16="http://schemas.microsoft.com/office/drawing/2014/main" id="{1A2F0342-AECD-0FB9-031B-B10034A608A3}"/>
              </a:ext>
            </a:extLst>
          </p:cNvPr>
          <p:cNvSpPr/>
          <p:nvPr/>
        </p:nvSpPr>
        <p:spPr>
          <a:xfrm>
            <a:off x="8695851" y="3609640"/>
            <a:ext cx="153036" cy="153036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66" name="Raute 165">
            <a:extLst>
              <a:ext uri="{FF2B5EF4-FFF2-40B4-BE49-F238E27FC236}">
                <a16:creationId xmlns:a16="http://schemas.microsoft.com/office/drawing/2014/main" id="{4B043E8E-A91C-F0FF-09E3-7DC8D1BA2102}"/>
              </a:ext>
            </a:extLst>
          </p:cNvPr>
          <p:cNvSpPr/>
          <p:nvPr/>
        </p:nvSpPr>
        <p:spPr>
          <a:xfrm>
            <a:off x="7492865" y="3609640"/>
            <a:ext cx="153036" cy="153036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67" name="Raute 166">
            <a:extLst>
              <a:ext uri="{FF2B5EF4-FFF2-40B4-BE49-F238E27FC236}">
                <a16:creationId xmlns:a16="http://schemas.microsoft.com/office/drawing/2014/main" id="{A414C572-450E-4627-35D4-98F1A79D31DD}"/>
              </a:ext>
            </a:extLst>
          </p:cNvPr>
          <p:cNvSpPr/>
          <p:nvPr/>
        </p:nvSpPr>
        <p:spPr>
          <a:xfrm>
            <a:off x="8094358" y="3609640"/>
            <a:ext cx="153036" cy="153036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68" name="Raute 167">
            <a:extLst>
              <a:ext uri="{FF2B5EF4-FFF2-40B4-BE49-F238E27FC236}">
                <a16:creationId xmlns:a16="http://schemas.microsoft.com/office/drawing/2014/main" id="{452ACBF8-8713-E7ED-CB6F-281A6D4385D0}"/>
              </a:ext>
            </a:extLst>
          </p:cNvPr>
          <p:cNvSpPr/>
          <p:nvPr/>
        </p:nvSpPr>
        <p:spPr>
          <a:xfrm>
            <a:off x="8094358" y="2627152"/>
            <a:ext cx="153036" cy="153036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75" name="Rechteck 174">
            <a:extLst>
              <a:ext uri="{FF2B5EF4-FFF2-40B4-BE49-F238E27FC236}">
                <a16:creationId xmlns:a16="http://schemas.microsoft.com/office/drawing/2014/main" id="{E78DE20E-94D0-6AE1-84FB-A06058D890D7}"/>
              </a:ext>
            </a:extLst>
          </p:cNvPr>
          <p:cNvSpPr/>
          <p:nvPr/>
        </p:nvSpPr>
        <p:spPr>
          <a:xfrm>
            <a:off x="6827117" y="1678507"/>
            <a:ext cx="2687520" cy="327959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76" name="Rechteck 175">
            <a:extLst>
              <a:ext uri="{FF2B5EF4-FFF2-40B4-BE49-F238E27FC236}">
                <a16:creationId xmlns:a16="http://schemas.microsoft.com/office/drawing/2014/main" id="{917B8609-52E4-00E3-3839-CEF99A6FB3D8}"/>
              </a:ext>
            </a:extLst>
          </p:cNvPr>
          <p:cNvSpPr/>
          <p:nvPr/>
        </p:nvSpPr>
        <p:spPr>
          <a:xfrm>
            <a:off x="6827118" y="1212507"/>
            <a:ext cx="2687519" cy="4669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One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Side </a:t>
            </a: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detected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8" name="Raute 17">
            <a:extLst>
              <a:ext uri="{FF2B5EF4-FFF2-40B4-BE49-F238E27FC236}">
                <a16:creationId xmlns:a16="http://schemas.microsoft.com/office/drawing/2014/main" id="{C39F4ED5-8E10-3ED9-702F-CD8E9DA5920B}"/>
              </a:ext>
            </a:extLst>
          </p:cNvPr>
          <p:cNvSpPr/>
          <p:nvPr/>
        </p:nvSpPr>
        <p:spPr>
          <a:xfrm>
            <a:off x="9241370" y="303012"/>
            <a:ext cx="180000" cy="180000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4F68873-D561-D73E-11A9-11EF616B0F7C}"/>
              </a:ext>
            </a:extLst>
          </p:cNvPr>
          <p:cNvSpPr txBox="1"/>
          <p:nvPr/>
        </p:nvSpPr>
        <p:spPr>
          <a:xfrm>
            <a:off x="9609100" y="251118"/>
            <a:ext cx="914400" cy="2938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Location</a:t>
            </a:r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7D8DB00D-15CC-0D3E-11A4-812AA025F6DC}"/>
              </a:ext>
            </a:extLst>
          </p:cNvPr>
          <p:cNvGrpSpPr>
            <a:grpSpLocks noChangeAspect="1"/>
          </p:cNvGrpSpPr>
          <p:nvPr/>
        </p:nvGrpSpPr>
        <p:grpSpPr>
          <a:xfrm>
            <a:off x="5948665" y="146704"/>
            <a:ext cx="324354" cy="492616"/>
            <a:chOff x="3381191" y="3744363"/>
            <a:chExt cx="1103787" cy="1676386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1796FD1C-D1B4-63F6-91BF-769C544E3183}"/>
                </a:ext>
              </a:extLst>
            </p:cNvPr>
            <p:cNvCxnSpPr/>
            <p:nvPr/>
          </p:nvCxnSpPr>
          <p:spPr>
            <a:xfrm>
              <a:off x="3461495" y="4115851"/>
              <a:ext cx="989941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E55DF039-B724-E698-C425-F01BEA3EC58F}"/>
                </a:ext>
              </a:extLst>
            </p:cNvPr>
            <p:cNvCxnSpPr>
              <a:cxnSpLocks/>
            </p:cNvCxnSpPr>
            <p:nvPr/>
          </p:nvCxnSpPr>
          <p:spPr>
            <a:xfrm>
              <a:off x="3956465" y="3785394"/>
              <a:ext cx="0" cy="1635355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E89F6BCA-5ACC-C716-408F-49E7206D665A}"/>
                </a:ext>
              </a:extLst>
            </p:cNvPr>
            <p:cNvSpPr/>
            <p:nvPr/>
          </p:nvSpPr>
          <p:spPr>
            <a:xfrm rot="5400000">
              <a:off x="3140042" y="4109355"/>
              <a:ext cx="1633530" cy="989257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460720B-ADF2-DEBF-0203-6A15BE20B976}"/>
                </a:ext>
              </a:extLst>
            </p:cNvPr>
            <p:cNvCxnSpPr/>
            <p:nvPr/>
          </p:nvCxnSpPr>
          <p:spPr>
            <a:xfrm>
              <a:off x="3461495" y="5043832"/>
              <a:ext cx="989941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FB43A681-7D36-2527-2425-7C14D96B13FE}"/>
                </a:ext>
              </a:extLst>
            </p:cNvPr>
            <p:cNvSpPr/>
            <p:nvPr/>
          </p:nvSpPr>
          <p:spPr>
            <a:xfrm>
              <a:off x="3428272" y="4934496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7B41C7F8-4655-CBB4-55B9-9B22009A2476}"/>
                </a:ext>
              </a:extLst>
            </p:cNvPr>
            <p:cNvSpPr/>
            <p:nvPr/>
          </p:nvSpPr>
          <p:spPr>
            <a:xfrm>
              <a:off x="4419217" y="4934496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6A34080F-6930-7722-D453-6563ECAA4F6A}"/>
                </a:ext>
              </a:extLst>
            </p:cNvPr>
            <p:cNvSpPr/>
            <p:nvPr/>
          </p:nvSpPr>
          <p:spPr>
            <a:xfrm>
              <a:off x="3427952" y="4002347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26097F89-94C8-2EBB-1DC4-607812412411}"/>
                </a:ext>
              </a:extLst>
            </p:cNvPr>
            <p:cNvSpPr/>
            <p:nvPr/>
          </p:nvSpPr>
          <p:spPr>
            <a:xfrm>
              <a:off x="4419217" y="4002347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38A2334D-86B1-E582-2341-CC8D0FFB7829}"/>
                </a:ext>
              </a:extLst>
            </p:cNvPr>
            <p:cNvGrpSpPr/>
            <p:nvPr/>
          </p:nvGrpSpPr>
          <p:grpSpPr>
            <a:xfrm rot="18000000">
              <a:off x="3411107" y="3714447"/>
              <a:ext cx="99450" cy="159281"/>
              <a:chOff x="5930281" y="5868140"/>
              <a:chExt cx="331435" cy="466076"/>
            </a:xfrm>
            <a:solidFill>
              <a:schemeClr val="bg1">
                <a:lumMod val="65000"/>
              </a:schemeClr>
            </a:solidFill>
          </p:grpSpPr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ADA69F2B-D161-6E88-52AC-D71512402EB5}"/>
                  </a:ext>
                </a:extLst>
              </p:cNvPr>
              <p:cNvSpPr/>
              <p:nvPr/>
            </p:nvSpPr>
            <p:spPr>
              <a:xfrm>
                <a:off x="5930281" y="6041253"/>
                <a:ext cx="331435" cy="292963"/>
              </a:xfrm>
              <a:prstGeom prst="rect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Flussdiagramm: Manuelle Verarbeitung 31">
                <a:extLst>
                  <a:ext uri="{FF2B5EF4-FFF2-40B4-BE49-F238E27FC236}">
                    <a16:creationId xmlns:a16="http://schemas.microsoft.com/office/drawing/2014/main" id="{ADA150D8-0D78-FED1-8615-7DB75EF4BEB7}"/>
                  </a:ext>
                </a:extLst>
              </p:cNvPr>
              <p:cNvSpPr/>
              <p:nvPr/>
            </p:nvSpPr>
            <p:spPr>
              <a:xfrm>
                <a:off x="5961353" y="5868140"/>
                <a:ext cx="269289" cy="173113"/>
              </a:xfrm>
              <a:prstGeom prst="flowChartManualOperation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0" name="Multiplikationszeichen 29">
              <a:extLst>
                <a:ext uri="{FF2B5EF4-FFF2-40B4-BE49-F238E27FC236}">
                  <a16:creationId xmlns:a16="http://schemas.microsoft.com/office/drawing/2014/main" id="{E070DCA7-BF71-2733-C7E8-893654C9F7AB}"/>
                </a:ext>
              </a:extLst>
            </p:cNvPr>
            <p:cNvSpPr/>
            <p:nvPr/>
          </p:nvSpPr>
          <p:spPr>
            <a:xfrm flipH="1">
              <a:off x="3881058" y="4963171"/>
              <a:ext cx="150813" cy="169863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sp>
        <p:nvSpPr>
          <p:cNvPr id="33" name="Textfeld 32">
            <a:extLst>
              <a:ext uri="{FF2B5EF4-FFF2-40B4-BE49-F238E27FC236}">
                <a16:creationId xmlns:a16="http://schemas.microsoft.com/office/drawing/2014/main" id="{7530CE1D-6ACB-93AC-E167-FDB036B9E456}"/>
              </a:ext>
            </a:extLst>
          </p:cNvPr>
          <p:cNvSpPr txBox="1"/>
          <p:nvPr/>
        </p:nvSpPr>
        <p:spPr>
          <a:xfrm>
            <a:off x="6369009" y="256373"/>
            <a:ext cx="1251326" cy="2938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Ego Vehicle</a:t>
            </a: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B03D5C0-7794-E7EE-E6A4-9B19DB3793D1}"/>
              </a:ext>
            </a:extLst>
          </p:cNvPr>
          <p:cNvGrpSpPr>
            <a:grpSpLocks noChangeAspect="1"/>
          </p:cNvGrpSpPr>
          <p:nvPr/>
        </p:nvGrpSpPr>
        <p:grpSpPr>
          <a:xfrm rot="-2700000">
            <a:off x="7752842" y="134899"/>
            <a:ext cx="531783" cy="542419"/>
            <a:chOff x="6380356" y="3178439"/>
            <a:chExt cx="1031875" cy="1052513"/>
          </a:xfrm>
        </p:grpSpPr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58A15D10-CEB4-01D9-3430-52D1E8B499B2}"/>
                </a:ext>
              </a:extLst>
            </p:cNvPr>
            <p:cNvGrpSpPr/>
            <p:nvPr/>
          </p:nvGrpSpPr>
          <p:grpSpPr>
            <a:xfrm flipH="1">
              <a:off x="6380356" y="3178439"/>
              <a:ext cx="1031875" cy="1052513"/>
              <a:chOff x="3253626" y="1922033"/>
              <a:chExt cx="1031875" cy="1052513"/>
            </a:xfrm>
          </p:grpSpPr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C3F8C612-96AF-36F2-5C7D-D5951B2A718A}"/>
                  </a:ext>
                </a:extLst>
              </p:cNvPr>
              <p:cNvSpPr/>
              <p:nvPr/>
            </p:nvSpPr>
            <p:spPr>
              <a:xfrm rot="18900000">
                <a:off x="3287757" y="2355421"/>
                <a:ext cx="57150" cy="14605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B4EA236D-F971-32EA-4E46-2D50824A4F53}"/>
                  </a:ext>
                </a:extLst>
              </p:cNvPr>
              <p:cNvSpPr/>
              <p:nvPr/>
            </p:nvSpPr>
            <p:spPr>
              <a:xfrm rot="18900000">
                <a:off x="3721145" y="1922033"/>
                <a:ext cx="57150" cy="14446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44" name="Rechteck 43">
                <a:extLst>
                  <a:ext uri="{FF2B5EF4-FFF2-40B4-BE49-F238E27FC236}">
                    <a16:creationId xmlns:a16="http://schemas.microsoft.com/office/drawing/2014/main" id="{45A13FE3-3884-84E1-9DDA-38432C9050EE}"/>
                  </a:ext>
                </a:extLst>
              </p:cNvPr>
              <p:cNvSpPr/>
              <p:nvPr/>
            </p:nvSpPr>
            <p:spPr>
              <a:xfrm rot="18900000">
                <a:off x="4195807" y="2396696"/>
                <a:ext cx="57150" cy="14446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1F646E1A-F16F-FCBF-1D9B-1DC8EBE4F64C}"/>
                  </a:ext>
                </a:extLst>
              </p:cNvPr>
              <p:cNvSpPr/>
              <p:nvPr/>
            </p:nvSpPr>
            <p:spPr>
              <a:xfrm rot="18900000">
                <a:off x="3762420" y="2830083"/>
                <a:ext cx="57150" cy="14446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cxnSp>
            <p:nvCxnSpPr>
              <p:cNvPr id="46" name="Gerader Verbinder 45">
                <a:extLst>
                  <a:ext uri="{FF2B5EF4-FFF2-40B4-BE49-F238E27FC236}">
                    <a16:creationId xmlns:a16="http://schemas.microsoft.com/office/drawing/2014/main" id="{A195CC3A-DE14-DB43-00A4-E7F336E0F604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>
                <a:off x="3532232" y="1933146"/>
                <a:ext cx="0" cy="55721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Gerader Verbinder 46">
                <a:extLst>
                  <a:ext uri="{FF2B5EF4-FFF2-40B4-BE49-F238E27FC236}">
                    <a16:creationId xmlns:a16="http://schemas.microsoft.com/office/drawing/2014/main" id="{646394BA-5B3B-6023-13EA-19303AB5D5D4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>
                <a:off x="4006895" y="2407808"/>
                <a:ext cx="0" cy="55721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Multiplikationszeichen 47">
                <a:extLst>
                  <a:ext uri="{FF2B5EF4-FFF2-40B4-BE49-F238E27FC236}">
                    <a16:creationId xmlns:a16="http://schemas.microsoft.com/office/drawing/2014/main" id="{303BD05B-2E82-A314-DCF7-52F29F414977}"/>
                  </a:ext>
                </a:extLst>
              </p:cNvPr>
              <p:cNvSpPr/>
              <p:nvPr/>
            </p:nvSpPr>
            <p:spPr>
              <a:xfrm rot="18900000">
                <a:off x="3932282" y="2601483"/>
                <a:ext cx="150813" cy="169863"/>
              </a:xfrm>
              <a:prstGeom prst="mathMultiply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49" name="Rechteck 48">
                <a:extLst>
                  <a:ext uri="{FF2B5EF4-FFF2-40B4-BE49-F238E27FC236}">
                    <a16:creationId xmlns:a16="http://schemas.microsoft.com/office/drawing/2014/main" id="{4C8F871D-47A0-990A-A630-301ACF745576}"/>
                  </a:ext>
                </a:extLst>
              </p:cNvPr>
              <p:cNvSpPr/>
              <p:nvPr/>
            </p:nvSpPr>
            <p:spPr>
              <a:xfrm rot="18900000">
                <a:off x="3463970" y="1969658"/>
                <a:ext cx="612775" cy="95885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</p:grpSp>
        <p:sp>
          <p:nvSpPr>
            <p:cNvPr id="38" name="Pfeil: nach rechts 37">
              <a:extLst>
                <a:ext uri="{FF2B5EF4-FFF2-40B4-BE49-F238E27FC236}">
                  <a16:creationId xmlns:a16="http://schemas.microsoft.com/office/drawing/2014/main" id="{DB49669A-AA1E-53D3-4A07-BD3B69555B22}"/>
                </a:ext>
              </a:extLst>
            </p:cNvPr>
            <p:cNvSpPr/>
            <p:nvPr/>
          </p:nvSpPr>
          <p:spPr>
            <a:xfrm rot="18955528">
              <a:off x="6657482" y="3498893"/>
              <a:ext cx="508673" cy="3888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sp>
        <p:nvSpPr>
          <p:cNvPr id="50" name="Textfeld 49">
            <a:extLst>
              <a:ext uri="{FF2B5EF4-FFF2-40B4-BE49-F238E27FC236}">
                <a16:creationId xmlns:a16="http://schemas.microsoft.com/office/drawing/2014/main" id="{6348C99D-C9B3-1CE4-965D-BD736B7FF827}"/>
              </a:ext>
            </a:extLst>
          </p:cNvPr>
          <p:cNvSpPr txBox="1"/>
          <p:nvPr/>
        </p:nvSpPr>
        <p:spPr>
          <a:xfrm>
            <a:off x="8287092" y="249148"/>
            <a:ext cx="713778" cy="2938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Object</a:t>
            </a:r>
          </a:p>
        </p:txBody>
      </p: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F0280938-CFED-FA33-57C8-15F072D6A135}"/>
              </a:ext>
            </a:extLst>
          </p:cNvPr>
          <p:cNvCxnSpPr>
            <a:cxnSpLocks/>
            <a:stCxn id="73" idx="2"/>
            <a:endCxn id="69" idx="0"/>
          </p:cNvCxnSpPr>
          <p:nvPr/>
        </p:nvCxnSpPr>
        <p:spPr>
          <a:xfrm>
            <a:off x="2830020" y="1873877"/>
            <a:ext cx="427" cy="173035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aute 56">
            <a:extLst>
              <a:ext uri="{FF2B5EF4-FFF2-40B4-BE49-F238E27FC236}">
                <a16:creationId xmlns:a16="http://schemas.microsoft.com/office/drawing/2014/main" id="{2EEE7F65-F867-EBA3-0563-7B0C8530EA8D}"/>
              </a:ext>
            </a:extLst>
          </p:cNvPr>
          <p:cNvSpPr/>
          <p:nvPr/>
        </p:nvSpPr>
        <p:spPr>
          <a:xfrm>
            <a:off x="2751131" y="2627152"/>
            <a:ext cx="153036" cy="153036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93B3187C-9A2E-419A-47C6-8CE9C3C2E6CA}"/>
              </a:ext>
            </a:extLst>
          </p:cNvPr>
          <p:cNvCxnSpPr>
            <a:cxnSpLocks/>
            <a:stCxn id="165" idx="1"/>
            <a:endCxn id="166" idx="3"/>
          </p:cNvCxnSpPr>
          <p:nvPr/>
        </p:nvCxnSpPr>
        <p:spPr>
          <a:xfrm flipH="1">
            <a:off x="7645901" y="3686158"/>
            <a:ext cx="104995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feld 75">
            <a:extLst>
              <a:ext uri="{FF2B5EF4-FFF2-40B4-BE49-F238E27FC236}">
                <a16:creationId xmlns:a16="http://schemas.microsoft.com/office/drawing/2014/main" id="{24424AA2-A197-401A-6DF6-42C0603C7D6D}"/>
              </a:ext>
            </a:extLst>
          </p:cNvPr>
          <p:cNvSpPr txBox="1"/>
          <p:nvPr/>
        </p:nvSpPr>
        <p:spPr>
          <a:xfrm>
            <a:off x="6060603" y="5054006"/>
            <a:ext cx="4202092" cy="611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1050" kern="0" dirty="0"/>
              <a:t>Description: </a:t>
            </a:r>
            <a:r>
              <a:rPr lang="de-DE" sz="1050" kern="0" dirty="0" err="1"/>
              <a:t>Four</a:t>
            </a:r>
            <a:r>
              <a:rPr lang="de-DE" sz="1050" kern="0" dirty="0"/>
              <a:t> </a:t>
            </a:r>
            <a:r>
              <a:rPr lang="de-DE" sz="1050" kern="0" dirty="0" err="1"/>
              <a:t>static</a:t>
            </a:r>
            <a:r>
              <a:rPr lang="de-DE" sz="1050" kern="0" dirty="0"/>
              <a:t> </a:t>
            </a:r>
            <a:r>
              <a:rPr lang="de-DE" sz="1050" kern="0" dirty="0" err="1"/>
              <a:t>locations</a:t>
            </a:r>
            <a:r>
              <a:rPr lang="de-DE" sz="1050" kern="0" dirty="0"/>
              <a:t> </a:t>
            </a:r>
            <a:r>
              <a:rPr lang="de-DE" sz="1050" kern="0" dirty="0" err="1"/>
              <a:t>generated</a:t>
            </a:r>
            <a:r>
              <a:rPr lang="de-DE" sz="1050" kern="0" dirty="0"/>
              <a:t> on </a:t>
            </a:r>
            <a:r>
              <a:rPr lang="de-DE" sz="1050" kern="0" dirty="0" err="1"/>
              <a:t>the</a:t>
            </a:r>
            <a:r>
              <a:rPr lang="de-DE" sz="1050" kern="0" dirty="0"/>
              <a:t> object. On </a:t>
            </a:r>
            <a:r>
              <a:rPr lang="de-DE" sz="1050" kern="0" dirty="0" err="1"/>
              <a:t>the</a:t>
            </a:r>
            <a:r>
              <a:rPr lang="de-DE" sz="1050" kern="0" dirty="0"/>
              <a:t> </a:t>
            </a:r>
            <a:r>
              <a:rPr lang="de-DE" sz="1050" kern="0" dirty="0" err="1"/>
              <a:t>middle</a:t>
            </a:r>
            <a:r>
              <a:rPr lang="de-DE" sz="1050" kern="0" dirty="0"/>
              <a:t> </a:t>
            </a:r>
            <a:r>
              <a:rPr lang="de-DE" sz="1050" kern="0" dirty="0" err="1"/>
              <a:t>of</a:t>
            </a:r>
            <a:r>
              <a:rPr lang="de-DE" sz="1050" kern="0" dirty="0"/>
              <a:t> </a:t>
            </a:r>
            <a:r>
              <a:rPr lang="de-DE" sz="1050" kern="0" dirty="0" err="1"/>
              <a:t>the</a:t>
            </a:r>
            <a:r>
              <a:rPr lang="de-DE" sz="1050" kern="0" dirty="0"/>
              <a:t> object </a:t>
            </a:r>
            <a:r>
              <a:rPr lang="de-DE" sz="1050" kern="0" dirty="0" err="1"/>
              <a:t>aswell</a:t>
            </a:r>
            <a:r>
              <a:rPr lang="de-DE" sz="1050" kern="0" dirty="0"/>
              <a:t> </a:t>
            </a:r>
            <a:r>
              <a:rPr lang="de-DE" sz="1050" kern="0" dirty="0" err="1"/>
              <a:t>as</a:t>
            </a:r>
            <a:r>
              <a:rPr lang="de-DE" sz="1050" kern="0" dirty="0"/>
              <a:t> on </a:t>
            </a:r>
            <a:r>
              <a:rPr lang="de-DE" sz="1050" kern="0" dirty="0" err="1"/>
              <a:t>the</a:t>
            </a:r>
            <a:r>
              <a:rPr lang="de-DE" sz="1050" kern="0" dirty="0"/>
              <a:t> </a:t>
            </a:r>
            <a:r>
              <a:rPr lang="de-DE" sz="1050" kern="0" dirty="0" err="1"/>
              <a:t>corner</a:t>
            </a:r>
            <a:r>
              <a:rPr lang="de-DE" sz="1050" kern="0" dirty="0"/>
              <a:t> </a:t>
            </a:r>
            <a:r>
              <a:rPr lang="de-DE" sz="1050" kern="0" dirty="0" err="1"/>
              <a:t>points</a:t>
            </a:r>
            <a:r>
              <a:rPr lang="de-DE" sz="1050" kern="0" dirty="0"/>
              <a:t> and </a:t>
            </a:r>
            <a:r>
              <a:rPr lang="de-DE" sz="1050" kern="0" dirty="0" err="1"/>
              <a:t>middle</a:t>
            </a:r>
            <a:r>
              <a:rPr lang="de-DE" sz="1050" kern="0" dirty="0"/>
              <a:t> </a:t>
            </a:r>
            <a:r>
              <a:rPr lang="de-DE" sz="1050" kern="0" dirty="0" err="1"/>
              <a:t>of</a:t>
            </a:r>
            <a:r>
              <a:rPr lang="de-DE" sz="1050" kern="0" dirty="0"/>
              <a:t> </a:t>
            </a:r>
            <a:r>
              <a:rPr lang="de-DE" sz="1050" kern="0" dirty="0" err="1"/>
              <a:t>the</a:t>
            </a:r>
            <a:r>
              <a:rPr lang="de-DE" sz="1050" kern="0" dirty="0"/>
              <a:t> </a:t>
            </a:r>
            <a:r>
              <a:rPr lang="de-DE" sz="1050" kern="0" dirty="0" err="1"/>
              <a:t>detected</a:t>
            </a:r>
            <a:r>
              <a:rPr lang="de-DE" sz="1050" kern="0" dirty="0"/>
              <a:t> </a:t>
            </a:r>
            <a:r>
              <a:rPr lang="de-DE" sz="1050" kern="0" dirty="0" err="1"/>
              <a:t>side</a:t>
            </a:r>
            <a:r>
              <a:rPr lang="de-DE" sz="1050" kern="0" dirty="0"/>
              <a:t> (</a:t>
            </a:r>
            <a:r>
              <a:rPr lang="de-DE" sz="1050" kern="0" dirty="0" err="1"/>
              <a:t>indicated</a:t>
            </a:r>
            <a:r>
              <a:rPr lang="de-DE" sz="1050" kern="0" dirty="0"/>
              <a:t> in orange).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A110E4DC-78B4-6383-0D8B-FF885187A08D}"/>
              </a:ext>
            </a:extLst>
          </p:cNvPr>
          <p:cNvSpPr txBox="1"/>
          <p:nvPr/>
        </p:nvSpPr>
        <p:spPr>
          <a:xfrm>
            <a:off x="697703" y="5049619"/>
            <a:ext cx="4202092" cy="611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sz="1050" kern="0" dirty="0"/>
              <a:t>Description: Five </a:t>
            </a:r>
            <a:r>
              <a:rPr lang="de-DE" sz="1050" kern="0" dirty="0" err="1"/>
              <a:t>static</a:t>
            </a:r>
            <a:r>
              <a:rPr lang="de-DE" sz="1050" kern="0" dirty="0"/>
              <a:t> </a:t>
            </a:r>
            <a:r>
              <a:rPr lang="de-DE" sz="1050" kern="0" dirty="0" err="1"/>
              <a:t>locations</a:t>
            </a:r>
            <a:r>
              <a:rPr lang="de-DE" sz="1050" kern="0" dirty="0"/>
              <a:t> </a:t>
            </a:r>
            <a:r>
              <a:rPr lang="de-DE" sz="1050" kern="0" dirty="0" err="1"/>
              <a:t>generated</a:t>
            </a:r>
            <a:r>
              <a:rPr lang="de-DE" sz="1050" kern="0" dirty="0"/>
              <a:t> on </a:t>
            </a:r>
            <a:r>
              <a:rPr lang="de-DE" sz="1050" kern="0" dirty="0" err="1"/>
              <a:t>the</a:t>
            </a:r>
            <a:r>
              <a:rPr lang="de-DE" sz="1050" kern="0" dirty="0"/>
              <a:t> object. On </a:t>
            </a:r>
            <a:r>
              <a:rPr lang="de-DE" sz="1050" kern="0" dirty="0" err="1"/>
              <a:t>the</a:t>
            </a:r>
            <a:r>
              <a:rPr lang="de-DE" sz="1050" kern="0" dirty="0"/>
              <a:t> </a:t>
            </a:r>
            <a:r>
              <a:rPr lang="de-DE" sz="1050" kern="0" dirty="0" err="1"/>
              <a:t>middle</a:t>
            </a:r>
            <a:r>
              <a:rPr lang="de-DE" sz="1050" kern="0" dirty="0"/>
              <a:t> </a:t>
            </a:r>
            <a:r>
              <a:rPr lang="de-DE" sz="1050" kern="0" dirty="0" err="1"/>
              <a:t>of</a:t>
            </a:r>
            <a:r>
              <a:rPr lang="de-DE" sz="1050" kern="0" dirty="0"/>
              <a:t> </a:t>
            </a:r>
            <a:r>
              <a:rPr lang="de-DE" sz="1050" kern="0" dirty="0" err="1"/>
              <a:t>the</a:t>
            </a:r>
            <a:r>
              <a:rPr lang="de-DE" sz="1050" kern="0" dirty="0"/>
              <a:t> object </a:t>
            </a:r>
            <a:r>
              <a:rPr lang="de-DE" sz="1050" kern="0" dirty="0" err="1"/>
              <a:t>aswell</a:t>
            </a:r>
            <a:r>
              <a:rPr lang="de-DE" sz="1050" kern="0" dirty="0"/>
              <a:t> </a:t>
            </a:r>
            <a:r>
              <a:rPr lang="de-DE" sz="1050" kern="0" dirty="0" err="1"/>
              <a:t>as</a:t>
            </a:r>
            <a:r>
              <a:rPr lang="de-DE" sz="1050" kern="0" dirty="0"/>
              <a:t> on </a:t>
            </a:r>
            <a:r>
              <a:rPr lang="de-DE" sz="1050" kern="0" dirty="0" err="1"/>
              <a:t>the</a:t>
            </a:r>
            <a:r>
              <a:rPr lang="de-DE" sz="1050" kern="0" dirty="0"/>
              <a:t> </a:t>
            </a:r>
            <a:r>
              <a:rPr lang="de-DE" sz="1050" kern="0" dirty="0" err="1"/>
              <a:t>three</a:t>
            </a:r>
            <a:r>
              <a:rPr lang="de-DE" sz="1050" kern="0" dirty="0"/>
              <a:t> </a:t>
            </a:r>
            <a:r>
              <a:rPr lang="de-DE" sz="1050" kern="0" dirty="0" err="1"/>
              <a:t>corner</a:t>
            </a:r>
            <a:r>
              <a:rPr lang="de-DE" sz="1050" kern="0" dirty="0"/>
              <a:t> </a:t>
            </a:r>
            <a:r>
              <a:rPr lang="de-DE" sz="1050" kern="0" dirty="0" err="1"/>
              <a:t>points</a:t>
            </a:r>
            <a:r>
              <a:rPr lang="de-DE" sz="1050" kern="0" dirty="0"/>
              <a:t> and </a:t>
            </a:r>
            <a:r>
              <a:rPr lang="de-DE" sz="1050" kern="0" dirty="0" err="1"/>
              <a:t>middle</a:t>
            </a:r>
            <a:r>
              <a:rPr lang="de-DE" sz="1050" kern="0" dirty="0"/>
              <a:t> </a:t>
            </a:r>
            <a:r>
              <a:rPr lang="de-DE" sz="1050" kern="0" dirty="0" err="1"/>
              <a:t>of</a:t>
            </a:r>
            <a:r>
              <a:rPr lang="de-DE" sz="1050" kern="0" dirty="0"/>
              <a:t> </a:t>
            </a:r>
            <a:r>
              <a:rPr lang="de-DE" sz="1050" kern="0" dirty="0" err="1"/>
              <a:t>the</a:t>
            </a:r>
            <a:r>
              <a:rPr lang="de-DE" sz="1050" kern="0" dirty="0"/>
              <a:t> </a:t>
            </a:r>
            <a:r>
              <a:rPr lang="de-DE" sz="1050" kern="0" dirty="0" err="1"/>
              <a:t>side</a:t>
            </a:r>
            <a:r>
              <a:rPr lang="de-DE" sz="1050" kern="0" dirty="0"/>
              <a:t> </a:t>
            </a:r>
            <a:r>
              <a:rPr lang="de-DE" sz="1050" kern="0" dirty="0" err="1"/>
              <a:t>mainly</a:t>
            </a:r>
            <a:r>
              <a:rPr lang="de-DE" sz="1050" kern="0" dirty="0"/>
              <a:t> </a:t>
            </a:r>
            <a:r>
              <a:rPr lang="de-DE" sz="1050" kern="0" dirty="0" err="1"/>
              <a:t>detected</a:t>
            </a:r>
            <a:r>
              <a:rPr lang="de-DE" sz="1050" kern="0" dirty="0"/>
              <a:t> (</a:t>
            </a:r>
            <a:r>
              <a:rPr lang="de-DE" sz="1050" kern="0" dirty="0" err="1"/>
              <a:t>indicated</a:t>
            </a:r>
            <a:r>
              <a:rPr lang="de-DE" sz="1050" kern="0" dirty="0"/>
              <a:t> in orange).</a:t>
            </a:r>
          </a:p>
        </p:txBody>
      </p:sp>
    </p:spTree>
    <p:extLst>
      <p:ext uri="{BB962C8B-B14F-4D97-AF65-F5344CB8AC3E}">
        <p14:creationId xmlns:p14="http://schemas.microsoft.com/office/powerpoint/2010/main" val="3115483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703895C4-B873-2F28-06DC-6E207096F4D2}"/>
              </a:ext>
            </a:extLst>
          </p:cNvPr>
          <p:cNvGrpSpPr/>
          <p:nvPr/>
        </p:nvGrpSpPr>
        <p:grpSpPr>
          <a:xfrm>
            <a:off x="7608172" y="1611428"/>
            <a:ext cx="2431026" cy="3207944"/>
            <a:chOff x="524086" y="1605601"/>
            <a:chExt cx="2431026" cy="3207944"/>
          </a:xfrm>
        </p:grpSpPr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102EAF7B-4225-7CFA-7D16-493E78088416}"/>
                </a:ext>
              </a:extLst>
            </p:cNvPr>
            <p:cNvSpPr/>
            <p:nvPr/>
          </p:nvSpPr>
          <p:spPr>
            <a:xfrm rot="15161751">
              <a:off x="757906" y="2919156"/>
              <a:ext cx="2805128" cy="554167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6FB65B69-761C-BFA7-A02F-EE90429C07B3}"/>
                </a:ext>
              </a:extLst>
            </p:cNvPr>
            <p:cNvSpPr/>
            <p:nvPr/>
          </p:nvSpPr>
          <p:spPr>
            <a:xfrm rot="653689">
              <a:off x="607975" y="3713875"/>
              <a:ext cx="2292207" cy="554167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6B074A66-76DB-B411-07CA-35EF6357E1CA}"/>
                </a:ext>
              </a:extLst>
            </p:cNvPr>
            <p:cNvSpPr/>
            <p:nvPr/>
          </p:nvSpPr>
          <p:spPr>
            <a:xfrm rot="653689">
              <a:off x="524086" y="4259378"/>
              <a:ext cx="2292207" cy="55416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66F4E706-9A9A-559E-812B-8C7C2A12B5E1}"/>
                </a:ext>
              </a:extLst>
            </p:cNvPr>
            <p:cNvSpPr/>
            <p:nvPr/>
          </p:nvSpPr>
          <p:spPr>
            <a:xfrm rot="15161751">
              <a:off x="1275465" y="2731081"/>
              <a:ext cx="2805128" cy="55416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sp>
        <p:nvSpPr>
          <p:cNvPr id="56" name="Rechteck 55">
            <a:extLst>
              <a:ext uri="{FF2B5EF4-FFF2-40B4-BE49-F238E27FC236}">
                <a16:creationId xmlns:a16="http://schemas.microsoft.com/office/drawing/2014/main" id="{98130BEC-6E0A-3939-9CBD-A42CA03CD87B}"/>
              </a:ext>
            </a:extLst>
          </p:cNvPr>
          <p:cNvSpPr/>
          <p:nvPr/>
        </p:nvSpPr>
        <p:spPr>
          <a:xfrm>
            <a:off x="7647019" y="1811840"/>
            <a:ext cx="1420853" cy="221765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B49F60D9-E15E-A8E0-6EE5-8A0D82EC088A}"/>
              </a:ext>
            </a:extLst>
          </p:cNvPr>
          <p:cNvGrpSpPr/>
          <p:nvPr/>
        </p:nvGrpSpPr>
        <p:grpSpPr>
          <a:xfrm>
            <a:off x="4074884" y="1613834"/>
            <a:ext cx="2431026" cy="3207944"/>
            <a:chOff x="524086" y="1605601"/>
            <a:chExt cx="2431026" cy="3207944"/>
          </a:xfrm>
        </p:grpSpPr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30B9C34B-A6FD-CAFD-BE94-D80AB45AB596}"/>
                </a:ext>
              </a:extLst>
            </p:cNvPr>
            <p:cNvSpPr/>
            <p:nvPr/>
          </p:nvSpPr>
          <p:spPr>
            <a:xfrm rot="15161751">
              <a:off x="757906" y="2919156"/>
              <a:ext cx="2805128" cy="554167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88DF1E0A-58A3-D114-E87C-592EEED98063}"/>
                </a:ext>
              </a:extLst>
            </p:cNvPr>
            <p:cNvSpPr/>
            <p:nvPr/>
          </p:nvSpPr>
          <p:spPr>
            <a:xfrm rot="653689">
              <a:off x="607975" y="3713875"/>
              <a:ext cx="2292207" cy="554167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247FB3CB-3A91-BF47-720D-CCCA4D885DE5}"/>
                </a:ext>
              </a:extLst>
            </p:cNvPr>
            <p:cNvSpPr/>
            <p:nvPr/>
          </p:nvSpPr>
          <p:spPr>
            <a:xfrm rot="653689">
              <a:off x="524086" y="4259378"/>
              <a:ext cx="2292207" cy="55416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74942ED5-9FFF-BB53-F61D-E0D5F1C8F0F5}"/>
                </a:ext>
              </a:extLst>
            </p:cNvPr>
            <p:cNvSpPr/>
            <p:nvPr/>
          </p:nvSpPr>
          <p:spPr>
            <a:xfrm rot="15161751">
              <a:off x="1275465" y="2731081"/>
              <a:ext cx="2805128" cy="55416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sp>
        <p:nvSpPr>
          <p:cNvPr id="55" name="Rechteck 54">
            <a:extLst>
              <a:ext uri="{FF2B5EF4-FFF2-40B4-BE49-F238E27FC236}">
                <a16:creationId xmlns:a16="http://schemas.microsoft.com/office/drawing/2014/main" id="{2B42CEC0-DB1E-C69F-D5D9-7B34F3AC8C11}"/>
              </a:ext>
            </a:extLst>
          </p:cNvPr>
          <p:cNvSpPr/>
          <p:nvPr/>
        </p:nvSpPr>
        <p:spPr>
          <a:xfrm>
            <a:off x="4108750" y="1805184"/>
            <a:ext cx="1420853" cy="221765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DFDB3B22-B5D4-E587-53A7-61053782427A}"/>
              </a:ext>
            </a:extLst>
          </p:cNvPr>
          <p:cNvGrpSpPr/>
          <p:nvPr/>
        </p:nvGrpSpPr>
        <p:grpSpPr>
          <a:xfrm>
            <a:off x="524086" y="1605601"/>
            <a:ext cx="2431026" cy="3207944"/>
            <a:chOff x="524086" y="1605601"/>
            <a:chExt cx="2431026" cy="3207944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CB35EF00-A253-709F-C088-F432C84ACF4D}"/>
                </a:ext>
              </a:extLst>
            </p:cNvPr>
            <p:cNvSpPr/>
            <p:nvPr/>
          </p:nvSpPr>
          <p:spPr>
            <a:xfrm rot="15161751">
              <a:off x="757906" y="2919156"/>
              <a:ext cx="2805128" cy="554167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8C041A99-B1BA-1A0A-A1F4-14DD818B30CC}"/>
                </a:ext>
              </a:extLst>
            </p:cNvPr>
            <p:cNvSpPr/>
            <p:nvPr/>
          </p:nvSpPr>
          <p:spPr>
            <a:xfrm rot="653689">
              <a:off x="607975" y="3713875"/>
              <a:ext cx="2292207" cy="554167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D9C851B1-5572-0557-DC61-FB4BCCF62415}"/>
                </a:ext>
              </a:extLst>
            </p:cNvPr>
            <p:cNvSpPr/>
            <p:nvPr/>
          </p:nvSpPr>
          <p:spPr>
            <a:xfrm rot="653689">
              <a:off x="524086" y="4259378"/>
              <a:ext cx="2292207" cy="55416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AF923D10-BD38-BA30-BA99-29626421D795}"/>
                </a:ext>
              </a:extLst>
            </p:cNvPr>
            <p:cNvSpPr/>
            <p:nvPr/>
          </p:nvSpPr>
          <p:spPr>
            <a:xfrm rot="15161751">
              <a:off x="1275465" y="2731081"/>
              <a:ext cx="2805128" cy="55416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sp>
        <p:nvSpPr>
          <p:cNvPr id="39" name="Rechteck 38">
            <a:extLst>
              <a:ext uri="{FF2B5EF4-FFF2-40B4-BE49-F238E27FC236}">
                <a16:creationId xmlns:a16="http://schemas.microsoft.com/office/drawing/2014/main" id="{887664F5-3E5E-6E57-8F79-26EDF412FA9E}"/>
              </a:ext>
            </a:extLst>
          </p:cNvPr>
          <p:cNvSpPr/>
          <p:nvPr/>
        </p:nvSpPr>
        <p:spPr>
          <a:xfrm>
            <a:off x="572553" y="1802416"/>
            <a:ext cx="1420853" cy="2217657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456166F-ACE1-7858-2495-5F77B821C8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1objXloc Radar Model</a:t>
            </a:r>
          </a:p>
          <a:p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EC04098-AF60-93F1-F5CE-30FDBB7A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Distribution Models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F2170A-A785-83C6-7D13-90B1A070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15</a:t>
            </a:fld>
            <a:endParaRPr lang="en-US" noProof="1"/>
          </a:p>
        </p:txBody>
      </p: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8769DC39-CB4E-7FC0-E9AD-884AAE3A0A66}"/>
              </a:ext>
            </a:extLst>
          </p:cNvPr>
          <p:cNvGrpSpPr/>
          <p:nvPr/>
        </p:nvGrpSpPr>
        <p:grpSpPr>
          <a:xfrm>
            <a:off x="93710" y="1117072"/>
            <a:ext cx="3444486" cy="4405541"/>
            <a:chOff x="511147" y="1148829"/>
            <a:chExt cx="3444486" cy="4405541"/>
          </a:xfrm>
        </p:grpSpPr>
        <p:grpSp>
          <p:nvGrpSpPr>
            <p:cNvPr id="68" name="Gruppieren 67">
              <a:extLst>
                <a:ext uri="{FF2B5EF4-FFF2-40B4-BE49-F238E27FC236}">
                  <a16:creationId xmlns:a16="http://schemas.microsoft.com/office/drawing/2014/main" id="{8F78CC8B-E4A9-A6D3-8A5A-6D0AA7C4690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37165" y="4477392"/>
              <a:ext cx="657914" cy="999213"/>
              <a:chOff x="3381191" y="3744363"/>
              <a:chExt cx="1103787" cy="1676386"/>
            </a:xfrm>
          </p:grpSpPr>
          <p:cxnSp>
            <p:nvCxnSpPr>
              <p:cNvPr id="5" name="Gerader Verbinder 4">
                <a:extLst>
                  <a:ext uri="{FF2B5EF4-FFF2-40B4-BE49-F238E27FC236}">
                    <a16:creationId xmlns:a16="http://schemas.microsoft.com/office/drawing/2014/main" id="{9DD522DB-1504-7E6B-A765-27D851FAE83B}"/>
                  </a:ext>
                </a:extLst>
              </p:cNvPr>
              <p:cNvCxnSpPr/>
              <p:nvPr/>
            </p:nvCxnSpPr>
            <p:spPr>
              <a:xfrm>
                <a:off x="3461495" y="4115851"/>
                <a:ext cx="989941" cy="0"/>
              </a:xfrm>
              <a:prstGeom prst="line">
                <a:avLst/>
              </a:prstGeom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Gerader Verbinder 5">
                <a:extLst>
                  <a:ext uri="{FF2B5EF4-FFF2-40B4-BE49-F238E27FC236}">
                    <a16:creationId xmlns:a16="http://schemas.microsoft.com/office/drawing/2014/main" id="{875B2A9B-460B-396B-E6EB-AAA02DF8AA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6465" y="3785394"/>
                <a:ext cx="0" cy="1635355"/>
              </a:xfrm>
              <a:prstGeom prst="line">
                <a:avLst/>
              </a:prstGeom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ED8CA1B4-80D3-5831-AD61-5B52178E41EC}"/>
                  </a:ext>
                </a:extLst>
              </p:cNvPr>
              <p:cNvSpPr/>
              <p:nvPr/>
            </p:nvSpPr>
            <p:spPr>
              <a:xfrm rot="5400000">
                <a:off x="3140042" y="4109355"/>
                <a:ext cx="1633530" cy="989257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cxnSp>
            <p:nvCxnSpPr>
              <p:cNvPr id="8" name="Gerader Verbinder 7">
                <a:extLst>
                  <a:ext uri="{FF2B5EF4-FFF2-40B4-BE49-F238E27FC236}">
                    <a16:creationId xmlns:a16="http://schemas.microsoft.com/office/drawing/2014/main" id="{838DA103-843D-4986-A5EA-E14030D9A990}"/>
                  </a:ext>
                </a:extLst>
              </p:cNvPr>
              <p:cNvCxnSpPr/>
              <p:nvPr/>
            </p:nvCxnSpPr>
            <p:spPr>
              <a:xfrm>
                <a:off x="3461495" y="5043832"/>
                <a:ext cx="989941" cy="0"/>
              </a:xfrm>
              <a:prstGeom prst="line">
                <a:avLst/>
              </a:prstGeom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1BC5DCDF-07DF-FAF0-46C4-345A75C80284}"/>
                  </a:ext>
                </a:extLst>
              </p:cNvPr>
              <p:cNvSpPr/>
              <p:nvPr/>
            </p:nvSpPr>
            <p:spPr>
              <a:xfrm>
                <a:off x="3428272" y="4934496"/>
                <a:ext cx="65761" cy="22860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0FB9330F-FD16-5146-FC9A-EC0D0A70215C}"/>
                  </a:ext>
                </a:extLst>
              </p:cNvPr>
              <p:cNvSpPr/>
              <p:nvPr/>
            </p:nvSpPr>
            <p:spPr>
              <a:xfrm>
                <a:off x="4419217" y="4934496"/>
                <a:ext cx="65761" cy="22860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A51DAB93-A4AE-AAFA-584B-2E4C4965E546}"/>
                  </a:ext>
                </a:extLst>
              </p:cNvPr>
              <p:cNvSpPr/>
              <p:nvPr/>
            </p:nvSpPr>
            <p:spPr>
              <a:xfrm>
                <a:off x="3427952" y="4002347"/>
                <a:ext cx="65761" cy="22860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A0F185BF-EE03-B184-CA0E-D343DEC05D76}"/>
                  </a:ext>
                </a:extLst>
              </p:cNvPr>
              <p:cNvSpPr/>
              <p:nvPr/>
            </p:nvSpPr>
            <p:spPr>
              <a:xfrm>
                <a:off x="4419217" y="4002347"/>
                <a:ext cx="65761" cy="22860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grpSp>
            <p:nvGrpSpPr>
              <p:cNvPr id="13" name="Gruppieren 12">
                <a:extLst>
                  <a:ext uri="{FF2B5EF4-FFF2-40B4-BE49-F238E27FC236}">
                    <a16:creationId xmlns:a16="http://schemas.microsoft.com/office/drawing/2014/main" id="{0E4A203B-3FAA-CDC7-1814-D8661B4E2805}"/>
                  </a:ext>
                </a:extLst>
              </p:cNvPr>
              <p:cNvGrpSpPr/>
              <p:nvPr/>
            </p:nvGrpSpPr>
            <p:grpSpPr>
              <a:xfrm rot="18000000">
                <a:off x="3411107" y="3714447"/>
                <a:ext cx="99450" cy="159281"/>
                <a:chOff x="5930281" y="5868140"/>
                <a:chExt cx="331435" cy="466076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14" name="Rechteck 13">
                  <a:extLst>
                    <a:ext uri="{FF2B5EF4-FFF2-40B4-BE49-F238E27FC236}">
                      <a16:creationId xmlns:a16="http://schemas.microsoft.com/office/drawing/2014/main" id="{E91F5035-FEF2-681F-93D9-498D1B8D946B}"/>
                    </a:ext>
                  </a:extLst>
                </p:cNvPr>
                <p:cNvSpPr/>
                <p:nvPr/>
              </p:nvSpPr>
              <p:spPr>
                <a:xfrm>
                  <a:off x="5930281" y="6041253"/>
                  <a:ext cx="331435" cy="292963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Flussdiagramm: Manuelle Verarbeitung 14">
                  <a:extLst>
                    <a:ext uri="{FF2B5EF4-FFF2-40B4-BE49-F238E27FC236}">
                      <a16:creationId xmlns:a16="http://schemas.microsoft.com/office/drawing/2014/main" id="{A0ADEF77-EBE5-D94E-0641-127BAC0F263A}"/>
                    </a:ext>
                  </a:extLst>
                </p:cNvPr>
                <p:cNvSpPr/>
                <p:nvPr/>
              </p:nvSpPr>
              <p:spPr>
                <a:xfrm>
                  <a:off x="5961353" y="5868140"/>
                  <a:ext cx="269289" cy="173113"/>
                </a:xfrm>
                <a:prstGeom prst="flowChartManualOperation">
                  <a:avLst/>
                </a:prstGeom>
                <a:grp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4" name="Multiplikationszeichen 33">
                <a:extLst>
                  <a:ext uri="{FF2B5EF4-FFF2-40B4-BE49-F238E27FC236}">
                    <a16:creationId xmlns:a16="http://schemas.microsoft.com/office/drawing/2014/main" id="{011CA8E3-E337-E8A7-B8D2-4BFC559A712D}"/>
                  </a:ext>
                </a:extLst>
              </p:cNvPr>
              <p:cNvSpPr/>
              <p:nvPr/>
            </p:nvSpPr>
            <p:spPr>
              <a:xfrm flipH="1">
                <a:off x="3881058" y="4963171"/>
                <a:ext cx="150813" cy="169863"/>
              </a:xfrm>
              <a:prstGeom prst="mathMultiply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</p:grpSp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17F84D3C-3579-279E-0F47-9BC3E809305C}"/>
                </a:ext>
              </a:extLst>
            </p:cNvPr>
            <p:cNvGrpSpPr>
              <a:grpSpLocks noChangeAspect="1"/>
            </p:cNvGrpSpPr>
            <p:nvPr/>
          </p:nvGrpSpPr>
          <p:grpSpPr>
            <a:xfrm rot="-2700000">
              <a:off x="511147" y="1723263"/>
              <a:ext cx="2386552" cy="2434284"/>
              <a:chOff x="6380356" y="3178439"/>
              <a:chExt cx="1031875" cy="1052513"/>
            </a:xfrm>
          </p:grpSpPr>
          <p:grpSp>
            <p:nvGrpSpPr>
              <p:cNvPr id="58" name="Gruppieren 57">
                <a:extLst>
                  <a:ext uri="{FF2B5EF4-FFF2-40B4-BE49-F238E27FC236}">
                    <a16:creationId xmlns:a16="http://schemas.microsoft.com/office/drawing/2014/main" id="{B7F2501B-0E7D-0D8A-F34A-8BE18DAB63F8}"/>
                  </a:ext>
                </a:extLst>
              </p:cNvPr>
              <p:cNvGrpSpPr/>
              <p:nvPr/>
            </p:nvGrpSpPr>
            <p:grpSpPr>
              <a:xfrm flipH="1">
                <a:off x="6380356" y="3178439"/>
                <a:ext cx="1031875" cy="1052513"/>
                <a:chOff x="3253626" y="1922033"/>
                <a:chExt cx="1031875" cy="1052513"/>
              </a:xfrm>
            </p:grpSpPr>
            <p:sp>
              <p:nvSpPr>
                <p:cNvPr id="60" name="Rechteck 59">
                  <a:extLst>
                    <a:ext uri="{FF2B5EF4-FFF2-40B4-BE49-F238E27FC236}">
                      <a16:creationId xmlns:a16="http://schemas.microsoft.com/office/drawing/2014/main" id="{260E0142-C248-A29F-EA04-6350FE803878}"/>
                    </a:ext>
                  </a:extLst>
                </p:cNvPr>
                <p:cNvSpPr/>
                <p:nvPr/>
              </p:nvSpPr>
              <p:spPr>
                <a:xfrm rot="18900000">
                  <a:off x="3287757" y="2355421"/>
                  <a:ext cx="57150" cy="1460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sp>
              <p:nvSpPr>
                <p:cNvPr id="61" name="Rechteck 60">
                  <a:extLst>
                    <a:ext uri="{FF2B5EF4-FFF2-40B4-BE49-F238E27FC236}">
                      <a16:creationId xmlns:a16="http://schemas.microsoft.com/office/drawing/2014/main" id="{A44E3171-FA2D-6DD4-4C4C-EDC56299E03F}"/>
                    </a:ext>
                  </a:extLst>
                </p:cNvPr>
                <p:cNvSpPr/>
                <p:nvPr/>
              </p:nvSpPr>
              <p:spPr>
                <a:xfrm rot="18900000">
                  <a:off x="3721145" y="1922033"/>
                  <a:ext cx="57150" cy="144463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sp>
              <p:nvSpPr>
                <p:cNvPr id="62" name="Rechteck 61">
                  <a:extLst>
                    <a:ext uri="{FF2B5EF4-FFF2-40B4-BE49-F238E27FC236}">
                      <a16:creationId xmlns:a16="http://schemas.microsoft.com/office/drawing/2014/main" id="{42498137-5844-8D03-7E3D-8788190EA301}"/>
                    </a:ext>
                  </a:extLst>
                </p:cNvPr>
                <p:cNvSpPr/>
                <p:nvPr/>
              </p:nvSpPr>
              <p:spPr>
                <a:xfrm rot="18900000">
                  <a:off x="4195807" y="2396696"/>
                  <a:ext cx="57150" cy="144462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sp>
              <p:nvSpPr>
                <p:cNvPr id="63" name="Rechteck 62">
                  <a:extLst>
                    <a:ext uri="{FF2B5EF4-FFF2-40B4-BE49-F238E27FC236}">
                      <a16:creationId xmlns:a16="http://schemas.microsoft.com/office/drawing/2014/main" id="{24568D91-B8F9-DEA8-DC36-BE6071F8B656}"/>
                    </a:ext>
                  </a:extLst>
                </p:cNvPr>
                <p:cNvSpPr/>
                <p:nvPr/>
              </p:nvSpPr>
              <p:spPr>
                <a:xfrm rot="18900000">
                  <a:off x="3762420" y="2830083"/>
                  <a:ext cx="57150" cy="144463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cxnSp>
              <p:nvCxnSpPr>
                <p:cNvPr id="64" name="Gerader Verbinder 63">
                  <a:extLst>
                    <a:ext uri="{FF2B5EF4-FFF2-40B4-BE49-F238E27FC236}">
                      <a16:creationId xmlns:a16="http://schemas.microsoft.com/office/drawing/2014/main" id="{DB7EFB16-6238-A38B-C9EB-4396E0AC2C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3500000">
                  <a:off x="3532232" y="1933146"/>
                  <a:ext cx="0" cy="5572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Gerader Verbinder 64">
                  <a:extLst>
                    <a:ext uri="{FF2B5EF4-FFF2-40B4-BE49-F238E27FC236}">
                      <a16:creationId xmlns:a16="http://schemas.microsoft.com/office/drawing/2014/main" id="{8F77CB04-EE2B-4177-7A7D-D00B7D231E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3500000">
                  <a:off x="4006895" y="2407808"/>
                  <a:ext cx="0" cy="55721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Multiplikationszeichen 65">
                  <a:extLst>
                    <a:ext uri="{FF2B5EF4-FFF2-40B4-BE49-F238E27FC236}">
                      <a16:creationId xmlns:a16="http://schemas.microsoft.com/office/drawing/2014/main" id="{0D8CE2EA-3B1B-E5B1-1417-0111CD406F13}"/>
                    </a:ext>
                  </a:extLst>
                </p:cNvPr>
                <p:cNvSpPr/>
                <p:nvPr/>
              </p:nvSpPr>
              <p:spPr>
                <a:xfrm rot="18900000">
                  <a:off x="3932282" y="2601483"/>
                  <a:ext cx="150813" cy="169863"/>
                </a:xfrm>
                <a:prstGeom prst="mathMultiply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sp>
              <p:nvSpPr>
                <p:cNvPr id="67" name="Rechteck 66">
                  <a:extLst>
                    <a:ext uri="{FF2B5EF4-FFF2-40B4-BE49-F238E27FC236}">
                      <a16:creationId xmlns:a16="http://schemas.microsoft.com/office/drawing/2014/main" id="{53A27063-C84A-9258-E735-9791B0A5F95E}"/>
                    </a:ext>
                  </a:extLst>
                </p:cNvPr>
                <p:cNvSpPr/>
                <p:nvPr/>
              </p:nvSpPr>
              <p:spPr>
                <a:xfrm rot="18900000">
                  <a:off x="3463970" y="1969658"/>
                  <a:ext cx="612775" cy="95885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</p:grpSp>
          <p:sp>
            <p:nvSpPr>
              <p:cNvPr id="59" name="Pfeil: nach rechts 58">
                <a:extLst>
                  <a:ext uri="{FF2B5EF4-FFF2-40B4-BE49-F238E27FC236}">
                    <a16:creationId xmlns:a16="http://schemas.microsoft.com/office/drawing/2014/main" id="{D8CB3733-DE86-A898-7DC1-B99E06DE941A}"/>
                  </a:ext>
                </a:extLst>
              </p:cNvPr>
              <p:cNvSpPr/>
              <p:nvPr/>
            </p:nvSpPr>
            <p:spPr>
              <a:xfrm rot="18955528">
                <a:off x="6657482" y="3498893"/>
                <a:ext cx="508673" cy="388800"/>
              </a:xfrm>
              <a:prstGeom prst="rightArrow">
                <a:avLst/>
              </a:prstGeom>
              <a:solidFill>
                <a:schemeClr val="bg1">
                  <a:lumMod val="5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sch Office Sans"/>
                  <a:ea typeface="+mn-ea"/>
                  <a:cs typeface="+mn-cs"/>
                </a:endParaRPr>
              </a:p>
            </p:txBody>
          </p:sp>
        </p:grpSp>
        <p:sp>
          <p:nvSpPr>
            <p:cNvPr id="69" name="Raute 68">
              <a:extLst>
                <a:ext uri="{FF2B5EF4-FFF2-40B4-BE49-F238E27FC236}">
                  <a16:creationId xmlns:a16="http://schemas.microsoft.com/office/drawing/2014/main" id="{DA8C8CF1-BDA5-1C39-350C-C664FEB7F13A}"/>
                </a:ext>
              </a:extLst>
            </p:cNvPr>
            <p:cNvSpPr/>
            <p:nvPr/>
          </p:nvSpPr>
          <p:spPr>
            <a:xfrm>
              <a:off x="2321894" y="3961961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70" name="Raute 69">
              <a:extLst>
                <a:ext uri="{FF2B5EF4-FFF2-40B4-BE49-F238E27FC236}">
                  <a16:creationId xmlns:a16="http://schemas.microsoft.com/office/drawing/2014/main" id="{5D686817-BC92-E7C8-7A2D-D107205549E8}"/>
                </a:ext>
              </a:extLst>
            </p:cNvPr>
            <p:cNvSpPr/>
            <p:nvPr/>
          </p:nvSpPr>
          <p:spPr>
            <a:xfrm>
              <a:off x="906951" y="3961961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71" name="Raute 70">
              <a:extLst>
                <a:ext uri="{FF2B5EF4-FFF2-40B4-BE49-F238E27FC236}">
                  <a16:creationId xmlns:a16="http://schemas.microsoft.com/office/drawing/2014/main" id="{C18FE2F9-44B0-AF28-776C-2714F2E20D24}"/>
                </a:ext>
              </a:extLst>
            </p:cNvPr>
            <p:cNvSpPr/>
            <p:nvPr/>
          </p:nvSpPr>
          <p:spPr>
            <a:xfrm>
              <a:off x="1614422" y="3961961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72" name="Raute 71">
              <a:extLst>
                <a:ext uri="{FF2B5EF4-FFF2-40B4-BE49-F238E27FC236}">
                  <a16:creationId xmlns:a16="http://schemas.microsoft.com/office/drawing/2014/main" id="{5D0C8924-4F55-758A-E80F-08CAA5309560}"/>
                </a:ext>
              </a:extLst>
            </p:cNvPr>
            <p:cNvSpPr/>
            <p:nvPr/>
          </p:nvSpPr>
          <p:spPr>
            <a:xfrm>
              <a:off x="1614422" y="2806367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73" name="Raute 72">
              <a:extLst>
                <a:ext uri="{FF2B5EF4-FFF2-40B4-BE49-F238E27FC236}">
                  <a16:creationId xmlns:a16="http://schemas.microsoft.com/office/drawing/2014/main" id="{60ADB3C4-7F88-9A35-15BF-A63D7B0F6EEF}"/>
                </a:ext>
              </a:extLst>
            </p:cNvPr>
            <p:cNvSpPr/>
            <p:nvPr/>
          </p:nvSpPr>
          <p:spPr>
            <a:xfrm>
              <a:off x="2321894" y="1746727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74" name="Raute 73">
              <a:extLst>
                <a:ext uri="{FF2B5EF4-FFF2-40B4-BE49-F238E27FC236}">
                  <a16:creationId xmlns:a16="http://schemas.microsoft.com/office/drawing/2014/main" id="{FBA3FA0D-32E8-FD65-4D85-835AF5FAD4B3}"/>
                </a:ext>
              </a:extLst>
            </p:cNvPr>
            <p:cNvSpPr/>
            <p:nvPr/>
          </p:nvSpPr>
          <p:spPr>
            <a:xfrm>
              <a:off x="2321486" y="2800249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75" name="Raute 74">
              <a:extLst>
                <a:ext uri="{FF2B5EF4-FFF2-40B4-BE49-F238E27FC236}">
                  <a16:creationId xmlns:a16="http://schemas.microsoft.com/office/drawing/2014/main" id="{B1B56807-6272-647F-D131-9BD352C92AF3}"/>
                </a:ext>
              </a:extLst>
            </p:cNvPr>
            <p:cNvSpPr/>
            <p:nvPr/>
          </p:nvSpPr>
          <p:spPr>
            <a:xfrm>
              <a:off x="2321486" y="3381105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76" name="Raute 75">
              <a:extLst>
                <a:ext uri="{FF2B5EF4-FFF2-40B4-BE49-F238E27FC236}">
                  <a16:creationId xmlns:a16="http://schemas.microsoft.com/office/drawing/2014/main" id="{A6CF2098-359A-1BF8-4515-216653CB2706}"/>
                </a:ext>
              </a:extLst>
            </p:cNvPr>
            <p:cNvSpPr/>
            <p:nvPr/>
          </p:nvSpPr>
          <p:spPr>
            <a:xfrm>
              <a:off x="2321486" y="2273488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77" name="Raute 76">
              <a:extLst>
                <a:ext uri="{FF2B5EF4-FFF2-40B4-BE49-F238E27FC236}">
                  <a16:creationId xmlns:a16="http://schemas.microsoft.com/office/drawing/2014/main" id="{F2EA709E-80C1-FAC3-633C-EB41C43523F0}"/>
                </a:ext>
              </a:extLst>
            </p:cNvPr>
            <p:cNvSpPr/>
            <p:nvPr/>
          </p:nvSpPr>
          <p:spPr>
            <a:xfrm>
              <a:off x="1968158" y="3961961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78" name="Raute 77">
              <a:extLst>
                <a:ext uri="{FF2B5EF4-FFF2-40B4-BE49-F238E27FC236}">
                  <a16:creationId xmlns:a16="http://schemas.microsoft.com/office/drawing/2014/main" id="{052E4BA1-4BD6-E597-82D3-A44E2289383D}"/>
                </a:ext>
              </a:extLst>
            </p:cNvPr>
            <p:cNvSpPr/>
            <p:nvPr/>
          </p:nvSpPr>
          <p:spPr>
            <a:xfrm>
              <a:off x="1257554" y="3961961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79" name="Rechteck 78">
              <a:extLst>
                <a:ext uri="{FF2B5EF4-FFF2-40B4-BE49-F238E27FC236}">
                  <a16:creationId xmlns:a16="http://schemas.microsoft.com/office/drawing/2014/main" id="{640C24AD-0594-B7F6-5BF1-65AF0CBD5D6A}"/>
                </a:ext>
              </a:extLst>
            </p:cNvPr>
            <p:cNvSpPr/>
            <p:nvPr/>
          </p:nvSpPr>
          <p:spPr>
            <a:xfrm>
              <a:off x="794594" y="1696934"/>
              <a:ext cx="3161039" cy="385743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80" name="Rechteck 79">
              <a:extLst>
                <a:ext uri="{FF2B5EF4-FFF2-40B4-BE49-F238E27FC236}">
                  <a16:creationId xmlns:a16="http://schemas.microsoft.com/office/drawing/2014/main" id="{46E91B5A-C72C-3D68-D6D4-3D33D2B480DB}"/>
                </a:ext>
              </a:extLst>
            </p:cNvPr>
            <p:cNvSpPr/>
            <p:nvPr/>
          </p:nvSpPr>
          <p:spPr>
            <a:xfrm>
              <a:off x="794595" y="1148829"/>
              <a:ext cx="3161038" cy="549219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sch Office Sans"/>
                  <a:ea typeface="+mn-ea"/>
                  <a:cs typeface="+mn-cs"/>
                </a:rPr>
                <a:t>Even Distribution Model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A4D8B07B-A49F-9984-A707-C07227D97AB6}"/>
              </a:ext>
            </a:extLst>
          </p:cNvPr>
          <p:cNvGrpSpPr>
            <a:grpSpLocks noChangeAspect="1"/>
          </p:cNvGrpSpPr>
          <p:nvPr/>
        </p:nvGrpSpPr>
        <p:grpSpPr>
          <a:xfrm>
            <a:off x="6357340" y="4445635"/>
            <a:ext cx="657914" cy="999213"/>
            <a:chOff x="3381191" y="3744363"/>
            <a:chExt cx="1103787" cy="1676386"/>
          </a:xfrm>
        </p:grpSpPr>
        <p:cxnSp>
          <p:nvCxnSpPr>
            <p:cNvPr id="107" name="Gerader Verbinder 106">
              <a:extLst>
                <a:ext uri="{FF2B5EF4-FFF2-40B4-BE49-F238E27FC236}">
                  <a16:creationId xmlns:a16="http://schemas.microsoft.com/office/drawing/2014/main" id="{1401DE8F-7722-944B-9C7F-224246A0AD82}"/>
                </a:ext>
              </a:extLst>
            </p:cNvPr>
            <p:cNvCxnSpPr/>
            <p:nvPr/>
          </p:nvCxnSpPr>
          <p:spPr>
            <a:xfrm>
              <a:off x="3461495" y="4115851"/>
              <a:ext cx="989941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Gerader Verbinder 107">
              <a:extLst>
                <a:ext uri="{FF2B5EF4-FFF2-40B4-BE49-F238E27FC236}">
                  <a16:creationId xmlns:a16="http://schemas.microsoft.com/office/drawing/2014/main" id="{B290F6E7-2534-4870-6CFB-80D2E17D65BC}"/>
                </a:ext>
              </a:extLst>
            </p:cNvPr>
            <p:cNvCxnSpPr>
              <a:cxnSpLocks/>
            </p:cNvCxnSpPr>
            <p:nvPr/>
          </p:nvCxnSpPr>
          <p:spPr>
            <a:xfrm>
              <a:off x="3956465" y="3785394"/>
              <a:ext cx="0" cy="1635355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Rechteck 108">
              <a:extLst>
                <a:ext uri="{FF2B5EF4-FFF2-40B4-BE49-F238E27FC236}">
                  <a16:creationId xmlns:a16="http://schemas.microsoft.com/office/drawing/2014/main" id="{380966A7-2B4C-8A7D-E306-931EBC26D493}"/>
                </a:ext>
              </a:extLst>
            </p:cNvPr>
            <p:cNvSpPr/>
            <p:nvPr/>
          </p:nvSpPr>
          <p:spPr>
            <a:xfrm rot="5400000">
              <a:off x="3140042" y="4109355"/>
              <a:ext cx="1633530" cy="989257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10" name="Gerader Verbinder 109">
              <a:extLst>
                <a:ext uri="{FF2B5EF4-FFF2-40B4-BE49-F238E27FC236}">
                  <a16:creationId xmlns:a16="http://schemas.microsoft.com/office/drawing/2014/main" id="{AD70F432-E7AC-C04B-2170-35BF95F3BA28}"/>
                </a:ext>
              </a:extLst>
            </p:cNvPr>
            <p:cNvCxnSpPr/>
            <p:nvPr/>
          </p:nvCxnSpPr>
          <p:spPr>
            <a:xfrm>
              <a:off x="3461495" y="5043832"/>
              <a:ext cx="989941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Rechteck 110">
              <a:extLst>
                <a:ext uri="{FF2B5EF4-FFF2-40B4-BE49-F238E27FC236}">
                  <a16:creationId xmlns:a16="http://schemas.microsoft.com/office/drawing/2014/main" id="{FF2A14A6-3817-1F5F-A9B2-34E0593E712F}"/>
                </a:ext>
              </a:extLst>
            </p:cNvPr>
            <p:cNvSpPr/>
            <p:nvPr/>
          </p:nvSpPr>
          <p:spPr>
            <a:xfrm>
              <a:off x="3428272" y="4934496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12" name="Rechteck 111">
              <a:extLst>
                <a:ext uri="{FF2B5EF4-FFF2-40B4-BE49-F238E27FC236}">
                  <a16:creationId xmlns:a16="http://schemas.microsoft.com/office/drawing/2014/main" id="{97BF0E05-8DCF-4A49-1134-8FE89AE33BB5}"/>
                </a:ext>
              </a:extLst>
            </p:cNvPr>
            <p:cNvSpPr/>
            <p:nvPr/>
          </p:nvSpPr>
          <p:spPr>
            <a:xfrm>
              <a:off x="4419217" y="4934496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13" name="Rechteck 112">
              <a:extLst>
                <a:ext uri="{FF2B5EF4-FFF2-40B4-BE49-F238E27FC236}">
                  <a16:creationId xmlns:a16="http://schemas.microsoft.com/office/drawing/2014/main" id="{9522B206-5627-C4AB-9516-EA3125B9B7A1}"/>
                </a:ext>
              </a:extLst>
            </p:cNvPr>
            <p:cNvSpPr/>
            <p:nvPr/>
          </p:nvSpPr>
          <p:spPr>
            <a:xfrm>
              <a:off x="3427952" y="4002347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14" name="Rechteck 113">
              <a:extLst>
                <a:ext uri="{FF2B5EF4-FFF2-40B4-BE49-F238E27FC236}">
                  <a16:creationId xmlns:a16="http://schemas.microsoft.com/office/drawing/2014/main" id="{CB6FCFF5-A856-67BF-867C-DADCD259D9F7}"/>
                </a:ext>
              </a:extLst>
            </p:cNvPr>
            <p:cNvSpPr/>
            <p:nvPr/>
          </p:nvSpPr>
          <p:spPr>
            <a:xfrm>
              <a:off x="4419217" y="4002347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grpSp>
          <p:nvGrpSpPr>
            <p:cNvPr id="115" name="Gruppieren 114">
              <a:extLst>
                <a:ext uri="{FF2B5EF4-FFF2-40B4-BE49-F238E27FC236}">
                  <a16:creationId xmlns:a16="http://schemas.microsoft.com/office/drawing/2014/main" id="{0F67229E-B2B1-FC4E-B677-7BFF97398693}"/>
                </a:ext>
              </a:extLst>
            </p:cNvPr>
            <p:cNvGrpSpPr/>
            <p:nvPr/>
          </p:nvGrpSpPr>
          <p:grpSpPr>
            <a:xfrm rot="18000000">
              <a:off x="3411107" y="3714447"/>
              <a:ext cx="99450" cy="159281"/>
              <a:chOff x="5930281" y="5868140"/>
              <a:chExt cx="331435" cy="466076"/>
            </a:xfrm>
            <a:solidFill>
              <a:schemeClr val="bg1">
                <a:lumMod val="65000"/>
              </a:schemeClr>
            </a:solidFill>
          </p:grpSpPr>
          <p:sp>
            <p:nvSpPr>
              <p:cNvPr id="117" name="Rechteck 116">
                <a:extLst>
                  <a:ext uri="{FF2B5EF4-FFF2-40B4-BE49-F238E27FC236}">
                    <a16:creationId xmlns:a16="http://schemas.microsoft.com/office/drawing/2014/main" id="{47599B9D-C9DF-FBB7-3B7C-87E1A34E496C}"/>
                  </a:ext>
                </a:extLst>
              </p:cNvPr>
              <p:cNvSpPr/>
              <p:nvPr/>
            </p:nvSpPr>
            <p:spPr>
              <a:xfrm>
                <a:off x="5930281" y="6041253"/>
                <a:ext cx="331435" cy="292963"/>
              </a:xfrm>
              <a:prstGeom prst="rect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8" name="Flussdiagramm: Manuelle Verarbeitung 117">
                <a:extLst>
                  <a:ext uri="{FF2B5EF4-FFF2-40B4-BE49-F238E27FC236}">
                    <a16:creationId xmlns:a16="http://schemas.microsoft.com/office/drawing/2014/main" id="{DCCD60A4-5340-F99C-556A-A976B358C79A}"/>
                  </a:ext>
                </a:extLst>
              </p:cNvPr>
              <p:cNvSpPr/>
              <p:nvPr/>
            </p:nvSpPr>
            <p:spPr>
              <a:xfrm>
                <a:off x="5961353" y="5868140"/>
                <a:ext cx="269289" cy="173113"/>
              </a:xfrm>
              <a:prstGeom prst="flowChartManualOperation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6" name="Multiplikationszeichen 115">
              <a:extLst>
                <a:ext uri="{FF2B5EF4-FFF2-40B4-BE49-F238E27FC236}">
                  <a16:creationId xmlns:a16="http://schemas.microsoft.com/office/drawing/2014/main" id="{AF6A54AD-06B5-2228-E1F0-117B1A3F3BCB}"/>
                </a:ext>
              </a:extLst>
            </p:cNvPr>
            <p:cNvSpPr/>
            <p:nvPr/>
          </p:nvSpPr>
          <p:spPr>
            <a:xfrm flipH="1">
              <a:off x="3881058" y="4963171"/>
              <a:ext cx="150813" cy="169863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31E2FE35-409C-E1BC-1CB5-1518C1A11785}"/>
              </a:ext>
            </a:extLst>
          </p:cNvPr>
          <p:cNvGrpSpPr>
            <a:grpSpLocks noChangeAspect="1"/>
          </p:cNvGrpSpPr>
          <p:nvPr/>
        </p:nvGrpSpPr>
        <p:grpSpPr>
          <a:xfrm rot="18900000">
            <a:off x="3631322" y="1691506"/>
            <a:ext cx="2386552" cy="2434284"/>
            <a:chOff x="6380356" y="3178439"/>
            <a:chExt cx="1031875" cy="1052513"/>
          </a:xfrm>
        </p:grpSpPr>
        <p:grpSp>
          <p:nvGrpSpPr>
            <p:cNvPr id="97" name="Gruppieren 96">
              <a:extLst>
                <a:ext uri="{FF2B5EF4-FFF2-40B4-BE49-F238E27FC236}">
                  <a16:creationId xmlns:a16="http://schemas.microsoft.com/office/drawing/2014/main" id="{C1D762A4-14D2-D7DB-757F-58641DB610B2}"/>
                </a:ext>
              </a:extLst>
            </p:cNvPr>
            <p:cNvGrpSpPr/>
            <p:nvPr/>
          </p:nvGrpSpPr>
          <p:grpSpPr>
            <a:xfrm flipH="1">
              <a:off x="6380356" y="3178439"/>
              <a:ext cx="1031875" cy="1052513"/>
              <a:chOff x="3253626" y="1922033"/>
              <a:chExt cx="1031875" cy="1052513"/>
            </a:xfrm>
          </p:grpSpPr>
          <p:sp>
            <p:nvSpPr>
              <p:cNvPr id="99" name="Rechteck 98">
                <a:extLst>
                  <a:ext uri="{FF2B5EF4-FFF2-40B4-BE49-F238E27FC236}">
                    <a16:creationId xmlns:a16="http://schemas.microsoft.com/office/drawing/2014/main" id="{7956FD09-BCDE-CB01-A1BA-8945280B5E03}"/>
                  </a:ext>
                </a:extLst>
              </p:cNvPr>
              <p:cNvSpPr/>
              <p:nvPr/>
            </p:nvSpPr>
            <p:spPr>
              <a:xfrm rot="18900000">
                <a:off x="3287757" y="2355421"/>
                <a:ext cx="57150" cy="14605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00" name="Rechteck 99">
                <a:extLst>
                  <a:ext uri="{FF2B5EF4-FFF2-40B4-BE49-F238E27FC236}">
                    <a16:creationId xmlns:a16="http://schemas.microsoft.com/office/drawing/2014/main" id="{ECA1CC5F-CA78-16B0-13DC-E4A8F8CBD41F}"/>
                  </a:ext>
                </a:extLst>
              </p:cNvPr>
              <p:cNvSpPr/>
              <p:nvPr/>
            </p:nvSpPr>
            <p:spPr>
              <a:xfrm rot="18900000">
                <a:off x="3721145" y="1922033"/>
                <a:ext cx="57150" cy="14446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01" name="Rechteck 100">
                <a:extLst>
                  <a:ext uri="{FF2B5EF4-FFF2-40B4-BE49-F238E27FC236}">
                    <a16:creationId xmlns:a16="http://schemas.microsoft.com/office/drawing/2014/main" id="{E6214E43-CA43-8187-5ED6-1D080DE05753}"/>
                  </a:ext>
                </a:extLst>
              </p:cNvPr>
              <p:cNvSpPr/>
              <p:nvPr/>
            </p:nvSpPr>
            <p:spPr>
              <a:xfrm rot="18900000">
                <a:off x="4195807" y="2396696"/>
                <a:ext cx="57150" cy="14446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02" name="Rechteck 101">
                <a:extLst>
                  <a:ext uri="{FF2B5EF4-FFF2-40B4-BE49-F238E27FC236}">
                    <a16:creationId xmlns:a16="http://schemas.microsoft.com/office/drawing/2014/main" id="{661960EA-1208-BBD5-9588-7ADEC8389CBA}"/>
                  </a:ext>
                </a:extLst>
              </p:cNvPr>
              <p:cNvSpPr/>
              <p:nvPr/>
            </p:nvSpPr>
            <p:spPr>
              <a:xfrm rot="18900000">
                <a:off x="3762420" y="2830083"/>
                <a:ext cx="57150" cy="14446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cxnSp>
            <p:nvCxnSpPr>
              <p:cNvPr id="103" name="Gerader Verbinder 102">
                <a:extLst>
                  <a:ext uri="{FF2B5EF4-FFF2-40B4-BE49-F238E27FC236}">
                    <a16:creationId xmlns:a16="http://schemas.microsoft.com/office/drawing/2014/main" id="{9A93C8A8-6A7D-9E7D-4E85-B8D78145B0C4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>
                <a:off x="3532232" y="1933146"/>
                <a:ext cx="0" cy="55721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Gerader Verbinder 103">
                <a:extLst>
                  <a:ext uri="{FF2B5EF4-FFF2-40B4-BE49-F238E27FC236}">
                    <a16:creationId xmlns:a16="http://schemas.microsoft.com/office/drawing/2014/main" id="{D1E928E1-62E8-C52A-CCCF-87973BEC9A0A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>
                <a:off x="4006895" y="2407808"/>
                <a:ext cx="0" cy="55721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Multiplikationszeichen 104">
                <a:extLst>
                  <a:ext uri="{FF2B5EF4-FFF2-40B4-BE49-F238E27FC236}">
                    <a16:creationId xmlns:a16="http://schemas.microsoft.com/office/drawing/2014/main" id="{743865CB-A4A3-08C7-577C-25F3F3E933D5}"/>
                  </a:ext>
                </a:extLst>
              </p:cNvPr>
              <p:cNvSpPr/>
              <p:nvPr/>
            </p:nvSpPr>
            <p:spPr>
              <a:xfrm rot="18900000">
                <a:off x="3932282" y="2601483"/>
                <a:ext cx="150813" cy="169863"/>
              </a:xfrm>
              <a:prstGeom prst="mathMultiply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06" name="Rechteck 105">
                <a:extLst>
                  <a:ext uri="{FF2B5EF4-FFF2-40B4-BE49-F238E27FC236}">
                    <a16:creationId xmlns:a16="http://schemas.microsoft.com/office/drawing/2014/main" id="{D8E907D0-747E-90D5-F123-27D1BA1526C3}"/>
                  </a:ext>
                </a:extLst>
              </p:cNvPr>
              <p:cNvSpPr/>
              <p:nvPr/>
            </p:nvSpPr>
            <p:spPr>
              <a:xfrm rot="18900000">
                <a:off x="3463970" y="1969658"/>
                <a:ext cx="612775" cy="95885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</p:grpSp>
        <p:sp>
          <p:nvSpPr>
            <p:cNvPr id="98" name="Pfeil: nach rechts 97">
              <a:extLst>
                <a:ext uri="{FF2B5EF4-FFF2-40B4-BE49-F238E27FC236}">
                  <a16:creationId xmlns:a16="http://schemas.microsoft.com/office/drawing/2014/main" id="{56EF084A-49E1-3D8B-328F-FF238090EDDE}"/>
                </a:ext>
              </a:extLst>
            </p:cNvPr>
            <p:cNvSpPr/>
            <p:nvPr/>
          </p:nvSpPr>
          <p:spPr>
            <a:xfrm rot="18955528">
              <a:off x="6657482" y="3498893"/>
              <a:ext cx="508673" cy="3888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sp>
        <p:nvSpPr>
          <p:cNvPr id="85" name="Raute 84">
            <a:extLst>
              <a:ext uri="{FF2B5EF4-FFF2-40B4-BE49-F238E27FC236}">
                <a16:creationId xmlns:a16="http://schemas.microsoft.com/office/drawing/2014/main" id="{B12C3692-2C3D-7DB0-A36C-2B493AAC5097}"/>
              </a:ext>
            </a:extLst>
          </p:cNvPr>
          <p:cNvSpPr/>
          <p:nvPr/>
        </p:nvSpPr>
        <p:spPr>
          <a:xfrm>
            <a:off x="5442069" y="3930204"/>
            <a:ext cx="180000" cy="180000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86" name="Raute 85">
            <a:extLst>
              <a:ext uri="{FF2B5EF4-FFF2-40B4-BE49-F238E27FC236}">
                <a16:creationId xmlns:a16="http://schemas.microsoft.com/office/drawing/2014/main" id="{41C0D2AA-07F2-924E-0BBE-2A93A0438D88}"/>
              </a:ext>
            </a:extLst>
          </p:cNvPr>
          <p:cNvSpPr/>
          <p:nvPr/>
        </p:nvSpPr>
        <p:spPr>
          <a:xfrm>
            <a:off x="4027126" y="3930204"/>
            <a:ext cx="180000" cy="180000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87" name="Raute 86">
            <a:extLst>
              <a:ext uri="{FF2B5EF4-FFF2-40B4-BE49-F238E27FC236}">
                <a16:creationId xmlns:a16="http://schemas.microsoft.com/office/drawing/2014/main" id="{CBB9FB36-43D4-EDFA-890B-FE03A51F04BA}"/>
              </a:ext>
            </a:extLst>
          </p:cNvPr>
          <p:cNvSpPr/>
          <p:nvPr/>
        </p:nvSpPr>
        <p:spPr>
          <a:xfrm>
            <a:off x="4734597" y="3930204"/>
            <a:ext cx="180000" cy="180000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88" name="Raute 87">
            <a:extLst>
              <a:ext uri="{FF2B5EF4-FFF2-40B4-BE49-F238E27FC236}">
                <a16:creationId xmlns:a16="http://schemas.microsoft.com/office/drawing/2014/main" id="{FBDEF4E8-DEDF-3AE6-8774-DF6C2EE2B057}"/>
              </a:ext>
            </a:extLst>
          </p:cNvPr>
          <p:cNvSpPr/>
          <p:nvPr/>
        </p:nvSpPr>
        <p:spPr>
          <a:xfrm>
            <a:off x="4734597" y="2774610"/>
            <a:ext cx="180000" cy="180000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89" name="Raute 88">
            <a:extLst>
              <a:ext uri="{FF2B5EF4-FFF2-40B4-BE49-F238E27FC236}">
                <a16:creationId xmlns:a16="http://schemas.microsoft.com/office/drawing/2014/main" id="{042F8BC4-4859-2519-9B1F-5D29CBCB01EF}"/>
              </a:ext>
            </a:extLst>
          </p:cNvPr>
          <p:cNvSpPr/>
          <p:nvPr/>
        </p:nvSpPr>
        <p:spPr>
          <a:xfrm>
            <a:off x="5442069" y="1714970"/>
            <a:ext cx="180000" cy="180000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90" name="Raute 89">
            <a:extLst>
              <a:ext uri="{FF2B5EF4-FFF2-40B4-BE49-F238E27FC236}">
                <a16:creationId xmlns:a16="http://schemas.microsoft.com/office/drawing/2014/main" id="{BDBE0677-40AF-816B-C4B8-C1E85DDAD726}"/>
              </a:ext>
            </a:extLst>
          </p:cNvPr>
          <p:cNvSpPr/>
          <p:nvPr/>
        </p:nvSpPr>
        <p:spPr>
          <a:xfrm>
            <a:off x="5441661" y="2768492"/>
            <a:ext cx="180000" cy="180000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91" name="Raute 90">
            <a:extLst>
              <a:ext uri="{FF2B5EF4-FFF2-40B4-BE49-F238E27FC236}">
                <a16:creationId xmlns:a16="http://schemas.microsoft.com/office/drawing/2014/main" id="{BFEA4ACB-60FF-0E61-13C6-81A911372FA1}"/>
              </a:ext>
            </a:extLst>
          </p:cNvPr>
          <p:cNvSpPr/>
          <p:nvPr/>
        </p:nvSpPr>
        <p:spPr>
          <a:xfrm>
            <a:off x="5441661" y="3647318"/>
            <a:ext cx="180000" cy="180000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92" name="Raute 91">
            <a:extLst>
              <a:ext uri="{FF2B5EF4-FFF2-40B4-BE49-F238E27FC236}">
                <a16:creationId xmlns:a16="http://schemas.microsoft.com/office/drawing/2014/main" id="{39552DA3-3E72-9048-F75D-08F7338673BB}"/>
              </a:ext>
            </a:extLst>
          </p:cNvPr>
          <p:cNvSpPr/>
          <p:nvPr/>
        </p:nvSpPr>
        <p:spPr>
          <a:xfrm>
            <a:off x="5441661" y="3336391"/>
            <a:ext cx="180000" cy="180000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93" name="Raute 92">
            <a:extLst>
              <a:ext uri="{FF2B5EF4-FFF2-40B4-BE49-F238E27FC236}">
                <a16:creationId xmlns:a16="http://schemas.microsoft.com/office/drawing/2014/main" id="{C3D65661-CEBF-91BA-7805-285E5FF6CCFC}"/>
              </a:ext>
            </a:extLst>
          </p:cNvPr>
          <p:cNvSpPr/>
          <p:nvPr/>
        </p:nvSpPr>
        <p:spPr>
          <a:xfrm>
            <a:off x="5250979" y="3932841"/>
            <a:ext cx="180000" cy="180000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94" name="Raute 93">
            <a:extLst>
              <a:ext uri="{FF2B5EF4-FFF2-40B4-BE49-F238E27FC236}">
                <a16:creationId xmlns:a16="http://schemas.microsoft.com/office/drawing/2014/main" id="{183D0EE5-E916-FC6A-4DCA-3557B3E26DE9}"/>
              </a:ext>
            </a:extLst>
          </p:cNvPr>
          <p:cNvSpPr/>
          <p:nvPr/>
        </p:nvSpPr>
        <p:spPr>
          <a:xfrm>
            <a:off x="5031806" y="3927519"/>
            <a:ext cx="180000" cy="180000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D0F93D32-7B0D-BC8D-56B4-88C98CECE78E}"/>
              </a:ext>
            </a:extLst>
          </p:cNvPr>
          <p:cNvSpPr/>
          <p:nvPr/>
        </p:nvSpPr>
        <p:spPr>
          <a:xfrm>
            <a:off x="3914769" y="1665177"/>
            <a:ext cx="3161039" cy="38574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6C9F0557-2390-D2EB-A8B9-2738DE33F113}"/>
              </a:ext>
            </a:extLst>
          </p:cNvPr>
          <p:cNvSpPr/>
          <p:nvPr/>
        </p:nvSpPr>
        <p:spPr>
          <a:xfrm>
            <a:off x="3914770" y="1117072"/>
            <a:ext cx="3161038" cy="54921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Crowded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Middle Point (CMP) Distribution Model</a:t>
            </a:r>
          </a:p>
        </p:txBody>
      </p: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593071D5-27E1-C408-ECC1-E0A1802262C4}"/>
              </a:ext>
            </a:extLst>
          </p:cNvPr>
          <p:cNvGrpSpPr/>
          <p:nvPr/>
        </p:nvGrpSpPr>
        <p:grpSpPr>
          <a:xfrm>
            <a:off x="7166895" y="1117072"/>
            <a:ext cx="3444486" cy="4405541"/>
            <a:chOff x="511147" y="1148829"/>
            <a:chExt cx="3444486" cy="4405541"/>
          </a:xfrm>
        </p:grpSpPr>
        <p:grpSp>
          <p:nvGrpSpPr>
            <p:cNvPr id="120" name="Gruppieren 119">
              <a:extLst>
                <a:ext uri="{FF2B5EF4-FFF2-40B4-BE49-F238E27FC236}">
                  <a16:creationId xmlns:a16="http://schemas.microsoft.com/office/drawing/2014/main" id="{EB4768D8-BF3E-01DE-AFE6-83BC7D5C9B3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37165" y="4477392"/>
              <a:ext cx="657914" cy="999213"/>
              <a:chOff x="3381191" y="3744363"/>
              <a:chExt cx="1103787" cy="1676386"/>
            </a:xfrm>
          </p:grpSpPr>
          <p:cxnSp>
            <p:nvCxnSpPr>
              <p:cNvPr id="144" name="Gerader Verbinder 143">
                <a:extLst>
                  <a:ext uri="{FF2B5EF4-FFF2-40B4-BE49-F238E27FC236}">
                    <a16:creationId xmlns:a16="http://schemas.microsoft.com/office/drawing/2014/main" id="{CC9F2E59-8298-89BF-96CF-C5F1EF9D6FB9}"/>
                  </a:ext>
                </a:extLst>
              </p:cNvPr>
              <p:cNvCxnSpPr/>
              <p:nvPr/>
            </p:nvCxnSpPr>
            <p:spPr>
              <a:xfrm>
                <a:off x="3461495" y="4115851"/>
                <a:ext cx="989941" cy="0"/>
              </a:xfrm>
              <a:prstGeom prst="line">
                <a:avLst/>
              </a:prstGeom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Gerader Verbinder 144">
                <a:extLst>
                  <a:ext uri="{FF2B5EF4-FFF2-40B4-BE49-F238E27FC236}">
                    <a16:creationId xmlns:a16="http://schemas.microsoft.com/office/drawing/2014/main" id="{491AFFEA-D30D-A94D-4E16-C44358D61E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56465" y="3785394"/>
                <a:ext cx="0" cy="1635355"/>
              </a:xfrm>
              <a:prstGeom prst="line">
                <a:avLst/>
              </a:prstGeom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Rechteck 145">
                <a:extLst>
                  <a:ext uri="{FF2B5EF4-FFF2-40B4-BE49-F238E27FC236}">
                    <a16:creationId xmlns:a16="http://schemas.microsoft.com/office/drawing/2014/main" id="{FE7217B2-6CB3-D7B0-EFB2-7BBC3CA0B290}"/>
                  </a:ext>
                </a:extLst>
              </p:cNvPr>
              <p:cNvSpPr/>
              <p:nvPr/>
            </p:nvSpPr>
            <p:spPr>
              <a:xfrm rot="5400000">
                <a:off x="3140042" y="4109355"/>
                <a:ext cx="1633530" cy="989257"/>
              </a:xfrm>
              <a:prstGeom prst="rect">
                <a:avLst/>
              </a:prstGeom>
              <a:noFill/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cxnSp>
            <p:nvCxnSpPr>
              <p:cNvPr id="147" name="Gerader Verbinder 146">
                <a:extLst>
                  <a:ext uri="{FF2B5EF4-FFF2-40B4-BE49-F238E27FC236}">
                    <a16:creationId xmlns:a16="http://schemas.microsoft.com/office/drawing/2014/main" id="{54DDAF69-4C5D-96FD-47FB-4273E57B8490}"/>
                  </a:ext>
                </a:extLst>
              </p:cNvPr>
              <p:cNvCxnSpPr/>
              <p:nvPr/>
            </p:nvCxnSpPr>
            <p:spPr>
              <a:xfrm>
                <a:off x="3461495" y="5043832"/>
                <a:ext cx="989941" cy="0"/>
              </a:xfrm>
              <a:prstGeom prst="line">
                <a:avLst/>
              </a:prstGeom>
              <a:ln w="381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8" name="Rechteck 147">
                <a:extLst>
                  <a:ext uri="{FF2B5EF4-FFF2-40B4-BE49-F238E27FC236}">
                    <a16:creationId xmlns:a16="http://schemas.microsoft.com/office/drawing/2014/main" id="{245A15AD-9E98-280C-253C-FDD82DD832D8}"/>
                  </a:ext>
                </a:extLst>
              </p:cNvPr>
              <p:cNvSpPr/>
              <p:nvPr/>
            </p:nvSpPr>
            <p:spPr>
              <a:xfrm>
                <a:off x="3428272" y="4934496"/>
                <a:ext cx="65761" cy="22860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49" name="Rechteck 148">
                <a:extLst>
                  <a:ext uri="{FF2B5EF4-FFF2-40B4-BE49-F238E27FC236}">
                    <a16:creationId xmlns:a16="http://schemas.microsoft.com/office/drawing/2014/main" id="{8DC2C686-27F8-30C2-6830-A6ED4A20517F}"/>
                  </a:ext>
                </a:extLst>
              </p:cNvPr>
              <p:cNvSpPr/>
              <p:nvPr/>
            </p:nvSpPr>
            <p:spPr>
              <a:xfrm>
                <a:off x="4419217" y="4934496"/>
                <a:ext cx="65761" cy="22860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50" name="Rechteck 149">
                <a:extLst>
                  <a:ext uri="{FF2B5EF4-FFF2-40B4-BE49-F238E27FC236}">
                    <a16:creationId xmlns:a16="http://schemas.microsoft.com/office/drawing/2014/main" id="{714DDA41-E29A-5232-BF4C-9893D842651A}"/>
                  </a:ext>
                </a:extLst>
              </p:cNvPr>
              <p:cNvSpPr/>
              <p:nvPr/>
            </p:nvSpPr>
            <p:spPr>
              <a:xfrm>
                <a:off x="3427952" y="4002347"/>
                <a:ext cx="65761" cy="22860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51" name="Rechteck 150">
                <a:extLst>
                  <a:ext uri="{FF2B5EF4-FFF2-40B4-BE49-F238E27FC236}">
                    <a16:creationId xmlns:a16="http://schemas.microsoft.com/office/drawing/2014/main" id="{AC60781A-C13D-A1CA-2BD3-33C3BAA3824A}"/>
                  </a:ext>
                </a:extLst>
              </p:cNvPr>
              <p:cNvSpPr/>
              <p:nvPr/>
            </p:nvSpPr>
            <p:spPr>
              <a:xfrm>
                <a:off x="4419217" y="4002347"/>
                <a:ext cx="65761" cy="228605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grpSp>
            <p:nvGrpSpPr>
              <p:cNvPr id="152" name="Gruppieren 151">
                <a:extLst>
                  <a:ext uri="{FF2B5EF4-FFF2-40B4-BE49-F238E27FC236}">
                    <a16:creationId xmlns:a16="http://schemas.microsoft.com/office/drawing/2014/main" id="{ADDEBA0E-DA4D-CE92-499D-5E6ECCC5733E}"/>
                  </a:ext>
                </a:extLst>
              </p:cNvPr>
              <p:cNvGrpSpPr/>
              <p:nvPr/>
            </p:nvGrpSpPr>
            <p:grpSpPr>
              <a:xfrm rot="18000000">
                <a:off x="3411107" y="3714447"/>
                <a:ext cx="99450" cy="159281"/>
                <a:chOff x="5930281" y="5868140"/>
                <a:chExt cx="331435" cy="466076"/>
              </a:xfrm>
              <a:solidFill>
                <a:schemeClr val="bg1">
                  <a:lumMod val="65000"/>
                </a:schemeClr>
              </a:solidFill>
            </p:grpSpPr>
            <p:sp>
              <p:nvSpPr>
                <p:cNvPr id="154" name="Rechteck 153">
                  <a:extLst>
                    <a:ext uri="{FF2B5EF4-FFF2-40B4-BE49-F238E27FC236}">
                      <a16:creationId xmlns:a16="http://schemas.microsoft.com/office/drawing/2014/main" id="{CEDA5DA3-BD7A-098E-5495-2DB435681BA8}"/>
                    </a:ext>
                  </a:extLst>
                </p:cNvPr>
                <p:cNvSpPr/>
                <p:nvPr/>
              </p:nvSpPr>
              <p:spPr>
                <a:xfrm>
                  <a:off x="5930281" y="6041253"/>
                  <a:ext cx="331435" cy="292963"/>
                </a:xfrm>
                <a:prstGeom prst="rect">
                  <a:avLst/>
                </a:prstGeom>
                <a:grp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5" name="Flussdiagramm: Manuelle Verarbeitung 154">
                  <a:extLst>
                    <a:ext uri="{FF2B5EF4-FFF2-40B4-BE49-F238E27FC236}">
                      <a16:creationId xmlns:a16="http://schemas.microsoft.com/office/drawing/2014/main" id="{F1813F8C-ACF9-6899-09A1-15416792D94A}"/>
                    </a:ext>
                  </a:extLst>
                </p:cNvPr>
                <p:cNvSpPr/>
                <p:nvPr/>
              </p:nvSpPr>
              <p:spPr>
                <a:xfrm>
                  <a:off x="5961353" y="5868140"/>
                  <a:ext cx="269289" cy="173113"/>
                </a:xfrm>
                <a:prstGeom prst="flowChartManualOperation">
                  <a:avLst/>
                </a:prstGeom>
                <a:grpFill/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53" name="Multiplikationszeichen 152">
                <a:extLst>
                  <a:ext uri="{FF2B5EF4-FFF2-40B4-BE49-F238E27FC236}">
                    <a16:creationId xmlns:a16="http://schemas.microsoft.com/office/drawing/2014/main" id="{D4483E04-79C1-49D1-7E95-844D03E511F3}"/>
                  </a:ext>
                </a:extLst>
              </p:cNvPr>
              <p:cNvSpPr/>
              <p:nvPr/>
            </p:nvSpPr>
            <p:spPr>
              <a:xfrm flipH="1">
                <a:off x="3881058" y="4963171"/>
                <a:ext cx="150813" cy="169863"/>
              </a:xfrm>
              <a:prstGeom prst="mathMultiply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</p:grpSp>
        <p:grpSp>
          <p:nvGrpSpPr>
            <p:cNvPr id="121" name="Gruppieren 120">
              <a:extLst>
                <a:ext uri="{FF2B5EF4-FFF2-40B4-BE49-F238E27FC236}">
                  <a16:creationId xmlns:a16="http://schemas.microsoft.com/office/drawing/2014/main" id="{6ECBBACD-686A-3F47-1964-2551DCE6889C}"/>
                </a:ext>
              </a:extLst>
            </p:cNvPr>
            <p:cNvGrpSpPr>
              <a:grpSpLocks noChangeAspect="1"/>
            </p:cNvGrpSpPr>
            <p:nvPr/>
          </p:nvGrpSpPr>
          <p:grpSpPr>
            <a:xfrm rot="-2700000">
              <a:off x="511147" y="1723263"/>
              <a:ext cx="2386552" cy="2434284"/>
              <a:chOff x="6380356" y="3178439"/>
              <a:chExt cx="1031875" cy="1052513"/>
            </a:xfrm>
          </p:grpSpPr>
          <p:grpSp>
            <p:nvGrpSpPr>
              <p:cNvPr id="134" name="Gruppieren 133">
                <a:extLst>
                  <a:ext uri="{FF2B5EF4-FFF2-40B4-BE49-F238E27FC236}">
                    <a16:creationId xmlns:a16="http://schemas.microsoft.com/office/drawing/2014/main" id="{532D2208-AFAD-6C35-4F79-8D4083F8DE52}"/>
                  </a:ext>
                </a:extLst>
              </p:cNvPr>
              <p:cNvGrpSpPr/>
              <p:nvPr/>
            </p:nvGrpSpPr>
            <p:grpSpPr>
              <a:xfrm flipH="1">
                <a:off x="6380356" y="3178439"/>
                <a:ext cx="1031875" cy="1052513"/>
                <a:chOff x="3253626" y="1922033"/>
                <a:chExt cx="1031875" cy="1052513"/>
              </a:xfrm>
            </p:grpSpPr>
            <p:sp>
              <p:nvSpPr>
                <p:cNvPr id="136" name="Rechteck 135">
                  <a:extLst>
                    <a:ext uri="{FF2B5EF4-FFF2-40B4-BE49-F238E27FC236}">
                      <a16:creationId xmlns:a16="http://schemas.microsoft.com/office/drawing/2014/main" id="{AE300728-4E2A-EB9A-065E-433B7717E3BE}"/>
                    </a:ext>
                  </a:extLst>
                </p:cNvPr>
                <p:cNvSpPr/>
                <p:nvPr/>
              </p:nvSpPr>
              <p:spPr>
                <a:xfrm rot="18900000">
                  <a:off x="3287757" y="2355421"/>
                  <a:ext cx="57150" cy="14605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sp>
              <p:nvSpPr>
                <p:cNvPr id="137" name="Rechteck 136">
                  <a:extLst>
                    <a:ext uri="{FF2B5EF4-FFF2-40B4-BE49-F238E27FC236}">
                      <a16:creationId xmlns:a16="http://schemas.microsoft.com/office/drawing/2014/main" id="{E01E5CF1-225A-918E-9236-5B538F3367F3}"/>
                    </a:ext>
                  </a:extLst>
                </p:cNvPr>
                <p:cNvSpPr/>
                <p:nvPr/>
              </p:nvSpPr>
              <p:spPr>
                <a:xfrm rot="18900000">
                  <a:off x="3721145" y="1922033"/>
                  <a:ext cx="57150" cy="144463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sp>
              <p:nvSpPr>
                <p:cNvPr id="138" name="Rechteck 137">
                  <a:extLst>
                    <a:ext uri="{FF2B5EF4-FFF2-40B4-BE49-F238E27FC236}">
                      <a16:creationId xmlns:a16="http://schemas.microsoft.com/office/drawing/2014/main" id="{4F3A5048-9169-0E2D-45A5-E8AB80DBCD7E}"/>
                    </a:ext>
                  </a:extLst>
                </p:cNvPr>
                <p:cNvSpPr/>
                <p:nvPr/>
              </p:nvSpPr>
              <p:spPr>
                <a:xfrm rot="18900000">
                  <a:off x="4195807" y="2396696"/>
                  <a:ext cx="57150" cy="144462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sp>
              <p:nvSpPr>
                <p:cNvPr id="139" name="Rechteck 138">
                  <a:extLst>
                    <a:ext uri="{FF2B5EF4-FFF2-40B4-BE49-F238E27FC236}">
                      <a16:creationId xmlns:a16="http://schemas.microsoft.com/office/drawing/2014/main" id="{0723F1D4-B74B-F96C-7DC9-3CBA077BB9D2}"/>
                    </a:ext>
                  </a:extLst>
                </p:cNvPr>
                <p:cNvSpPr/>
                <p:nvPr/>
              </p:nvSpPr>
              <p:spPr>
                <a:xfrm rot="18900000">
                  <a:off x="3762420" y="2830083"/>
                  <a:ext cx="57150" cy="144463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cxnSp>
              <p:nvCxnSpPr>
                <p:cNvPr id="140" name="Gerader Verbinder 139">
                  <a:extLst>
                    <a:ext uri="{FF2B5EF4-FFF2-40B4-BE49-F238E27FC236}">
                      <a16:creationId xmlns:a16="http://schemas.microsoft.com/office/drawing/2014/main" id="{91731C95-4F6D-17C3-919B-FC4EC47946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3500000">
                  <a:off x="3532232" y="1933146"/>
                  <a:ext cx="0" cy="557212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Gerader Verbinder 140">
                  <a:extLst>
                    <a:ext uri="{FF2B5EF4-FFF2-40B4-BE49-F238E27FC236}">
                      <a16:creationId xmlns:a16="http://schemas.microsoft.com/office/drawing/2014/main" id="{4811C638-ED7F-ACAD-8EA9-FAAA79EFBD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3500000">
                  <a:off x="4006895" y="2407808"/>
                  <a:ext cx="0" cy="557213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2" name="Multiplikationszeichen 141">
                  <a:extLst>
                    <a:ext uri="{FF2B5EF4-FFF2-40B4-BE49-F238E27FC236}">
                      <a16:creationId xmlns:a16="http://schemas.microsoft.com/office/drawing/2014/main" id="{C47075B5-9934-73AA-C281-3489A9EEBFFE}"/>
                    </a:ext>
                  </a:extLst>
                </p:cNvPr>
                <p:cNvSpPr/>
                <p:nvPr/>
              </p:nvSpPr>
              <p:spPr>
                <a:xfrm rot="18900000">
                  <a:off x="3932282" y="2601483"/>
                  <a:ext cx="150813" cy="169863"/>
                </a:xfrm>
                <a:prstGeom prst="mathMultiply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  <p:sp>
              <p:nvSpPr>
                <p:cNvPr id="143" name="Rechteck 142">
                  <a:extLst>
                    <a:ext uri="{FF2B5EF4-FFF2-40B4-BE49-F238E27FC236}">
                      <a16:creationId xmlns:a16="http://schemas.microsoft.com/office/drawing/2014/main" id="{C28E3EDC-8FA8-8476-BE78-8F5A0160A171}"/>
                    </a:ext>
                  </a:extLst>
                </p:cNvPr>
                <p:cNvSpPr/>
                <p:nvPr/>
              </p:nvSpPr>
              <p:spPr>
                <a:xfrm rot="18900000">
                  <a:off x="3463970" y="1969658"/>
                  <a:ext cx="612775" cy="95885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de-DE"/>
                </a:p>
              </p:txBody>
            </p:sp>
          </p:grpSp>
          <p:sp>
            <p:nvSpPr>
              <p:cNvPr id="135" name="Pfeil: nach rechts 134">
                <a:extLst>
                  <a:ext uri="{FF2B5EF4-FFF2-40B4-BE49-F238E27FC236}">
                    <a16:creationId xmlns:a16="http://schemas.microsoft.com/office/drawing/2014/main" id="{25C95F08-C27B-49C3-9AC7-3B27523BE86A}"/>
                  </a:ext>
                </a:extLst>
              </p:cNvPr>
              <p:cNvSpPr/>
              <p:nvPr/>
            </p:nvSpPr>
            <p:spPr>
              <a:xfrm rot="18955528">
                <a:off x="6657482" y="3498893"/>
                <a:ext cx="508673" cy="388800"/>
              </a:xfrm>
              <a:prstGeom prst="rightArrow">
                <a:avLst/>
              </a:prstGeom>
              <a:solidFill>
                <a:schemeClr val="bg1">
                  <a:lumMod val="5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sch Office Sans"/>
                  <a:ea typeface="+mn-ea"/>
                  <a:cs typeface="+mn-cs"/>
                </a:endParaRPr>
              </a:p>
            </p:txBody>
          </p:sp>
        </p:grpSp>
        <p:sp>
          <p:nvSpPr>
            <p:cNvPr id="122" name="Raute 121">
              <a:extLst>
                <a:ext uri="{FF2B5EF4-FFF2-40B4-BE49-F238E27FC236}">
                  <a16:creationId xmlns:a16="http://schemas.microsoft.com/office/drawing/2014/main" id="{6E4B8780-746F-67FE-929B-E97FDDF295D8}"/>
                </a:ext>
              </a:extLst>
            </p:cNvPr>
            <p:cNvSpPr/>
            <p:nvPr/>
          </p:nvSpPr>
          <p:spPr>
            <a:xfrm>
              <a:off x="2321894" y="3961961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23" name="Raute 122">
              <a:extLst>
                <a:ext uri="{FF2B5EF4-FFF2-40B4-BE49-F238E27FC236}">
                  <a16:creationId xmlns:a16="http://schemas.microsoft.com/office/drawing/2014/main" id="{BCC9FA5F-C2EF-18D5-0FCD-D40AA98AD584}"/>
                </a:ext>
              </a:extLst>
            </p:cNvPr>
            <p:cNvSpPr/>
            <p:nvPr/>
          </p:nvSpPr>
          <p:spPr>
            <a:xfrm>
              <a:off x="906951" y="3961961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24" name="Raute 123">
              <a:extLst>
                <a:ext uri="{FF2B5EF4-FFF2-40B4-BE49-F238E27FC236}">
                  <a16:creationId xmlns:a16="http://schemas.microsoft.com/office/drawing/2014/main" id="{9DECAB91-4708-77D5-377A-66B3162EFFDC}"/>
                </a:ext>
              </a:extLst>
            </p:cNvPr>
            <p:cNvSpPr/>
            <p:nvPr/>
          </p:nvSpPr>
          <p:spPr>
            <a:xfrm>
              <a:off x="1252107" y="3196163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25" name="Raute 124">
              <a:extLst>
                <a:ext uri="{FF2B5EF4-FFF2-40B4-BE49-F238E27FC236}">
                  <a16:creationId xmlns:a16="http://schemas.microsoft.com/office/drawing/2014/main" id="{BFA05EB2-A22E-FD69-0B51-1EFFFE1B7F75}"/>
                </a:ext>
              </a:extLst>
            </p:cNvPr>
            <p:cNvSpPr/>
            <p:nvPr/>
          </p:nvSpPr>
          <p:spPr>
            <a:xfrm>
              <a:off x="1614422" y="2806367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26" name="Raute 125">
              <a:extLst>
                <a:ext uri="{FF2B5EF4-FFF2-40B4-BE49-F238E27FC236}">
                  <a16:creationId xmlns:a16="http://schemas.microsoft.com/office/drawing/2014/main" id="{8EFD13A4-569C-110C-F68E-C421BAF5E499}"/>
                </a:ext>
              </a:extLst>
            </p:cNvPr>
            <p:cNvSpPr/>
            <p:nvPr/>
          </p:nvSpPr>
          <p:spPr>
            <a:xfrm>
              <a:off x="2321894" y="1746727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27" name="Raute 126">
              <a:extLst>
                <a:ext uri="{FF2B5EF4-FFF2-40B4-BE49-F238E27FC236}">
                  <a16:creationId xmlns:a16="http://schemas.microsoft.com/office/drawing/2014/main" id="{CE08F2DF-4BD6-4071-B8ED-26D13D0E1209}"/>
                </a:ext>
              </a:extLst>
            </p:cNvPr>
            <p:cNvSpPr/>
            <p:nvPr/>
          </p:nvSpPr>
          <p:spPr>
            <a:xfrm>
              <a:off x="1965069" y="2968941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28" name="Raute 127">
              <a:extLst>
                <a:ext uri="{FF2B5EF4-FFF2-40B4-BE49-F238E27FC236}">
                  <a16:creationId xmlns:a16="http://schemas.microsoft.com/office/drawing/2014/main" id="{77245E8A-B0FF-CE69-D726-69F1CB599644}"/>
                </a:ext>
              </a:extLst>
            </p:cNvPr>
            <p:cNvSpPr/>
            <p:nvPr/>
          </p:nvSpPr>
          <p:spPr>
            <a:xfrm>
              <a:off x="1966235" y="3478717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29" name="Raute 128">
              <a:extLst>
                <a:ext uri="{FF2B5EF4-FFF2-40B4-BE49-F238E27FC236}">
                  <a16:creationId xmlns:a16="http://schemas.microsoft.com/office/drawing/2014/main" id="{C69DCB5F-E396-E8C6-E99A-EF245D0DFA1E}"/>
                </a:ext>
              </a:extLst>
            </p:cNvPr>
            <p:cNvSpPr/>
            <p:nvPr/>
          </p:nvSpPr>
          <p:spPr>
            <a:xfrm>
              <a:off x="2173119" y="3350408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30" name="Raute 129">
              <a:extLst>
                <a:ext uri="{FF2B5EF4-FFF2-40B4-BE49-F238E27FC236}">
                  <a16:creationId xmlns:a16="http://schemas.microsoft.com/office/drawing/2014/main" id="{FCBEB64C-DFF4-6367-04E9-BD9EF29A2506}"/>
                </a:ext>
              </a:extLst>
            </p:cNvPr>
            <p:cNvSpPr/>
            <p:nvPr/>
          </p:nvSpPr>
          <p:spPr>
            <a:xfrm>
              <a:off x="2154797" y="3671533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31" name="Raute 130">
              <a:extLst>
                <a:ext uri="{FF2B5EF4-FFF2-40B4-BE49-F238E27FC236}">
                  <a16:creationId xmlns:a16="http://schemas.microsoft.com/office/drawing/2014/main" id="{13795B25-D24B-18EE-5068-745E81562029}"/>
                </a:ext>
              </a:extLst>
            </p:cNvPr>
            <p:cNvSpPr/>
            <p:nvPr/>
          </p:nvSpPr>
          <p:spPr>
            <a:xfrm>
              <a:off x="1878826" y="3749968"/>
              <a:ext cx="180000" cy="180000"/>
            </a:xfrm>
            <a:prstGeom prst="diamond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32" name="Rechteck 131">
              <a:extLst>
                <a:ext uri="{FF2B5EF4-FFF2-40B4-BE49-F238E27FC236}">
                  <a16:creationId xmlns:a16="http://schemas.microsoft.com/office/drawing/2014/main" id="{5E5F5301-D676-9F8C-EE9C-D87C67A04A19}"/>
                </a:ext>
              </a:extLst>
            </p:cNvPr>
            <p:cNvSpPr/>
            <p:nvPr/>
          </p:nvSpPr>
          <p:spPr>
            <a:xfrm>
              <a:off x="794594" y="1696934"/>
              <a:ext cx="3161039" cy="3857436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  <p:sp>
          <p:nvSpPr>
            <p:cNvPr id="133" name="Rechteck 132">
              <a:extLst>
                <a:ext uri="{FF2B5EF4-FFF2-40B4-BE49-F238E27FC236}">
                  <a16:creationId xmlns:a16="http://schemas.microsoft.com/office/drawing/2014/main" id="{9F21481A-64EC-00EA-C6A6-77A66215B60B}"/>
                </a:ext>
              </a:extLst>
            </p:cNvPr>
            <p:cNvSpPr/>
            <p:nvPr/>
          </p:nvSpPr>
          <p:spPr>
            <a:xfrm>
              <a:off x="794595" y="1148829"/>
              <a:ext cx="3161038" cy="549219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de-DE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sch Office Sans"/>
                  <a:ea typeface="+mn-ea"/>
                  <a:cs typeface="+mn-cs"/>
                </a:rPr>
                <a:t>Statistical Distribution Model</a:t>
              </a:r>
            </a:p>
          </p:txBody>
        </p:sp>
      </p:grpSp>
      <p:sp>
        <p:nvSpPr>
          <p:cNvPr id="82" name="Raute 81">
            <a:extLst>
              <a:ext uri="{FF2B5EF4-FFF2-40B4-BE49-F238E27FC236}">
                <a16:creationId xmlns:a16="http://schemas.microsoft.com/office/drawing/2014/main" id="{C577541B-30D9-95E1-FAC9-30CA9093C06F}"/>
              </a:ext>
            </a:extLst>
          </p:cNvPr>
          <p:cNvSpPr/>
          <p:nvPr/>
        </p:nvSpPr>
        <p:spPr>
          <a:xfrm>
            <a:off x="9241370" y="303012"/>
            <a:ext cx="180000" cy="180000"/>
          </a:xfrm>
          <a:prstGeom prst="diamond">
            <a:avLst/>
          </a:prstGeom>
          <a:solidFill>
            <a:srgbClr val="00B05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156" name="Textfeld 155">
            <a:extLst>
              <a:ext uri="{FF2B5EF4-FFF2-40B4-BE49-F238E27FC236}">
                <a16:creationId xmlns:a16="http://schemas.microsoft.com/office/drawing/2014/main" id="{54EA18B3-C9E2-BA61-4394-B099E32EA802}"/>
              </a:ext>
            </a:extLst>
          </p:cNvPr>
          <p:cNvSpPr txBox="1"/>
          <p:nvPr/>
        </p:nvSpPr>
        <p:spPr>
          <a:xfrm>
            <a:off x="9609100" y="251118"/>
            <a:ext cx="914400" cy="2938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Location</a:t>
            </a:r>
          </a:p>
        </p:txBody>
      </p:sp>
      <p:grpSp>
        <p:nvGrpSpPr>
          <p:cNvPr id="157" name="Gruppieren 156">
            <a:extLst>
              <a:ext uri="{FF2B5EF4-FFF2-40B4-BE49-F238E27FC236}">
                <a16:creationId xmlns:a16="http://schemas.microsoft.com/office/drawing/2014/main" id="{6E73CFD7-D983-34BA-27AC-5A945D748288}"/>
              </a:ext>
            </a:extLst>
          </p:cNvPr>
          <p:cNvGrpSpPr>
            <a:grpSpLocks noChangeAspect="1"/>
          </p:cNvGrpSpPr>
          <p:nvPr/>
        </p:nvGrpSpPr>
        <p:grpSpPr>
          <a:xfrm>
            <a:off x="5948665" y="146704"/>
            <a:ext cx="324354" cy="492616"/>
            <a:chOff x="3381191" y="3744363"/>
            <a:chExt cx="1103787" cy="1676386"/>
          </a:xfrm>
        </p:grpSpPr>
        <p:cxnSp>
          <p:nvCxnSpPr>
            <p:cNvPr id="158" name="Gerader Verbinder 157">
              <a:extLst>
                <a:ext uri="{FF2B5EF4-FFF2-40B4-BE49-F238E27FC236}">
                  <a16:creationId xmlns:a16="http://schemas.microsoft.com/office/drawing/2014/main" id="{8A841165-475B-D3A2-26DC-F4D27CE27EA5}"/>
                </a:ext>
              </a:extLst>
            </p:cNvPr>
            <p:cNvCxnSpPr/>
            <p:nvPr/>
          </p:nvCxnSpPr>
          <p:spPr>
            <a:xfrm>
              <a:off x="3461495" y="4115851"/>
              <a:ext cx="989941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Gerader Verbinder 158">
              <a:extLst>
                <a:ext uri="{FF2B5EF4-FFF2-40B4-BE49-F238E27FC236}">
                  <a16:creationId xmlns:a16="http://schemas.microsoft.com/office/drawing/2014/main" id="{B1237C9D-8126-4571-0112-AEFEC019597E}"/>
                </a:ext>
              </a:extLst>
            </p:cNvPr>
            <p:cNvCxnSpPr>
              <a:cxnSpLocks/>
            </p:cNvCxnSpPr>
            <p:nvPr/>
          </p:nvCxnSpPr>
          <p:spPr>
            <a:xfrm>
              <a:off x="3956465" y="3785394"/>
              <a:ext cx="0" cy="1635355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Rechteck 159">
              <a:extLst>
                <a:ext uri="{FF2B5EF4-FFF2-40B4-BE49-F238E27FC236}">
                  <a16:creationId xmlns:a16="http://schemas.microsoft.com/office/drawing/2014/main" id="{93E26C6A-D2D8-0182-5950-E890A3B6E1FE}"/>
                </a:ext>
              </a:extLst>
            </p:cNvPr>
            <p:cNvSpPr/>
            <p:nvPr/>
          </p:nvSpPr>
          <p:spPr>
            <a:xfrm rot="5400000">
              <a:off x="3140042" y="4109355"/>
              <a:ext cx="1633530" cy="989257"/>
            </a:xfrm>
            <a:prstGeom prst="rect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61" name="Gerader Verbinder 160">
              <a:extLst>
                <a:ext uri="{FF2B5EF4-FFF2-40B4-BE49-F238E27FC236}">
                  <a16:creationId xmlns:a16="http://schemas.microsoft.com/office/drawing/2014/main" id="{4BB4DCED-5972-9AC2-60E0-B4686D452BA4}"/>
                </a:ext>
              </a:extLst>
            </p:cNvPr>
            <p:cNvCxnSpPr/>
            <p:nvPr/>
          </p:nvCxnSpPr>
          <p:spPr>
            <a:xfrm>
              <a:off x="3461495" y="5043832"/>
              <a:ext cx="989941" cy="0"/>
            </a:xfrm>
            <a:prstGeom prst="line">
              <a:avLst/>
            </a:prstGeom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Rechteck 161">
              <a:extLst>
                <a:ext uri="{FF2B5EF4-FFF2-40B4-BE49-F238E27FC236}">
                  <a16:creationId xmlns:a16="http://schemas.microsoft.com/office/drawing/2014/main" id="{9979F259-C950-EBF4-BA13-FB4AEC6E905D}"/>
                </a:ext>
              </a:extLst>
            </p:cNvPr>
            <p:cNvSpPr/>
            <p:nvPr/>
          </p:nvSpPr>
          <p:spPr>
            <a:xfrm>
              <a:off x="3428272" y="4934496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63" name="Rechteck 162">
              <a:extLst>
                <a:ext uri="{FF2B5EF4-FFF2-40B4-BE49-F238E27FC236}">
                  <a16:creationId xmlns:a16="http://schemas.microsoft.com/office/drawing/2014/main" id="{70152BFF-C7E5-2D9B-F9AE-C70491444706}"/>
                </a:ext>
              </a:extLst>
            </p:cNvPr>
            <p:cNvSpPr/>
            <p:nvPr/>
          </p:nvSpPr>
          <p:spPr>
            <a:xfrm>
              <a:off x="4419217" y="4934496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64" name="Rechteck 163">
              <a:extLst>
                <a:ext uri="{FF2B5EF4-FFF2-40B4-BE49-F238E27FC236}">
                  <a16:creationId xmlns:a16="http://schemas.microsoft.com/office/drawing/2014/main" id="{89650763-66DD-FCFD-1EE8-3E78EAB7CFBC}"/>
                </a:ext>
              </a:extLst>
            </p:cNvPr>
            <p:cNvSpPr/>
            <p:nvPr/>
          </p:nvSpPr>
          <p:spPr>
            <a:xfrm>
              <a:off x="3427952" y="4002347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sp>
          <p:nvSpPr>
            <p:cNvPr id="165" name="Rechteck 164">
              <a:extLst>
                <a:ext uri="{FF2B5EF4-FFF2-40B4-BE49-F238E27FC236}">
                  <a16:creationId xmlns:a16="http://schemas.microsoft.com/office/drawing/2014/main" id="{C9514091-FD45-7D4B-14B3-DA591F779A12}"/>
                </a:ext>
              </a:extLst>
            </p:cNvPr>
            <p:cNvSpPr/>
            <p:nvPr/>
          </p:nvSpPr>
          <p:spPr>
            <a:xfrm>
              <a:off x="4419217" y="4002347"/>
              <a:ext cx="65761" cy="22860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  <p:grpSp>
          <p:nvGrpSpPr>
            <p:cNvPr id="166" name="Gruppieren 165">
              <a:extLst>
                <a:ext uri="{FF2B5EF4-FFF2-40B4-BE49-F238E27FC236}">
                  <a16:creationId xmlns:a16="http://schemas.microsoft.com/office/drawing/2014/main" id="{7BFFD2F9-FFE2-D830-99AF-FF8FD115C389}"/>
                </a:ext>
              </a:extLst>
            </p:cNvPr>
            <p:cNvGrpSpPr/>
            <p:nvPr/>
          </p:nvGrpSpPr>
          <p:grpSpPr>
            <a:xfrm rot="18000000">
              <a:off x="3411107" y="3714447"/>
              <a:ext cx="99450" cy="159281"/>
              <a:chOff x="5930281" y="5868140"/>
              <a:chExt cx="331435" cy="466076"/>
            </a:xfrm>
            <a:solidFill>
              <a:schemeClr val="bg1">
                <a:lumMod val="65000"/>
              </a:schemeClr>
            </a:solidFill>
          </p:grpSpPr>
          <p:sp>
            <p:nvSpPr>
              <p:cNvPr id="168" name="Rechteck 167">
                <a:extLst>
                  <a:ext uri="{FF2B5EF4-FFF2-40B4-BE49-F238E27FC236}">
                    <a16:creationId xmlns:a16="http://schemas.microsoft.com/office/drawing/2014/main" id="{267BAB5A-B671-713E-E1AD-D8B0863D680D}"/>
                  </a:ext>
                </a:extLst>
              </p:cNvPr>
              <p:cNvSpPr/>
              <p:nvPr/>
            </p:nvSpPr>
            <p:spPr>
              <a:xfrm>
                <a:off x="5930281" y="6041253"/>
                <a:ext cx="331435" cy="292963"/>
              </a:xfrm>
              <a:prstGeom prst="rect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9" name="Flussdiagramm: Manuelle Verarbeitung 168">
                <a:extLst>
                  <a:ext uri="{FF2B5EF4-FFF2-40B4-BE49-F238E27FC236}">
                    <a16:creationId xmlns:a16="http://schemas.microsoft.com/office/drawing/2014/main" id="{0648A58D-3D48-E112-4DDB-0F71FDA377A2}"/>
                  </a:ext>
                </a:extLst>
              </p:cNvPr>
              <p:cNvSpPr/>
              <p:nvPr/>
            </p:nvSpPr>
            <p:spPr>
              <a:xfrm>
                <a:off x="5961353" y="5868140"/>
                <a:ext cx="269289" cy="173113"/>
              </a:xfrm>
              <a:prstGeom prst="flowChartManualOperation">
                <a:avLst/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7" name="Multiplikationszeichen 166">
              <a:extLst>
                <a:ext uri="{FF2B5EF4-FFF2-40B4-BE49-F238E27FC236}">
                  <a16:creationId xmlns:a16="http://schemas.microsoft.com/office/drawing/2014/main" id="{9465788A-3D3F-6558-5B95-7CC17781EEFD}"/>
                </a:ext>
              </a:extLst>
            </p:cNvPr>
            <p:cNvSpPr/>
            <p:nvPr/>
          </p:nvSpPr>
          <p:spPr>
            <a:xfrm flipH="1">
              <a:off x="3881058" y="4963171"/>
              <a:ext cx="150813" cy="169863"/>
            </a:xfrm>
            <a:prstGeom prst="mathMultiply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de-DE"/>
            </a:p>
          </p:txBody>
        </p:sp>
      </p:grpSp>
      <p:sp>
        <p:nvSpPr>
          <p:cNvPr id="170" name="Textfeld 169">
            <a:extLst>
              <a:ext uri="{FF2B5EF4-FFF2-40B4-BE49-F238E27FC236}">
                <a16:creationId xmlns:a16="http://schemas.microsoft.com/office/drawing/2014/main" id="{3857E25E-6B1C-32E4-AE95-43BEDD63CB94}"/>
              </a:ext>
            </a:extLst>
          </p:cNvPr>
          <p:cNvSpPr txBox="1"/>
          <p:nvPr/>
        </p:nvSpPr>
        <p:spPr>
          <a:xfrm>
            <a:off x="6369009" y="256373"/>
            <a:ext cx="1251326" cy="2938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Ego Vehicle</a:t>
            </a:r>
          </a:p>
        </p:txBody>
      </p:sp>
      <p:grpSp>
        <p:nvGrpSpPr>
          <p:cNvPr id="171" name="Gruppieren 170">
            <a:extLst>
              <a:ext uri="{FF2B5EF4-FFF2-40B4-BE49-F238E27FC236}">
                <a16:creationId xmlns:a16="http://schemas.microsoft.com/office/drawing/2014/main" id="{81C49E18-6D02-0E64-9398-F4267390A5AB}"/>
              </a:ext>
            </a:extLst>
          </p:cNvPr>
          <p:cNvGrpSpPr>
            <a:grpSpLocks noChangeAspect="1"/>
          </p:cNvGrpSpPr>
          <p:nvPr/>
        </p:nvGrpSpPr>
        <p:grpSpPr>
          <a:xfrm rot="-2700000">
            <a:off x="7752842" y="134899"/>
            <a:ext cx="531783" cy="542419"/>
            <a:chOff x="6380356" y="3178439"/>
            <a:chExt cx="1031875" cy="1052513"/>
          </a:xfrm>
        </p:grpSpPr>
        <p:grpSp>
          <p:nvGrpSpPr>
            <p:cNvPr id="172" name="Gruppieren 171">
              <a:extLst>
                <a:ext uri="{FF2B5EF4-FFF2-40B4-BE49-F238E27FC236}">
                  <a16:creationId xmlns:a16="http://schemas.microsoft.com/office/drawing/2014/main" id="{2CE2875A-835A-3926-9DBD-8E80730925FD}"/>
                </a:ext>
              </a:extLst>
            </p:cNvPr>
            <p:cNvGrpSpPr/>
            <p:nvPr/>
          </p:nvGrpSpPr>
          <p:grpSpPr>
            <a:xfrm flipH="1">
              <a:off x="6380356" y="3178439"/>
              <a:ext cx="1031875" cy="1052513"/>
              <a:chOff x="3253626" y="1922033"/>
              <a:chExt cx="1031875" cy="1052513"/>
            </a:xfrm>
          </p:grpSpPr>
          <p:sp>
            <p:nvSpPr>
              <p:cNvPr id="174" name="Rechteck 173">
                <a:extLst>
                  <a:ext uri="{FF2B5EF4-FFF2-40B4-BE49-F238E27FC236}">
                    <a16:creationId xmlns:a16="http://schemas.microsoft.com/office/drawing/2014/main" id="{71C4AA70-75F5-D676-F296-80392660383C}"/>
                  </a:ext>
                </a:extLst>
              </p:cNvPr>
              <p:cNvSpPr/>
              <p:nvPr/>
            </p:nvSpPr>
            <p:spPr>
              <a:xfrm rot="18900000">
                <a:off x="3287757" y="2355421"/>
                <a:ext cx="57150" cy="14605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75" name="Rechteck 174">
                <a:extLst>
                  <a:ext uri="{FF2B5EF4-FFF2-40B4-BE49-F238E27FC236}">
                    <a16:creationId xmlns:a16="http://schemas.microsoft.com/office/drawing/2014/main" id="{C9F8E43A-C929-18B5-6704-14F0F9D24D74}"/>
                  </a:ext>
                </a:extLst>
              </p:cNvPr>
              <p:cNvSpPr/>
              <p:nvPr/>
            </p:nvSpPr>
            <p:spPr>
              <a:xfrm rot="18900000">
                <a:off x="3721145" y="1922033"/>
                <a:ext cx="57150" cy="14446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76" name="Rechteck 175">
                <a:extLst>
                  <a:ext uri="{FF2B5EF4-FFF2-40B4-BE49-F238E27FC236}">
                    <a16:creationId xmlns:a16="http://schemas.microsoft.com/office/drawing/2014/main" id="{C8E9C79D-6A1D-13C4-0666-7BEA773E3E29}"/>
                  </a:ext>
                </a:extLst>
              </p:cNvPr>
              <p:cNvSpPr/>
              <p:nvPr/>
            </p:nvSpPr>
            <p:spPr>
              <a:xfrm rot="18900000">
                <a:off x="4195807" y="2396696"/>
                <a:ext cx="57150" cy="144462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77" name="Rechteck 176">
                <a:extLst>
                  <a:ext uri="{FF2B5EF4-FFF2-40B4-BE49-F238E27FC236}">
                    <a16:creationId xmlns:a16="http://schemas.microsoft.com/office/drawing/2014/main" id="{CF10CC9F-5368-77AD-9346-4FE5E8103147}"/>
                  </a:ext>
                </a:extLst>
              </p:cNvPr>
              <p:cNvSpPr/>
              <p:nvPr/>
            </p:nvSpPr>
            <p:spPr>
              <a:xfrm rot="18900000">
                <a:off x="3762420" y="2830083"/>
                <a:ext cx="57150" cy="14446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cxnSp>
            <p:nvCxnSpPr>
              <p:cNvPr id="178" name="Gerader Verbinder 177">
                <a:extLst>
                  <a:ext uri="{FF2B5EF4-FFF2-40B4-BE49-F238E27FC236}">
                    <a16:creationId xmlns:a16="http://schemas.microsoft.com/office/drawing/2014/main" id="{FCBD73FC-CA50-B8CF-6561-70937A8FD903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>
                <a:off x="3532232" y="1933146"/>
                <a:ext cx="0" cy="55721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Gerader Verbinder 178">
                <a:extLst>
                  <a:ext uri="{FF2B5EF4-FFF2-40B4-BE49-F238E27FC236}">
                    <a16:creationId xmlns:a16="http://schemas.microsoft.com/office/drawing/2014/main" id="{2D1F196C-D1DE-1E9B-E2F5-3A1E8CFC06AF}"/>
                  </a:ext>
                </a:extLst>
              </p:cNvPr>
              <p:cNvCxnSpPr>
                <a:cxnSpLocks/>
              </p:cNvCxnSpPr>
              <p:nvPr/>
            </p:nvCxnSpPr>
            <p:spPr>
              <a:xfrm rot="13500000">
                <a:off x="4006895" y="2407808"/>
                <a:ext cx="0" cy="557213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0" name="Multiplikationszeichen 179">
                <a:extLst>
                  <a:ext uri="{FF2B5EF4-FFF2-40B4-BE49-F238E27FC236}">
                    <a16:creationId xmlns:a16="http://schemas.microsoft.com/office/drawing/2014/main" id="{1CB28319-66B4-E9C1-5222-46E2560C208D}"/>
                  </a:ext>
                </a:extLst>
              </p:cNvPr>
              <p:cNvSpPr/>
              <p:nvPr/>
            </p:nvSpPr>
            <p:spPr>
              <a:xfrm rot="18900000">
                <a:off x="3932282" y="2601483"/>
                <a:ext cx="150813" cy="169863"/>
              </a:xfrm>
              <a:prstGeom prst="mathMultiply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  <p:sp>
            <p:nvSpPr>
              <p:cNvPr id="181" name="Rechteck 180">
                <a:extLst>
                  <a:ext uri="{FF2B5EF4-FFF2-40B4-BE49-F238E27FC236}">
                    <a16:creationId xmlns:a16="http://schemas.microsoft.com/office/drawing/2014/main" id="{83C514A8-3D42-FDD1-3290-D87565EB61B4}"/>
                  </a:ext>
                </a:extLst>
              </p:cNvPr>
              <p:cNvSpPr/>
              <p:nvPr/>
            </p:nvSpPr>
            <p:spPr>
              <a:xfrm rot="18900000">
                <a:off x="3463970" y="1969658"/>
                <a:ext cx="612775" cy="95885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de-DE"/>
              </a:p>
            </p:txBody>
          </p:sp>
        </p:grpSp>
        <p:sp>
          <p:nvSpPr>
            <p:cNvPr id="173" name="Pfeil: nach rechts 172">
              <a:extLst>
                <a:ext uri="{FF2B5EF4-FFF2-40B4-BE49-F238E27FC236}">
                  <a16:creationId xmlns:a16="http://schemas.microsoft.com/office/drawing/2014/main" id="{99B6A1CC-5EB3-5898-12A7-51C75EDC33DB}"/>
                </a:ext>
              </a:extLst>
            </p:cNvPr>
            <p:cNvSpPr/>
            <p:nvPr/>
          </p:nvSpPr>
          <p:spPr>
            <a:xfrm rot="18955528">
              <a:off x="6657482" y="3498893"/>
              <a:ext cx="508673" cy="388800"/>
            </a:xfrm>
            <a:prstGeom prst="rightArrow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endParaRPr>
            </a:p>
          </p:txBody>
        </p:sp>
      </p:grpSp>
      <p:sp>
        <p:nvSpPr>
          <p:cNvPr id="182" name="Textfeld 181">
            <a:extLst>
              <a:ext uri="{FF2B5EF4-FFF2-40B4-BE49-F238E27FC236}">
                <a16:creationId xmlns:a16="http://schemas.microsoft.com/office/drawing/2014/main" id="{3995827E-5AA6-56F2-A869-25D5D358C1D7}"/>
              </a:ext>
            </a:extLst>
          </p:cNvPr>
          <p:cNvSpPr txBox="1"/>
          <p:nvPr/>
        </p:nvSpPr>
        <p:spPr>
          <a:xfrm>
            <a:off x="8287092" y="249148"/>
            <a:ext cx="713778" cy="29387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4215664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C27BDB4-4A69-4975-42C2-86F86FE0D7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Output </a:t>
            </a:r>
            <a:r>
              <a:rPr lang="de-DE" dirty="0" err="1"/>
              <a:t>Definitions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2DF29E5-66E2-56DE-F1A1-D4AA1EC47D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2129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1F3B551-A69B-1373-0BF5-EC78AB6C23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/>
              <a:t>Output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D4B323E-115D-0661-9888-771E1D309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Reading </a:t>
            </a:r>
            <a:r>
              <a:rPr lang="de-DE" dirty="0" err="1"/>
              <a:t>calculated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DLL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27BBF56-4AE1-1703-51CF-C39241FD0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5200" y="1478881"/>
            <a:ext cx="4774956" cy="317645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Method 1: Reading </a:t>
            </a:r>
            <a:r>
              <a:rPr lang="de-DE" dirty="0" err="1"/>
              <a:t>signal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one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81EEAF9-A003-358E-AEF5-7E1ADDE87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89044" y="1478879"/>
            <a:ext cx="4778556" cy="317647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Method 2: Reading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full</a:t>
            </a:r>
            <a:r>
              <a:rPr lang="de-DE" dirty="0"/>
              <a:t> </a:t>
            </a:r>
            <a:r>
              <a:rPr lang="de-DE" dirty="0" err="1"/>
              <a:t>ByteArray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F5AE26-5C98-9175-605A-16653DA00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17</a:t>
            </a:fld>
            <a:endParaRPr lang="en-US" noProof="1"/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84D521F7-283A-4BD1-3264-4AE1C83FA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363892"/>
              </p:ext>
            </p:extLst>
          </p:nvPr>
        </p:nvGraphicFramePr>
        <p:xfrm>
          <a:off x="205200" y="1904105"/>
          <a:ext cx="4774956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5393">
                  <a:extLst>
                    <a:ext uri="{9D8B030D-6E8A-4147-A177-3AD203B41FA5}">
                      <a16:colId xmlns:a16="http://schemas.microsoft.com/office/drawing/2014/main" val="2612350068"/>
                    </a:ext>
                  </a:extLst>
                </a:gridCol>
                <a:gridCol w="919778">
                  <a:extLst>
                    <a:ext uri="{9D8B030D-6E8A-4147-A177-3AD203B41FA5}">
                      <a16:colId xmlns:a16="http://schemas.microsoft.com/office/drawing/2014/main" val="1865089592"/>
                    </a:ext>
                  </a:extLst>
                </a:gridCol>
                <a:gridCol w="1719785">
                  <a:extLst>
                    <a:ext uri="{9D8B030D-6E8A-4147-A177-3AD203B41FA5}">
                      <a16:colId xmlns:a16="http://schemas.microsoft.com/office/drawing/2014/main" val="1594111085"/>
                    </a:ext>
                  </a:extLst>
                </a:gridCol>
              </a:tblGrid>
              <a:tr h="175579"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Function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Return Type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Parameter List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644211897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1000" b="0" u="none" strike="noStrike" dirty="0" err="1">
                          <a:effectLst/>
                          <a:latin typeface="codicon"/>
                        </a:rPr>
                        <a:t>appGetRadarXXValidLocCount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long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nn-NO" sz="1000" dirty="0">
                          <a:effectLst/>
                        </a:rPr>
                        <a:t>(uint32_t handle)</a:t>
                      </a:r>
                      <a:endParaRPr lang="en-US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254179214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0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appGetRadarXXLocRadialDistance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nn-NO" sz="1000" dirty="0">
                          <a:effectLst/>
                        </a:rPr>
                        <a:t>(uint32_t handle, int loc_nr)</a:t>
                      </a:r>
                      <a:endParaRPr lang="en-US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176233877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1000" b="0" u="none" strike="noStrike" dirty="0" err="1">
                          <a:effectLst/>
                          <a:latin typeface="codicon"/>
                        </a:rPr>
                        <a:t>appGetRadarXXLocRadialVelocity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nn-NO" sz="1000" dirty="0">
                          <a:effectLst/>
                        </a:rPr>
                        <a:t>(uint32_t handle, int loc_nr)</a:t>
                      </a:r>
                      <a:endParaRPr lang="en-US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723603462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appGetRadarXXLocAzimuthAngle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nn-NO" sz="1000" dirty="0">
                          <a:effectLst/>
                        </a:rPr>
                        <a:t>(uint32_t handle, int loc_nr)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694418187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appGetRadarXXLocElevationAngle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000" dirty="0">
                          <a:effectLst/>
                        </a:rPr>
                        <a:t>(uint32_t handle, int loc_nr)</a:t>
                      </a:r>
                      <a:endParaRPr lang="en-US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4076327650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appGetRadarXXLocRCS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000" dirty="0">
                          <a:effectLst/>
                        </a:rPr>
                        <a:t>(uint32_t handle, int loc_nr)</a:t>
                      </a:r>
                      <a:endParaRPr lang="en-US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917225127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appGetRadarXXLocRSSI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000" dirty="0">
                          <a:effectLst/>
                        </a:rPr>
                        <a:t>(uint32_t handle, int loc_nr)</a:t>
                      </a:r>
                      <a:endParaRPr lang="en-US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689459400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appGetRadarXXLocSNR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double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 marL="0" marR="0" lvl="0" indent="0" algn="l" defTabSz="9143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000" dirty="0">
                          <a:effectLst/>
                        </a:rPr>
                        <a:t>(uint32_t handle, int loc_nr)</a:t>
                      </a:r>
                      <a:endParaRPr lang="en-US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298525089"/>
                  </a:ext>
                </a:extLst>
              </a:tr>
            </a:tbl>
          </a:graphicData>
        </a:graphic>
      </p:graphicFrame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357A75C3-1273-9CAC-E132-B03E72699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031297"/>
              </p:ext>
            </p:extLst>
          </p:nvPr>
        </p:nvGraphicFramePr>
        <p:xfrm>
          <a:off x="5989044" y="1904105"/>
          <a:ext cx="477495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278">
                  <a:extLst>
                    <a:ext uri="{9D8B030D-6E8A-4147-A177-3AD203B41FA5}">
                      <a16:colId xmlns:a16="http://schemas.microsoft.com/office/drawing/2014/main" val="2612350068"/>
                    </a:ext>
                  </a:extLst>
                </a:gridCol>
                <a:gridCol w="871370">
                  <a:extLst>
                    <a:ext uri="{9D8B030D-6E8A-4147-A177-3AD203B41FA5}">
                      <a16:colId xmlns:a16="http://schemas.microsoft.com/office/drawing/2014/main" val="1865089592"/>
                    </a:ext>
                  </a:extLst>
                </a:gridCol>
                <a:gridCol w="2405308">
                  <a:extLst>
                    <a:ext uri="{9D8B030D-6E8A-4147-A177-3AD203B41FA5}">
                      <a16:colId xmlns:a16="http://schemas.microsoft.com/office/drawing/2014/main" val="1594111085"/>
                    </a:ext>
                  </a:extLst>
                </a:gridCol>
              </a:tblGrid>
              <a:tr h="175579"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Function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Return Type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>
                          <a:effectLst/>
                        </a:rPr>
                        <a:t>Parameter List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644211897"/>
                  </a:ext>
                </a:extLst>
              </a:tr>
              <a:tr h="175579">
                <a:tc>
                  <a:txBody>
                    <a:bodyPr/>
                    <a:lstStyle/>
                    <a:p>
                      <a:r>
                        <a:rPr lang="de-DE" sz="1000" b="0" u="none" strike="noStrike" dirty="0" err="1">
                          <a:effectLst/>
                          <a:latin typeface="codicon"/>
                        </a:rPr>
                        <a:t>appGetRadarXXByteArray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de-DE" sz="1000" dirty="0" err="1">
                          <a:effectLst/>
                        </a:rPr>
                        <a:t>long</a:t>
                      </a:r>
                      <a:endParaRPr lang="de-DE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r>
                        <a:rPr lang="nn-NO" sz="1000" dirty="0">
                          <a:effectLst/>
                        </a:rPr>
                        <a:t>(uint32_t handle, , uint8_t byteArray[])</a:t>
                      </a:r>
                      <a:endParaRPr lang="en-US" sz="1000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254179214"/>
                  </a:ext>
                </a:extLst>
              </a:tr>
            </a:tbl>
          </a:graphicData>
        </a:graphic>
      </p:graphicFrame>
      <p:sp>
        <p:nvSpPr>
          <p:cNvPr id="11" name="Inhaltsplatzhalter 4">
            <a:extLst>
              <a:ext uri="{FF2B5EF4-FFF2-40B4-BE49-F238E27FC236}">
                <a16:creationId xmlns:a16="http://schemas.microsoft.com/office/drawing/2014/main" id="{F22833D8-57E8-4B54-9FD7-56681E2F5569}"/>
              </a:ext>
            </a:extLst>
          </p:cNvPr>
          <p:cNvSpPr txBox="1">
            <a:spLocks/>
          </p:cNvSpPr>
          <p:nvPr/>
        </p:nvSpPr>
        <p:spPr>
          <a:xfrm>
            <a:off x="205200" y="4223875"/>
            <a:ext cx="4774956" cy="4102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400" indent="-230400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76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4800" indent="-230400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de-DE" sz="1000" dirty="0"/>
              <a:t>Description: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de-DE" sz="1000" dirty="0" err="1"/>
              <a:t>Each</a:t>
            </a:r>
            <a:r>
              <a:rPr lang="de-DE" sz="1000" dirty="0"/>
              <a:t> </a:t>
            </a:r>
            <a:r>
              <a:rPr lang="de-DE" sz="1000" dirty="0" err="1"/>
              <a:t>value</a:t>
            </a:r>
            <a:r>
              <a:rPr lang="de-DE" sz="1000" dirty="0"/>
              <a:t> </a:t>
            </a:r>
            <a:r>
              <a:rPr lang="de-DE" sz="1000" dirty="0" err="1"/>
              <a:t>of</a:t>
            </a:r>
            <a:r>
              <a:rPr lang="de-DE" sz="1000" dirty="0"/>
              <a:t> </a:t>
            </a:r>
            <a:r>
              <a:rPr lang="de-DE" sz="1000" dirty="0" err="1"/>
              <a:t>each</a:t>
            </a:r>
            <a:r>
              <a:rPr lang="de-DE" sz="1000" dirty="0"/>
              <a:t> </a:t>
            </a:r>
            <a:r>
              <a:rPr lang="de-DE" sz="1000" dirty="0" err="1"/>
              <a:t>location</a:t>
            </a:r>
            <a:r>
              <a:rPr lang="de-DE" sz="1000" dirty="0"/>
              <a:t> </a:t>
            </a:r>
            <a:r>
              <a:rPr lang="de-DE" sz="1000" dirty="0" err="1"/>
              <a:t>can</a:t>
            </a:r>
            <a:r>
              <a:rPr lang="de-DE" sz="1000" dirty="0"/>
              <a:t> </a:t>
            </a:r>
            <a:r>
              <a:rPr lang="de-DE" sz="1000" dirty="0" err="1"/>
              <a:t>be</a:t>
            </a:r>
            <a:r>
              <a:rPr lang="de-DE" sz="1000" dirty="0"/>
              <a:t> </a:t>
            </a:r>
            <a:r>
              <a:rPr lang="de-DE" sz="1000" dirty="0" err="1"/>
              <a:t>read</a:t>
            </a:r>
            <a:r>
              <a:rPr lang="de-DE" sz="1000" dirty="0"/>
              <a:t> </a:t>
            </a:r>
            <a:r>
              <a:rPr lang="de-DE" sz="1000" dirty="0" err="1"/>
              <a:t>individually</a:t>
            </a:r>
            <a:r>
              <a:rPr lang="de-DE" sz="1000" dirty="0"/>
              <a:t> for </a:t>
            </a:r>
            <a:r>
              <a:rPr lang="de-DE" sz="1000" dirty="0" err="1"/>
              <a:t>every</a:t>
            </a:r>
            <a:r>
              <a:rPr lang="de-DE" sz="1000" dirty="0"/>
              <a:t> </a:t>
            </a:r>
            <a:r>
              <a:rPr lang="de-DE" sz="1000" dirty="0" err="1"/>
              <a:t>radar</a:t>
            </a:r>
            <a:r>
              <a:rPr lang="de-DE" sz="1000" dirty="0"/>
              <a:t>.</a:t>
            </a:r>
          </a:p>
        </p:txBody>
      </p:sp>
      <p:sp>
        <p:nvSpPr>
          <p:cNvPr id="12" name="Inhaltsplatzhalter 4">
            <a:extLst>
              <a:ext uri="{FF2B5EF4-FFF2-40B4-BE49-F238E27FC236}">
                <a16:creationId xmlns:a16="http://schemas.microsoft.com/office/drawing/2014/main" id="{10F70E53-FC62-46D1-BEE0-06683F40F3A2}"/>
              </a:ext>
            </a:extLst>
          </p:cNvPr>
          <p:cNvSpPr txBox="1">
            <a:spLocks/>
          </p:cNvSpPr>
          <p:nvPr/>
        </p:nvSpPr>
        <p:spPr>
          <a:xfrm>
            <a:off x="5989044" y="2661631"/>
            <a:ext cx="4774956" cy="15798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30400" indent="-230400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76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4800" indent="-230400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de-DE" sz="1000" dirty="0"/>
              <a:t>Description: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de-DE" sz="1000" dirty="0"/>
              <a:t>The DLL </a:t>
            </a:r>
            <a:r>
              <a:rPr lang="de-DE" sz="1000" dirty="0" err="1"/>
              <a:t>populates</a:t>
            </a:r>
            <a:r>
              <a:rPr lang="de-DE" sz="1000" dirty="0"/>
              <a:t> all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location</a:t>
            </a:r>
            <a:r>
              <a:rPr lang="de-DE" sz="1000" dirty="0"/>
              <a:t> </a:t>
            </a:r>
            <a:r>
              <a:rPr lang="de-DE" sz="1000" dirty="0" err="1"/>
              <a:t>data</a:t>
            </a:r>
            <a:r>
              <a:rPr lang="de-DE" sz="1000" dirty="0"/>
              <a:t> </a:t>
            </a:r>
            <a:r>
              <a:rPr lang="de-DE" sz="1000" dirty="0" err="1"/>
              <a:t>into</a:t>
            </a:r>
            <a:r>
              <a:rPr lang="de-DE" sz="1000" dirty="0"/>
              <a:t> a </a:t>
            </a:r>
            <a:r>
              <a:rPr lang="de-DE" sz="1000" dirty="0" err="1"/>
              <a:t>ByteArray</a:t>
            </a:r>
            <a:r>
              <a:rPr lang="de-DE" sz="1000" dirty="0"/>
              <a:t>. </a:t>
            </a:r>
            <a:r>
              <a:rPr lang="de-DE" sz="1000" dirty="0" err="1"/>
              <a:t>To</a:t>
            </a:r>
            <a:r>
              <a:rPr lang="de-DE" sz="1000" dirty="0"/>
              <a:t> </a:t>
            </a:r>
            <a:r>
              <a:rPr lang="de-DE" sz="1000" dirty="0" err="1"/>
              <a:t>read</a:t>
            </a:r>
            <a:r>
              <a:rPr lang="de-DE" sz="1000" dirty="0"/>
              <a:t> </a:t>
            </a:r>
            <a:r>
              <a:rPr lang="de-DE" sz="1000" dirty="0" err="1"/>
              <a:t>this</a:t>
            </a:r>
            <a:r>
              <a:rPr lang="de-DE" sz="1000" dirty="0"/>
              <a:t>, a </a:t>
            </a:r>
            <a:r>
              <a:rPr lang="de-DE" sz="1000" dirty="0" err="1"/>
              <a:t>ByteArray</a:t>
            </a:r>
            <a:r>
              <a:rPr lang="de-DE" sz="1000" dirty="0"/>
              <a:t> </a:t>
            </a:r>
            <a:r>
              <a:rPr lang="de-DE" sz="1000" dirty="0" err="1"/>
              <a:t>must</a:t>
            </a:r>
            <a:r>
              <a:rPr lang="de-DE" sz="1000" dirty="0"/>
              <a:t> </a:t>
            </a:r>
            <a:r>
              <a:rPr lang="de-DE" sz="1000" dirty="0" err="1"/>
              <a:t>be</a:t>
            </a:r>
            <a:r>
              <a:rPr lang="de-DE" sz="1000" dirty="0"/>
              <a:t> </a:t>
            </a:r>
            <a:r>
              <a:rPr lang="de-DE" sz="1000" dirty="0" err="1"/>
              <a:t>provided</a:t>
            </a:r>
            <a:r>
              <a:rPr lang="de-DE" sz="1000" dirty="0"/>
              <a:t> </a:t>
            </a:r>
            <a:r>
              <a:rPr lang="de-DE" sz="1000" dirty="0" err="1"/>
              <a:t>as</a:t>
            </a:r>
            <a:r>
              <a:rPr lang="de-DE" sz="1000" dirty="0"/>
              <a:t> a </a:t>
            </a:r>
            <a:r>
              <a:rPr lang="de-DE" sz="1000" dirty="0" err="1"/>
              <a:t>parameter</a:t>
            </a:r>
            <a:r>
              <a:rPr lang="de-DE" sz="1000" dirty="0"/>
              <a:t> </a:t>
            </a:r>
            <a:r>
              <a:rPr lang="de-DE" sz="1000" dirty="0" err="1"/>
              <a:t>to</a:t>
            </a:r>
            <a:r>
              <a:rPr lang="de-DE" sz="1000" dirty="0"/>
              <a:t>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function</a:t>
            </a:r>
            <a:r>
              <a:rPr lang="de-DE" sz="1000" dirty="0"/>
              <a:t>. The </a:t>
            </a:r>
            <a:r>
              <a:rPr lang="de-DE" sz="1000" dirty="0" err="1"/>
              <a:t>function</a:t>
            </a:r>
            <a:r>
              <a:rPr lang="de-DE" sz="1000" dirty="0"/>
              <a:t> </a:t>
            </a:r>
            <a:r>
              <a:rPr lang="de-DE" sz="1000" dirty="0" err="1"/>
              <a:t>then</a:t>
            </a:r>
            <a:r>
              <a:rPr lang="de-DE" sz="1000" dirty="0"/>
              <a:t> </a:t>
            </a:r>
            <a:r>
              <a:rPr lang="de-DE" sz="1000" dirty="0" err="1"/>
              <a:t>copies</a:t>
            </a:r>
            <a:r>
              <a:rPr lang="de-DE" sz="1000" dirty="0"/>
              <a:t>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data</a:t>
            </a:r>
            <a:r>
              <a:rPr lang="de-DE" sz="1000" dirty="0"/>
              <a:t> </a:t>
            </a:r>
            <a:r>
              <a:rPr lang="de-DE" sz="1000" dirty="0" err="1"/>
              <a:t>into</a:t>
            </a:r>
            <a:r>
              <a:rPr lang="de-DE" sz="1000" dirty="0"/>
              <a:t> </a:t>
            </a:r>
            <a:r>
              <a:rPr lang="de-DE" sz="1000" dirty="0" err="1"/>
              <a:t>it</a:t>
            </a:r>
            <a:r>
              <a:rPr lang="de-DE" sz="1000" dirty="0"/>
              <a:t> and </a:t>
            </a:r>
            <a:r>
              <a:rPr lang="de-DE" sz="1000" dirty="0" err="1"/>
              <a:t>returns</a:t>
            </a:r>
            <a:r>
              <a:rPr lang="de-DE" sz="1000" dirty="0"/>
              <a:t>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populated</a:t>
            </a:r>
            <a:r>
              <a:rPr lang="de-DE" sz="1000" dirty="0"/>
              <a:t> </a:t>
            </a:r>
            <a:r>
              <a:rPr lang="de-DE" sz="1000" dirty="0" err="1"/>
              <a:t>ByteArray</a:t>
            </a:r>
            <a:r>
              <a:rPr lang="de-DE" sz="1000" dirty="0"/>
              <a:t>.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de-DE" sz="1000" dirty="0"/>
              <a:t>The Bytes for </a:t>
            </a:r>
            <a:r>
              <a:rPr lang="de-DE" sz="1000" dirty="0" err="1"/>
              <a:t>the</a:t>
            </a:r>
            <a:r>
              <a:rPr lang="de-DE" sz="1000" dirty="0"/>
              <a:t> Header </a:t>
            </a:r>
            <a:r>
              <a:rPr lang="de-DE" sz="1000" dirty="0" err="1"/>
              <a:t>values</a:t>
            </a:r>
            <a:r>
              <a:rPr lang="de-DE" sz="1000" dirty="0"/>
              <a:t> </a:t>
            </a:r>
            <a:r>
              <a:rPr lang="de-DE" sz="1000" dirty="0" err="1"/>
              <a:t>need</a:t>
            </a:r>
            <a:r>
              <a:rPr lang="de-DE" sz="1000" dirty="0"/>
              <a:t> </a:t>
            </a:r>
            <a:r>
              <a:rPr lang="de-DE" sz="1000" dirty="0" err="1"/>
              <a:t>to</a:t>
            </a:r>
            <a:r>
              <a:rPr lang="de-DE" sz="1000" dirty="0"/>
              <a:t> </a:t>
            </a:r>
            <a:r>
              <a:rPr lang="de-DE" sz="1000" dirty="0" err="1"/>
              <a:t>be</a:t>
            </a:r>
            <a:r>
              <a:rPr lang="de-DE" sz="1000" dirty="0"/>
              <a:t> </a:t>
            </a:r>
            <a:r>
              <a:rPr lang="de-DE" sz="1000" dirty="0" err="1"/>
              <a:t>added</a:t>
            </a:r>
            <a:r>
              <a:rPr lang="de-DE" sz="1000" dirty="0"/>
              <a:t> </a:t>
            </a:r>
            <a:r>
              <a:rPr lang="de-DE" sz="1000" dirty="0" err="1"/>
              <a:t>into</a:t>
            </a:r>
            <a:r>
              <a:rPr lang="de-DE" sz="1000" dirty="0"/>
              <a:t> </a:t>
            </a:r>
            <a:r>
              <a:rPr lang="de-DE" sz="1000" dirty="0" err="1"/>
              <a:t>the</a:t>
            </a:r>
            <a:r>
              <a:rPr lang="de-DE" sz="1000" dirty="0"/>
              <a:t> </a:t>
            </a:r>
            <a:r>
              <a:rPr lang="de-DE" sz="1000" dirty="0" err="1"/>
              <a:t>ByteArray</a:t>
            </a:r>
            <a:r>
              <a:rPr lang="de-DE" sz="1000" dirty="0"/>
              <a:t> in an additional </a:t>
            </a:r>
            <a:r>
              <a:rPr lang="de-DE" sz="1000" dirty="0" err="1"/>
              <a:t>step</a:t>
            </a:r>
            <a:r>
              <a:rPr lang="de-DE" sz="1000" dirty="0"/>
              <a:t> </a:t>
            </a:r>
            <a:r>
              <a:rPr lang="de-DE" sz="1000" dirty="0" err="1"/>
              <a:t>afterwards</a:t>
            </a:r>
            <a:r>
              <a:rPr lang="de-DE" sz="1000" dirty="0"/>
              <a:t>. The DLL </a:t>
            </a:r>
            <a:r>
              <a:rPr lang="de-DE" sz="1000" dirty="0" err="1"/>
              <a:t>is</a:t>
            </a:r>
            <a:r>
              <a:rPr lang="de-DE" sz="1000" dirty="0"/>
              <a:t> not </a:t>
            </a:r>
            <a:r>
              <a:rPr lang="de-DE" sz="1000" dirty="0" err="1"/>
              <a:t>able</a:t>
            </a:r>
            <a:r>
              <a:rPr lang="de-DE" sz="1000" dirty="0"/>
              <a:t> </a:t>
            </a:r>
            <a:r>
              <a:rPr lang="de-DE" sz="1000" dirty="0" err="1"/>
              <a:t>to</a:t>
            </a:r>
            <a:r>
              <a:rPr lang="de-DE" sz="1000" dirty="0"/>
              <a:t> </a:t>
            </a:r>
            <a:r>
              <a:rPr lang="de-DE" sz="1000" dirty="0" err="1"/>
              <a:t>populate</a:t>
            </a:r>
            <a:r>
              <a:rPr lang="de-DE" sz="1000" dirty="0"/>
              <a:t> </a:t>
            </a:r>
            <a:r>
              <a:rPr lang="de-DE" sz="1000" dirty="0" err="1"/>
              <a:t>this</a:t>
            </a:r>
            <a:r>
              <a:rPr lang="de-DE" sz="1000" dirty="0"/>
              <a:t> </a:t>
            </a:r>
            <a:r>
              <a:rPr lang="de-DE" sz="1000" dirty="0" err="1"/>
              <a:t>data</a:t>
            </a:r>
            <a:r>
              <a:rPr lang="de-DE" sz="1000" dirty="0"/>
              <a:t> and </a:t>
            </a:r>
            <a:r>
              <a:rPr lang="de-DE" sz="1000" dirty="0" err="1"/>
              <a:t>therefor</a:t>
            </a:r>
            <a:r>
              <a:rPr lang="de-DE" sz="1000" dirty="0"/>
              <a:t> </a:t>
            </a:r>
            <a:r>
              <a:rPr lang="de-DE" sz="1000" dirty="0" err="1"/>
              <a:t>leaves</a:t>
            </a:r>
            <a:r>
              <a:rPr lang="de-DE" sz="1000" dirty="0"/>
              <a:t> a </a:t>
            </a:r>
            <a:r>
              <a:rPr lang="de-DE" sz="1000" dirty="0" err="1"/>
              <a:t>blankspace</a:t>
            </a:r>
            <a:r>
              <a:rPr lang="de-DE" sz="1000" dirty="0"/>
              <a:t> for </a:t>
            </a:r>
            <a:r>
              <a:rPr lang="de-DE" sz="1000" dirty="0" err="1"/>
              <a:t>those</a:t>
            </a:r>
            <a:r>
              <a:rPr lang="de-DE" sz="1000" dirty="0"/>
              <a:t> </a:t>
            </a:r>
            <a:r>
              <a:rPr lang="de-DE" sz="1000" dirty="0" err="1"/>
              <a:t>values</a:t>
            </a:r>
            <a:r>
              <a:rPr lang="de-DE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23835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deu"/>
  <p:tag name="MLTEMPLATEVERSION" val="2.1"/>
  <p:tag name="SAXCONVERSION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BD6EC1D4-B152-4B75-85DB-48DC16B7ED8A}" vid="{233A9649-CE92-4BEC-B45F-441AA90A900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2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Anlagenvermerk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>XC-AS/EDI2</OrgInhalt>
      <Wert>XC-AS/EDI2</Wert>
      <Platzhalter>False</Platzhalter>
      <DocDatenDialog>True</DocDatenDialog>
      <Label>Urhebervermerk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</OrgInhalt>
      <Wert>Intern</Wert>
      <Platzhalter>False</Platzhalter>
      <DocDatenDialog>True</DocDatenDialog>
      <Label>Vertraulichkeitsvermerk</Label>
      <FrageVar>False</FrageVar>
      <Prefix/>
      <Suffix/>
      <WegfallVar/>
      <ComboBox>
        <Option>Intern</Option>
        <Option>Vertraulich</Option>
        <Option>Streng vertraulich</Option>
        <Option/>
      </ComboBox>
      <MussFeld>False</MussFeld>
      <InDokument>True</InDokument>
      <Sektion>Bosch_footer_1</Sektion>
      <Reihenfolge>0</Reihenfolge>
    </Variable>
    <Variable>
      <Name>copyright</Name>
      <OrgInhalt>© Robert Bosch GmbH 2025. Alle Rechte vorbehalten, auch bzgl. jeder Verfügung, Verwertung, Reproduktion, Bearbeitung, Weitergabe sowie für den Fall von Schutzrechtsanmeldungen.</OrgInhalt>
      <Wert>© Robert Bosch GmbH 2025. Alle Rechte vorbehalten, auch bzgl. jeder Verfügung, Verwertung, Reproduktion, Bearbeitung, Weitergabe sowie für den Fall von Schutzrechtsanmeldungen.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17.01.2025</OrgInhalt>
      <Wert>24.01.2025</Wert>
      <Platzhalter>False</Platzhalter>
      <DocDatenDialog>True</DocDatenDialog>
      <Label>Datum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Ablagevermerk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Props1.xml><?xml version="1.0" encoding="utf-8"?>
<ds:datastoreItem xmlns:ds="http://schemas.openxmlformats.org/officeDocument/2006/customXml" ds:itemID="{D0252559-44F8-474C-B66D-E357B88E32C2}">
  <ds:schemaRefs/>
</ds:datastoreItem>
</file>

<file path=customXml/itemProps2.xml><?xml version="1.0" encoding="utf-8"?>
<ds:datastoreItem xmlns:ds="http://schemas.openxmlformats.org/officeDocument/2006/customXml" ds:itemID="{0BD25417-9F75-4DD3-838C-BCB433E956F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0</TotalTime>
  <Words>1623</Words>
  <Application>Microsoft Office PowerPoint</Application>
  <PresentationFormat>Benutzerdefiniert</PresentationFormat>
  <Paragraphs>309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4" baseType="lpstr">
      <vt:lpstr>Arial</vt:lpstr>
      <vt:lpstr>Bosch Office Sans</vt:lpstr>
      <vt:lpstr>Calibri</vt:lpstr>
      <vt:lpstr>codicon</vt:lpstr>
      <vt:lpstr>Symbol</vt:lpstr>
      <vt:lpstr>Wingdings</vt:lpstr>
      <vt:lpstr>Bosch 2024</vt:lpstr>
      <vt:lpstr>1objXloc Radar Model</vt:lpstr>
      <vt:lpstr>01</vt:lpstr>
      <vt:lpstr>Radar Model</vt:lpstr>
      <vt:lpstr>Deliverables</vt:lpstr>
      <vt:lpstr>02</vt:lpstr>
      <vt:lpstr>CarMaker Sensor Configuration</vt:lpstr>
      <vt:lpstr>Coordinate System of the Input Data</vt:lpstr>
      <vt:lpstr>Steering inputs - appInit</vt:lpstr>
      <vt:lpstr>Steering inputs - appInputEgoValues</vt:lpstr>
      <vt:lpstr>Steering inputs - appInputRadarDefinitionsRadarXX</vt:lpstr>
      <vt:lpstr>Steering inputs - appInputObjectDataRadarXX</vt:lpstr>
      <vt:lpstr>03</vt:lpstr>
      <vt:lpstr>Sequence Diagram for Radar Calculations</vt:lpstr>
      <vt:lpstr>Static Locations</vt:lpstr>
      <vt:lpstr>Distribution Models</vt:lpstr>
      <vt:lpstr>04</vt:lpstr>
      <vt:lpstr>Reading calculated data from DLL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1objXloc Radar Model</dc:title>
  <dc:creator>Walter Robin (XC-AS/EDI2)</dc:creator>
  <cp:lastModifiedBy>Walter Robin (XC-AS/EDI2)</cp:lastModifiedBy>
  <cp:revision>101</cp:revision>
  <dcterms:created xsi:type="dcterms:W3CDTF">2025-01-17T09:21:30Z</dcterms:created>
  <dcterms:modified xsi:type="dcterms:W3CDTF">2025-01-29T16:01:21Z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