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4B176C-9EDC-2EB9-3080-73522C8BF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28E8D1-7E1F-CC3E-07BA-78F097357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948CE5-DB09-3FF3-230D-BFEA7D3C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42E661-F486-49B7-F6F3-40131A2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7A699E-2749-7E07-9BCD-8CE7C38F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26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4E142-9A6E-6F81-5D48-5FFBD4D4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CFC4C4-3E11-394A-FA0C-01E389A29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AC0497-E72B-83B1-1590-5EB003E5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087E1F-970F-EB18-C28F-0AFF7DC9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F0D72F-0FE4-61E1-ABCA-93C302F8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55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CAE0CC-09FB-AB2C-C5F1-1B07164E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0BB5AF-0BA0-905C-21D1-E04DA6085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164159-37DC-F535-DED7-2A5EBDE0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466336-6B7F-2E39-66DA-66C5687C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7A3169-DB9E-E913-5ED1-8BCFC19A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53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F3516-7929-1059-6AD2-88355F83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6012A0-99CE-1660-BC52-97AE108B8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2374CD8-8DF2-F986-C6F8-404894367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9B6136-87D7-42A2-620D-005DAC7B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5ACEBC-AC65-42FA-772E-A387CAA8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B92083-A42C-E14F-8958-FA18AB69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51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8A8AB1-31DA-BF01-BC55-9D3FF9FD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A19B24-E088-075C-36A7-5A465D4B4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C5FE7A-BF77-3BF7-165E-CDEA99ECA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A5A7A6B-3504-D469-7653-B409296EE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78F1354-6D80-8B4C-B4CC-106A923DB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19C94CC-0162-D90C-E60A-860946DF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AEBE18C-2963-2D37-360C-7897641A5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08F169-9837-14C7-F37B-E600BAFB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76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EBB1A8-4645-7747-7CAB-61EAABD0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4F23062-8269-C41B-6822-81873173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42CE15-0E85-BE79-107C-B59F5257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C89B762-BA62-955B-3D54-0F79A011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886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4D3F7A-54DB-2B83-3914-6235870D4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9C9355-418F-ECF1-5DB9-89628D9F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3A84E9-316B-D45C-D6B7-B0BBB855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398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529A05-73BE-F55A-D2DD-07618ACA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494624-AB5C-EB2D-D486-9C8C5FE79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C1EBF4-6BAF-2251-D21B-768B7549C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CEEDBA-6C90-82AE-9587-4F8C0FDB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E141E8-9224-2524-68A5-B10F171E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CC374E-9488-0678-29B5-9CD81181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24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9EB5B1-7F62-A1CD-B758-6EFB6EAB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81C684-970E-8ED0-6C74-52C42CA11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BAC1C7-6B86-6DC9-7E0C-53144ABFB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25771E-1BE0-56B5-08DE-A1C44E2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35041B-DD83-E4E7-6852-0F3AE61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545711-F839-9145-46F0-AC654191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2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294DC-5074-E856-DA2C-8EEC8CE3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1D3EA2-5321-8553-BFED-0AA2ED91E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AEC512-D3AE-88EA-D093-58D5DE34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E0DDB1-53DF-61B0-9E60-C79E35B5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B828EE-9706-D734-E99A-7686087C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11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0A80E73-D137-BE73-C5CE-9680CE96A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A6BAFE-1C70-D45D-B06C-3039A5A21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60439D-F058-9695-8A01-63C716C0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E86A6C-B178-DBDF-FE15-0F0C57049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461352-2CB7-589B-6F8D-B9466FB4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59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B0F03EE-E9BC-9E44-E973-B1C3E4C1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6C07E4-63F7-1F71-950B-0569C3A77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CF6528-1EFD-31D3-472B-D28E3BA84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AA3AD-60D3-4044-AF51-8A74C5BD2DF6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4E0EDC-2428-5148-949A-074339B8A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93B615-4C46-62EC-5CD6-5F75A2D61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26578-B09D-4217-A07E-741EBF9C67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5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509546-82E5-C23E-B867-7E667A8B015D}"/>
              </a:ext>
            </a:extLst>
          </p:cNvPr>
          <p:cNvSpPr/>
          <p:nvPr/>
        </p:nvSpPr>
        <p:spPr>
          <a:xfrm>
            <a:off x="2516125" y="87557"/>
            <a:ext cx="6251769" cy="2226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Init, </a:t>
            </a:r>
            <a:r>
              <a:rPr lang="fr-FR" sz="1000" dirty="0" err="1"/>
              <a:t>receive</a:t>
            </a:r>
            <a:r>
              <a:rPr lang="fr-FR" sz="1000" dirty="0"/>
              <a:t> operating Mode </a:t>
            </a:r>
            <a:r>
              <a:rPr lang="fr-FR" sz="1000" dirty="0" err="1"/>
              <a:t>Carmaker</a:t>
            </a:r>
            <a:r>
              <a:rPr lang="fr-FR" sz="1000" dirty="0"/>
              <a:t> or </a:t>
            </a:r>
            <a:r>
              <a:rPr lang="fr-FR" sz="1000" dirty="0" err="1"/>
              <a:t>CarmakerFDX</a:t>
            </a:r>
            <a:endParaRPr lang="fr-FR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E3FFD9-7378-7F48-43EE-F8A300BE59DF}"/>
              </a:ext>
            </a:extLst>
          </p:cNvPr>
          <p:cNvSpPr/>
          <p:nvPr/>
        </p:nvSpPr>
        <p:spPr>
          <a:xfrm>
            <a:off x="4162865" y="1302664"/>
            <a:ext cx="1299249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CANoe run on GUI 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C78BE0-9D99-7AC7-F957-F7A8969D607D}"/>
              </a:ext>
            </a:extLst>
          </p:cNvPr>
          <p:cNvSpPr/>
          <p:nvPr/>
        </p:nvSpPr>
        <p:spPr>
          <a:xfrm>
            <a:off x="2576782" y="1293236"/>
            <a:ext cx="1472788" cy="250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>
                <a:solidFill>
                  <a:schemeClr val="bg1"/>
                </a:solidFill>
              </a:rPr>
              <a:t>CANoe run on Linux</a:t>
            </a:r>
          </a:p>
        </p:txBody>
      </p:sp>
      <p:sp>
        <p:nvSpPr>
          <p:cNvPr id="14" name="Losange 13">
            <a:extLst>
              <a:ext uri="{FF2B5EF4-FFF2-40B4-BE49-F238E27FC236}">
                <a16:creationId xmlns:a16="http://schemas.microsoft.com/office/drawing/2014/main" id="{84CFAF28-4252-8B77-7307-783B3A8BF794}"/>
              </a:ext>
            </a:extLst>
          </p:cNvPr>
          <p:cNvSpPr/>
          <p:nvPr/>
        </p:nvSpPr>
        <p:spPr>
          <a:xfrm>
            <a:off x="5716458" y="338646"/>
            <a:ext cx="1299249" cy="47161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RT rack?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9DE21A-3AD9-F38F-94F8-5F8F93BCDA93}"/>
              </a:ext>
            </a:extLst>
          </p:cNvPr>
          <p:cNvSpPr/>
          <p:nvPr/>
        </p:nvSpPr>
        <p:spPr>
          <a:xfrm>
            <a:off x="7351623" y="834037"/>
            <a:ext cx="1472788" cy="251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CANoe run on RT rack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148CD1A-7524-210D-98C8-AAB0D824ECFD}"/>
              </a:ext>
            </a:extLst>
          </p:cNvPr>
          <p:cNvSpPr txBox="1"/>
          <p:nvPr/>
        </p:nvSpPr>
        <p:spPr>
          <a:xfrm>
            <a:off x="5289671" y="432033"/>
            <a:ext cx="352339" cy="26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No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F36EFAC-FD8E-AE6E-DB35-D14AED7E8E11}"/>
              </a:ext>
            </a:extLst>
          </p:cNvPr>
          <p:cNvSpPr txBox="1"/>
          <p:nvPr/>
        </p:nvSpPr>
        <p:spPr>
          <a:xfrm>
            <a:off x="7107286" y="432033"/>
            <a:ext cx="5061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Yes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6F324-AC0D-E3F3-F53F-152AD16DDAB6}"/>
              </a:ext>
            </a:extLst>
          </p:cNvPr>
          <p:cNvSpPr/>
          <p:nvPr/>
        </p:nvSpPr>
        <p:spPr>
          <a:xfrm>
            <a:off x="2628513" y="2861927"/>
            <a:ext cx="6151196" cy="251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Set Power up for </a:t>
            </a:r>
            <a:r>
              <a:rPr lang="fr-FR" sz="1000" dirty="0" err="1"/>
              <a:t>ECUs</a:t>
            </a:r>
            <a:r>
              <a:rPr lang="fr-FR" sz="1000" dirty="0"/>
              <a:t>,  </a:t>
            </a:r>
            <a:r>
              <a:rPr lang="fr-FR" sz="1000" dirty="0" err="1"/>
              <a:t>idenfity</a:t>
            </a:r>
            <a:r>
              <a:rPr lang="fr-FR" sz="1000" dirty="0"/>
              <a:t> PS (</a:t>
            </a:r>
            <a:r>
              <a:rPr lang="fr-FR" sz="1000" dirty="0" err="1"/>
              <a:t>usb</a:t>
            </a:r>
            <a:r>
              <a:rPr lang="fr-FR" sz="1000" dirty="0"/>
              <a:t>, </a:t>
            </a:r>
            <a:r>
              <a:rPr lang="fr-FR" sz="1000" dirty="0" err="1"/>
              <a:t>eth</a:t>
            </a:r>
            <a:r>
              <a:rPr lang="fr-FR" sz="1000" dirty="0"/>
              <a:t>, type, </a:t>
            </a:r>
            <a:r>
              <a:rPr lang="fr-FR" sz="1000" dirty="0" err="1"/>
              <a:t>num</a:t>
            </a:r>
            <a:r>
              <a:rPr lang="fr-FR" sz="1000" dirty="0"/>
              <a:t> channels)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D1E075-058E-229A-8827-5279618C11AE}"/>
              </a:ext>
            </a:extLst>
          </p:cNvPr>
          <p:cNvSpPr/>
          <p:nvPr/>
        </p:nvSpPr>
        <p:spPr>
          <a:xfrm>
            <a:off x="2616698" y="3166393"/>
            <a:ext cx="6195898" cy="251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 err="1"/>
              <a:t>handle</a:t>
            </a:r>
            <a:r>
              <a:rPr lang="fr-FR" sz="1000" dirty="0"/>
              <a:t> XCP </a:t>
            </a:r>
            <a:r>
              <a:rPr lang="fr-FR" sz="1000" dirty="0" err="1"/>
              <a:t>bypassing</a:t>
            </a:r>
            <a:r>
              <a:rPr lang="fr-FR" sz="1000" dirty="0"/>
              <a:t> connections, start </a:t>
            </a:r>
            <a:r>
              <a:rPr lang="fr-FR" sz="1000" dirty="0" err="1"/>
              <a:t>restbus</a:t>
            </a:r>
            <a:r>
              <a:rPr lang="fr-FR" sz="1000" dirty="0"/>
              <a:t> for </a:t>
            </a:r>
            <a:r>
              <a:rPr lang="fr-FR" sz="1000" dirty="0" err="1"/>
              <a:t>simulated</a:t>
            </a:r>
            <a:r>
              <a:rPr lang="fr-FR" sz="1000" dirty="0"/>
              <a:t> </a:t>
            </a:r>
            <a:r>
              <a:rPr lang="fr-FR" sz="1000" dirty="0" err="1"/>
              <a:t>ECUs</a:t>
            </a:r>
            <a:endParaRPr lang="fr-FR" sz="1000" dirty="0"/>
          </a:p>
        </p:txBody>
      </p:sp>
      <p:sp>
        <p:nvSpPr>
          <p:cNvPr id="20" name="Losange 19">
            <a:extLst>
              <a:ext uri="{FF2B5EF4-FFF2-40B4-BE49-F238E27FC236}">
                <a16:creationId xmlns:a16="http://schemas.microsoft.com/office/drawing/2014/main" id="{F70600C5-A89C-CFD0-3C42-32809C7CC1B6}"/>
              </a:ext>
            </a:extLst>
          </p:cNvPr>
          <p:cNvSpPr/>
          <p:nvPr/>
        </p:nvSpPr>
        <p:spPr>
          <a:xfrm>
            <a:off x="4960034" y="1898245"/>
            <a:ext cx="1299249" cy="47161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RSDS?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8692E24-22CB-0B29-75BF-93C9A3D26A1D}"/>
              </a:ext>
            </a:extLst>
          </p:cNvPr>
          <p:cNvSpPr txBox="1"/>
          <p:nvPr/>
        </p:nvSpPr>
        <p:spPr>
          <a:xfrm>
            <a:off x="6289477" y="2001637"/>
            <a:ext cx="352339" cy="26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No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3727A74-C7D9-961D-F0F0-E50DEF3C4A1F}"/>
              </a:ext>
            </a:extLst>
          </p:cNvPr>
          <p:cNvSpPr txBox="1"/>
          <p:nvPr/>
        </p:nvSpPr>
        <p:spPr>
          <a:xfrm>
            <a:off x="4559894" y="1966670"/>
            <a:ext cx="5061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Yes</a:t>
            </a:r>
          </a:p>
        </p:txBody>
      </p:sp>
      <p:sp>
        <p:nvSpPr>
          <p:cNvPr id="23" name="Losange 22">
            <a:extLst>
              <a:ext uri="{FF2B5EF4-FFF2-40B4-BE49-F238E27FC236}">
                <a16:creationId xmlns:a16="http://schemas.microsoft.com/office/drawing/2014/main" id="{2368FA7D-0C8E-DC73-6855-421A768CAC5E}"/>
              </a:ext>
            </a:extLst>
          </p:cNvPr>
          <p:cNvSpPr/>
          <p:nvPr/>
        </p:nvSpPr>
        <p:spPr>
          <a:xfrm>
            <a:off x="3545660" y="669977"/>
            <a:ext cx="1299249" cy="47161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Linux?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A0338D5-D97B-9E01-331C-56A6A9E1E192}"/>
              </a:ext>
            </a:extLst>
          </p:cNvPr>
          <p:cNvSpPr txBox="1"/>
          <p:nvPr/>
        </p:nvSpPr>
        <p:spPr>
          <a:xfrm>
            <a:off x="3118873" y="763364"/>
            <a:ext cx="4267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Yes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7076A59-8677-0F2A-6004-CE355B770EFC}"/>
              </a:ext>
            </a:extLst>
          </p:cNvPr>
          <p:cNvSpPr txBox="1"/>
          <p:nvPr/>
        </p:nvSpPr>
        <p:spPr>
          <a:xfrm>
            <a:off x="4936488" y="763364"/>
            <a:ext cx="5061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No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155DD2-4E15-B207-B080-57A2D5BB94DC}"/>
              </a:ext>
            </a:extLst>
          </p:cNvPr>
          <p:cNvSpPr/>
          <p:nvPr/>
        </p:nvSpPr>
        <p:spPr>
          <a:xfrm>
            <a:off x="9074149" y="87557"/>
            <a:ext cx="2887995" cy="597768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TDP monitoring</a:t>
            </a:r>
          </a:p>
          <a:p>
            <a:pPr marL="171450" indent="-171450">
              <a:buFontTx/>
              <a:buChar char="-"/>
            </a:pPr>
            <a:r>
              <a:rPr lang="fr-FR" sz="1000" dirty="0"/>
              <a:t>Exception handler </a:t>
            </a:r>
            <a:r>
              <a:rPr lang="fr-FR" sz="1000" dirty="0" err="1"/>
              <a:t>Carmaker</a:t>
            </a:r>
            <a:r>
              <a:rPr lang="fr-FR" sz="1000" dirty="0"/>
              <a:t> APO</a:t>
            </a:r>
          </a:p>
          <a:p>
            <a:pPr marL="628650" lvl="1" indent="-171450">
              <a:buFontTx/>
              <a:buChar char="-"/>
            </a:pPr>
            <a:r>
              <a:rPr lang="fr-FR" sz="1000" dirty="0" err="1"/>
              <a:t>Wrong</a:t>
            </a:r>
            <a:r>
              <a:rPr lang="fr-FR" sz="1000" dirty="0"/>
              <a:t> scenario</a:t>
            </a:r>
          </a:p>
          <a:p>
            <a:pPr marL="628650" lvl="1" indent="-171450">
              <a:buFontTx/>
              <a:buChar char="-"/>
            </a:pPr>
            <a:r>
              <a:rPr lang="fr-FR" sz="1000" dirty="0"/>
              <a:t>Timeout startup</a:t>
            </a:r>
          </a:p>
          <a:p>
            <a:pPr marL="628650" lvl="1" indent="-171450">
              <a:buFontTx/>
              <a:buChar char="-"/>
            </a:pPr>
            <a:r>
              <a:rPr lang="fr-FR" sz="1000" dirty="0" err="1"/>
              <a:t>Error</a:t>
            </a:r>
            <a:r>
              <a:rPr lang="fr-FR" sz="1000" dirty="0"/>
              <a:t> </a:t>
            </a:r>
          </a:p>
          <a:p>
            <a:pPr marL="628650" lvl="1" indent="-171450">
              <a:buFontTx/>
              <a:buChar char="-"/>
            </a:pPr>
            <a:r>
              <a:rPr lang="fr-FR" sz="1000" dirty="0"/>
              <a:t>App not </a:t>
            </a:r>
            <a:r>
              <a:rPr lang="fr-FR" sz="1000" dirty="0" err="1"/>
              <a:t>started</a:t>
            </a:r>
            <a:endParaRPr lang="fr-FR" sz="1000" dirty="0"/>
          </a:p>
          <a:p>
            <a:pPr marL="628650" lvl="1" indent="-171450">
              <a:buFontTx/>
              <a:buChar char="-"/>
            </a:pPr>
            <a:r>
              <a:rPr lang="fr-FR" sz="1000" dirty="0"/>
              <a:t>APO </a:t>
            </a:r>
            <a:r>
              <a:rPr lang="fr-FR" sz="1000" dirty="0" err="1"/>
              <a:t>connection</a:t>
            </a:r>
            <a:r>
              <a:rPr lang="fr-FR" sz="1000" dirty="0"/>
              <a:t> </a:t>
            </a:r>
            <a:r>
              <a:rPr lang="fr-FR" sz="1000" dirty="0" err="1"/>
              <a:t>lost</a:t>
            </a:r>
            <a:r>
              <a:rPr lang="fr-FR" sz="1000" dirty="0"/>
              <a:t>/not </a:t>
            </a:r>
            <a:r>
              <a:rPr lang="fr-FR" sz="1000" dirty="0" err="1"/>
              <a:t>done</a:t>
            </a:r>
            <a:endParaRPr lang="fr-FR" sz="1000" dirty="0"/>
          </a:p>
          <a:p>
            <a:pPr marL="628650" lvl="1" indent="-171450">
              <a:buFontTx/>
              <a:buChar char="-"/>
            </a:pPr>
            <a:r>
              <a:rPr lang="fr-FR" sz="1000" dirty="0"/>
              <a:t>…</a:t>
            </a:r>
          </a:p>
          <a:p>
            <a:pPr marL="171450" indent="-171450">
              <a:buFontTx/>
              <a:buChar char="-"/>
            </a:pPr>
            <a:r>
              <a:rPr lang="fr-FR" sz="1000" dirty="0"/>
              <a:t>Safe </a:t>
            </a:r>
            <a:r>
              <a:rPr lang="fr-FR" sz="1000" dirty="0" err="1"/>
              <a:t>reaction</a:t>
            </a:r>
            <a:r>
              <a:rPr lang="fr-FR" sz="1000" dirty="0"/>
              <a:t> Platform</a:t>
            </a:r>
          </a:p>
          <a:p>
            <a:pPr marL="628650" lvl="1" indent="-171450">
              <a:buFontTx/>
              <a:buChar char="-"/>
            </a:pPr>
            <a:r>
              <a:rPr lang="fr-FR" sz="1000" dirty="0"/>
              <a:t>APO exceptions</a:t>
            </a:r>
          </a:p>
          <a:p>
            <a:pPr marL="628650" lvl="1" indent="-171450">
              <a:buFontTx/>
              <a:buChar char="-"/>
            </a:pPr>
            <a:r>
              <a:rPr lang="fr-FR" sz="1000" dirty="0"/>
              <a:t>Timeout communication</a:t>
            </a:r>
          </a:p>
          <a:p>
            <a:pPr marL="628650" lvl="1" indent="-171450">
              <a:buFontTx/>
              <a:buChar char="-"/>
            </a:pPr>
            <a:r>
              <a:rPr lang="fr-FR" sz="1000" dirty="0"/>
              <a:t>Alive </a:t>
            </a:r>
            <a:r>
              <a:rPr lang="fr-FR" sz="1000" dirty="0" err="1"/>
              <a:t>counter</a:t>
            </a:r>
            <a:r>
              <a:rPr lang="fr-FR" sz="1000" dirty="0"/>
              <a:t> monitoring</a:t>
            </a:r>
          </a:p>
          <a:p>
            <a:pPr marL="171450" indent="-171450">
              <a:buFontTx/>
              <a:buChar char="-"/>
            </a:pPr>
            <a:r>
              <a:rPr lang="fr-FR" sz="1000" dirty="0"/>
              <a:t>Safe </a:t>
            </a:r>
            <a:r>
              <a:rPr lang="fr-FR" sz="1000" dirty="0" err="1"/>
              <a:t>reaction</a:t>
            </a:r>
            <a:r>
              <a:rPr lang="fr-FR" sz="1000" dirty="0"/>
              <a:t> Customer </a:t>
            </a:r>
            <a:r>
              <a:rPr lang="fr-FR" sz="1000" dirty="0" err="1"/>
              <a:t>specific</a:t>
            </a:r>
            <a:r>
              <a:rPr lang="fr-FR" sz="1000" dirty="0"/>
              <a:t> HW parts</a:t>
            </a:r>
          </a:p>
          <a:p>
            <a:pPr marL="628650" lvl="1" indent="-171450">
              <a:buFontTx/>
              <a:buChar char="-"/>
            </a:pPr>
            <a:r>
              <a:rPr lang="fr-FR" sz="1000" dirty="0"/>
              <a:t>VIB: </a:t>
            </a:r>
            <a:r>
              <a:rPr lang="fr-FR" sz="1000" dirty="0" err="1"/>
              <a:t>gpu</a:t>
            </a:r>
            <a:r>
              <a:rPr lang="fr-FR" sz="1000" dirty="0"/>
              <a:t> </a:t>
            </a:r>
            <a:r>
              <a:rPr lang="fr-FR" sz="1000" dirty="0" err="1"/>
              <a:t>assignment</a:t>
            </a:r>
            <a:r>
              <a:rPr lang="fr-FR" sz="1000" dirty="0"/>
              <a:t>, </a:t>
            </a:r>
            <a:r>
              <a:rPr lang="fr-FR" sz="1000" dirty="0" err="1"/>
              <a:t>fps</a:t>
            </a:r>
            <a:endParaRPr lang="fr-FR" sz="1000" dirty="0"/>
          </a:p>
          <a:p>
            <a:pPr marL="628650" lvl="1" indent="-171450">
              <a:buFontTx/>
              <a:buChar char="-"/>
            </a:pPr>
            <a:r>
              <a:rPr lang="fr-FR" sz="1000" dirty="0"/>
              <a:t>VMB: monitor </a:t>
            </a:r>
            <a:r>
              <a:rPr lang="fr-FR" sz="1000" dirty="0" err="1"/>
              <a:t>assignment</a:t>
            </a:r>
            <a:r>
              <a:rPr lang="fr-FR" sz="1000" dirty="0"/>
              <a:t>, </a:t>
            </a:r>
            <a:r>
              <a:rPr lang="fr-FR" sz="1000" dirty="0" err="1"/>
              <a:t>gpu</a:t>
            </a:r>
            <a:r>
              <a:rPr lang="fr-FR" sz="1000" dirty="0"/>
              <a:t> </a:t>
            </a:r>
            <a:r>
              <a:rPr lang="fr-FR" sz="1000" dirty="0" err="1"/>
              <a:t>assignment</a:t>
            </a:r>
            <a:r>
              <a:rPr lang="fr-FR" sz="1000" dirty="0"/>
              <a:t>, </a:t>
            </a:r>
            <a:r>
              <a:rPr lang="fr-FR" sz="1000" dirty="0" err="1"/>
              <a:t>fps</a:t>
            </a:r>
            <a:endParaRPr lang="fr-FR" sz="1000" dirty="0"/>
          </a:p>
          <a:p>
            <a:pPr marL="628650" lvl="1" indent="-171450">
              <a:buFontTx/>
              <a:buChar char="-"/>
            </a:pPr>
            <a:r>
              <a:rPr lang="fr-FR" sz="1000" dirty="0"/>
              <a:t> </a:t>
            </a:r>
            <a:r>
              <a:rPr lang="fr-FR" sz="1000" dirty="0" err="1"/>
              <a:t>vGETK</a:t>
            </a:r>
            <a:endParaRPr lang="fr-FR" sz="1000" dirty="0"/>
          </a:p>
          <a:p>
            <a:pPr marL="628650" lvl="1" indent="-171450">
              <a:buFontTx/>
              <a:buChar char="-"/>
            </a:pPr>
            <a:r>
              <a:rPr lang="fr-FR" sz="1000" dirty="0" err="1"/>
              <a:t>Framegrabber</a:t>
            </a:r>
            <a:endParaRPr lang="fr-FR" sz="1000" dirty="0"/>
          </a:p>
          <a:p>
            <a:pPr marL="628650" lvl="1" indent="-171450">
              <a:buFontTx/>
              <a:buChar char="-"/>
            </a:pPr>
            <a:r>
              <a:rPr lang="fr-FR" sz="1000" dirty="0" err="1"/>
              <a:t>CANape</a:t>
            </a:r>
            <a:r>
              <a:rPr lang="fr-FR" sz="1000" dirty="0"/>
              <a:t>…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DE6A5F-7480-FFBC-ED41-EA20A8638EA3}"/>
              </a:ext>
            </a:extLst>
          </p:cNvPr>
          <p:cNvSpPr/>
          <p:nvPr/>
        </p:nvSpPr>
        <p:spPr>
          <a:xfrm>
            <a:off x="171925" y="5518445"/>
            <a:ext cx="1962626" cy="12575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Orchestration </a:t>
            </a:r>
            <a:r>
              <a:rPr lang="fr-FR" sz="1000" dirty="0" err="1"/>
              <a:t>customer</a:t>
            </a:r>
            <a:r>
              <a:rPr lang="fr-FR" sz="1000" dirty="0"/>
              <a:t> </a:t>
            </a:r>
            <a:r>
              <a:rPr lang="fr-FR" sz="1000" dirty="0" err="1"/>
              <a:t>specific</a:t>
            </a:r>
            <a:r>
              <a:rPr lang="fr-FR" sz="1000" dirty="0"/>
              <a:t> components</a:t>
            </a:r>
          </a:p>
          <a:p>
            <a:pPr marL="171450" indent="-171450">
              <a:buFontTx/>
              <a:buChar char="-"/>
            </a:pPr>
            <a:r>
              <a:rPr lang="fr-FR" sz="1000" dirty="0"/>
              <a:t>VIB</a:t>
            </a:r>
          </a:p>
          <a:p>
            <a:pPr marL="171450" indent="-171450">
              <a:buFontTx/>
              <a:buChar char="-"/>
            </a:pPr>
            <a:r>
              <a:rPr lang="fr-FR" sz="1000" dirty="0" err="1"/>
              <a:t>Framegrabber</a:t>
            </a:r>
            <a:endParaRPr lang="fr-FR" sz="1000" dirty="0"/>
          </a:p>
          <a:p>
            <a:pPr marL="171450" indent="-171450">
              <a:buFontTx/>
              <a:buChar char="-"/>
            </a:pPr>
            <a:r>
              <a:rPr lang="fr-FR" sz="1000" dirty="0"/>
              <a:t>Trace </a:t>
            </a:r>
            <a:r>
              <a:rPr lang="fr-FR" sz="1000" dirty="0" err="1"/>
              <a:t>logging</a:t>
            </a:r>
            <a:r>
              <a:rPr lang="fr-FR" sz="1000" dirty="0"/>
              <a:t> </a:t>
            </a:r>
          </a:p>
          <a:p>
            <a:pPr marL="628650" lvl="1" indent="-171450">
              <a:buFontTx/>
              <a:buChar char="-"/>
            </a:pPr>
            <a:r>
              <a:rPr lang="fr-FR" sz="1000" dirty="0" err="1"/>
              <a:t>Canoe</a:t>
            </a:r>
            <a:r>
              <a:rPr lang="fr-FR" sz="1000" dirty="0"/>
              <a:t> bus</a:t>
            </a:r>
          </a:p>
          <a:p>
            <a:pPr marL="628650" lvl="1" indent="-171450">
              <a:buFontTx/>
              <a:buChar char="-"/>
            </a:pPr>
            <a:r>
              <a:rPr lang="fr-FR" sz="1000" dirty="0"/>
              <a:t>Canape Radar</a:t>
            </a:r>
          </a:p>
          <a:p>
            <a:pPr marL="628650" lvl="1" indent="-171450">
              <a:buFontTx/>
              <a:buChar char="-"/>
            </a:pPr>
            <a:r>
              <a:rPr lang="fr-FR" sz="1000" dirty="0" err="1"/>
              <a:t>vGETK</a:t>
            </a:r>
            <a:r>
              <a:rPr lang="fr-FR" sz="1000" dirty="0"/>
              <a:t> </a:t>
            </a:r>
            <a:r>
              <a:rPr lang="fr-FR" sz="1000" dirty="0" err="1"/>
              <a:t>Toliman</a:t>
            </a:r>
            <a:r>
              <a:rPr lang="fr-FR" sz="1000" dirty="0"/>
              <a:t>&lt;c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01D820-C08B-93D9-CA33-B865616C6937}"/>
              </a:ext>
            </a:extLst>
          </p:cNvPr>
          <p:cNvSpPr/>
          <p:nvPr/>
        </p:nvSpPr>
        <p:spPr>
          <a:xfrm>
            <a:off x="2606162" y="3467192"/>
            <a:ext cx="6195898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Variant handling: </a:t>
            </a:r>
            <a:r>
              <a:rPr lang="fr-FR" sz="1000" dirty="0" err="1"/>
              <a:t>extract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positions, </a:t>
            </a:r>
            <a:r>
              <a:rPr lang="fr-FR" sz="1000" dirty="0" err="1"/>
              <a:t>vehicle</a:t>
            </a:r>
            <a:r>
              <a:rPr lang="fr-FR" sz="1000" dirty="0"/>
              <a:t> dimensions </a:t>
            </a:r>
            <a:r>
              <a:rPr lang="fr-FR" sz="1000" dirty="0" err="1"/>
              <a:t>from</a:t>
            </a:r>
            <a:r>
              <a:rPr lang="fr-FR" sz="1000" dirty="0"/>
              <a:t> car file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EB81E6-006A-8DBC-80C3-03513012C2DB}"/>
              </a:ext>
            </a:extLst>
          </p:cNvPr>
          <p:cNvSpPr/>
          <p:nvPr/>
        </p:nvSpPr>
        <p:spPr>
          <a:xfrm>
            <a:off x="2616698" y="2251573"/>
            <a:ext cx="2254339" cy="250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 err="1">
                <a:solidFill>
                  <a:schemeClr val="bg1"/>
                </a:solidFill>
              </a:rPr>
              <a:t>Modify</a:t>
            </a:r>
            <a:r>
              <a:rPr lang="fr-FR" sz="1000" dirty="0">
                <a:solidFill>
                  <a:schemeClr val="bg1"/>
                </a:solidFill>
              </a:rPr>
              <a:t> </a:t>
            </a:r>
            <a:r>
              <a:rPr lang="fr-FR" sz="1000" dirty="0" err="1">
                <a:solidFill>
                  <a:schemeClr val="bg1"/>
                </a:solidFill>
              </a:rPr>
              <a:t>gpu</a:t>
            </a:r>
            <a:r>
              <a:rPr lang="fr-FR" sz="1000" dirty="0">
                <a:solidFill>
                  <a:schemeClr val="bg1"/>
                </a:solidFill>
              </a:rPr>
              <a:t> config file (</a:t>
            </a:r>
            <a:r>
              <a:rPr lang="fr-FR" sz="1000" dirty="0" err="1">
                <a:solidFill>
                  <a:schemeClr val="bg1"/>
                </a:solidFill>
              </a:rPr>
              <a:t>sensor</a:t>
            </a:r>
            <a:r>
              <a:rPr lang="fr-FR" sz="1000" dirty="0">
                <a:solidFill>
                  <a:schemeClr val="bg1"/>
                </a:solidFill>
              </a:rPr>
              <a:t> set)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0EE062-1A10-EF6F-A78F-0A83D6194FEB}"/>
              </a:ext>
            </a:extLst>
          </p:cNvPr>
          <p:cNvSpPr/>
          <p:nvPr/>
        </p:nvSpPr>
        <p:spPr>
          <a:xfrm>
            <a:off x="2550291" y="1604164"/>
            <a:ext cx="6251769" cy="229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Init, </a:t>
            </a:r>
            <a:r>
              <a:rPr lang="fr-FR" sz="1000" dirty="0" err="1"/>
              <a:t>sensor</a:t>
            </a:r>
            <a:r>
              <a:rPr lang="fr-FR" sz="1000" dirty="0"/>
              <a:t> set configuration (5R1V1D, 4NRC,12USS, </a:t>
            </a:r>
            <a:r>
              <a:rPr lang="fr-FR" sz="1000" dirty="0" err="1"/>
              <a:t>etc</a:t>
            </a:r>
            <a:r>
              <a:rPr lang="fr-FR" sz="1000" dirty="0"/>
              <a:t>) and </a:t>
            </a:r>
            <a:r>
              <a:rPr lang="fr-FR" sz="1000" dirty="0" err="1"/>
              <a:t>vehicle</a:t>
            </a:r>
            <a:r>
              <a:rPr lang="fr-FR" sz="1000" dirty="0"/>
              <a:t> variant (golf, f150)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1232AD-BCBC-727A-9BD1-1220E1D11F51}"/>
              </a:ext>
            </a:extLst>
          </p:cNvPr>
          <p:cNvSpPr/>
          <p:nvPr/>
        </p:nvSpPr>
        <p:spPr>
          <a:xfrm>
            <a:off x="2616698" y="2565316"/>
            <a:ext cx="6195898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 err="1"/>
              <a:t>Modify</a:t>
            </a:r>
            <a:r>
              <a:rPr lang="fr-FR" sz="1000" dirty="0"/>
              <a:t> car file </a:t>
            </a:r>
            <a:r>
              <a:rPr lang="fr-FR" sz="1000" dirty="0" err="1"/>
              <a:t>according</a:t>
            </a:r>
            <a:r>
              <a:rPr lang="fr-FR" sz="1000" dirty="0"/>
              <a:t> to </a:t>
            </a:r>
            <a:r>
              <a:rPr lang="fr-FR" sz="1000" dirty="0" err="1"/>
              <a:t>sensor</a:t>
            </a:r>
            <a:r>
              <a:rPr lang="fr-FR" sz="1000" dirty="0"/>
              <a:t> </a:t>
            </a:r>
            <a:r>
              <a:rPr lang="fr-FR" sz="1000" dirty="0" err="1"/>
              <a:t>availability</a:t>
            </a:r>
            <a:endParaRPr lang="fr-FR" sz="1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A78FD6-1A28-AF05-B7AF-A44F78586216}"/>
              </a:ext>
            </a:extLst>
          </p:cNvPr>
          <p:cNvSpPr/>
          <p:nvPr/>
        </p:nvSpPr>
        <p:spPr>
          <a:xfrm>
            <a:off x="2628513" y="3741732"/>
            <a:ext cx="6195898" cy="2406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 err="1"/>
              <a:t>Modify</a:t>
            </a:r>
            <a:r>
              <a:rPr lang="fr-FR" sz="1000" dirty="0"/>
              <a:t> test run </a:t>
            </a:r>
            <a:r>
              <a:rPr lang="fr-FR" sz="1000" dirty="0" err="1"/>
              <a:t>according</a:t>
            </a:r>
            <a:r>
              <a:rPr lang="fr-FR" sz="1000" dirty="0"/>
              <a:t> </a:t>
            </a:r>
            <a:r>
              <a:rPr lang="fr-FR" sz="1000" dirty="0" err="1"/>
              <a:t>vehicle</a:t>
            </a:r>
            <a:r>
              <a:rPr lang="fr-FR" sz="1000" dirty="0"/>
              <a:t> variant (FAST)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0AA0A4-5B93-3725-FC80-1571A2F179C5}"/>
              </a:ext>
            </a:extLst>
          </p:cNvPr>
          <p:cNvSpPr/>
          <p:nvPr/>
        </p:nvSpPr>
        <p:spPr>
          <a:xfrm>
            <a:off x="6320246" y="4547753"/>
            <a:ext cx="2522231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Copy folder RT rack and Rendering PC</a:t>
            </a:r>
          </a:p>
        </p:txBody>
      </p:sp>
      <p:sp>
        <p:nvSpPr>
          <p:cNvPr id="34" name="Losange 33">
            <a:extLst>
              <a:ext uri="{FF2B5EF4-FFF2-40B4-BE49-F238E27FC236}">
                <a16:creationId xmlns:a16="http://schemas.microsoft.com/office/drawing/2014/main" id="{21CAAAB2-80F5-FC26-2261-2A3C003E0EF1}"/>
              </a:ext>
            </a:extLst>
          </p:cNvPr>
          <p:cNvSpPr/>
          <p:nvPr/>
        </p:nvSpPr>
        <p:spPr>
          <a:xfrm>
            <a:off x="4395354" y="4001094"/>
            <a:ext cx="2014791" cy="67228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RT rack and</a:t>
            </a:r>
          </a:p>
          <a:p>
            <a:r>
              <a:rPr lang="fr-FR" sz="1000" dirty="0"/>
              <a:t>Rendering PC?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9D8E535-49F5-7CDE-9576-B39A1FAADBEE}"/>
              </a:ext>
            </a:extLst>
          </p:cNvPr>
          <p:cNvSpPr txBox="1"/>
          <p:nvPr/>
        </p:nvSpPr>
        <p:spPr>
          <a:xfrm>
            <a:off x="3975977" y="4049664"/>
            <a:ext cx="352339" cy="26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No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CD3745B-E66B-7BC3-C4EF-A107B53564A3}"/>
              </a:ext>
            </a:extLst>
          </p:cNvPr>
          <p:cNvSpPr txBox="1"/>
          <p:nvPr/>
        </p:nvSpPr>
        <p:spPr>
          <a:xfrm>
            <a:off x="6320247" y="4094482"/>
            <a:ext cx="5061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Yes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E8A8F6-5F36-FFE8-A593-163BDF9CDC74}"/>
              </a:ext>
            </a:extLst>
          </p:cNvPr>
          <p:cNvSpPr/>
          <p:nvPr/>
        </p:nvSpPr>
        <p:spPr>
          <a:xfrm>
            <a:off x="2600257" y="4875772"/>
            <a:ext cx="2305942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Start CM  GUI PC</a:t>
            </a:r>
          </a:p>
        </p:txBody>
      </p:sp>
      <p:sp>
        <p:nvSpPr>
          <p:cNvPr id="39" name="Losange 38">
            <a:extLst>
              <a:ext uri="{FF2B5EF4-FFF2-40B4-BE49-F238E27FC236}">
                <a16:creationId xmlns:a16="http://schemas.microsoft.com/office/drawing/2014/main" id="{21516BB8-65CC-019F-84E5-AEE78744DA22}"/>
              </a:ext>
            </a:extLst>
          </p:cNvPr>
          <p:cNvSpPr/>
          <p:nvPr/>
        </p:nvSpPr>
        <p:spPr>
          <a:xfrm>
            <a:off x="5066833" y="5409970"/>
            <a:ext cx="1299249" cy="47161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RSDS?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3182D96-32AF-827D-F8A9-E28415B3D347}"/>
              </a:ext>
            </a:extLst>
          </p:cNvPr>
          <p:cNvSpPr txBox="1"/>
          <p:nvPr/>
        </p:nvSpPr>
        <p:spPr>
          <a:xfrm>
            <a:off x="6396276" y="5513362"/>
            <a:ext cx="352339" cy="260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No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75819986-201B-87E3-581A-FB2A1ADC0CC8}"/>
              </a:ext>
            </a:extLst>
          </p:cNvPr>
          <p:cNvSpPr txBox="1"/>
          <p:nvPr/>
        </p:nvSpPr>
        <p:spPr>
          <a:xfrm>
            <a:off x="4666693" y="5478395"/>
            <a:ext cx="5061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Yes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F21EEA-196D-8AE8-876A-3D9A81016276}"/>
              </a:ext>
            </a:extLst>
          </p:cNvPr>
          <p:cNvSpPr/>
          <p:nvPr/>
        </p:nvSpPr>
        <p:spPr>
          <a:xfrm>
            <a:off x="2606162" y="5165250"/>
            <a:ext cx="6284853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 err="1"/>
              <a:t>Connect</a:t>
            </a:r>
            <a:r>
              <a:rPr lang="fr-FR" sz="1000" dirty="0"/>
              <a:t> to CM </a:t>
            </a:r>
            <a:r>
              <a:rPr lang="fr-FR" sz="1000" dirty="0" err="1"/>
              <a:t>apo</a:t>
            </a:r>
            <a:r>
              <a:rPr lang="fr-FR" sz="1000" dirty="0"/>
              <a:t>, </a:t>
            </a:r>
            <a:r>
              <a:rPr lang="fr-FR" sz="1000" dirty="0" err="1"/>
              <a:t>Load</a:t>
            </a:r>
            <a:r>
              <a:rPr lang="fr-FR" sz="1000" dirty="0"/>
              <a:t> scenario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7E0D0B5-D9A8-08E9-BA54-D5555297F4FC}"/>
              </a:ext>
            </a:extLst>
          </p:cNvPr>
          <p:cNvSpPr/>
          <p:nvPr/>
        </p:nvSpPr>
        <p:spPr>
          <a:xfrm>
            <a:off x="152143" y="5088308"/>
            <a:ext cx="1962626" cy="24064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 err="1"/>
              <a:t>Cloe</a:t>
            </a:r>
            <a:r>
              <a:rPr lang="fr-FR" sz="1000" dirty="0"/>
              <a:t> </a:t>
            </a:r>
            <a:r>
              <a:rPr lang="fr-FR" sz="1000" dirty="0" err="1"/>
              <a:t>connect</a:t>
            </a:r>
            <a:r>
              <a:rPr lang="fr-FR" sz="1000" dirty="0"/>
              <a:t> to APO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44E32DE-08BC-C4FA-2E54-FBE1CBFE98D4}"/>
              </a:ext>
            </a:extLst>
          </p:cNvPr>
          <p:cNvSpPr/>
          <p:nvPr/>
        </p:nvSpPr>
        <p:spPr>
          <a:xfrm>
            <a:off x="2616698" y="5811138"/>
            <a:ext cx="2254339" cy="398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>
                <a:solidFill>
                  <a:srgbClr val="FF0000"/>
                </a:solidFill>
              </a:rPr>
              <a:t>Start </a:t>
            </a:r>
            <a:r>
              <a:rPr lang="fr-FR" sz="1000" dirty="0" err="1">
                <a:solidFill>
                  <a:srgbClr val="FF0000"/>
                </a:solidFill>
              </a:rPr>
              <a:t>Video</a:t>
            </a:r>
            <a:r>
              <a:rPr lang="fr-FR" sz="1000" dirty="0">
                <a:solidFill>
                  <a:srgbClr val="FF0000"/>
                </a:solidFill>
              </a:rPr>
              <a:t> RSI GUI/RT </a:t>
            </a:r>
            <a:r>
              <a:rPr lang="fr-FR" sz="1000" dirty="0" err="1">
                <a:solidFill>
                  <a:srgbClr val="FF0000"/>
                </a:solidFill>
              </a:rPr>
              <a:t>rack.Rendering</a:t>
            </a:r>
            <a:r>
              <a:rPr lang="fr-FR" sz="1000" dirty="0">
                <a:solidFill>
                  <a:srgbClr val="FF0000"/>
                </a:solidFill>
              </a:rPr>
              <a:t>/Linux? </a:t>
            </a:r>
            <a:r>
              <a:rPr lang="fr-FR" sz="1000" dirty="0" err="1">
                <a:solidFill>
                  <a:srgbClr val="FF0000"/>
                </a:solidFill>
              </a:rPr>
              <a:t>Using</a:t>
            </a:r>
            <a:r>
              <a:rPr lang="fr-FR" sz="1000" dirty="0">
                <a:solidFill>
                  <a:srgbClr val="FF0000"/>
                </a:solidFill>
              </a:rPr>
              <a:t> </a:t>
            </a:r>
            <a:r>
              <a:rPr lang="fr-FR" sz="1000" dirty="0" err="1">
                <a:solidFill>
                  <a:srgbClr val="FF0000"/>
                </a:solidFill>
              </a:rPr>
              <a:t>ssh</a:t>
            </a:r>
            <a:endParaRPr lang="fr-FR" sz="1000" dirty="0">
              <a:solidFill>
                <a:srgbClr val="FF000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08016E-2863-A102-9041-A774E3784575}"/>
              </a:ext>
            </a:extLst>
          </p:cNvPr>
          <p:cNvSpPr/>
          <p:nvPr/>
        </p:nvSpPr>
        <p:spPr>
          <a:xfrm>
            <a:off x="7351623" y="5811138"/>
            <a:ext cx="1454543" cy="380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Start </a:t>
            </a:r>
            <a:r>
              <a:rPr lang="fr-FR" sz="1000" dirty="0" err="1"/>
              <a:t>Video</a:t>
            </a:r>
            <a:r>
              <a:rPr lang="fr-FR" sz="1000" dirty="0"/>
              <a:t> RSI RT rack </a:t>
            </a:r>
            <a:r>
              <a:rPr lang="fr-FR" sz="1000" dirty="0" err="1"/>
              <a:t>Using</a:t>
            </a:r>
            <a:r>
              <a:rPr lang="fr-FR" sz="1000" dirty="0"/>
              <a:t> </a:t>
            </a:r>
            <a:r>
              <a:rPr lang="fr-FR" sz="1000" dirty="0" err="1"/>
              <a:t>using</a:t>
            </a:r>
            <a:r>
              <a:rPr lang="fr-FR" sz="1000" dirty="0"/>
              <a:t> </a:t>
            </a:r>
            <a:r>
              <a:rPr lang="fr-FR" sz="1000" dirty="0" err="1"/>
              <a:t>rpyc</a:t>
            </a:r>
            <a:r>
              <a:rPr lang="fr-FR" sz="1000" dirty="0"/>
              <a:t>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825149-F341-4CE5-A19C-A016C7152754}"/>
              </a:ext>
            </a:extLst>
          </p:cNvPr>
          <p:cNvSpPr/>
          <p:nvPr/>
        </p:nvSpPr>
        <p:spPr>
          <a:xfrm>
            <a:off x="2623648" y="6268284"/>
            <a:ext cx="6284853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>
                <a:solidFill>
                  <a:srgbClr val="FF0000"/>
                </a:solidFill>
              </a:rPr>
              <a:t>Start radar model and </a:t>
            </a:r>
            <a:r>
              <a:rPr lang="fr-FR" sz="1000" dirty="0" err="1">
                <a:solidFill>
                  <a:srgbClr val="FF0000"/>
                </a:solidFill>
              </a:rPr>
              <a:t>separate</a:t>
            </a:r>
            <a:r>
              <a:rPr lang="fr-FR" sz="1000" dirty="0">
                <a:solidFill>
                  <a:srgbClr val="FF0000"/>
                </a:solidFill>
              </a:rPr>
              <a:t> </a:t>
            </a:r>
            <a:r>
              <a:rPr lang="fr-FR" sz="1000" dirty="0" err="1">
                <a:solidFill>
                  <a:srgbClr val="FF0000"/>
                </a:solidFill>
              </a:rPr>
              <a:t>apo</a:t>
            </a:r>
            <a:endParaRPr lang="fr-FR" sz="1000" dirty="0">
              <a:solidFill>
                <a:srgbClr val="FF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2679744-AE6B-D30A-50B5-7477545F318F}"/>
              </a:ext>
            </a:extLst>
          </p:cNvPr>
          <p:cNvSpPr/>
          <p:nvPr/>
        </p:nvSpPr>
        <p:spPr>
          <a:xfrm>
            <a:off x="2630546" y="6554671"/>
            <a:ext cx="6284853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App </a:t>
            </a:r>
            <a:r>
              <a:rPr lang="fr-FR" sz="1000" dirty="0" err="1"/>
              <a:t>ready</a:t>
            </a:r>
            <a:r>
              <a:rPr lang="fr-FR" sz="1000" dirty="0"/>
              <a:t> to start – start CM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B5A2F4-767F-70F9-0D6D-8512DCDA2283}"/>
              </a:ext>
            </a:extLst>
          </p:cNvPr>
          <p:cNvSpPr/>
          <p:nvPr/>
        </p:nvSpPr>
        <p:spPr>
          <a:xfrm>
            <a:off x="9085277" y="6508931"/>
            <a:ext cx="2860646" cy="2670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CM plugin, </a:t>
            </a:r>
            <a:r>
              <a:rPr lang="fr-FR" sz="1000" dirty="0" err="1"/>
              <a:t>traffic</a:t>
            </a:r>
            <a:r>
              <a:rPr lang="fr-FR" sz="1000" dirty="0"/>
              <a:t> </a:t>
            </a:r>
            <a:r>
              <a:rPr lang="fr-FR" sz="1000" dirty="0" err="1"/>
              <a:t>ontrol</a:t>
            </a:r>
            <a:r>
              <a:rPr lang="fr-FR" sz="1000" dirty="0"/>
              <a:t>, TS, Lines, Radar, </a:t>
            </a:r>
            <a:r>
              <a:rPr lang="fr-FR" sz="1000" dirty="0" err="1"/>
              <a:t>Video</a:t>
            </a:r>
            <a:endParaRPr lang="fr-FR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329FA-016E-770A-3802-9AB454EB1611}"/>
              </a:ext>
            </a:extLst>
          </p:cNvPr>
          <p:cNvSpPr/>
          <p:nvPr/>
        </p:nvSpPr>
        <p:spPr>
          <a:xfrm>
            <a:off x="6320247" y="4847661"/>
            <a:ext cx="2481733" cy="2406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Start CM  RT 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411177-3339-96D1-9F71-C3EBC0A4E59E}"/>
              </a:ext>
            </a:extLst>
          </p:cNvPr>
          <p:cNvSpPr/>
          <p:nvPr/>
        </p:nvSpPr>
        <p:spPr>
          <a:xfrm>
            <a:off x="5853498" y="5811138"/>
            <a:ext cx="1449872" cy="369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/>
              <a:t>Start </a:t>
            </a:r>
            <a:r>
              <a:rPr lang="fr-FR" sz="1000" dirty="0" err="1"/>
              <a:t>Video</a:t>
            </a:r>
            <a:r>
              <a:rPr lang="fr-FR" sz="1000" dirty="0"/>
              <a:t> RSI GUI PC </a:t>
            </a:r>
            <a:r>
              <a:rPr lang="fr-FR" sz="1000" dirty="0" err="1"/>
              <a:t>usign</a:t>
            </a:r>
            <a:r>
              <a:rPr lang="fr-FR" sz="1000" dirty="0"/>
              <a:t> </a:t>
            </a:r>
            <a:r>
              <a:rPr lang="fr-FR" sz="1000" dirty="0" err="1"/>
              <a:t>gpuconfig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4834633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Office PowerPoint</Application>
  <PresentationFormat>Grand écran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Herrera Rafael (XC-AS/EDI2)</dc:creator>
  <cp:lastModifiedBy>Herrera Rafael (XC-AS/EDI2)</cp:lastModifiedBy>
  <cp:revision>11</cp:revision>
  <dcterms:created xsi:type="dcterms:W3CDTF">2024-02-13T15:17:14Z</dcterms:created>
  <dcterms:modified xsi:type="dcterms:W3CDTF">2024-03-13T18:44:10Z</dcterms:modified>
</cp:coreProperties>
</file>